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Module 7 is the final module. It covers two Appendix B topics: Supporting a Caregiver (caregiver strain and support, peer-to-peer support, support groups, 1:1 support, in-home caregiver training, and the importance of caregiver education) and Diversity in Dementia (treating dementia and communicating with diverse populations in a culturally competent way). It closes with program wrap-up and completion requirements. Take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Most dementia caregivers are family members — spouses, adult children (often daughters), and other relatives. Many are older adults with their own health problems; others are balancing work and children. Dementia caregivers report higher levels of stress, depression, and health problems than caregivers of people without dementia. Reducing caregiver strain is one of the three core goals of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Caregivers often do not name their strain directly. Listen for statements such as "I don't know how much longer I can do this," "I haven't slept in weeks," or "I'm fine" said with tears. Grief is also part of caregiving — caregivers experience loss long before death, sometimes called anticipatory grief or ambiguous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GUIDE is designed around the dyad, and the caregiver assessment is as important as the beneficiary assessment. Many caregivers feel guilty talking about their own needs. Normalize it: "Taking care of yourself is part of taking care of your husband." Document caregiver strain and include caregiver goals in the care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Match support to the caregiver's preferences. Some caregivers thrive in groups; others prefer one-on-one support. Working caregivers may need evening or virtual options. The Alzheimer's Association offers support groups and its ALZConnected online community. Local Area Agencies on Aging may offer caregiver programs through the National Family Caregiver Support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Caregiver training and education is a required GUIDE service. In-home training is powerful because it is practical and specific to the household. For hands-on skills such as transfers, coordinate with clinicians or therapists (PT/OT) so caregivers learn safe techniques and do not injure themselves or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Teach-back checks our teaching, not the caregiver's intelligence. Avoid asking "Do you understand?" — most people will say yes even when they do not. Demonstrate teach-back with a volunteer using a medication organizer or a transfer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Studies such as the NYU Caregiver Intervention found that counseling and support for spouse caregivers were associated with delayed nursing home placement. The REACH studies found that multi-component caregiver interventions improved caregiver quality of life. This evidence is part of why caregiver support is built into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Caregivers frequently put their own needs last. Frame self-care as essential to continuing to provide care. Help caregivers choose one small, realistic step rather than a long list. Refer caregivers with signs of depression to their own provider or a counselor.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Grief is a constant companion in dementia caregiving. Simply naming it — "It sounds like you are grieving the husband you used to have" — can bring enormous relief. Know how to refer caregivers for counseling and bereavement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Family meetings can reduce the burden on the primary caregiver by spreading tasks among relatives, including those who live far away (who can manage bills, research, or scheduling). Involve a clinician or social worker for complex or contentious meetings. Follow privacy rules about who may receive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Debrief: How did navigators move from the stated request to the caregiver's underlying needs without dismissing the request? What support options did caregivers accept or resist,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Key points: fall risk to both; his own health is being neglected (report to the clinician per policy and encourage his own provider follow-up); reframe respite and help as keeping his promise ("so you can keep taking care of her"); start small (a few hours of in-home respite, a trusted aide introduced gradually, a spouse caregiver support group); PT/OT for safe transfers and equipment such as a hospital bed; involve the adult children with his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prevalence differences are reported by the Alzheimer's Association and are thought to reflect differences in health conditions such as hypertension and diabetes, as well as social and structural factors including access to care and lifelong inequities — not race itself as a biological cause. Cognitive screening tools may also be less accurate across differences in language, education, and culture, which is why careful, culturally informed assessment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Diversity is broader than race and ethnicity. Language loss is especially important in dementia: a person who has spoken English for 50 years may lose English and speak only their first language. LGBTQ+ older adults may be estranged from biological family and rely on friends or partners — make sure their chosen decision-makers are documented. Veterans may have trauma that resurfaces with dementia.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Both concepts matter. Cultural knowledge helps us ask better questions, but no two families from the same culture are alike. The most important skill is curiosity: "Help me understand what is important to your family about how your mother is cared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LEARN model (Berlin and Fowkes) is a widely used framework for cross-cultural communication. Useful opening questions: "What do you call this problem?" "What do you think caused it?" "What worries you most?" "How does your family usually make decisions about care?" "Are there traditions or practices that are important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Federal civil rights rules require organizations that receive federal funding to provide meaningful language access at no cost. The national CLAS Standards (Culturally and Linguistically Appropriate Services) provide a framework. Know how to access AbleLiving's interpreter services by phone and video, and in which languages written materials are available (for example, Spanish and Haitian Creole in Florida).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Ask about preferences for the gender of aides, especially for bathing and personal care. Religious practices such as prayer times or fasting may affect medication and meal schedules. When a family feels that accepting help is shameful, frame services in terms of their values: supporting the family, honoring the elder, and keeping them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Research shows LGBTQ+ older adults are more likely to live alone and less likely to have children to provide care, and may delay seeking care due to fear of discrimination. SAGE offers resources for LGBTQ+ elders and caregivers. Creating a welcoming, respectful environment is part of culturally competent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For many families, faith is a central source of strength. Asking about it respectfully opens doors to meaningful activities and community support. Chaplains and faith leaders can be valuable partners, especially near the end of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Create a safe space; participants do not need to share personal reflections with the group. The goal is self-awareness, which is the foundation of cultural humility.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Key points: language regression in dementia; use a qualified Vietnamese interpreter rather than a minor grandchild; explore the family's understanding of the diagnosis with respect ("What do you call this? What have you noticed?"); honor the family's strength and caregiving values; frame education and respite as supporting the family's care, not replacing it; offer translated materials and ask about culturally specific community organizations; ask who makes decisions in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Close the content portion of the training by acknowledging the emotional weight of this work. Share AbleLiving/MPS resources for staff support, such as an Employee Assistance Program if available. Encourage navigators to reach out early rather than waiting until they are burned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Caregiver strain is often unspoken. Explore it privately, assess needs, and offer matched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Use a qualified interpreter. Children and family members should not interpret health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Anticipatory grief and ambiguous loss are common; naming and normalizing them helps caregivers.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Summarize the full curriculum. Ask participants to name one skill from each module they will use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Explain the completion process and where training records are kept. Training records demonstrate that every care navigator has been trained on the required Appendix B topics. Collect evaluations and thank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Distribute completion attestations and course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6-1.png"/><Relationship Id="rId8" Type="http://schemas.openxmlformats.org/officeDocument/2006/relationships/image" Target="../media/image-6-1.png"/><Relationship Id="rId9" Type="http://schemas.openxmlformats.org/officeDocument/2006/relationships/image" Target="../media/image-1-2.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1.png"/><Relationship Id="rId3" Type="http://schemas.openxmlformats.org/officeDocument/2006/relationships/image" Target="../media/image-33-1.png"/><Relationship Id="rId4" Type="http://schemas.openxmlformats.org/officeDocument/2006/relationships/image" Target="../media/image-33-1.png"/><Relationship Id="rId5" Type="http://schemas.openxmlformats.org/officeDocument/2006/relationships/image" Target="../media/image-33-1.png"/><Relationship Id="rId6" Type="http://schemas.openxmlformats.org/officeDocument/2006/relationships/image" Target="../media/image-33-1.png"/><Relationship Id="rId7" Type="http://schemas.openxmlformats.org/officeDocument/2006/relationships/image" Target="../media/image-4-2.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7</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Supporting the Caregiver &amp; Diversity in Dementia</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Recognizing caregiver strain, providing support and in-home training, and delivering culturally competent dementia care</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176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Supporting a Caregiver; Diversity in Dementia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Recognize signs of caregiver strain and assess caregiver needs</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peer-to-peer, group, and one-on-one caregiver support options</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Deliver effective in-home caregiver training using teach-back</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why caregiver education improves outcomes for the dyad</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how dementia affects diverse populations differently</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Communicate with diverse beneficiaries and families in a culturally competent way</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7724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 min</a:t>
            </a:r>
            <a:endParaRPr lang="en-US" sz="1600" dirty="0"/>
          </a:p>
        </p:txBody>
      </p:sp>
      <p:sp>
        <p:nvSpPr>
          <p:cNvPr id="6" name="Text 4"/>
          <p:cNvSpPr txBox="1"/>
          <p:nvPr/>
        </p:nvSpPr>
        <p:spPr>
          <a:xfrm>
            <a:off x="822960" y="219456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Supporting a Caregiver</a:t>
            </a:r>
            <a:endParaRPr lang="en-US" sz="1700" dirty="0"/>
          </a:p>
        </p:txBody>
      </p:sp>
      <p:sp>
        <p:nvSpPr>
          <p:cNvPr id="7" name="Text 5"/>
          <p:cNvSpPr txBox="1"/>
          <p:nvPr/>
        </p:nvSpPr>
        <p:spPr>
          <a:xfrm>
            <a:off x="6888175" y="219456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78 min</a:t>
            </a:r>
            <a:endParaRPr lang="en-US" sz="1600" dirty="0"/>
          </a:p>
        </p:txBody>
      </p:sp>
      <p:sp>
        <p:nvSpPr>
          <p:cNvPr id="8" name="Shape 6"/>
          <p:cNvSpPr/>
          <p:nvPr/>
        </p:nvSpPr>
        <p:spPr>
          <a:xfrm>
            <a:off x="548640" y="2971800"/>
            <a:ext cx="8076895" cy="777240"/>
          </a:xfrm>
          <a:prstGeom prst="rect">
            <a:avLst/>
          </a:prstGeom>
          <a:solidFill>
            <a:srgbClr val="E8F1EF"/>
          </a:solidFill>
          <a:ln w="12700">
            <a:solidFill>
              <a:srgbClr val="E8F1EF"/>
            </a:solidFill>
            <a:prstDash val="solid"/>
          </a:ln>
        </p:spPr>
      </p:sp>
      <p:sp>
        <p:nvSpPr>
          <p:cNvPr id="9" name="Text 7"/>
          <p:cNvSpPr txBox="1"/>
          <p:nvPr/>
        </p:nvSpPr>
        <p:spPr>
          <a:xfrm>
            <a:off x="822960" y="297180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Diversity in Dementia</a:t>
            </a:r>
            <a:endParaRPr lang="en-US" sz="1700" dirty="0"/>
          </a:p>
        </p:txBody>
      </p:sp>
      <p:sp>
        <p:nvSpPr>
          <p:cNvPr id="10" name="Text 8"/>
          <p:cNvSpPr txBox="1"/>
          <p:nvPr/>
        </p:nvSpPr>
        <p:spPr>
          <a:xfrm>
            <a:off x="6888175" y="297180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70 min</a:t>
            </a:r>
            <a:endParaRPr lang="en-US" sz="1600" dirty="0"/>
          </a:p>
        </p:txBody>
      </p:sp>
      <p:sp>
        <p:nvSpPr>
          <p:cNvPr id="11" name="Text 9"/>
          <p:cNvSpPr txBox="1"/>
          <p:nvPr/>
        </p:nvSpPr>
        <p:spPr>
          <a:xfrm>
            <a:off x="822960" y="374904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a:t>
            </a:r>
            <a:endParaRPr lang="en-US" sz="1700" dirty="0"/>
          </a:p>
        </p:txBody>
      </p:sp>
      <p:sp>
        <p:nvSpPr>
          <p:cNvPr id="12" name="Text 10"/>
          <p:cNvSpPr txBox="1"/>
          <p:nvPr/>
        </p:nvSpPr>
        <p:spPr>
          <a:xfrm>
            <a:off x="6888175" y="374904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9 min</a:t>
            </a:r>
            <a:endParaRPr lang="en-US" sz="1600" dirty="0"/>
          </a:p>
        </p:txBody>
      </p:sp>
      <p:sp>
        <p:nvSpPr>
          <p:cNvPr id="13" name="Shape 11"/>
          <p:cNvSpPr/>
          <p:nvPr/>
        </p:nvSpPr>
        <p:spPr>
          <a:xfrm>
            <a:off x="548640" y="4526280"/>
            <a:ext cx="8076895" cy="777240"/>
          </a:xfrm>
          <a:prstGeom prst="rect">
            <a:avLst/>
          </a:prstGeom>
          <a:solidFill>
            <a:srgbClr val="E8F1EF"/>
          </a:solidFill>
          <a:ln w="12700">
            <a:solidFill>
              <a:srgbClr val="E8F1EF"/>
            </a:solidFill>
            <a:prstDash val="solid"/>
          </a:ln>
        </p:spPr>
      </p:sp>
      <p:sp>
        <p:nvSpPr>
          <p:cNvPr id="14" name="Text 12"/>
          <p:cNvSpPr txBox="1"/>
          <p:nvPr/>
        </p:nvSpPr>
        <p:spPr>
          <a:xfrm>
            <a:off x="822960" y="452628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Program Wrap-Up</a:t>
            </a:r>
            <a:endParaRPr lang="en-US" sz="1700" dirty="0"/>
          </a:p>
        </p:txBody>
      </p:sp>
      <p:sp>
        <p:nvSpPr>
          <p:cNvPr id="15" name="Text 13"/>
          <p:cNvSpPr txBox="1"/>
          <p:nvPr/>
        </p:nvSpPr>
        <p:spPr>
          <a:xfrm>
            <a:off x="6888175" y="452628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12 min</a:t>
            </a:r>
            <a:endParaRPr lang="en-US" sz="1600" dirty="0"/>
          </a:p>
        </p:txBody>
      </p:sp>
      <p:sp>
        <p:nvSpPr>
          <p:cNvPr id="16" name="Text 14"/>
          <p:cNvSpPr txBox="1"/>
          <p:nvPr/>
        </p:nvSpPr>
        <p:spPr>
          <a:xfrm>
            <a:off x="822960" y="544068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176 minutes (about 2.9 hours)</a:t>
            </a:r>
            <a:endParaRPr lang="en-US" sz="1500" dirty="0"/>
          </a:p>
        </p:txBody>
      </p:sp>
      <p:pic>
        <p:nvPicPr>
          <p:cNvPr id="17"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1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9" name="Text 1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0" name="Text 1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Supporting a Caregiver</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Caring for the person who provides the care</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7</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Reality of Dementia Caregiving</a:t>
            </a:r>
            <a:endParaRPr lang="en-US" sz="3000" dirty="0"/>
          </a:p>
        </p:txBody>
      </p:sp>
      <p:sp>
        <p:nvSpPr>
          <p:cNvPr id="3" name="Shape 1"/>
          <p:cNvSpPr/>
          <p:nvPr/>
        </p:nvSpPr>
        <p:spPr>
          <a:xfrm>
            <a:off x="548640" y="2011680"/>
            <a:ext cx="3484778" cy="3291840"/>
          </a:xfrm>
          <a:prstGeom prst="roundRect">
            <a:avLst>
              <a:gd name="adj" fmla="val 3333"/>
            </a:avLst>
          </a:prstGeom>
          <a:solidFill>
            <a:srgbClr val="E8F1EF"/>
          </a:solidFill>
          <a:ln w="12700">
            <a:solidFill>
              <a:srgbClr val="E8F1EF"/>
            </a:solidFill>
            <a:prstDash val="solid"/>
          </a:ln>
        </p:spPr>
      </p:sp>
      <p:sp>
        <p:nvSpPr>
          <p:cNvPr id="4" name="Text 2"/>
          <p:cNvSpPr txBox="1"/>
          <p:nvPr/>
        </p:nvSpPr>
        <p:spPr>
          <a:xfrm>
            <a:off x="731520" y="2331720"/>
            <a:ext cx="3119018" cy="1188720"/>
          </a:xfrm>
          <a:prstGeom prst="rect">
            <a:avLst/>
          </a:prstGeom>
          <a:noFill/>
          <a:ln/>
        </p:spPr>
        <p:txBody>
          <a:bodyPr wrap="square" lIns="0" tIns="0" rIns="0" bIns="0" rtlCol="0" anchor="ctr"/>
          <a:lstStyle/>
          <a:p>
            <a:pPr algn="ctr" indent="0" marL="0">
              <a:buNone/>
            </a:pPr>
            <a:r>
              <a:rPr lang="en-US" sz="5400" b="1" dirty="0">
                <a:solidFill>
                  <a:srgbClr val="28695F"/>
                </a:solidFill>
                <a:latin typeface="Cambria" pitchFamily="34" charset="0"/>
                <a:ea typeface="Cambria" pitchFamily="34" charset="-122"/>
                <a:cs typeface="Cambria" pitchFamily="34" charset="-120"/>
              </a:rPr>
              <a:t>~12M</a:t>
            </a:r>
            <a:endParaRPr lang="en-US" sz="5400" dirty="0"/>
          </a:p>
        </p:txBody>
      </p:sp>
      <p:sp>
        <p:nvSpPr>
          <p:cNvPr id="5" name="Text 3"/>
          <p:cNvSpPr txBox="1"/>
          <p:nvPr/>
        </p:nvSpPr>
        <p:spPr>
          <a:xfrm>
            <a:off x="822960"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Americans provide unpaid care for someone living with dementia</a:t>
            </a:r>
            <a:endParaRPr lang="en-US" sz="1500" dirty="0"/>
          </a:p>
        </p:txBody>
      </p:sp>
      <p:sp>
        <p:nvSpPr>
          <p:cNvPr id="6" name="Shape 4"/>
          <p:cNvSpPr/>
          <p:nvPr/>
        </p:nvSpPr>
        <p:spPr>
          <a:xfrm>
            <a:off x="4353458" y="2011680"/>
            <a:ext cx="3484778" cy="3291840"/>
          </a:xfrm>
          <a:prstGeom prst="roundRect">
            <a:avLst>
              <a:gd name="adj" fmla="val 3333"/>
            </a:avLst>
          </a:prstGeom>
          <a:solidFill>
            <a:srgbClr val="F8EFDF"/>
          </a:solidFill>
          <a:ln w="12700">
            <a:solidFill>
              <a:srgbClr val="F8EFDF"/>
            </a:solidFill>
            <a:prstDash val="solid"/>
          </a:ln>
        </p:spPr>
      </p:sp>
      <p:sp>
        <p:nvSpPr>
          <p:cNvPr id="7" name="Text 5"/>
          <p:cNvSpPr txBox="1"/>
          <p:nvPr/>
        </p:nvSpPr>
        <p:spPr>
          <a:xfrm>
            <a:off x="4536338" y="2331720"/>
            <a:ext cx="3119018" cy="1188720"/>
          </a:xfrm>
          <a:prstGeom prst="rect">
            <a:avLst/>
          </a:prstGeom>
          <a:noFill/>
          <a:ln/>
        </p:spPr>
        <p:txBody>
          <a:bodyPr wrap="square" lIns="0" tIns="0" rIns="0" bIns="0" rtlCol="0" anchor="ctr"/>
          <a:lstStyle/>
          <a:p>
            <a:pPr algn="ctr" indent="0" marL="0">
              <a:buNone/>
            </a:pPr>
            <a:r>
              <a:rPr lang="en-US" sz="5400" b="1" dirty="0">
                <a:solidFill>
                  <a:srgbClr val="C78F2E"/>
                </a:solidFill>
                <a:latin typeface="Cambria" pitchFamily="34" charset="0"/>
                <a:ea typeface="Cambria" pitchFamily="34" charset="-122"/>
                <a:cs typeface="Cambria" pitchFamily="34" charset="-120"/>
              </a:rPr>
              <a:t>~19B</a:t>
            </a:r>
            <a:endParaRPr lang="en-US" sz="5400" dirty="0"/>
          </a:p>
        </p:txBody>
      </p:sp>
      <p:sp>
        <p:nvSpPr>
          <p:cNvPr id="8" name="Text 6"/>
          <p:cNvSpPr txBox="1"/>
          <p:nvPr/>
        </p:nvSpPr>
        <p:spPr>
          <a:xfrm>
            <a:off x="4627778"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hours of unpaid care provided each year</a:t>
            </a:r>
            <a:endParaRPr lang="en-US" sz="1500" dirty="0"/>
          </a:p>
        </p:txBody>
      </p:sp>
      <p:sp>
        <p:nvSpPr>
          <p:cNvPr id="9" name="Shape 7"/>
          <p:cNvSpPr/>
          <p:nvPr/>
        </p:nvSpPr>
        <p:spPr>
          <a:xfrm>
            <a:off x="8158277" y="2011680"/>
            <a:ext cx="3484778" cy="3291840"/>
          </a:xfrm>
          <a:prstGeom prst="roundRect">
            <a:avLst>
              <a:gd name="adj" fmla="val 3333"/>
            </a:avLst>
          </a:prstGeom>
          <a:solidFill>
            <a:srgbClr val="E8F1EF"/>
          </a:solidFill>
          <a:ln w="12700">
            <a:solidFill>
              <a:srgbClr val="E8F1EF"/>
            </a:solidFill>
            <a:prstDash val="solid"/>
          </a:ln>
        </p:spPr>
      </p:sp>
      <p:sp>
        <p:nvSpPr>
          <p:cNvPr id="10" name="Text 8"/>
          <p:cNvSpPr txBox="1"/>
          <p:nvPr/>
        </p:nvSpPr>
        <p:spPr>
          <a:xfrm>
            <a:off x="8341157" y="2331720"/>
            <a:ext cx="3119018" cy="1188720"/>
          </a:xfrm>
          <a:prstGeom prst="rect">
            <a:avLst/>
          </a:prstGeom>
          <a:noFill/>
          <a:ln/>
        </p:spPr>
        <p:txBody>
          <a:bodyPr wrap="square" lIns="0" tIns="0" rIns="0" bIns="0" rtlCol="0" anchor="ctr"/>
          <a:lstStyle/>
          <a:p>
            <a:pPr algn="ctr" indent="0" marL="0">
              <a:buNone/>
            </a:pPr>
            <a:r>
              <a:rPr lang="en-US" sz="5400" b="1" dirty="0">
                <a:solidFill>
                  <a:srgbClr val="28695F"/>
                </a:solidFill>
                <a:latin typeface="Cambria" pitchFamily="34" charset="0"/>
                <a:ea typeface="Cambria" pitchFamily="34" charset="-122"/>
                <a:cs typeface="Cambria" pitchFamily="34" charset="-120"/>
              </a:rPr>
              <a:t>~6 in 10</a:t>
            </a:r>
            <a:endParaRPr lang="en-US" sz="5400" dirty="0"/>
          </a:p>
        </p:txBody>
      </p:sp>
      <p:sp>
        <p:nvSpPr>
          <p:cNvPr id="11" name="Text 9"/>
          <p:cNvSpPr txBox="1"/>
          <p:nvPr/>
        </p:nvSpPr>
        <p:spPr>
          <a:xfrm>
            <a:off x="8432597"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dementia caregivers rate their emotional stress as high or very high</a:t>
            </a:r>
            <a:endParaRPr lang="en-US" sz="1500" dirty="0"/>
          </a:p>
        </p:txBody>
      </p:sp>
      <p:sp>
        <p:nvSpPr>
          <p:cNvPr id="12" name="Text 10"/>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100" i="1" dirty="0">
                <a:solidFill>
                  <a:srgbClr val="5E6B68"/>
                </a:solidFill>
                <a:latin typeface="Calibri" pitchFamily="34" charset="0"/>
                <a:ea typeface="Calibri" pitchFamily="34" charset="-122"/>
                <a:cs typeface="Calibri" pitchFamily="34" charset="-120"/>
              </a:rPr>
              <a:t>Source: Alzheimer's Association, Alzheimer's Disease Facts and Figures (2025). Figures rounded; see the current annual report for updates.</a:t>
            </a:r>
            <a:endParaRPr lang="en-US" sz="11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Signs of Caregiver Strain</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Exhaustion</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Constant fatigue, poor sleep, feeling unable to keep up.</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Irritability &amp; Anger</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Short temper with the person or others; feeling resentful.</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Withdrawal</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Giving up friends, hobbies, and activities they used to enjoy.</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Neglecting Own Health</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Missing their own appointments, medications, or meals.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Anxiety &amp; Depression</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Worry, sadness, hopelessness, or tearfulness during calls.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Denial</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Minimizing the diagnosis or the person's growing needs.</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Assessing Caregiver Needs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directly and privately: </a:t>
            </a:r>
            <a:r>
              <a:rPr lang="en-US" sz="1800" dirty="0">
                <a:solidFill>
                  <a:srgbClr val="24302D"/>
                </a:solidFill>
                <a:latin typeface="Calibri" pitchFamily="34" charset="0"/>
                <a:ea typeface="Calibri" pitchFamily="34" charset="-122"/>
                <a:cs typeface="Calibri" pitchFamily="34" charset="-120"/>
              </a:rPr>
              <a:t>"How are YOU doing?" — and wait for the real answer</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structured tools </a:t>
            </a:r>
            <a:r>
              <a:rPr lang="en-US" sz="1800" dirty="0">
                <a:solidFill>
                  <a:srgbClr val="24302D"/>
                </a:solidFill>
                <a:latin typeface="Calibri" pitchFamily="34" charset="0"/>
                <a:ea typeface="Calibri" pitchFamily="34" charset="-122"/>
                <a:cs typeface="Calibri" pitchFamily="34" charset="-120"/>
              </a:rPr>
              <a:t>such as the Zarit Burden Interview, per AbleLiving/MPS forms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about their own health, </a:t>
            </a:r>
            <a:r>
              <a:rPr lang="en-US" sz="1800" dirty="0">
                <a:solidFill>
                  <a:srgbClr val="24302D"/>
                </a:solidFill>
                <a:latin typeface="Calibri" pitchFamily="34" charset="0"/>
                <a:ea typeface="Calibri" pitchFamily="34" charset="-122"/>
                <a:cs typeface="Calibri" pitchFamily="34" charset="-120"/>
              </a:rPr>
              <a:t>sleep, work, finances, and other responsibilities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Identify their support network: </a:t>
            </a:r>
            <a:r>
              <a:rPr lang="en-US" sz="1800" dirty="0">
                <a:solidFill>
                  <a:srgbClr val="24302D"/>
                </a:solidFill>
                <a:latin typeface="Calibri" pitchFamily="34" charset="0"/>
                <a:ea typeface="Calibri" pitchFamily="34" charset="-122"/>
                <a:cs typeface="Calibri" pitchFamily="34" charset="-120"/>
              </a:rPr>
              <a:t>who else helps, and who could?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what they need to learn </a:t>
            </a:r>
            <a:r>
              <a:rPr lang="en-US" sz="1800" dirty="0">
                <a:solidFill>
                  <a:srgbClr val="24302D"/>
                </a:solidFill>
                <a:latin typeface="Calibri" pitchFamily="34" charset="0"/>
                <a:ea typeface="Calibri" pitchFamily="34" charset="-122"/>
                <a:cs typeface="Calibri" pitchFamily="34" charset="-120"/>
              </a:rPr>
              <a:t>and which tasks feel hardest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Reassess regularly </a:t>
            </a:r>
            <a:r>
              <a:rPr lang="en-US" sz="1800" dirty="0">
                <a:solidFill>
                  <a:srgbClr val="24302D"/>
                </a:solidFill>
                <a:latin typeface="Calibri" pitchFamily="34" charset="0"/>
                <a:ea typeface="Calibri" pitchFamily="34" charset="-122"/>
                <a:cs typeface="Calibri" pitchFamily="34" charset="-120"/>
              </a:rPr>
              <a:t>and after any major change</a:t>
            </a:r>
            <a:endParaRPr lang="en-US" sz="1800" dirty="0"/>
          </a:p>
        </p:txBody>
      </p:sp>
      <p:sp>
        <p:nvSpPr>
          <p:cNvPr id="4" name="Shape 2"/>
          <p:cNvSpPr/>
          <p:nvPr/>
        </p:nvSpPr>
        <p:spPr>
          <a:xfrm>
            <a:off x="7589520" y="1417320"/>
            <a:ext cx="4053535" cy="3413760"/>
          </a:xfrm>
          <a:prstGeom prst="roundRect">
            <a:avLst>
              <a:gd name="adj" fmla="val 321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Caregiver safety</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If a caregiver expresses thoughts of harming themselves or the person, follow the crisis protocol immediately. 988 Suicide &amp; Crisis Lifeline; 911 for immediate danger.</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Caregiver Support Options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Peer-to-Peer Support</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Connecting with another caregiver who has "been there" — often through mentoring programs.</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Support Groups</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In-person, phone, or virtual groups; some are specific to spouses, adult children, or early-onset dementia.</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1:1 Support</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Individual coaching or counseling with a navigator, social worker, or counselor.</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Respite</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Planned breaks through in-home respite and other programs.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Practical Help</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Meals, housekeeping, transportation, and help from family and faith communities.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Education</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Classes, workshops, and in-home training on dementia and caregiving skills.</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In-Home Caregiver Training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Tailor topics to the caregiver's needs: </a:t>
            </a:r>
            <a:r>
              <a:rPr lang="en-US" sz="1800" dirty="0">
                <a:solidFill>
                  <a:srgbClr val="24302D"/>
                </a:solidFill>
                <a:latin typeface="Calibri" pitchFamily="34" charset="0"/>
                <a:ea typeface="Calibri" pitchFamily="34" charset="-122"/>
                <a:cs typeface="Calibri" pitchFamily="34" charset="-120"/>
              </a:rPr>
              <a:t>behaviors, communication, bathing and dressing, safe transfers, medications, nutrition, what to expect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Train in the real environment </a:t>
            </a:r>
            <a:r>
              <a:rPr lang="en-US" sz="1800" dirty="0">
                <a:solidFill>
                  <a:srgbClr val="24302D"/>
                </a:solidFill>
                <a:latin typeface="Calibri" pitchFamily="34" charset="0"/>
                <a:ea typeface="Calibri" pitchFamily="34" charset="-122"/>
                <a:cs typeface="Calibri" pitchFamily="34" charset="-120"/>
              </a:rPr>
              <a:t>— the actual bathroom, bed, and kitchen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Demonstrate, then practice: </a:t>
            </a:r>
            <a:r>
              <a:rPr lang="en-US" sz="1800" dirty="0">
                <a:solidFill>
                  <a:srgbClr val="24302D"/>
                </a:solidFill>
                <a:latin typeface="Calibri" pitchFamily="34" charset="0"/>
                <a:ea typeface="Calibri" pitchFamily="34" charset="-122"/>
                <a:cs typeface="Calibri" pitchFamily="34" charset="-120"/>
              </a:rPr>
              <a:t>show the skill and have the caregiver try it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teach-back </a:t>
            </a:r>
            <a:r>
              <a:rPr lang="en-US" sz="1800" dirty="0">
                <a:solidFill>
                  <a:srgbClr val="24302D"/>
                </a:solidFill>
                <a:latin typeface="Calibri" pitchFamily="34" charset="0"/>
                <a:ea typeface="Calibri" pitchFamily="34" charset="-122"/>
                <a:cs typeface="Calibri" pitchFamily="34" charset="-120"/>
              </a:rPr>
              <a:t>to confirm understanding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Leave simple written materials </a:t>
            </a:r>
            <a:r>
              <a:rPr lang="en-US" sz="1800" dirty="0">
                <a:solidFill>
                  <a:srgbClr val="24302D"/>
                </a:solidFill>
                <a:latin typeface="Calibri" pitchFamily="34" charset="0"/>
                <a:ea typeface="Calibri" pitchFamily="34" charset="-122"/>
                <a:cs typeface="Calibri" pitchFamily="34" charset="-120"/>
              </a:rPr>
              <a:t>in the caregiver's preferred language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Follow up </a:t>
            </a:r>
            <a:r>
              <a:rPr lang="en-US" sz="1800" dirty="0">
                <a:solidFill>
                  <a:srgbClr val="24302D"/>
                </a:solidFill>
                <a:latin typeface="Calibri" pitchFamily="34" charset="0"/>
                <a:ea typeface="Calibri" pitchFamily="34" charset="-122"/>
                <a:cs typeface="Calibri" pitchFamily="34" charset="-120"/>
              </a:rPr>
              <a:t>to see what worked and what needs adjusting</a:t>
            </a:r>
            <a:endParaRPr lang="en-US" sz="1800" dirty="0"/>
          </a:p>
        </p:txBody>
      </p:sp>
      <p:sp>
        <p:nvSpPr>
          <p:cNvPr id="4" name="Shape 2"/>
          <p:cNvSpPr/>
          <p:nvPr/>
        </p:nvSpPr>
        <p:spPr>
          <a:xfrm>
            <a:off x="7589520" y="1417320"/>
            <a:ext cx="4053535" cy="3413760"/>
          </a:xfrm>
          <a:prstGeom prst="roundRect">
            <a:avLst>
              <a:gd name="adj" fmla="val 321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Evidence-based programs</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Programs such as Savvy Caregiver, REACH, and Powerful Tools for Caregivers have been shown to reduce caregiver stress and improve skills. Ask your supervisor which programs AbleLiving uses.</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Teach-Back Method</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3397885"/>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Explain</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Teach one key idea at a time in plain language.</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3397885"/>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Ask</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"To make sure I explained it clearly, can you show me or tell me how you'll do it?"</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3397885"/>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Listen</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Notice what is missing or misunderstood.</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3397885"/>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Clarify</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Re-explain in a different way if needed.</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3397885"/>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Confirm</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Repeat teach-back until the caregiver can explain or demonstrate it.</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Caregiver Education Matters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Research shows </a:t>
            </a:r>
            <a:r>
              <a:rPr lang="en-US" sz="1800" dirty="0">
                <a:solidFill>
                  <a:srgbClr val="24302D"/>
                </a:solidFill>
                <a:latin typeface="Calibri" pitchFamily="34" charset="0"/>
                <a:ea typeface="Calibri" pitchFamily="34" charset="-122"/>
                <a:cs typeface="Calibri" pitchFamily="34" charset="-120"/>
              </a:rPr>
              <a:t>caregiver education and support programs can reduce stress and depression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Some interventions </a:t>
            </a:r>
            <a:r>
              <a:rPr lang="en-US" sz="1800" dirty="0">
                <a:solidFill>
                  <a:srgbClr val="24302D"/>
                </a:solidFill>
                <a:latin typeface="Calibri" pitchFamily="34" charset="0"/>
                <a:ea typeface="Calibri" pitchFamily="34" charset="-122"/>
                <a:cs typeface="Calibri" pitchFamily="34" charset="-120"/>
              </a:rPr>
              <a:t>have helped people remain at home longer and delayed nursing home placement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Skilled caregivers </a:t>
            </a:r>
            <a:r>
              <a:rPr lang="en-US" sz="1800" dirty="0">
                <a:solidFill>
                  <a:srgbClr val="24302D"/>
                </a:solidFill>
                <a:latin typeface="Calibri" pitchFamily="34" charset="0"/>
                <a:ea typeface="Calibri" pitchFamily="34" charset="-122"/>
                <a:cs typeface="Calibri" pitchFamily="34" charset="-120"/>
              </a:rPr>
              <a:t>handle behaviors more effectively, with fewer crises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Understanding the disease </a:t>
            </a:r>
            <a:r>
              <a:rPr lang="en-US" sz="1800" dirty="0">
                <a:solidFill>
                  <a:srgbClr val="24302D"/>
                </a:solidFill>
                <a:latin typeface="Calibri" pitchFamily="34" charset="0"/>
                <a:ea typeface="Calibri" pitchFamily="34" charset="-122"/>
                <a:cs typeface="Calibri" pitchFamily="34" charset="-120"/>
              </a:rPr>
              <a:t>reduces blame, conflict, and guilt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Better-supported caregivers </a:t>
            </a:r>
            <a:r>
              <a:rPr lang="en-US" sz="1800" dirty="0">
                <a:solidFill>
                  <a:srgbClr val="24302D"/>
                </a:solidFill>
                <a:latin typeface="Calibri" pitchFamily="34" charset="0"/>
                <a:ea typeface="Calibri" pitchFamily="34" charset="-122"/>
                <a:cs typeface="Calibri" pitchFamily="34" charset="-120"/>
              </a:rPr>
              <a:t>mean better outcomes for the person living with dementia</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Remember</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When we support the caregiver, we are also caring for the person living with dementia. The dyad succeeds together.</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Self-Care Strategies to Share with Caregivers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Accept Help</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Make a list of specific tasks others can do when they offer.</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Protect Health</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Keep their own medical appointments, medications, and sleep.</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Take Breaks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Schedule respite and short daily breaks, even 15 minutes.</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Stay Connected</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Friends, faith communities, and support groups reduce isolation.</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Move &amp; Breathe</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Walks, stretching, and relaxation techniques relieve stress.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Be Kind to Themselves</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Let go of perfection; mixed feelings are normal.</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Grief and Loss in Dementia Caregiving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Anticipatory grief: </a:t>
            </a:r>
            <a:r>
              <a:rPr lang="en-US" sz="1800" dirty="0">
                <a:solidFill>
                  <a:srgbClr val="24302D"/>
                </a:solidFill>
                <a:latin typeface="Calibri" pitchFamily="34" charset="0"/>
                <a:ea typeface="Calibri" pitchFamily="34" charset="-122"/>
                <a:cs typeface="Calibri" pitchFamily="34" charset="-120"/>
              </a:rPr>
              <a:t>mourning losses as they happen, long before death</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Ambiguous loss: </a:t>
            </a:r>
            <a:r>
              <a:rPr lang="en-US" sz="1800" dirty="0">
                <a:solidFill>
                  <a:srgbClr val="24302D"/>
                </a:solidFill>
                <a:latin typeface="Calibri" pitchFamily="34" charset="0"/>
                <a:ea typeface="Calibri" pitchFamily="34" charset="-122"/>
                <a:cs typeface="Calibri" pitchFamily="34" charset="-120"/>
              </a:rPr>
              <a:t>the person is physically present but psychologically changing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Role changes: </a:t>
            </a:r>
            <a:r>
              <a:rPr lang="en-US" sz="1800" dirty="0">
                <a:solidFill>
                  <a:srgbClr val="24302D"/>
                </a:solidFill>
                <a:latin typeface="Calibri" pitchFamily="34" charset="0"/>
                <a:ea typeface="Calibri" pitchFamily="34" charset="-122"/>
                <a:cs typeface="Calibri" pitchFamily="34" charset="-120"/>
              </a:rPr>
              <a:t>a spouse becomes a caregiver; a child "parents" a parent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Mixed feelings are normal: </a:t>
            </a:r>
            <a:r>
              <a:rPr lang="en-US" sz="1800" dirty="0">
                <a:solidFill>
                  <a:srgbClr val="24302D"/>
                </a:solidFill>
                <a:latin typeface="Calibri" pitchFamily="34" charset="0"/>
                <a:ea typeface="Calibri" pitchFamily="34" charset="-122"/>
                <a:cs typeface="Calibri" pitchFamily="34" charset="-120"/>
              </a:rPr>
              <a:t>love, resentment, guilt, relief, and sadness can coexist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After death: </a:t>
            </a:r>
            <a:r>
              <a:rPr lang="en-US" sz="1800" dirty="0">
                <a:solidFill>
                  <a:srgbClr val="24302D"/>
                </a:solidFill>
                <a:latin typeface="Calibri" pitchFamily="34" charset="0"/>
                <a:ea typeface="Calibri" pitchFamily="34" charset="-122"/>
                <a:cs typeface="Calibri" pitchFamily="34" charset="-120"/>
              </a:rPr>
              <a:t>caregivers may feel lost without the caregiving role</a:t>
            </a:r>
            <a:endParaRPr lang="en-US" sz="1800" dirty="0"/>
          </a:p>
        </p:txBody>
      </p:sp>
      <p:sp>
        <p:nvSpPr>
          <p:cNvPr id="4" name="Shape 2"/>
          <p:cNvSpPr/>
          <p:nvPr/>
        </p:nvSpPr>
        <p:spPr>
          <a:xfrm>
            <a:off x="7589520" y="1417320"/>
            <a:ext cx="4053535" cy="3688080"/>
          </a:xfrm>
          <a:prstGeom prst="roundRect">
            <a:avLst>
              <a:gd name="adj" fmla="val 2975"/>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How navigators help</a:t>
            </a:r>
            <a:endParaRPr lang="en-US" sz="1800" dirty="0"/>
          </a:p>
        </p:txBody>
      </p:sp>
      <p:sp>
        <p:nvSpPr>
          <p:cNvPr id="7" name="Text 4"/>
          <p:cNvSpPr txBox="1"/>
          <p:nvPr/>
        </p:nvSpPr>
        <p:spPr>
          <a:xfrm>
            <a:off x="7863840" y="2423160"/>
            <a:ext cx="3504895" cy="25908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Name and normalize grief</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Listen without fixing</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Connect to support groups or counseling</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Refer to hospice bereavement services when appropriate</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Leading a Family Meeting</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3397885"/>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Prepare</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Clarify the goal, invite the right people, and include the person when appropriate.</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3397885"/>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Share Information</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Explain the current situation in plain language.</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3397885"/>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Hear Everyone</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Invite each person's perspective and concerns.</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3397885"/>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Agree on a Plan</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Divide tasks with names and dates.</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3397885"/>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Follow Up</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Send a summary and check progress.</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Caregiver Coaching Role-Play</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Groups of three: navigator, caregiver, observer</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Caregiver says: "I'm fine. I just need you to fix his sleeping at night."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explores the caregiver's own wellbeing with open-ended questions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identifies at least two support options that match the caregiver's preferences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teaches one skill (for example, a calming bedtime routine) and uses teach-back</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Observer gives feedback; rotate roles</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 and Mrs. Kowalski</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 Kowalski, 84, cares for his wife of 60 years, who has moderate-to-severe Alzheimer's disease. He has heart disease and recently fell while helping her out of bed. Their children live out of state.</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He refuses respite and in-home help, saying, "I promised to take care of her. Strangers can't do what I do." During your visit he looks exhausted, and you notice his own medications are unopened on the counter.</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signs of caregiver strain do you notice?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risks do both members of the dyad face?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could you reframe help so it honors his promise?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Which support options might he accept?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Who else should be involved?</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Diversity in Dementia</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Culturally competent care for every person and family</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7</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Diversity Matters in Dementia Care</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Dementia does not affect all groups equally: </a:t>
            </a:r>
            <a:r>
              <a:rPr lang="en-US" sz="1800" dirty="0">
                <a:solidFill>
                  <a:srgbClr val="24302D"/>
                </a:solidFill>
                <a:latin typeface="Calibri" pitchFamily="34" charset="0"/>
                <a:ea typeface="Calibri" pitchFamily="34" charset="-122"/>
                <a:cs typeface="Calibri" pitchFamily="34" charset="-120"/>
              </a:rPr>
              <a:t>older Black Americans are about twice as likely, and older Hispanic Americans about one and a half times as likely, to have Alzheimer's or other dementias as older White Americans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Diagnosis is often delayed </a:t>
            </a:r>
            <a:r>
              <a:rPr lang="en-US" sz="1800" dirty="0">
                <a:solidFill>
                  <a:srgbClr val="24302D"/>
                </a:solidFill>
                <a:latin typeface="Calibri" pitchFamily="34" charset="0"/>
                <a:ea typeface="Calibri" pitchFamily="34" charset="-122"/>
                <a:cs typeface="Calibri" pitchFamily="34" charset="-120"/>
              </a:rPr>
              <a:t>in communities facing barriers to care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Beliefs about memory loss </a:t>
            </a:r>
            <a:r>
              <a:rPr lang="en-US" sz="1800" dirty="0">
                <a:solidFill>
                  <a:srgbClr val="24302D"/>
                </a:solidFill>
                <a:latin typeface="Calibri" pitchFamily="34" charset="0"/>
                <a:ea typeface="Calibri" pitchFamily="34" charset="-122"/>
                <a:cs typeface="Calibri" pitchFamily="34" charset="-120"/>
              </a:rPr>
              <a:t>vary — it may be seen as normal aging, spiritual, or shameful</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Trust in health care </a:t>
            </a:r>
            <a:r>
              <a:rPr lang="en-US" sz="1800" dirty="0">
                <a:solidFill>
                  <a:srgbClr val="24302D"/>
                </a:solidFill>
                <a:latin typeface="Calibri" pitchFamily="34" charset="0"/>
                <a:ea typeface="Calibri" pitchFamily="34" charset="-122"/>
                <a:cs typeface="Calibri" pitchFamily="34" charset="-120"/>
              </a:rPr>
              <a:t>is shaped by history and personal experience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Culturally competent care </a:t>
            </a:r>
            <a:r>
              <a:rPr lang="en-US" sz="1800" dirty="0">
                <a:solidFill>
                  <a:srgbClr val="24302D"/>
                </a:solidFill>
                <a:latin typeface="Calibri" pitchFamily="34" charset="0"/>
                <a:ea typeface="Calibri" pitchFamily="34" charset="-122"/>
                <a:cs typeface="Calibri" pitchFamily="34" charset="-120"/>
              </a:rPr>
              <a:t>improves engagement, accuracy of assessment, and outcomes</a:t>
            </a:r>
            <a:endParaRPr lang="en-US" sz="1800" dirty="0"/>
          </a:p>
        </p:txBody>
      </p:sp>
      <p:sp>
        <p:nvSpPr>
          <p:cNvPr id="4" name="Shape 2"/>
          <p:cNvSpPr/>
          <p:nvPr/>
        </p:nvSpPr>
        <p:spPr>
          <a:xfrm>
            <a:off x="7589520" y="1417320"/>
            <a:ext cx="4053535" cy="2743200"/>
          </a:xfrm>
          <a:prstGeom prst="roundRect">
            <a:avLst>
              <a:gd name="adj" fmla="val 4000"/>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Our commitment</a:t>
            </a:r>
            <a:endParaRPr lang="en-US" sz="1800" dirty="0"/>
          </a:p>
        </p:txBody>
      </p:sp>
      <p:sp>
        <p:nvSpPr>
          <p:cNvPr id="7" name="Text 4"/>
          <p:cNvSpPr txBox="1"/>
          <p:nvPr/>
        </p:nvSpPr>
        <p:spPr>
          <a:xfrm>
            <a:off x="7863840" y="2423160"/>
            <a:ext cx="3504895" cy="16459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Every beneficiary deserves care that respects their culture, language, beliefs, and identity.</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Dimensions of Diversity</a:t>
            </a:r>
            <a:endParaRPr lang="en-US" sz="3000" dirty="0"/>
          </a:p>
        </p:txBody>
      </p:sp>
      <p:sp>
        <p:nvSpPr>
          <p:cNvPr id="3" name="Shape 1"/>
          <p:cNvSpPr/>
          <p:nvPr/>
        </p:nvSpPr>
        <p:spPr>
          <a:xfrm>
            <a:off x="548640" y="1417320"/>
            <a:ext cx="2567864"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Race &amp; Ethnicity</a:t>
            </a:r>
            <a:endParaRPr lang="en-US" sz="1450" dirty="0"/>
          </a:p>
        </p:txBody>
      </p:sp>
      <p:sp>
        <p:nvSpPr>
          <p:cNvPr id="6" name="Text 3"/>
          <p:cNvSpPr txBox="1"/>
          <p:nvPr/>
        </p:nvSpPr>
        <p:spPr>
          <a:xfrm>
            <a:off x="768096"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Differences in risk, care traditions, and experiences with health care.</a:t>
            </a:r>
            <a:endParaRPr lang="en-US" sz="1450" dirty="0"/>
          </a:p>
        </p:txBody>
      </p:sp>
      <p:sp>
        <p:nvSpPr>
          <p:cNvPr id="7" name="Shape 4"/>
          <p:cNvSpPr/>
          <p:nvPr/>
        </p:nvSpPr>
        <p:spPr>
          <a:xfrm>
            <a:off x="3390824" y="1417320"/>
            <a:ext cx="2567864"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3591992" y="1618488"/>
            <a:ext cx="420624" cy="420624"/>
          </a:xfrm>
          <a:prstGeom prst="rect">
            <a:avLst/>
          </a:prstGeom>
        </p:spPr>
      </p:pic>
      <p:sp>
        <p:nvSpPr>
          <p:cNvPr id="9" name="Text 5"/>
          <p:cNvSpPr txBox="1"/>
          <p:nvPr/>
        </p:nvSpPr>
        <p:spPr>
          <a:xfrm>
            <a:off x="4140632"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Language</a:t>
            </a:r>
            <a:endParaRPr lang="en-US" sz="1450" dirty="0"/>
          </a:p>
        </p:txBody>
      </p:sp>
      <p:sp>
        <p:nvSpPr>
          <p:cNvPr id="10" name="Text 6"/>
          <p:cNvSpPr txBox="1"/>
          <p:nvPr/>
        </p:nvSpPr>
        <p:spPr>
          <a:xfrm>
            <a:off x="3610280"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People may lose a second language and return to their first language as dementia progresses.</a:t>
            </a:r>
            <a:endParaRPr lang="en-US" sz="1450" dirty="0"/>
          </a:p>
        </p:txBody>
      </p:sp>
      <p:sp>
        <p:nvSpPr>
          <p:cNvPr id="11" name="Shape 7"/>
          <p:cNvSpPr/>
          <p:nvPr/>
        </p:nvSpPr>
        <p:spPr>
          <a:xfrm>
            <a:off x="6233008" y="1417320"/>
            <a:ext cx="2567864"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6434176" y="1618488"/>
            <a:ext cx="420624" cy="420624"/>
          </a:xfrm>
          <a:prstGeom prst="rect">
            <a:avLst/>
          </a:prstGeom>
        </p:spPr>
      </p:pic>
      <p:sp>
        <p:nvSpPr>
          <p:cNvPr id="13" name="Text 8"/>
          <p:cNvSpPr txBox="1"/>
          <p:nvPr/>
        </p:nvSpPr>
        <p:spPr>
          <a:xfrm>
            <a:off x="6982816"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Faith &amp; Spirituality</a:t>
            </a:r>
            <a:endParaRPr lang="en-US" sz="1450" dirty="0"/>
          </a:p>
        </p:txBody>
      </p:sp>
      <p:sp>
        <p:nvSpPr>
          <p:cNvPr id="14" name="Text 9"/>
          <p:cNvSpPr txBox="1"/>
          <p:nvPr/>
        </p:nvSpPr>
        <p:spPr>
          <a:xfrm>
            <a:off x="6452464"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Beliefs about illness, care, and end of life.</a:t>
            </a:r>
            <a:endParaRPr lang="en-US" sz="1450" dirty="0"/>
          </a:p>
        </p:txBody>
      </p:sp>
      <p:sp>
        <p:nvSpPr>
          <p:cNvPr id="15" name="Shape 10"/>
          <p:cNvSpPr/>
          <p:nvPr/>
        </p:nvSpPr>
        <p:spPr>
          <a:xfrm>
            <a:off x="9075191" y="1417320"/>
            <a:ext cx="2567864"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9276359" y="1618488"/>
            <a:ext cx="420624" cy="420624"/>
          </a:xfrm>
          <a:prstGeom prst="rect">
            <a:avLst/>
          </a:prstGeom>
        </p:spPr>
      </p:pic>
      <p:sp>
        <p:nvSpPr>
          <p:cNvPr id="17" name="Text 11"/>
          <p:cNvSpPr txBox="1"/>
          <p:nvPr/>
        </p:nvSpPr>
        <p:spPr>
          <a:xfrm>
            <a:off x="9824999"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LGBTQ+ Older Adults</a:t>
            </a:r>
            <a:endParaRPr lang="en-US" sz="1450" dirty="0"/>
          </a:p>
        </p:txBody>
      </p:sp>
      <p:sp>
        <p:nvSpPr>
          <p:cNvPr id="18" name="Text 12"/>
          <p:cNvSpPr txBox="1"/>
          <p:nvPr/>
        </p:nvSpPr>
        <p:spPr>
          <a:xfrm>
            <a:off x="9294647"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May have chosen family, fear discrimination, or lack legal recognition of partners.</a:t>
            </a:r>
            <a:endParaRPr lang="en-US" sz="1450" dirty="0"/>
          </a:p>
        </p:txBody>
      </p:sp>
      <p:sp>
        <p:nvSpPr>
          <p:cNvPr id="19" name="Shape 13"/>
          <p:cNvSpPr/>
          <p:nvPr/>
        </p:nvSpPr>
        <p:spPr>
          <a:xfrm>
            <a:off x="548640" y="3909060"/>
            <a:ext cx="2567864"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749808" y="4110228"/>
            <a:ext cx="420624" cy="420624"/>
          </a:xfrm>
          <a:prstGeom prst="rect">
            <a:avLst/>
          </a:prstGeom>
        </p:spPr>
      </p:pic>
      <p:sp>
        <p:nvSpPr>
          <p:cNvPr id="21" name="Text 14"/>
          <p:cNvSpPr txBox="1"/>
          <p:nvPr/>
        </p:nvSpPr>
        <p:spPr>
          <a:xfrm>
            <a:off x="1298448"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Rural Communities</a:t>
            </a:r>
            <a:endParaRPr lang="en-US" sz="1450" dirty="0"/>
          </a:p>
        </p:txBody>
      </p:sp>
      <p:sp>
        <p:nvSpPr>
          <p:cNvPr id="22" name="Text 15"/>
          <p:cNvSpPr txBox="1"/>
          <p:nvPr/>
        </p:nvSpPr>
        <p:spPr>
          <a:xfrm>
            <a:off x="768096"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Distance, fewer services, and transportation barriers.</a:t>
            </a:r>
            <a:endParaRPr lang="en-US" sz="1450" dirty="0"/>
          </a:p>
        </p:txBody>
      </p:sp>
      <p:sp>
        <p:nvSpPr>
          <p:cNvPr id="23" name="Shape 16"/>
          <p:cNvSpPr/>
          <p:nvPr/>
        </p:nvSpPr>
        <p:spPr>
          <a:xfrm>
            <a:off x="3390824" y="3909060"/>
            <a:ext cx="2567864"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3591992" y="4110228"/>
            <a:ext cx="420624" cy="420624"/>
          </a:xfrm>
          <a:prstGeom prst="rect">
            <a:avLst/>
          </a:prstGeom>
        </p:spPr>
      </p:pic>
      <p:sp>
        <p:nvSpPr>
          <p:cNvPr id="25" name="Text 17"/>
          <p:cNvSpPr txBox="1"/>
          <p:nvPr/>
        </p:nvSpPr>
        <p:spPr>
          <a:xfrm>
            <a:off x="4140632"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Health Literacy</a:t>
            </a:r>
            <a:endParaRPr lang="en-US" sz="1450" dirty="0"/>
          </a:p>
        </p:txBody>
      </p:sp>
      <p:sp>
        <p:nvSpPr>
          <p:cNvPr id="26" name="Text 18"/>
          <p:cNvSpPr txBox="1"/>
          <p:nvPr/>
        </p:nvSpPr>
        <p:spPr>
          <a:xfrm>
            <a:off x="3610280"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Varying education and comfort with medical information.</a:t>
            </a:r>
            <a:endParaRPr lang="en-US" sz="1450" dirty="0"/>
          </a:p>
        </p:txBody>
      </p:sp>
      <p:sp>
        <p:nvSpPr>
          <p:cNvPr id="27" name="Shape 19"/>
          <p:cNvSpPr/>
          <p:nvPr/>
        </p:nvSpPr>
        <p:spPr>
          <a:xfrm>
            <a:off x="6233008" y="3909060"/>
            <a:ext cx="2567864" cy="2217420"/>
          </a:xfrm>
          <a:prstGeom prst="roundRect">
            <a:avLst>
              <a:gd name="adj" fmla="val 4948"/>
            </a:avLst>
          </a:prstGeom>
          <a:solidFill>
            <a:srgbClr val="E8F1EF"/>
          </a:solidFill>
          <a:ln w="12700">
            <a:solidFill>
              <a:srgbClr val="E8F1EF"/>
            </a:solidFill>
            <a:prstDash val="solid"/>
          </a:ln>
        </p:spPr>
      </p:sp>
      <p:pic>
        <p:nvPicPr>
          <p:cNvPr id="28" name="Image 6" descr="preencoded.png">    </p:cNvPr>
          <p:cNvPicPr>
            <a:picLocks noChangeAspect="1"/>
          </p:cNvPicPr>
          <p:nvPr/>
        </p:nvPicPr>
        <p:blipFill>
          <a:blip r:embed="rId7"/>
          <a:stretch>
            <a:fillRect/>
          </a:stretch>
        </p:blipFill>
        <p:spPr>
          <a:xfrm>
            <a:off x="6434176" y="4110228"/>
            <a:ext cx="420624" cy="420624"/>
          </a:xfrm>
          <a:prstGeom prst="rect">
            <a:avLst/>
          </a:prstGeom>
        </p:spPr>
      </p:pic>
      <p:sp>
        <p:nvSpPr>
          <p:cNvPr id="29" name="Text 20"/>
          <p:cNvSpPr txBox="1"/>
          <p:nvPr/>
        </p:nvSpPr>
        <p:spPr>
          <a:xfrm>
            <a:off x="6982816"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Socioeconomic Status</a:t>
            </a:r>
            <a:endParaRPr lang="en-US" sz="1450" dirty="0"/>
          </a:p>
        </p:txBody>
      </p:sp>
      <p:sp>
        <p:nvSpPr>
          <p:cNvPr id="30" name="Text 21"/>
          <p:cNvSpPr txBox="1"/>
          <p:nvPr/>
        </p:nvSpPr>
        <p:spPr>
          <a:xfrm>
            <a:off x="6452464"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Income, housing, and the ability to pay for help.</a:t>
            </a:r>
            <a:endParaRPr lang="en-US" sz="1450" dirty="0"/>
          </a:p>
        </p:txBody>
      </p:sp>
      <p:sp>
        <p:nvSpPr>
          <p:cNvPr id="31" name="Shape 22"/>
          <p:cNvSpPr/>
          <p:nvPr/>
        </p:nvSpPr>
        <p:spPr>
          <a:xfrm>
            <a:off x="9075191" y="3909060"/>
            <a:ext cx="2567864" cy="2217420"/>
          </a:xfrm>
          <a:prstGeom prst="roundRect">
            <a:avLst>
              <a:gd name="adj" fmla="val 4948"/>
            </a:avLst>
          </a:prstGeom>
          <a:solidFill>
            <a:srgbClr val="E8F1EF"/>
          </a:solidFill>
          <a:ln w="12700">
            <a:solidFill>
              <a:srgbClr val="E8F1EF"/>
            </a:solidFill>
            <a:prstDash val="solid"/>
          </a:ln>
        </p:spPr>
      </p:sp>
      <p:pic>
        <p:nvPicPr>
          <p:cNvPr id="32" name="Image 7" descr="preencoded.png">    </p:cNvPr>
          <p:cNvPicPr>
            <a:picLocks noChangeAspect="1"/>
          </p:cNvPicPr>
          <p:nvPr/>
        </p:nvPicPr>
        <p:blipFill>
          <a:blip r:embed="rId8"/>
          <a:stretch>
            <a:fillRect/>
          </a:stretch>
        </p:blipFill>
        <p:spPr>
          <a:xfrm>
            <a:off x="9276359" y="4110228"/>
            <a:ext cx="420624" cy="420624"/>
          </a:xfrm>
          <a:prstGeom prst="rect">
            <a:avLst/>
          </a:prstGeom>
        </p:spPr>
      </p:pic>
      <p:sp>
        <p:nvSpPr>
          <p:cNvPr id="33" name="Text 23"/>
          <p:cNvSpPr txBox="1"/>
          <p:nvPr/>
        </p:nvSpPr>
        <p:spPr>
          <a:xfrm>
            <a:off x="9824999"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Veterans</a:t>
            </a:r>
            <a:endParaRPr lang="en-US" sz="1450" dirty="0"/>
          </a:p>
        </p:txBody>
      </p:sp>
      <p:sp>
        <p:nvSpPr>
          <p:cNvPr id="34" name="Text 24"/>
          <p:cNvSpPr txBox="1"/>
          <p:nvPr/>
        </p:nvSpPr>
        <p:spPr>
          <a:xfrm>
            <a:off x="9294647"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Military experiences, trauma, and VA benefits.</a:t>
            </a:r>
            <a:endParaRPr lang="en-US" sz="1450" dirty="0"/>
          </a:p>
        </p:txBody>
      </p:sp>
      <p:pic>
        <p:nvPicPr>
          <p:cNvPr id="35" name="Image 8" descr="preencoded.png">    </p:cNvPr>
          <p:cNvPicPr>
            <a:picLocks noChangeAspect="1"/>
          </p:cNvPicPr>
          <p:nvPr/>
        </p:nvPicPr>
        <p:blipFill>
          <a:blip r:embed="rId9"/>
          <a:stretch>
            <a:fillRect/>
          </a:stretch>
        </p:blipFill>
        <p:spPr>
          <a:xfrm>
            <a:off x="548640" y="6309360"/>
            <a:ext cx="874762" cy="365760"/>
          </a:xfrm>
          <a:prstGeom prst="rect">
            <a:avLst/>
          </a:prstGeom>
        </p:spPr>
      </p:pic>
      <p:sp>
        <p:nvSpPr>
          <p:cNvPr id="36" name="Text 2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37" name="Text 2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Cultural Competence and Cultural Humility</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Cultural Competence</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Cultural Humility</a:t>
            </a:r>
            <a:endParaRPr lang="en-US" sz="1800" dirty="0"/>
          </a:p>
        </p:txBody>
      </p:sp>
      <p:sp>
        <p:nvSpPr>
          <p:cNvPr id="7" name="Shape 5"/>
          <p:cNvSpPr/>
          <p:nvPr/>
        </p:nvSpPr>
        <p:spPr>
          <a:xfrm>
            <a:off x="548640" y="2075688"/>
            <a:ext cx="5166360" cy="907542"/>
          </a:xfrm>
          <a:prstGeom prst="roundRect">
            <a:avLst>
              <a:gd name="adj" fmla="val 12091"/>
            </a:avLst>
          </a:prstGeom>
          <a:solidFill>
            <a:srgbClr val="E8F1EF"/>
          </a:solidFill>
          <a:ln w="12700">
            <a:solidFill>
              <a:srgbClr val="E8F1EF"/>
            </a:solidFill>
            <a:prstDash val="solid"/>
          </a:ln>
        </p:spPr>
      </p:sp>
      <p:sp>
        <p:nvSpPr>
          <p:cNvPr id="8" name="Shape 6"/>
          <p:cNvSpPr/>
          <p:nvPr/>
        </p:nvSpPr>
        <p:spPr>
          <a:xfrm>
            <a:off x="6464808" y="2075688"/>
            <a:ext cx="5178247" cy="907542"/>
          </a:xfrm>
          <a:prstGeom prst="roundRect">
            <a:avLst>
              <a:gd name="adj" fmla="val 12091"/>
            </a:avLst>
          </a:prstGeom>
          <a:solidFill>
            <a:srgbClr val="F8EFDF"/>
          </a:solidFill>
          <a:ln w="12700">
            <a:solidFill>
              <a:srgbClr val="F8EFDF"/>
            </a:solidFill>
            <a:prstDash val="solid"/>
          </a:ln>
        </p:spPr>
      </p:sp>
      <p:sp>
        <p:nvSpPr>
          <p:cNvPr id="9" name="Text 7"/>
          <p:cNvSpPr txBox="1"/>
          <p:nvPr/>
        </p:nvSpPr>
        <p:spPr>
          <a:xfrm>
            <a:off x="777240" y="2075688"/>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of cultural beliefs, practices, and needs</a:t>
            </a:r>
            <a:endParaRPr lang="en-US" sz="1700" dirty="0"/>
          </a:p>
        </p:txBody>
      </p:sp>
      <p:sp>
        <p:nvSpPr>
          <p:cNvPr id="10" name="Text 8"/>
          <p:cNvSpPr txBox="1"/>
          <p:nvPr/>
        </p:nvSpPr>
        <p:spPr>
          <a:xfrm>
            <a:off x="6693408" y="2075688"/>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Lifelong self-reflection about our own biases</a:t>
            </a:r>
            <a:endParaRPr lang="en-US" sz="1700" dirty="0"/>
          </a:p>
        </p:txBody>
      </p:sp>
      <p:sp>
        <p:nvSpPr>
          <p:cNvPr id="11" name="Shape 9"/>
          <p:cNvSpPr/>
          <p:nvPr/>
        </p:nvSpPr>
        <p:spPr>
          <a:xfrm>
            <a:off x="5934456" y="2346579"/>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346579"/>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3129534"/>
            <a:ext cx="5166360" cy="907542"/>
          </a:xfrm>
          <a:prstGeom prst="roundRect">
            <a:avLst>
              <a:gd name="adj" fmla="val 12091"/>
            </a:avLst>
          </a:prstGeom>
          <a:solidFill>
            <a:srgbClr val="E8F1EF"/>
          </a:solidFill>
          <a:ln w="12700">
            <a:solidFill>
              <a:srgbClr val="E8F1EF"/>
            </a:solidFill>
            <a:prstDash val="solid"/>
          </a:ln>
        </p:spPr>
      </p:sp>
      <p:sp>
        <p:nvSpPr>
          <p:cNvPr id="14" name="Shape 12"/>
          <p:cNvSpPr/>
          <p:nvPr/>
        </p:nvSpPr>
        <p:spPr>
          <a:xfrm>
            <a:off x="6464808" y="3129534"/>
            <a:ext cx="5178247" cy="907542"/>
          </a:xfrm>
          <a:prstGeom prst="roundRect">
            <a:avLst>
              <a:gd name="adj" fmla="val 12091"/>
            </a:avLst>
          </a:prstGeom>
          <a:solidFill>
            <a:srgbClr val="F8EFDF"/>
          </a:solidFill>
          <a:ln w="12700">
            <a:solidFill>
              <a:srgbClr val="F8EFDF"/>
            </a:solidFill>
            <a:prstDash val="solid"/>
          </a:ln>
        </p:spPr>
      </p:sp>
      <p:sp>
        <p:nvSpPr>
          <p:cNvPr id="15" name="Text 13"/>
          <p:cNvSpPr txBox="1"/>
          <p:nvPr/>
        </p:nvSpPr>
        <p:spPr>
          <a:xfrm>
            <a:off x="777240" y="3129534"/>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Skills to communicate across cultures</a:t>
            </a:r>
            <a:endParaRPr lang="en-US" sz="1700" dirty="0"/>
          </a:p>
        </p:txBody>
      </p:sp>
      <p:sp>
        <p:nvSpPr>
          <p:cNvPr id="16" name="Text 14"/>
          <p:cNvSpPr txBox="1"/>
          <p:nvPr/>
        </p:nvSpPr>
        <p:spPr>
          <a:xfrm>
            <a:off x="6693408" y="3129534"/>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Treating each person as the expert on their own culture</a:t>
            </a:r>
            <a:endParaRPr lang="en-US" sz="1700" dirty="0"/>
          </a:p>
        </p:txBody>
      </p:sp>
      <p:sp>
        <p:nvSpPr>
          <p:cNvPr id="17" name="Shape 15"/>
          <p:cNvSpPr/>
          <p:nvPr/>
        </p:nvSpPr>
        <p:spPr>
          <a:xfrm>
            <a:off x="5934456" y="3400425"/>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40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4183380"/>
            <a:ext cx="5166360" cy="907542"/>
          </a:xfrm>
          <a:prstGeom prst="roundRect">
            <a:avLst>
              <a:gd name="adj" fmla="val 12091"/>
            </a:avLst>
          </a:prstGeom>
          <a:solidFill>
            <a:srgbClr val="E8F1EF"/>
          </a:solidFill>
          <a:ln w="12700">
            <a:solidFill>
              <a:srgbClr val="E8F1EF"/>
            </a:solidFill>
            <a:prstDash val="solid"/>
          </a:ln>
        </p:spPr>
      </p:sp>
      <p:sp>
        <p:nvSpPr>
          <p:cNvPr id="20" name="Shape 18"/>
          <p:cNvSpPr/>
          <p:nvPr/>
        </p:nvSpPr>
        <p:spPr>
          <a:xfrm>
            <a:off x="6464808" y="4183380"/>
            <a:ext cx="5178247" cy="907542"/>
          </a:xfrm>
          <a:prstGeom prst="roundRect">
            <a:avLst>
              <a:gd name="adj" fmla="val 12091"/>
            </a:avLst>
          </a:prstGeom>
          <a:solidFill>
            <a:srgbClr val="F8EFDF"/>
          </a:solidFill>
          <a:ln w="12700">
            <a:solidFill>
              <a:srgbClr val="F8EFDF"/>
            </a:solidFill>
            <a:prstDash val="solid"/>
          </a:ln>
        </p:spPr>
      </p:sp>
      <p:sp>
        <p:nvSpPr>
          <p:cNvPr id="21" name="Text 19"/>
          <p:cNvSpPr txBox="1"/>
          <p:nvPr/>
        </p:nvSpPr>
        <p:spPr>
          <a:xfrm>
            <a:off x="777240" y="4183380"/>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Organizational supports: interpreters, translated materials</a:t>
            </a:r>
            <a:endParaRPr lang="en-US" sz="1700" dirty="0"/>
          </a:p>
        </p:txBody>
      </p:sp>
      <p:sp>
        <p:nvSpPr>
          <p:cNvPr id="22" name="Text 20"/>
          <p:cNvSpPr txBox="1"/>
          <p:nvPr/>
        </p:nvSpPr>
        <p:spPr>
          <a:xfrm>
            <a:off x="6693408" y="4183380"/>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Asking rather than assuming</a:t>
            </a:r>
            <a:endParaRPr lang="en-US" sz="1700" dirty="0"/>
          </a:p>
        </p:txBody>
      </p:sp>
      <p:sp>
        <p:nvSpPr>
          <p:cNvPr id="23" name="Shape 21"/>
          <p:cNvSpPr/>
          <p:nvPr/>
        </p:nvSpPr>
        <p:spPr>
          <a:xfrm>
            <a:off x="5934456" y="4454271"/>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445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5237226"/>
            <a:ext cx="5166360" cy="907542"/>
          </a:xfrm>
          <a:prstGeom prst="roundRect">
            <a:avLst>
              <a:gd name="adj" fmla="val 12091"/>
            </a:avLst>
          </a:prstGeom>
          <a:solidFill>
            <a:srgbClr val="E8F1EF"/>
          </a:solidFill>
          <a:ln w="12700">
            <a:solidFill>
              <a:srgbClr val="E8F1EF"/>
            </a:solidFill>
            <a:prstDash val="solid"/>
          </a:ln>
        </p:spPr>
      </p:sp>
      <p:sp>
        <p:nvSpPr>
          <p:cNvPr id="26" name="Shape 24"/>
          <p:cNvSpPr/>
          <p:nvPr/>
        </p:nvSpPr>
        <p:spPr>
          <a:xfrm>
            <a:off x="6464808" y="5237226"/>
            <a:ext cx="5178247" cy="907542"/>
          </a:xfrm>
          <a:prstGeom prst="roundRect">
            <a:avLst>
              <a:gd name="adj" fmla="val 12091"/>
            </a:avLst>
          </a:prstGeom>
          <a:solidFill>
            <a:srgbClr val="F8EFDF"/>
          </a:solidFill>
          <a:ln w="12700">
            <a:solidFill>
              <a:srgbClr val="F8EFDF"/>
            </a:solidFill>
            <a:prstDash val="solid"/>
          </a:ln>
        </p:spPr>
      </p:sp>
      <p:sp>
        <p:nvSpPr>
          <p:cNvPr id="27" name="Text 25"/>
          <p:cNvSpPr txBox="1"/>
          <p:nvPr/>
        </p:nvSpPr>
        <p:spPr>
          <a:xfrm>
            <a:off x="777240" y="5237226"/>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Risk: can become stereotyping if applied rigidly</a:t>
            </a:r>
            <a:endParaRPr lang="en-US" sz="1700" dirty="0"/>
          </a:p>
        </p:txBody>
      </p:sp>
      <p:sp>
        <p:nvSpPr>
          <p:cNvPr id="28" name="Text 26"/>
          <p:cNvSpPr txBox="1"/>
          <p:nvPr/>
        </p:nvSpPr>
        <p:spPr>
          <a:xfrm>
            <a:off x="6693408" y="5237226"/>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Recognizing power differences between staff and families</a:t>
            </a:r>
            <a:endParaRPr lang="en-US" sz="1700" dirty="0"/>
          </a:p>
        </p:txBody>
      </p:sp>
      <p:sp>
        <p:nvSpPr>
          <p:cNvPr id="29" name="Shape 27"/>
          <p:cNvSpPr/>
          <p:nvPr/>
        </p:nvSpPr>
        <p:spPr>
          <a:xfrm>
            <a:off x="5934456" y="5508117"/>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5508117"/>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1"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2" name="Text 2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33" name="Text 3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Culturally Competent Communication: LEARN</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a:t>
            </a:r>
            <a:endParaRPr lang="en-US" sz="2200" dirty="0"/>
          </a:p>
        </p:txBody>
      </p:sp>
      <p:sp>
        <p:nvSpPr>
          <p:cNvPr id="6" name="Shape 4"/>
          <p:cNvSpPr/>
          <p:nvPr/>
        </p:nvSpPr>
        <p:spPr>
          <a:xfrm>
            <a:off x="548640" y="2468880"/>
            <a:ext cx="2036003" cy="292608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Listen</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With empathy to the family's understanding of the problem.</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a:t>
            </a:r>
            <a:endParaRPr lang="en-US" sz="2200" dirty="0"/>
          </a:p>
        </p:txBody>
      </p:sp>
      <p:sp>
        <p:nvSpPr>
          <p:cNvPr id="11" name="Shape 9"/>
          <p:cNvSpPr/>
          <p:nvPr/>
        </p:nvSpPr>
        <p:spPr>
          <a:xfrm>
            <a:off x="2813243" y="2468880"/>
            <a:ext cx="2036003" cy="292608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Explain</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Your perspective and the care team's approach in plain language.</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6" name="Shape 14"/>
          <p:cNvSpPr/>
          <p:nvPr/>
        </p:nvSpPr>
        <p:spPr>
          <a:xfrm>
            <a:off x="5077846" y="2468880"/>
            <a:ext cx="2036003" cy="292608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Acknowledge</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Similarities and differences between views.</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21" name="Shape 19"/>
          <p:cNvSpPr/>
          <p:nvPr/>
        </p:nvSpPr>
        <p:spPr>
          <a:xfrm>
            <a:off x="7342449" y="2468880"/>
            <a:ext cx="2036003" cy="292608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Recommend</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Options that respect the family's values.</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N</a:t>
            </a:r>
            <a:endParaRPr lang="en-US" sz="2200" dirty="0"/>
          </a:p>
        </p:txBody>
      </p:sp>
      <p:sp>
        <p:nvSpPr>
          <p:cNvPr id="26" name="Shape 24"/>
          <p:cNvSpPr/>
          <p:nvPr/>
        </p:nvSpPr>
        <p:spPr>
          <a:xfrm>
            <a:off x="9607052" y="2468880"/>
            <a:ext cx="2036003" cy="292608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Negotiate</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A plan together that the family can accept.</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Working with Interpreters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qualified interpreters </a:t>
            </a:r>
            <a:r>
              <a:rPr lang="en-US" sz="1800" dirty="0">
                <a:solidFill>
                  <a:srgbClr val="24302D"/>
                </a:solidFill>
                <a:latin typeface="Calibri" pitchFamily="34" charset="0"/>
                <a:ea typeface="Calibri" pitchFamily="34" charset="-122"/>
                <a:cs typeface="Calibri" pitchFamily="34" charset="-120"/>
              </a:rPr>
              <a:t>— not family members, and never children — for health information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Speak directly to the person, </a:t>
            </a:r>
            <a:r>
              <a:rPr lang="en-US" sz="1800" dirty="0">
                <a:solidFill>
                  <a:srgbClr val="24302D"/>
                </a:solidFill>
                <a:latin typeface="Calibri" pitchFamily="34" charset="0"/>
                <a:ea typeface="Calibri" pitchFamily="34" charset="-122"/>
                <a:cs typeface="Calibri" pitchFamily="34" charset="-120"/>
              </a:rPr>
              <a:t>not to the interpreter</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short sentences </a:t>
            </a:r>
            <a:r>
              <a:rPr lang="en-US" sz="1800" dirty="0">
                <a:solidFill>
                  <a:srgbClr val="24302D"/>
                </a:solidFill>
                <a:latin typeface="Calibri" pitchFamily="34" charset="0"/>
                <a:ea typeface="Calibri" pitchFamily="34" charset="-122"/>
                <a:cs typeface="Calibri" pitchFamily="34" charset="-120"/>
              </a:rPr>
              <a:t>and pause often to allow interpretation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Avoid jargon and idioms </a:t>
            </a:r>
            <a:r>
              <a:rPr lang="en-US" sz="1800" dirty="0">
                <a:solidFill>
                  <a:srgbClr val="24302D"/>
                </a:solidFill>
                <a:latin typeface="Calibri" pitchFamily="34" charset="0"/>
                <a:ea typeface="Calibri" pitchFamily="34" charset="-122"/>
                <a:cs typeface="Calibri" pitchFamily="34" charset="-120"/>
              </a:rPr>
              <a:t>that may not translate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teach-back </a:t>
            </a:r>
            <a:r>
              <a:rPr lang="en-US" sz="1800" dirty="0">
                <a:solidFill>
                  <a:srgbClr val="24302D"/>
                </a:solidFill>
                <a:latin typeface="Calibri" pitchFamily="34" charset="0"/>
                <a:ea typeface="Calibri" pitchFamily="34" charset="-122"/>
                <a:cs typeface="Calibri" pitchFamily="34" charset="-120"/>
              </a:rPr>
              <a:t>through the interpreter to confirm understanding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Provide translated written materials </a:t>
            </a:r>
            <a:r>
              <a:rPr lang="en-US" sz="1800" dirty="0">
                <a:solidFill>
                  <a:srgbClr val="24302D"/>
                </a:solidFill>
                <a:latin typeface="Calibri" pitchFamily="34" charset="0"/>
                <a:ea typeface="Calibri" pitchFamily="34" charset="-122"/>
                <a:cs typeface="Calibri" pitchFamily="34" charset="-120"/>
              </a:rPr>
              <a:t>and document the language used and the interpreter</a:t>
            </a:r>
            <a:endParaRPr lang="en-US" sz="1800" dirty="0"/>
          </a:p>
        </p:txBody>
      </p:sp>
      <p:sp>
        <p:nvSpPr>
          <p:cNvPr id="4" name="Shape 2"/>
          <p:cNvSpPr/>
          <p:nvPr/>
        </p:nvSpPr>
        <p:spPr>
          <a:xfrm>
            <a:off x="7589520" y="1417320"/>
            <a:ext cx="4053535" cy="3413760"/>
          </a:xfrm>
          <a:prstGeom prst="roundRect">
            <a:avLst>
              <a:gd name="adj" fmla="val 321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Why not family?</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Family members may filter information, protect the person from bad news, or be unfamiliar with medical terms. The person also deserves privacy. Offer an interpreter even when family is present.</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Respecting Family Roles and Beliefs</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Decision-making varies: </a:t>
            </a:r>
            <a:r>
              <a:rPr lang="en-US" sz="1900" dirty="0">
                <a:solidFill>
                  <a:srgbClr val="24302D"/>
                </a:solidFill>
                <a:latin typeface="Calibri" pitchFamily="34" charset="0"/>
                <a:ea typeface="Calibri" pitchFamily="34" charset="-122"/>
                <a:cs typeface="Calibri" pitchFamily="34" charset="-120"/>
              </a:rPr>
              <a:t>some families decide collectively, or defer to an elder or a particular family member</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Caregiving expectations differ: </a:t>
            </a:r>
            <a:r>
              <a:rPr lang="en-US" sz="1900" dirty="0">
                <a:solidFill>
                  <a:srgbClr val="24302D"/>
                </a:solidFill>
                <a:latin typeface="Calibri" pitchFamily="34" charset="0"/>
                <a:ea typeface="Calibri" pitchFamily="34" charset="-122"/>
                <a:cs typeface="Calibri" pitchFamily="34" charset="-120"/>
              </a:rPr>
              <a:t>accepting outside help may feel like failing a duty</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Language about dementia matters: </a:t>
            </a:r>
            <a:r>
              <a:rPr lang="en-US" sz="1900" dirty="0">
                <a:solidFill>
                  <a:srgbClr val="24302D"/>
                </a:solidFill>
                <a:latin typeface="Calibri" pitchFamily="34" charset="0"/>
                <a:ea typeface="Calibri" pitchFamily="34" charset="-122"/>
                <a:cs typeface="Calibri" pitchFamily="34" charset="-120"/>
              </a:rPr>
              <a:t>some languages have no word for dementia, or use terms that carry stigma</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Faith and traditional practices </a:t>
            </a:r>
            <a:r>
              <a:rPr lang="en-US" sz="1900" dirty="0">
                <a:solidFill>
                  <a:srgbClr val="24302D"/>
                </a:solidFill>
                <a:latin typeface="Calibri" pitchFamily="34" charset="0"/>
                <a:ea typeface="Calibri" pitchFamily="34" charset="-122"/>
                <a:cs typeface="Calibri" pitchFamily="34" charset="-120"/>
              </a:rPr>
              <a:t>may be central to coping and care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Food, modesty, and gender preferences </a:t>
            </a:r>
            <a:r>
              <a:rPr lang="en-US" sz="1900" dirty="0">
                <a:solidFill>
                  <a:srgbClr val="24302D"/>
                </a:solidFill>
                <a:latin typeface="Calibri" pitchFamily="34" charset="0"/>
                <a:ea typeface="Calibri" pitchFamily="34" charset="-122"/>
                <a:cs typeface="Calibri" pitchFamily="34" charset="-120"/>
              </a:rPr>
              <a:t>can shape bathing, dressing, and meal planning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Always ask </a:t>
            </a:r>
            <a:r>
              <a:rPr lang="en-US" sz="1900" dirty="0">
                <a:solidFill>
                  <a:srgbClr val="24302D"/>
                </a:solidFill>
                <a:latin typeface="Calibri" pitchFamily="34" charset="0"/>
                <a:ea typeface="Calibri" pitchFamily="34" charset="-122"/>
                <a:cs typeface="Calibri" pitchFamily="34" charset="-120"/>
              </a:rPr>
              <a:t>about preferences instead of assuming</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Supporting LGBTQ+ Older Adults</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History matters: </a:t>
            </a:r>
            <a:r>
              <a:rPr lang="en-US" sz="1900" dirty="0">
                <a:solidFill>
                  <a:srgbClr val="24302D"/>
                </a:solidFill>
                <a:latin typeface="Calibri" pitchFamily="34" charset="0"/>
                <a:ea typeface="Calibri" pitchFamily="34" charset="-122"/>
                <a:cs typeface="Calibri" pitchFamily="34" charset="-120"/>
              </a:rPr>
              <a:t>many older LGBTQ+ adults experienced discrimination, including in health care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Chosen family: </a:t>
            </a:r>
            <a:r>
              <a:rPr lang="en-US" sz="1900" dirty="0">
                <a:solidFill>
                  <a:srgbClr val="24302D"/>
                </a:solidFill>
                <a:latin typeface="Calibri" pitchFamily="34" charset="0"/>
                <a:ea typeface="Calibri" pitchFamily="34" charset="-122"/>
                <a:cs typeface="Calibri" pitchFamily="34" charset="-120"/>
              </a:rPr>
              <a:t>partners and friends may be the primary caregivers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Legal protection: </a:t>
            </a:r>
            <a:r>
              <a:rPr lang="en-US" sz="1900" dirty="0">
                <a:solidFill>
                  <a:srgbClr val="24302D"/>
                </a:solidFill>
                <a:latin typeface="Calibri" pitchFamily="34" charset="0"/>
                <a:ea typeface="Calibri" pitchFamily="34" charset="-122"/>
                <a:cs typeface="Calibri" pitchFamily="34" charset="-120"/>
              </a:rPr>
              <a:t>advance directives are especially important to ensure chosen decision-makers are recognized</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Use inclusive language: </a:t>
            </a:r>
            <a:r>
              <a:rPr lang="en-US" sz="1900" dirty="0">
                <a:solidFill>
                  <a:srgbClr val="24302D"/>
                </a:solidFill>
                <a:latin typeface="Calibri" pitchFamily="34" charset="0"/>
                <a:ea typeface="Calibri" pitchFamily="34" charset="-122"/>
                <a:cs typeface="Calibri" pitchFamily="34" charset="-120"/>
              </a:rPr>
              <a:t>ask "Who is important to you?" rather than assuming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Respect identity: </a:t>
            </a:r>
            <a:r>
              <a:rPr lang="en-US" sz="1900" dirty="0">
                <a:solidFill>
                  <a:srgbClr val="24302D"/>
                </a:solidFill>
                <a:latin typeface="Calibri" pitchFamily="34" charset="0"/>
                <a:ea typeface="Calibri" pitchFamily="34" charset="-122"/>
                <a:cs typeface="Calibri" pitchFamily="34" charset="-120"/>
              </a:rPr>
              <a:t>use the person's name and pronouns, and honor their history as dementia progresses</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Faith and Spirituality in Dementia Care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Ask about faith </a:t>
            </a:r>
            <a:r>
              <a:rPr lang="en-US" sz="1900" dirty="0">
                <a:solidFill>
                  <a:srgbClr val="24302D"/>
                </a:solidFill>
                <a:latin typeface="Calibri" pitchFamily="34" charset="0"/>
                <a:ea typeface="Calibri" pitchFamily="34" charset="-122"/>
                <a:cs typeface="Calibri" pitchFamily="34" charset="-120"/>
              </a:rPr>
              <a:t>and what role it plays in coping and daily life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Familiar rituals: </a:t>
            </a:r>
            <a:r>
              <a:rPr lang="en-US" sz="1900" dirty="0">
                <a:solidFill>
                  <a:srgbClr val="24302D"/>
                </a:solidFill>
                <a:latin typeface="Calibri" pitchFamily="34" charset="0"/>
                <a:ea typeface="Calibri" pitchFamily="34" charset="-122"/>
                <a:cs typeface="Calibri" pitchFamily="34" charset="-120"/>
              </a:rPr>
              <a:t>prayers, hymns, and scripture often remain meaningful late in the disease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Faith communities </a:t>
            </a:r>
            <a:r>
              <a:rPr lang="en-US" sz="1900" dirty="0">
                <a:solidFill>
                  <a:srgbClr val="24302D"/>
                </a:solidFill>
                <a:latin typeface="Calibri" pitchFamily="34" charset="0"/>
                <a:ea typeface="Calibri" pitchFamily="34" charset="-122"/>
                <a:cs typeface="Calibri" pitchFamily="34" charset="-120"/>
              </a:rPr>
              <a:t>can offer visits, meals, transportation, and respite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Beliefs may shape decisions </a:t>
            </a:r>
            <a:r>
              <a:rPr lang="en-US" sz="1900" dirty="0">
                <a:solidFill>
                  <a:srgbClr val="24302D"/>
                </a:solidFill>
                <a:latin typeface="Calibri" pitchFamily="34" charset="0"/>
                <a:ea typeface="Calibri" pitchFamily="34" charset="-122"/>
                <a:cs typeface="Calibri" pitchFamily="34" charset="-120"/>
              </a:rPr>
              <a:t>about treatment, end-of-life care, and who provides care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Include spiritual preferences </a:t>
            </a:r>
            <a:r>
              <a:rPr lang="en-US" sz="1900" dirty="0">
                <a:solidFill>
                  <a:srgbClr val="24302D"/>
                </a:solidFill>
                <a:latin typeface="Calibri" pitchFamily="34" charset="0"/>
                <a:ea typeface="Calibri" pitchFamily="34" charset="-122"/>
                <a:cs typeface="Calibri" pitchFamily="34" charset="-120"/>
              </a:rPr>
              <a:t>in the care plan and "About Me" profile</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Reflection and Practice</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12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Individual reflection, then pairs</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Reflect privately: what beliefs about aging, illness, and family did you grow up with?</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might those beliefs shape your assumptions about families you serve?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In pairs, practice asking three LEARN questions about a family's beliefs about memory loss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Share one assumption you want to be more aware of in your work</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Mrs. Nguyen, age 80</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Mrs. Nguyen emigrated from Vietnam 40 years ago and has moderate dementia. She now speaks mostly Vietnamese, though she spoke English at work for decades. She lives with her son, daughter-in-law, and grandchildren, who share her care.</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The family has declined in-home respite, saying, "We take care of our own." Her grandson, age 15, has been interpreting during calls. The family refers to her condition as "getting old" and is not sure the diagnosis is correct.</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cultural and language factors are at play?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is the problem with the grandson interpreting?</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could you use LEARN with this family?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might you frame support in a way that fits their values?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resources could help?</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Caring for Yourself as a Navigator</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Compassion fatigue </a:t>
            </a:r>
            <a:r>
              <a:rPr lang="en-US" sz="1800" dirty="0">
                <a:solidFill>
                  <a:srgbClr val="24302D"/>
                </a:solidFill>
                <a:latin typeface="Calibri" pitchFamily="34" charset="0"/>
                <a:ea typeface="Calibri" pitchFamily="34" charset="-122"/>
                <a:cs typeface="Calibri" pitchFamily="34" charset="-120"/>
              </a:rPr>
              <a:t>is a real risk when supporting families through loss and crisis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Know the signs: </a:t>
            </a:r>
            <a:r>
              <a:rPr lang="en-US" sz="1800" dirty="0">
                <a:solidFill>
                  <a:srgbClr val="24302D"/>
                </a:solidFill>
                <a:latin typeface="Calibri" pitchFamily="34" charset="0"/>
                <a:ea typeface="Calibri" pitchFamily="34" charset="-122"/>
                <a:cs typeface="Calibri" pitchFamily="34" charset="-120"/>
              </a:rPr>
              <a:t>exhaustion, irritability, dreading work, feeling numb or hopeless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Set boundaries: </a:t>
            </a:r>
            <a:r>
              <a:rPr lang="en-US" sz="1800" dirty="0">
                <a:solidFill>
                  <a:srgbClr val="24302D"/>
                </a:solidFill>
                <a:latin typeface="Calibri" pitchFamily="34" charset="0"/>
                <a:ea typeface="Calibri" pitchFamily="34" charset="-122"/>
                <a:cs typeface="Calibri" pitchFamily="34" charset="-120"/>
              </a:rPr>
              <a:t>use work phones and hours; hand off after-hours needs to the 24/7 line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Debrief: </a:t>
            </a:r>
            <a:r>
              <a:rPr lang="en-US" sz="1800" dirty="0">
                <a:solidFill>
                  <a:srgbClr val="24302D"/>
                </a:solidFill>
                <a:latin typeface="Calibri" pitchFamily="34" charset="0"/>
                <a:ea typeface="Calibri" pitchFamily="34" charset="-122"/>
                <a:cs typeface="Calibri" pitchFamily="34" charset="-120"/>
              </a:rPr>
              <a:t>talk with your supervisor or team after difficult cases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resources: </a:t>
            </a:r>
            <a:r>
              <a:rPr lang="en-US" sz="1800" dirty="0">
                <a:solidFill>
                  <a:srgbClr val="24302D"/>
                </a:solidFill>
                <a:latin typeface="Calibri" pitchFamily="34" charset="0"/>
                <a:ea typeface="Calibri" pitchFamily="34" charset="-122"/>
                <a:cs typeface="Calibri" pitchFamily="34" charset="-120"/>
              </a:rPr>
              <a:t>Employee Assistance Program, peer support, and time off</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You matter too</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The same care we teach caregivers applies to us. A supported navigator provides better support to families.</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caregiver says, "I'm fine," but looks exhausted and mentions she hasn't seen her own doctor in a year. What is the best next step?</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Accept her answer and move on</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Ask open-ended questions privately about how she is coping, and explore support options</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Tell her she needs to put her mother in a nursing home</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Only focus on the beneficiary</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Spanish-speaking beneficiary's 12-year-old grandson offers to interpret during a care planning visit. What should you do?</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Accept — he knows the family best</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Use a qualified medical interpreter, and thank the grandson for his help</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Speak slowly in English instead</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Reschedule until an adult relative is available</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statement about grief in dementia caregiving is TRUE?</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Grief only begins after the person dies</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Caregivers often grieve losses throughout the illness, and mixed feelings are normal</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Feeling relief means the caregiver did not love the person</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Navigators should avoid talking about grief</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Program Wrap-Up</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Bringing all seven modules together</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7</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Care Navigator Training: 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Behavior is communication; lead with understanding and non-drug strategies</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Keep the person at the center of every assessment and plan</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Safety, medication, and transitions need constant attention</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Plan ahead early, and support decision-making for as long as possible</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Coordinate care and close the loop on every referral</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Caregivers are part of the dyad — support them, and respect every culture</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7</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Completing Your Training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Attendance: </a:t>
            </a:r>
            <a:r>
              <a:rPr lang="en-US" sz="1800" dirty="0">
                <a:solidFill>
                  <a:srgbClr val="24302D"/>
                </a:solidFill>
                <a:latin typeface="Calibri" pitchFamily="34" charset="0"/>
                <a:ea typeface="Calibri" pitchFamily="34" charset="-122"/>
                <a:cs typeface="Calibri" pitchFamily="34" charset="-120"/>
              </a:rPr>
              <a:t>sign-in confirmed for all seven modules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Knowledge checks: </a:t>
            </a:r>
            <a:r>
              <a:rPr lang="en-US" sz="1800" dirty="0">
                <a:solidFill>
                  <a:srgbClr val="24302D"/>
                </a:solidFill>
                <a:latin typeface="Calibri" pitchFamily="34" charset="0"/>
                <a:ea typeface="Calibri" pitchFamily="34" charset="-122"/>
                <a:cs typeface="Calibri" pitchFamily="34" charset="-120"/>
              </a:rPr>
              <a:t>completed for each module, per AbleLiving/MPS passing standard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Skills check-off: </a:t>
            </a:r>
            <a:r>
              <a:rPr lang="en-US" sz="1800" dirty="0">
                <a:solidFill>
                  <a:srgbClr val="24302D"/>
                </a:solidFill>
                <a:latin typeface="Calibri" pitchFamily="34" charset="0"/>
                <a:ea typeface="Calibri" pitchFamily="34" charset="-122"/>
                <a:cs typeface="Calibri" pitchFamily="34" charset="-120"/>
              </a:rPr>
              <a:t>observed assessment visit, SBAR communication, and caregiver teach-back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Shadowing: </a:t>
            </a:r>
            <a:r>
              <a:rPr lang="en-US" sz="1800" dirty="0">
                <a:solidFill>
                  <a:srgbClr val="24302D"/>
                </a:solidFill>
                <a:latin typeface="Calibri" pitchFamily="34" charset="0"/>
                <a:ea typeface="Calibri" pitchFamily="34" charset="-122"/>
                <a:cs typeface="Calibri" pitchFamily="34" charset="-120"/>
              </a:rPr>
              <a:t>accompany an experienced navigator on home visits before independent work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Attestation: </a:t>
            </a:r>
            <a:r>
              <a:rPr lang="en-US" sz="1800" dirty="0">
                <a:solidFill>
                  <a:srgbClr val="24302D"/>
                </a:solidFill>
                <a:latin typeface="Calibri" pitchFamily="34" charset="0"/>
                <a:ea typeface="Calibri" pitchFamily="34" charset="-122"/>
                <a:cs typeface="Calibri" pitchFamily="34" charset="-120"/>
              </a:rPr>
              <a:t>sign the GUIDE Care Navigator training attestation for your training record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Ongoing learning: </a:t>
            </a:r>
            <a:r>
              <a:rPr lang="en-US" sz="1800" dirty="0">
                <a:solidFill>
                  <a:srgbClr val="24302D"/>
                </a:solidFill>
                <a:latin typeface="Calibri" pitchFamily="34" charset="0"/>
                <a:ea typeface="Calibri" pitchFamily="34" charset="-122"/>
                <a:cs typeface="Calibri" pitchFamily="34" charset="-120"/>
              </a:rPr>
              <a:t>annual refresher and updates when GUIDE program rules change</a:t>
            </a:r>
            <a:endParaRPr lang="en-US" sz="1800" dirty="0"/>
          </a:p>
        </p:txBody>
      </p:sp>
      <p:sp>
        <p:nvSpPr>
          <p:cNvPr id="4" name="Shape 2"/>
          <p:cNvSpPr/>
          <p:nvPr/>
        </p:nvSpPr>
        <p:spPr>
          <a:xfrm>
            <a:off x="7589520" y="1417320"/>
            <a:ext cx="4053535" cy="3413760"/>
          </a:xfrm>
          <a:prstGeom prst="roundRect">
            <a:avLst>
              <a:gd name="adj" fmla="val 321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Thank you</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The work you do helps people living with dementia stay at home with dignity, and helps their families feel less alone. Welcome to the AbleLiving Memory Support team.</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7</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7: Supporting the Caregiver &amp; Diversity in Dementia.</a:t>
            </a:r>
            <a:endParaRPr lang="en-US" sz="1800" dirty="0"/>
          </a:p>
        </p:txBody>
      </p:sp>
      <p:sp>
        <p:nvSpPr>
          <p:cNvPr id="7" name="Text 3"/>
          <p:cNvSpPr txBox="1"/>
          <p:nvPr/>
        </p:nvSpPr>
        <p:spPr>
          <a:xfrm>
            <a:off x="548640" y="4206240"/>
            <a:ext cx="6675120" cy="731520"/>
          </a:xfrm>
          <a:prstGeom prst="rect">
            <a:avLst/>
          </a:prstGeom>
          <a:noFill/>
          <a:ln/>
        </p:spPr>
        <p:txBody>
          <a:bodyPr wrap="square" lIns="0" tIns="0" rIns="0" bIns="0" rtlCol="0" anchor="t"/>
          <a:lstStyle/>
          <a:p>
            <a:pPr indent="0" marL="0">
              <a:buNone/>
            </a:pPr>
            <a:r>
              <a:rPr lang="en-US" sz="2000" i="1" dirty="0">
                <a:solidFill>
                  <a:srgbClr val="F8CB27"/>
                </a:solidFill>
                <a:latin typeface="Cambria" pitchFamily="34" charset="0"/>
                <a:ea typeface="Cambria" pitchFamily="34" charset="-122"/>
                <a:cs typeface="Cambria" pitchFamily="34" charset="-120"/>
              </a:rPr>
              <a:t>Congratulations on completing GUIDE Care Navigator Training.</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7: Supporting the Caregiver &amp; Diversity in Dementia</dc:title>
  <dc:subject>PptxGenJS Presentation</dc:subject>
  <dc:creator>AbleLiving Memory Support</dc:creator>
  <cp:lastModifiedBy>AbleLiving Memory Support</cp:lastModifiedBy>
  <cp:revision>1</cp:revision>
  <dcterms:created xsi:type="dcterms:W3CDTF">2026-09-24T19:29:17Z</dcterms:created>
  <dcterms:modified xsi:type="dcterms:W3CDTF">2026-09-24T19:29:17Z</dcterms:modified>
</cp:coreProperties>
</file>