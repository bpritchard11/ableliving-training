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2 builds directly on the search and verification habits from Module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Duplicate prevention is the single most valuable habit in this module. Merging charts later is a controlled, supervised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'caregiver' does not automatically mean 'authorized to receive PHI'. A signed release or legal document is what authorizes.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slideLayout" Target="../slideLayouts/slideLayout1.xml"/><Relationship Id="rId9"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slideLayout" Target="../slideLayouts/slideLayout1.xml"/><Relationship Id="rId9"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slideLayout" Target="../slideLayouts/slideLayout1.xml"/><Relationship Id="rId9"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image" Target="../media/image-33-7.png"/><Relationship Id="rId8" Type="http://schemas.openxmlformats.org/officeDocument/2006/relationships/slideLayout" Target="../slideLayouts/slideLayout1.xml"/><Relationship Id="rId9"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4A87"/>
        </a:solidFill>
      </p:bgPr>
    </p:bg>
    <p:spTree>
      <p:nvGrpSpPr>
        <p:cNvPr id="1" name=""/>
        <p:cNvGrpSpPr/>
        <p:nvPr/>
      </p:nvGrpSpPr>
      <p:grpSpPr>
        <a:xfrm>
          <a:off x="0" y="0"/>
          <a:ext cx="0" cy="0"/>
          <a:chOff x="0" y="0"/>
          <a:chExt cx="0" cy="0"/>
        </a:xfrm>
      </p:grpSpPr>
      <p:sp>
        <p:nvSpPr>
          <p:cNvPr id="2" name="Shape 0"/>
          <p:cNvSpPr/>
          <p:nvPr/>
        </p:nvSpPr>
        <p:spPr>
          <a:xfrm>
            <a:off x="8595360" y="-2011680"/>
            <a:ext cx="5943600" cy="5943600"/>
          </a:xfrm>
          <a:prstGeom prst="ellipse">
            <a:avLst/>
          </a:prstGeom>
          <a:solidFill>
            <a:srgbClr val="84ACDF">
              <a:alpha val="20000"/>
            </a:srgbClr>
          </a:solidFill>
          <a:ln w="12700">
            <a:solidFill>
              <a:srgbClr val="84ACDF">
                <a:alpha val="20000"/>
              </a:srgbClr>
            </a:solidFill>
            <a:prstDash val="solid"/>
          </a:ln>
        </p:spPr>
      </p:sp>
      <p:sp>
        <p:nvSpPr>
          <p:cNvPr id="3" name="Shape 1"/>
          <p:cNvSpPr/>
          <p:nvPr/>
        </p:nvSpPr>
        <p:spPr>
          <a:xfrm>
            <a:off x="-1645920" y="4754880"/>
            <a:ext cx="4114800" cy="4114800"/>
          </a:xfrm>
          <a:prstGeom prst="ellipse">
            <a:avLst/>
          </a:prstGeom>
          <a:solidFill>
            <a:srgbClr val="586C47">
              <a:alpha val="30000"/>
            </a:srgbClr>
          </a:solidFill>
          <a:ln w="12700">
            <a:solidFill>
              <a:srgbClr val="586C47">
                <a:alpha val="30000"/>
              </a:srgbClr>
            </a:solidFill>
            <a:prstDash val="solid"/>
          </a:ln>
        </p:spPr>
      </p:sp>
      <p:sp>
        <p:nvSpPr>
          <p:cNvPr id="4" name="Shape 2"/>
          <p:cNvSpPr/>
          <p:nvPr/>
        </p:nvSpPr>
        <p:spPr>
          <a:xfrm>
            <a:off x="731520" y="640080"/>
            <a:ext cx="3931920" cy="1691640"/>
          </a:xfrm>
          <a:prstGeom prst="roundRect">
            <a:avLst>
              <a:gd name="adj" fmla="val 8108"/>
            </a:avLst>
          </a:prstGeom>
          <a:solidFill>
            <a:srgbClr val="FFFFFF"/>
          </a:solidFill>
          <a:ln w="12700">
            <a:solidFill>
              <a:srgbClr val="FFFFFF"/>
            </a:solidFill>
            <a:prstDash val="solid"/>
          </a:ln>
        </p:spPr>
      </p:sp>
      <p:pic>
        <p:nvPicPr>
          <p:cNvPr id="5" name="Image 0" descr="/home/claude/build/logo.png">    </p:cNvPr>
          <p:cNvPicPr>
            <a:picLocks noChangeAspect="1"/>
          </p:cNvPicPr>
          <p:nvPr/>
        </p:nvPicPr>
        <p:blipFill>
          <a:blip r:embed="rId1"/>
          <a:stretch>
            <a:fillRect/>
          </a:stretch>
        </p:blipFill>
        <p:spPr>
          <a:xfrm>
            <a:off x="868680" y="731520"/>
            <a:ext cx="3657600" cy="1508760"/>
          </a:xfrm>
          <a:prstGeom prst="rect">
            <a:avLst/>
          </a:prstGeom>
        </p:spPr>
      </p:pic>
      <p:sp>
        <p:nvSpPr>
          <p:cNvPr id="6" name="Text 3"/>
          <p:cNvSpPr txBox="1"/>
          <p:nvPr/>
        </p:nvSpPr>
        <p:spPr>
          <a:xfrm>
            <a:off x="731520" y="2880360"/>
            <a:ext cx="10058400" cy="320040"/>
          </a:xfrm>
          <a:prstGeom prst="rect">
            <a:avLst/>
          </a:prstGeom>
          <a:noFill/>
          <a:ln/>
        </p:spPr>
        <p:txBody>
          <a:bodyPr wrap="square" lIns="0" tIns="0" rIns="0" bIns="0" rtlCol="0" anchor="ctr"/>
          <a:lstStyle/>
          <a:p>
            <a:pPr indent="0" marL="0">
              <a:buNone/>
            </a:pPr>
            <a:r>
              <a:rPr lang="en-US" sz="1300" b="1" spc="200" kern="0" dirty="0">
                <a:solidFill>
                  <a:srgbClr val="F1C232"/>
                </a:solidFill>
                <a:latin typeface="Calibri" pitchFamily="34" charset="0"/>
                <a:ea typeface="Calibri" pitchFamily="34" charset="-122"/>
                <a:cs typeface="Calibri" pitchFamily="34" charset="-120"/>
              </a:rPr>
              <a:t>ATHENAONE TRAINING SERIES · MODULE 2 OF 10</a:t>
            </a:r>
            <a:endParaRPr lang="en-US" sz="1300" dirty="0"/>
          </a:p>
        </p:txBody>
      </p:sp>
      <p:sp>
        <p:nvSpPr>
          <p:cNvPr id="7" name="Text 4"/>
          <p:cNvSpPr txBox="1"/>
          <p:nvPr/>
        </p:nvSpPr>
        <p:spPr>
          <a:xfrm>
            <a:off x="731520" y="3246120"/>
            <a:ext cx="10515600" cy="137160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Patient Registration, Demographics &amp; Caregiver Contacts</a:t>
            </a:r>
            <a:endParaRPr lang="en-US" sz="4400" dirty="0"/>
          </a:p>
        </p:txBody>
      </p:sp>
      <p:sp>
        <p:nvSpPr>
          <p:cNvPr id="8" name="Text 5"/>
          <p:cNvSpPr txBox="1"/>
          <p:nvPr/>
        </p:nvSpPr>
        <p:spPr>
          <a:xfrm>
            <a:off x="731520" y="4617720"/>
            <a:ext cx="9601200" cy="822960"/>
          </a:xfrm>
          <a:prstGeom prst="rect">
            <a:avLst/>
          </a:prstGeom>
          <a:noFill/>
          <a:ln/>
        </p:spPr>
        <p:txBody>
          <a:bodyPr wrap="square" lIns="0" tIns="0" rIns="0" bIns="0" rtlCol="0" anchor="ctr"/>
          <a:lstStyle/>
          <a:p>
            <a:pPr indent="0" marL="0">
              <a:buNone/>
            </a:pPr>
            <a:r>
              <a:rPr lang="en-US" sz="1800" dirty="0">
                <a:solidFill>
                  <a:srgbClr val="EAF1FA"/>
                </a:solidFill>
                <a:latin typeface="Calibri" pitchFamily="34" charset="0"/>
                <a:ea typeface="Calibri" pitchFamily="34" charset="-122"/>
                <a:cs typeface="Calibri" pitchFamily="34" charset="-120"/>
              </a:rPr>
              <a:t>Building a chart the whole care team can trust: identity, demographics, caregivers, communication preferences, and consents.</a:t>
            </a:r>
            <a:endParaRPr lang="en-US" sz="1800" dirty="0"/>
          </a:p>
        </p:txBody>
      </p:sp>
      <p:sp>
        <p:nvSpPr>
          <p:cNvPr id="9" name="Text 6"/>
          <p:cNvSpPr txBox="1"/>
          <p:nvPr/>
        </p:nvSpPr>
        <p:spPr>
          <a:xfrm>
            <a:off x="731520" y="5989320"/>
            <a:ext cx="10058400" cy="365760"/>
          </a:xfrm>
          <a:prstGeom prst="rect">
            <a:avLst/>
          </a:prstGeom>
          <a:noFill/>
          <a:ln/>
        </p:spPr>
        <p:txBody>
          <a:bodyPr wrap="square" lIns="0" tIns="0" rIns="0" bIns="0" rtlCol="0" anchor="ctr"/>
          <a:lstStyle/>
          <a:p>
            <a:pPr indent="0" marL="0">
              <a:buNone/>
            </a:pPr>
            <a:r>
              <a:rPr lang="en-US" sz="1200" dirty="0">
                <a:solidFill>
                  <a:srgbClr val="84ACDF"/>
                </a:solidFill>
                <a:latin typeface="Calibri" pitchFamily="34" charset="0"/>
                <a:ea typeface="Calibri" pitchFamily="34" charset="-122"/>
                <a:cs typeface="Calibri" pitchFamily="34" charset="-120"/>
              </a:rPr>
              <a:t>Care Navigator Curriculum  ·  Approximately 60 minutes  ·  View-only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WHAT WE'LL COVER</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Module roadmap</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2 · Patient Registration, Demographics &amp; Caregiver Contacts</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2</a:t>
            </a:r>
            <a:endParaRPr lang="en-US" sz="900" dirty="0"/>
          </a:p>
        </p:txBody>
      </p:sp>
      <p:sp>
        <p:nvSpPr>
          <p:cNvPr id="7" name="Shape 4"/>
          <p:cNvSpPr/>
          <p:nvPr/>
        </p:nvSpPr>
        <p:spPr>
          <a:xfrm>
            <a:off x="640080" y="1673352"/>
            <a:ext cx="457200" cy="457200"/>
          </a:xfrm>
          <a:prstGeom prst="ellipse">
            <a:avLst/>
          </a:prstGeom>
          <a:solidFill>
            <a:srgbClr val="1E4A87"/>
          </a:solidFill>
          <a:ln w="12700">
            <a:solidFill>
              <a:srgbClr val="1E4A87"/>
            </a:solidFill>
            <a:prstDash val="solid"/>
          </a:ln>
        </p:spPr>
      </p:sp>
      <p:sp>
        <p:nvSpPr>
          <p:cNvPr id="8" name="Text 5"/>
          <p:cNvSpPr txBox="1"/>
          <p:nvPr/>
        </p:nvSpPr>
        <p:spPr>
          <a:xfrm>
            <a:off x="640080" y="167335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6"/>
          <p:cNvSpPr txBox="1"/>
          <p:nvPr/>
        </p:nvSpPr>
        <p:spPr>
          <a:xfrm>
            <a:off x="1280160" y="1600200"/>
            <a:ext cx="7315200" cy="603504"/>
          </a:xfrm>
          <a:prstGeom prst="rect">
            <a:avLst/>
          </a:prstGeom>
          <a:noFill/>
          <a:ln/>
        </p:spPr>
        <p:txBody>
          <a:bodyPr wrap="square" lIns="0" tIns="0" rIns="0" bIns="0" rtlCol="0" anchor="ctr"/>
          <a:lstStyle/>
          <a:p>
            <a:pPr indent="0" marL="0">
              <a:buNone/>
            </a:pPr>
            <a:r>
              <a:rPr lang="en-US" sz="1800" dirty="0">
                <a:solidFill>
                  <a:srgbClr val="1F2933"/>
                </a:solidFill>
                <a:latin typeface="Calibri" pitchFamily="34" charset="0"/>
                <a:ea typeface="Calibri" pitchFamily="34" charset="-122"/>
                <a:cs typeface="Calibri" pitchFamily="34" charset="-120"/>
              </a:rPr>
              <a:t>Why registration quality matters in memory support</a:t>
            </a:r>
            <a:endParaRPr lang="en-US" sz="1800" dirty="0"/>
          </a:p>
        </p:txBody>
      </p:sp>
      <p:sp>
        <p:nvSpPr>
          <p:cNvPr id="10" name="Text 7"/>
          <p:cNvSpPr txBox="1"/>
          <p:nvPr/>
        </p:nvSpPr>
        <p:spPr>
          <a:xfrm>
            <a:off x="8778240" y="1600200"/>
            <a:ext cx="1097280" cy="603504"/>
          </a:xfrm>
          <a:prstGeom prst="rect">
            <a:avLst/>
          </a:prstGeom>
          <a:noFill/>
          <a:ln/>
        </p:spPr>
        <p:txBody>
          <a:bodyPr wrap="square" lIns="0" tIns="0" rIns="0" bIns="0" rtlCol="0" anchor="ctr"/>
          <a:lstStyle/>
          <a:p>
            <a:pPr algn="r" indent="0" marL="0">
              <a:buNone/>
            </a:pPr>
            <a:r>
              <a:rPr lang="en-US" sz="1400" dirty="0">
                <a:solidFill>
                  <a:srgbClr val="5B6773"/>
                </a:solidFill>
                <a:latin typeface="Calibri" pitchFamily="34" charset="0"/>
                <a:ea typeface="Calibri" pitchFamily="34" charset="-122"/>
                <a:cs typeface="Calibri" pitchFamily="34" charset="-120"/>
              </a:rPr>
              <a:t>5 min</a:t>
            </a:r>
            <a:endParaRPr lang="en-US" sz="1400" dirty="0"/>
          </a:p>
        </p:txBody>
      </p:sp>
      <p:sp>
        <p:nvSpPr>
          <p:cNvPr id="11" name="Shape 8"/>
          <p:cNvSpPr/>
          <p:nvPr/>
        </p:nvSpPr>
        <p:spPr>
          <a:xfrm>
            <a:off x="1280160" y="2258568"/>
            <a:ext cx="8595360" cy="0"/>
          </a:xfrm>
          <a:prstGeom prst="line">
            <a:avLst/>
          </a:prstGeom>
          <a:noFill/>
          <a:ln w="9525">
            <a:solidFill>
              <a:srgbClr val="D6DEE8"/>
            </a:solidFill>
            <a:prstDash val="solid"/>
          </a:ln>
        </p:spPr>
      </p:sp>
      <p:sp>
        <p:nvSpPr>
          <p:cNvPr id="12" name="Shape 9"/>
          <p:cNvSpPr/>
          <p:nvPr/>
        </p:nvSpPr>
        <p:spPr>
          <a:xfrm>
            <a:off x="640080" y="2386584"/>
            <a:ext cx="457200" cy="457200"/>
          </a:xfrm>
          <a:prstGeom prst="ellipse">
            <a:avLst/>
          </a:prstGeom>
          <a:solidFill>
            <a:srgbClr val="1E4A87"/>
          </a:solidFill>
          <a:ln w="12700">
            <a:solidFill>
              <a:srgbClr val="1E4A87"/>
            </a:solidFill>
            <a:prstDash val="solid"/>
          </a:ln>
        </p:spPr>
      </p:sp>
      <p:sp>
        <p:nvSpPr>
          <p:cNvPr id="13" name="Text 10"/>
          <p:cNvSpPr txBox="1"/>
          <p:nvPr/>
        </p:nvSpPr>
        <p:spPr>
          <a:xfrm>
            <a:off x="640080" y="238658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1"/>
          <p:cNvSpPr txBox="1"/>
          <p:nvPr/>
        </p:nvSpPr>
        <p:spPr>
          <a:xfrm>
            <a:off x="1280160" y="2313432"/>
            <a:ext cx="7315200" cy="603504"/>
          </a:xfrm>
          <a:prstGeom prst="rect">
            <a:avLst/>
          </a:prstGeom>
          <a:noFill/>
          <a:ln/>
        </p:spPr>
        <p:txBody>
          <a:bodyPr wrap="square" lIns="0" tIns="0" rIns="0" bIns="0" rtlCol="0" anchor="ctr"/>
          <a:lstStyle/>
          <a:p>
            <a:pPr indent="0" marL="0">
              <a:buNone/>
            </a:pPr>
            <a:r>
              <a:rPr lang="en-US" sz="1800" dirty="0">
                <a:solidFill>
                  <a:srgbClr val="1F2933"/>
                </a:solidFill>
                <a:latin typeface="Calibri" pitchFamily="34" charset="0"/>
                <a:ea typeface="Calibri" pitchFamily="34" charset="-122"/>
                <a:cs typeface="Calibri" pitchFamily="34" charset="-120"/>
              </a:rPr>
              <a:t>Registering a new patient and verifying identity</a:t>
            </a:r>
            <a:endParaRPr lang="en-US" sz="1800" dirty="0"/>
          </a:p>
        </p:txBody>
      </p:sp>
      <p:sp>
        <p:nvSpPr>
          <p:cNvPr id="15" name="Text 12"/>
          <p:cNvSpPr txBox="1"/>
          <p:nvPr/>
        </p:nvSpPr>
        <p:spPr>
          <a:xfrm>
            <a:off x="8778240" y="2313432"/>
            <a:ext cx="1097280" cy="603504"/>
          </a:xfrm>
          <a:prstGeom prst="rect">
            <a:avLst/>
          </a:prstGeom>
          <a:noFill/>
          <a:ln/>
        </p:spPr>
        <p:txBody>
          <a:bodyPr wrap="square" lIns="0" tIns="0" rIns="0" bIns="0" rtlCol="0" anchor="ctr"/>
          <a:lstStyle/>
          <a:p>
            <a:pPr algn="r" indent="0" marL="0">
              <a:buNone/>
            </a:pPr>
            <a:r>
              <a:rPr lang="en-US" sz="1400" dirty="0">
                <a:solidFill>
                  <a:srgbClr val="5B6773"/>
                </a:solidFill>
                <a:latin typeface="Calibri" pitchFamily="34" charset="0"/>
                <a:ea typeface="Calibri" pitchFamily="34" charset="-122"/>
                <a:cs typeface="Calibri" pitchFamily="34" charset="-120"/>
              </a:rPr>
              <a:t>12 min</a:t>
            </a:r>
            <a:endParaRPr lang="en-US" sz="1400" dirty="0"/>
          </a:p>
        </p:txBody>
      </p:sp>
      <p:sp>
        <p:nvSpPr>
          <p:cNvPr id="16" name="Shape 13"/>
          <p:cNvSpPr/>
          <p:nvPr/>
        </p:nvSpPr>
        <p:spPr>
          <a:xfrm>
            <a:off x="1280160" y="2971800"/>
            <a:ext cx="8595360" cy="0"/>
          </a:xfrm>
          <a:prstGeom prst="line">
            <a:avLst/>
          </a:prstGeom>
          <a:noFill/>
          <a:ln w="9525">
            <a:solidFill>
              <a:srgbClr val="D6DEE8"/>
            </a:solidFill>
            <a:prstDash val="solid"/>
          </a:ln>
        </p:spPr>
      </p:sp>
      <p:sp>
        <p:nvSpPr>
          <p:cNvPr id="17" name="Shape 14"/>
          <p:cNvSpPr/>
          <p:nvPr/>
        </p:nvSpPr>
        <p:spPr>
          <a:xfrm>
            <a:off x="640080" y="3099816"/>
            <a:ext cx="457200" cy="457200"/>
          </a:xfrm>
          <a:prstGeom prst="ellipse">
            <a:avLst/>
          </a:prstGeom>
          <a:solidFill>
            <a:srgbClr val="1E4A87"/>
          </a:solidFill>
          <a:ln w="12700">
            <a:solidFill>
              <a:srgbClr val="1E4A87"/>
            </a:solidFill>
            <a:prstDash val="solid"/>
          </a:ln>
        </p:spPr>
      </p:sp>
      <p:sp>
        <p:nvSpPr>
          <p:cNvPr id="18" name="Text 15"/>
          <p:cNvSpPr txBox="1"/>
          <p:nvPr/>
        </p:nvSpPr>
        <p:spPr>
          <a:xfrm>
            <a:off x="640080" y="309981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6"/>
          <p:cNvSpPr txBox="1"/>
          <p:nvPr/>
        </p:nvSpPr>
        <p:spPr>
          <a:xfrm>
            <a:off x="1280160" y="3026664"/>
            <a:ext cx="7315200" cy="603504"/>
          </a:xfrm>
          <a:prstGeom prst="rect">
            <a:avLst/>
          </a:prstGeom>
          <a:noFill/>
          <a:ln/>
        </p:spPr>
        <p:txBody>
          <a:bodyPr wrap="square" lIns="0" tIns="0" rIns="0" bIns="0" rtlCol="0" anchor="ctr"/>
          <a:lstStyle/>
          <a:p>
            <a:pPr indent="0" marL="0">
              <a:buNone/>
            </a:pPr>
            <a:r>
              <a:rPr lang="en-US" sz="1800" dirty="0">
                <a:solidFill>
                  <a:srgbClr val="1F2933"/>
                </a:solidFill>
                <a:latin typeface="Calibri" pitchFamily="34" charset="0"/>
                <a:ea typeface="Calibri" pitchFamily="34" charset="-122"/>
                <a:cs typeface="Calibri" pitchFamily="34" charset="-120"/>
              </a:rPr>
              <a:t>Caregiver, emergency, and authorized contacts</a:t>
            </a:r>
            <a:endParaRPr lang="en-US" sz="1800" dirty="0"/>
          </a:p>
        </p:txBody>
      </p:sp>
      <p:sp>
        <p:nvSpPr>
          <p:cNvPr id="20" name="Text 17"/>
          <p:cNvSpPr txBox="1"/>
          <p:nvPr/>
        </p:nvSpPr>
        <p:spPr>
          <a:xfrm>
            <a:off x="8778240" y="3026664"/>
            <a:ext cx="1097280" cy="603504"/>
          </a:xfrm>
          <a:prstGeom prst="rect">
            <a:avLst/>
          </a:prstGeom>
          <a:noFill/>
          <a:ln/>
        </p:spPr>
        <p:txBody>
          <a:bodyPr wrap="square" lIns="0" tIns="0" rIns="0" bIns="0" rtlCol="0" anchor="ctr"/>
          <a:lstStyle/>
          <a:p>
            <a:pPr algn="r" indent="0" marL="0">
              <a:buNone/>
            </a:pPr>
            <a:r>
              <a:rPr lang="en-US" sz="1400" dirty="0">
                <a:solidFill>
                  <a:srgbClr val="5B6773"/>
                </a:solidFill>
                <a:latin typeface="Calibri" pitchFamily="34" charset="0"/>
                <a:ea typeface="Calibri" pitchFamily="34" charset="-122"/>
                <a:cs typeface="Calibri" pitchFamily="34" charset="-120"/>
              </a:rPr>
              <a:t>15 min</a:t>
            </a:r>
            <a:endParaRPr lang="en-US" sz="1400" dirty="0"/>
          </a:p>
        </p:txBody>
      </p:sp>
      <p:sp>
        <p:nvSpPr>
          <p:cNvPr id="21" name="Shape 18"/>
          <p:cNvSpPr/>
          <p:nvPr/>
        </p:nvSpPr>
        <p:spPr>
          <a:xfrm>
            <a:off x="1280160" y="3685032"/>
            <a:ext cx="8595360" cy="0"/>
          </a:xfrm>
          <a:prstGeom prst="line">
            <a:avLst/>
          </a:prstGeom>
          <a:noFill/>
          <a:ln w="9525">
            <a:solidFill>
              <a:srgbClr val="D6DEE8"/>
            </a:solidFill>
            <a:prstDash val="solid"/>
          </a:ln>
        </p:spPr>
      </p:sp>
      <p:sp>
        <p:nvSpPr>
          <p:cNvPr id="22" name="Shape 19"/>
          <p:cNvSpPr/>
          <p:nvPr/>
        </p:nvSpPr>
        <p:spPr>
          <a:xfrm>
            <a:off x="640080" y="3813048"/>
            <a:ext cx="457200" cy="457200"/>
          </a:xfrm>
          <a:prstGeom prst="ellipse">
            <a:avLst/>
          </a:prstGeom>
          <a:solidFill>
            <a:srgbClr val="1E4A87"/>
          </a:solidFill>
          <a:ln w="12700">
            <a:solidFill>
              <a:srgbClr val="1E4A87"/>
            </a:solidFill>
            <a:prstDash val="solid"/>
          </a:ln>
        </p:spPr>
      </p:sp>
      <p:sp>
        <p:nvSpPr>
          <p:cNvPr id="23" name="Text 20"/>
          <p:cNvSpPr txBox="1"/>
          <p:nvPr/>
        </p:nvSpPr>
        <p:spPr>
          <a:xfrm>
            <a:off x="640080" y="381304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4" name="Text 21"/>
          <p:cNvSpPr txBox="1"/>
          <p:nvPr/>
        </p:nvSpPr>
        <p:spPr>
          <a:xfrm>
            <a:off x="1280160" y="3739896"/>
            <a:ext cx="7315200" cy="603504"/>
          </a:xfrm>
          <a:prstGeom prst="rect">
            <a:avLst/>
          </a:prstGeom>
          <a:noFill/>
          <a:ln/>
        </p:spPr>
        <p:txBody>
          <a:bodyPr wrap="square" lIns="0" tIns="0" rIns="0" bIns="0" rtlCol="0" anchor="ctr"/>
          <a:lstStyle/>
          <a:p>
            <a:pPr indent="0" marL="0">
              <a:buNone/>
            </a:pPr>
            <a:r>
              <a:rPr lang="en-US" sz="1800" dirty="0">
                <a:solidFill>
                  <a:srgbClr val="1F2933"/>
                </a:solidFill>
                <a:latin typeface="Calibri" pitchFamily="34" charset="0"/>
                <a:ea typeface="Calibri" pitchFamily="34" charset="-122"/>
                <a:cs typeface="Calibri" pitchFamily="34" charset="-120"/>
              </a:rPr>
              <a:t>Communication preferences, language, and access needs</a:t>
            </a:r>
            <a:endParaRPr lang="en-US" sz="1800" dirty="0"/>
          </a:p>
        </p:txBody>
      </p:sp>
      <p:sp>
        <p:nvSpPr>
          <p:cNvPr id="25" name="Text 22"/>
          <p:cNvSpPr txBox="1"/>
          <p:nvPr/>
        </p:nvSpPr>
        <p:spPr>
          <a:xfrm>
            <a:off x="8778240" y="3739896"/>
            <a:ext cx="1097280" cy="603504"/>
          </a:xfrm>
          <a:prstGeom prst="rect">
            <a:avLst/>
          </a:prstGeom>
          <a:noFill/>
          <a:ln/>
        </p:spPr>
        <p:txBody>
          <a:bodyPr wrap="square" lIns="0" tIns="0" rIns="0" bIns="0" rtlCol="0" anchor="ctr"/>
          <a:lstStyle/>
          <a:p>
            <a:pPr algn="r" indent="0" marL="0">
              <a:buNone/>
            </a:pPr>
            <a:r>
              <a:rPr lang="en-US" sz="1400" dirty="0">
                <a:solidFill>
                  <a:srgbClr val="5B6773"/>
                </a:solidFill>
                <a:latin typeface="Calibri" pitchFamily="34" charset="0"/>
                <a:ea typeface="Calibri" pitchFamily="34" charset="-122"/>
                <a:cs typeface="Calibri" pitchFamily="34" charset="-120"/>
              </a:rPr>
              <a:t>10 min</a:t>
            </a:r>
            <a:endParaRPr lang="en-US" sz="1400" dirty="0"/>
          </a:p>
        </p:txBody>
      </p:sp>
      <p:sp>
        <p:nvSpPr>
          <p:cNvPr id="26" name="Shape 23"/>
          <p:cNvSpPr/>
          <p:nvPr/>
        </p:nvSpPr>
        <p:spPr>
          <a:xfrm>
            <a:off x="1280160" y="4398264"/>
            <a:ext cx="8595360" cy="0"/>
          </a:xfrm>
          <a:prstGeom prst="line">
            <a:avLst/>
          </a:prstGeom>
          <a:noFill/>
          <a:ln w="9525">
            <a:solidFill>
              <a:srgbClr val="D6DEE8"/>
            </a:solidFill>
            <a:prstDash val="solid"/>
          </a:ln>
        </p:spPr>
      </p:sp>
      <p:sp>
        <p:nvSpPr>
          <p:cNvPr id="27" name="Shape 24"/>
          <p:cNvSpPr/>
          <p:nvPr/>
        </p:nvSpPr>
        <p:spPr>
          <a:xfrm>
            <a:off x="640080" y="4526280"/>
            <a:ext cx="457200" cy="457200"/>
          </a:xfrm>
          <a:prstGeom prst="ellipse">
            <a:avLst/>
          </a:prstGeom>
          <a:solidFill>
            <a:srgbClr val="1E4A87"/>
          </a:solidFill>
          <a:ln w="12700">
            <a:solidFill>
              <a:srgbClr val="1E4A87"/>
            </a:solidFill>
            <a:prstDash val="solid"/>
          </a:ln>
        </p:spPr>
      </p:sp>
      <p:sp>
        <p:nvSpPr>
          <p:cNvPr id="28" name="Text 25"/>
          <p:cNvSpPr txBox="1"/>
          <p:nvPr/>
        </p:nvSpPr>
        <p:spPr>
          <a:xfrm>
            <a:off x="640080" y="45262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6"/>
          <p:cNvSpPr txBox="1"/>
          <p:nvPr/>
        </p:nvSpPr>
        <p:spPr>
          <a:xfrm>
            <a:off x="1280160" y="4453128"/>
            <a:ext cx="7315200" cy="603504"/>
          </a:xfrm>
          <a:prstGeom prst="rect">
            <a:avLst/>
          </a:prstGeom>
          <a:noFill/>
          <a:ln/>
        </p:spPr>
        <p:txBody>
          <a:bodyPr wrap="square" lIns="0" tIns="0" rIns="0" bIns="0" rtlCol="0" anchor="ctr"/>
          <a:lstStyle/>
          <a:p>
            <a:pPr indent="0" marL="0">
              <a:buNone/>
            </a:pPr>
            <a:r>
              <a:rPr lang="en-US" sz="1800" dirty="0">
                <a:solidFill>
                  <a:srgbClr val="1F2933"/>
                </a:solidFill>
                <a:latin typeface="Calibri" pitchFamily="34" charset="0"/>
                <a:ea typeface="Calibri" pitchFamily="34" charset="-122"/>
                <a:cs typeface="Calibri" pitchFamily="34" charset="-120"/>
              </a:rPr>
              <a:t>Consents, release of information, and legal documents</a:t>
            </a:r>
            <a:endParaRPr lang="en-US" sz="1800" dirty="0"/>
          </a:p>
        </p:txBody>
      </p:sp>
      <p:sp>
        <p:nvSpPr>
          <p:cNvPr id="30" name="Text 27"/>
          <p:cNvSpPr txBox="1"/>
          <p:nvPr/>
        </p:nvSpPr>
        <p:spPr>
          <a:xfrm>
            <a:off x="8778240" y="4453128"/>
            <a:ext cx="1097280" cy="603504"/>
          </a:xfrm>
          <a:prstGeom prst="rect">
            <a:avLst/>
          </a:prstGeom>
          <a:noFill/>
          <a:ln/>
        </p:spPr>
        <p:txBody>
          <a:bodyPr wrap="square" lIns="0" tIns="0" rIns="0" bIns="0" rtlCol="0" anchor="ctr"/>
          <a:lstStyle/>
          <a:p>
            <a:pPr algn="r" indent="0" marL="0">
              <a:buNone/>
            </a:pPr>
            <a:r>
              <a:rPr lang="en-US" sz="1400" dirty="0">
                <a:solidFill>
                  <a:srgbClr val="5B6773"/>
                </a:solidFill>
                <a:latin typeface="Calibri" pitchFamily="34" charset="0"/>
                <a:ea typeface="Calibri" pitchFamily="34" charset="-122"/>
                <a:cs typeface="Calibri" pitchFamily="34" charset="-120"/>
              </a:rPr>
              <a:t>8 min</a:t>
            </a:r>
            <a:endParaRPr lang="en-US" sz="1400" dirty="0"/>
          </a:p>
        </p:txBody>
      </p:sp>
      <p:sp>
        <p:nvSpPr>
          <p:cNvPr id="31" name="Shape 28"/>
          <p:cNvSpPr/>
          <p:nvPr/>
        </p:nvSpPr>
        <p:spPr>
          <a:xfrm>
            <a:off x="1280160" y="5111496"/>
            <a:ext cx="8595360" cy="0"/>
          </a:xfrm>
          <a:prstGeom prst="line">
            <a:avLst/>
          </a:prstGeom>
          <a:noFill/>
          <a:ln w="9525">
            <a:solidFill>
              <a:srgbClr val="D6DEE8"/>
            </a:solidFill>
            <a:prstDash val="solid"/>
          </a:ln>
        </p:spPr>
      </p:sp>
      <p:sp>
        <p:nvSpPr>
          <p:cNvPr id="32" name="Shape 29"/>
          <p:cNvSpPr/>
          <p:nvPr/>
        </p:nvSpPr>
        <p:spPr>
          <a:xfrm>
            <a:off x="640080" y="5239512"/>
            <a:ext cx="457200" cy="457200"/>
          </a:xfrm>
          <a:prstGeom prst="ellipse">
            <a:avLst/>
          </a:prstGeom>
          <a:solidFill>
            <a:srgbClr val="1E4A87"/>
          </a:solidFill>
          <a:ln w="12700">
            <a:solidFill>
              <a:srgbClr val="1E4A87"/>
            </a:solidFill>
            <a:prstDash val="solid"/>
          </a:ln>
        </p:spPr>
      </p:sp>
      <p:sp>
        <p:nvSpPr>
          <p:cNvPr id="33" name="Text 30"/>
          <p:cNvSpPr txBox="1"/>
          <p:nvPr/>
        </p:nvSpPr>
        <p:spPr>
          <a:xfrm>
            <a:off x="640080" y="523951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4" name="Text 31"/>
          <p:cNvSpPr txBox="1"/>
          <p:nvPr/>
        </p:nvSpPr>
        <p:spPr>
          <a:xfrm>
            <a:off x="1280160" y="5166360"/>
            <a:ext cx="7315200" cy="603504"/>
          </a:xfrm>
          <a:prstGeom prst="rect">
            <a:avLst/>
          </a:prstGeom>
          <a:noFill/>
          <a:ln/>
        </p:spPr>
        <p:txBody>
          <a:bodyPr wrap="square" lIns="0" tIns="0" rIns="0" bIns="0" rtlCol="0" anchor="ctr"/>
          <a:lstStyle/>
          <a:p>
            <a:pPr indent="0" marL="0">
              <a:buNone/>
            </a:pPr>
            <a:r>
              <a:rPr lang="en-US" sz="1800" dirty="0">
                <a:solidFill>
                  <a:srgbClr val="1F2933"/>
                </a:solidFill>
                <a:latin typeface="Calibri" pitchFamily="34" charset="0"/>
                <a:ea typeface="Calibri" pitchFamily="34" charset="-122"/>
                <a:cs typeface="Calibri" pitchFamily="34" charset="-120"/>
              </a:rPr>
              <a:t>Scenario, knowledge checks, and takeaways</a:t>
            </a:r>
            <a:endParaRPr lang="en-US" sz="1800" dirty="0"/>
          </a:p>
        </p:txBody>
      </p:sp>
      <p:sp>
        <p:nvSpPr>
          <p:cNvPr id="35" name="Text 32"/>
          <p:cNvSpPr txBox="1"/>
          <p:nvPr/>
        </p:nvSpPr>
        <p:spPr>
          <a:xfrm>
            <a:off x="8778240" y="5166360"/>
            <a:ext cx="1097280" cy="603504"/>
          </a:xfrm>
          <a:prstGeom prst="rect">
            <a:avLst/>
          </a:prstGeom>
          <a:noFill/>
          <a:ln/>
        </p:spPr>
        <p:txBody>
          <a:bodyPr wrap="square" lIns="0" tIns="0" rIns="0" bIns="0" rtlCol="0" anchor="ctr"/>
          <a:lstStyle/>
          <a:p>
            <a:pPr algn="r" indent="0" marL="0">
              <a:buNone/>
            </a:pPr>
            <a:r>
              <a:rPr lang="en-US" sz="1400" dirty="0">
                <a:solidFill>
                  <a:srgbClr val="5B6773"/>
                </a:solidFill>
                <a:latin typeface="Calibri" pitchFamily="34" charset="0"/>
                <a:ea typeface="Calibri" pitchFamily="34" charset="-122"/>
                <a:cs typeface="Calibri" pitchFamily="34" charset="-120"/>
              </a:rPr>
              <a:t>10 min</a:t>
            </a:r>
            <a:endParaRPr lang="en-US" sz="1400" dirty="0"/>
          </a:p>
        </p:txBody>
      </p:sp>
      <p:sp>
        <p:nvSpPr>
          <p:cNvPr id="36" name="Shape 33"/>
          <p:cNvSpPr/>
          <p:nvPr/>
        </p:nvSpPr>
        <p:spPr>
          <a:xfrm>
            <a:off x="10241280" y="2194560"/>
            <a:ext cx="1463040" cy="1280160"/>
          </a:xfrm>
          <a:prstGeom prst="roundRect">
            <a:avLst>
              <a:gd name="adj" fmla="val 7143"/>
            </a:avLst>
          </a:prstGeom>
          <a:solidFill>
            <a:srgbClr val="EEF2E8"/>
          </a:solidFill>
          <a:ln w="12700">
            <a:solidFill>
              <a:srgbClr val="EEF2E8"/>
            </a:solidFill>
            <a:prstDash val="solid"/>
          </a:ln>
        </p:spPr>
      </p:sp>
      <p:sp>
        <p:nvSpPr>
          <p:cNvPr id="37" name="Text 34"/>
          <p:cNvSpPr txBox="1"/>
          <p:nvPr/>
        </p:nvSpPr>
        <p:spPr>
          <a:xfrm>
            <a:off x="10241280" y="2286000"/>
            <a:ext cx="1463040" cy="685800"/>
          </a:xfrm>
          <a:prstGeom prst="rect">
            <a:avLst/>
          </a:prstGeom>
          <a:noFill/>
          <a:ln/>
        </p:spPr>
        <p:txBody>
          <a:bodyPr wrap="square" lIns="0" tIns="0" rIns="0" bIns="0" rtlCol="0" anchor="ctr"/>
          <a:lstStyle/>
          <a:p>
            <a:pPr algn="ctr" indent="0" marL="0">
              <a:buNone/>
            </a:pPr>
            <a:r>
              <a:rPr lang="en-US" sz="3600" b="1" dirty="0">
                <a:solidFill>
                  <a:srgbClr val="586C47"/>
                </a:solidFill>
                <a:latin typeface="Cambria" pitchFamily="34" charset="0"/>
                <a:ea typeface="Cambria" pitchFamily="34" charset="-122"/>
                <a:cs typeface="Cambria" pitchFamily="34" charset="-120"/>
              </a:rPr>
              <a:t>60</a:t>
            </a:r>
            <a:endParaRPr lang="en-US" sz="3600" dirty="0"/>
          </a:p>
        </p:txBody>
      </p:sp>
      <p:sp>
        <p:nvSpPr>
          <p:cNvPr id="38" name="Text 35"/>
          <p:cNvSpPr txBox="1"/>
          <p:nvPr/>
        </p:nvSpPr>
        <p:spPr>
          <a:xfrm>
            <a:off x="10241280" y="2926080"/>
            <a:ext cx="1463040" cy="365760"/>
          </a:xfrm>
          <a:prstGeom prst="rect">
            <a:avLst/>
          </a:prstGeom>
          <a:noFill/>
          <a:ln/>
        </p:spPr>
        <p:txBody>
          <a:bodyPr wrap="square" lIns="0" tIns="0" rIns="0" bIns="0" rtlCol="0" anchor="ctr"/>
          <a:lstStyle/>
          <a:p>
            <a:pPr algn="ctr" indent="0" marL="0">
              <a:buNone/>
            </a:pPr>
            <a:r>
              <a:rPr lang="en-US" sz="1200" dirty="0">
                <a:solidFill>
                  <a:srgbClr val="586C47"/>
                </a:solidFill>
                <a:latin typeface="Calibri" pitchFamily="34" charset="0"/>
                <a:ea typeface="Calibri" pitchFamily="34" charset="-122"/>
                <a:cs typeface="Calibri" pitchFamily="34" charset="-120"/>
              </a:rPr>
              <a:t>minutes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LEARNING OBJECTIVES</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By the end of this module, you will be able to…</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2 · Patient Registration, Demographics &amp; Caregiver Contacts</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3</a:t>
            </a:r>
            <a:endParaRPr lang="en-US" sz="900" dirty="0"/>
          </a:p>
        </p:txBody>
      </p:sp>
      <p:sp>
        <p:nvSpPr>
          <p:cNvPr id="7" name="Shape 4"/>
          <p:cNvSpPr/>
          <p:nvPr/>
        </p:nvSpPr>
        <p:spPr>
          <a:xfrm>
            <a:off x="548640" y="1691640"/>
            <a:ext cx="5349240" cy="1051560"/>
          </a:xfrm>
          <a:prstGeom prst="roundRect">
            <a:avLst>
              <a:gd name="adj" fmla="val 8696"/>
            </a:avLst>
          </a:prstGeom>
          <a:solidFill>
            <a:srgbClr val="EAF1FA"/>
          </a:solidFill>
          <a:ln w="12700">
            <a:solidFill>
              <a:srgbClr val="EAF1FA"/>
            </a:solidFill>
            <a:prstDash val="solid"/>
          </a:ln>
        </p:spPr>
      </p:sp>
      <p:sp>
        <p:nvSpPr>
          <p:cNvPr id="8" name="Shape 5"/>
          <p:cNvSpPr/>
          <p:nvPr/>
        </p:nvSpPr>
        <p:spPr>
          <a:xfrm>
            <a:off x="731520" y="1920240"/>
            <a:ext cx="594360" cy="594360"/>
          </a:xfrm>
          <a:prstGeom prst="ellipse">
            <a:avLst/>
          </a:prstGeom>
          <a:solidFill>
            <a:srgbClr val="FFFFFF"/>
          </a:solidFill>
          <a:ln w="12700">
            <a:solidFill>
              <a:srgbClr val="FFFFFF"/>
            </a:solidFill>
            <a:prstDash val="solid"/>
          </a:ln>
        </p:spPr>
      </p:sp>
      <p:pic>
        <p:nvPicPr>
          <p:cNvPr id="9" name="Image 1" descr="preencoded.png">    </p:cNvPr>
          <p:cNvPicPr>
            <a:picLocks noChangeAspect="1"/>
          </p:cNvPicPr>
          <p:nvPr/>
        </p:nvPicPr>
        <p:blipFill>
          <a:blip r:embed="rId2"/>
          <a:stretch>
            <a:fillRect/>
          </a:stretch>
        </p:blipFill>
        <p:spPr>
          <a:xfrm>
            <a:off x="859536" y="2048256"/>
            <a:ext cx="338328" cy="338328"/>
          </a:xfrm>
          <a:prstGeom prst="rect">
            <a:avLst/>
          </a:prstGeom>
        </p:spPr>
      </p:pic>
      <p:sp>
        <p:nvSpPr>
          <p:cNvPr id="10" name="Text 6"/>
          <p:cNvSpPr txBox="1"/>
          <p:nvPr/>
        </p:nvSpPr>
        <p:spPr>
          <a:xfrm>
            <a:off x="1508760" y="1783080"/>
            <a:ext cx="4206240" cy="86868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Register a new patient with complete, verified demographics and avoid creating a duplicate chart.</a:t>
            </a:r>
            <a:endParaRPr lang="en-US" sz="1400" dirty="0"/>
          </a:p>
        </p:txBody>
      </p:sp>
      <p:sp>
        <p:nvSpPr>
          <p:cNvPr id="11" name="Shape 7"/>
          <p:cNvSpPr/>
          <p:nvPr/>
        </p:nvSpPr>
        <p:spPr>
          <a:xfrm>
            <a:off x="6263640" y="1691640"/>
            <a:ext cx="5349240" cy="1051560"/>
          </a:xfrm>
          <a:prstGeom prst="roundRect">
            <a:avLst>
              <a:gd name="adj" fmla="val 8696"/>
            </a:avLst>
          </a:prstGeom>
          <a:solidFill>
            <a:srgbClr val="EAF1FA"/>
          </a:solidFill>
          <a:ln w="12700">
            <a:solidFill>
              <a:srgbClr val="EAF1FA"/>
            </a:solidFill>
            <a:prstDash val="solid"/>
          </a:ln>
        </p:spPr>
      </p:sp>
      <p:sp>
        <p:nvSpPr>
          <p:cNvPr id="12" name="Shape 8"/>
          <p:cNvSpPr/>
          <p:nvPr/>
        </p:nvSpPr>
        <p:spPr>
          <a:xfrm>
            <a:off x="6446520" y="1920240"/>
            <a:ext cx="594360" cy="594360"/>
          </a:xfrm>
          <a:prstGeom prst="ellipse">
            <a:avLst/>
          </a:prstGeom>
          <a:solidFill>
            <a:srgbClr val="FFFFFF"/>
          </a:solidFill>
          <a:ln w="12700">
            <a:solidFill>
              <a:srgbClr val="FFFFFF"/>
            </a:solidFill>
            <a:prstDash val="solid"/>
          </a:ln>
        </p:spPr>
      </p:sp>
      <p:pic>
        <p:nvPicPr>
          <p:cNvPr id="13" name="Image 2" descr="preencoded.png">    </p:cNvPr>
          <p:cNvPicPr>
            <a:picLocks noChangeAspect="1"/>
          </p:cNvPicPr>
          <p:nvPr/>
        </p:nvPicPr>
        <p:blipFill>
          <a:blip r:embed="rId3"/>
          <a:stretch>
            <a:fillRect/>
          </a:stretch>
        </p:blipFill>
        <p:spPr>
          <a:xfrm>
            <a:off x="6574536" y="2048256"/>
            <a:ext cx="338328" cy="338328"/>
          </a:xfrm>
          <a:prstGeom prst="rect">
            <a:avLst/>
          </a:prstGeom>
        </p:spPr>
      </p:pic>
      <p:sp>
        <p:nvSpPr>
          <p:cNvPr id="14" name="Text 9"/>
          <p:cNvSpPr txBox="1"/>
          <p:nvPr/>
        </p:nvSpPr>
        <p:spPr>
          <a:xfrm>
            <a:off x="7223760" y="1783080"/>
            <a:ext cx="4206240" cy="86868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Add and maintain caregiver, emergency, and authorized contacts with the correct relationship and permissions.</a:t>
            </a:r>
            <a:endParaRPr lang="en-US" sz="1400" dirty="0"/>
          </a:p>
        </p:txBody>
      </p:sp>
      <p:sp>
        <p:nvSpPr>
          <p:cNvPr id="15" name="Shape 10"/>
          <p:cNvSpPr/>
          <p:nvPr/>
        </p:nvSpPr>
        <p:spPr>
          <a:xfrm>
            <a:off x="548640" y="3017520"/>
            <a:ext cx="5349240" cy="1051560"/>
          </a:xfrm>
          <a:prstGeom prst="roundRect">
            <a:avLst>
              <a:gd name="adj" fmla="val 8696"/>
            </a:avLst>
          </a:prstGeom>
          <a:solidFill>
            <a:srgbClr val="EAF1FA"/>
          </a:solidFill>
          <a:ln w="12700">
            <a:solidFill>
              <a:srgbClr val="EAF1FA"/>
            </a:solidFill>
            <a:prstDash val="solid"/>
          </a:ln>
        </p:spPr>
      </p:sp>
      <p:sp>
        <p:nvSpPr>
          <p:cNvPr id="16" name="Shape 11"/>
          <p:cNvSpPr/>
          <p:nvPr/>
        </p:nvSpPr>
        <p:spPr>
          <a:xfrm>
            <a:off x="731520" y="3246120"/>
            <a:ext cx="594360" cy="594360"/>
          </a:xfrm>
          <a:prstGeom prst="ellipse">
            <a:avLst/>
          </a:prstGeom>
          <a:solidFill>
            <a:srgbClr val="FFFFFF"/>
          </a:solidFill>
          <a:ln w="12700">
            <a:solidFill>
              <a:srgbClr val="FFFFFF"/>
            </a:solidFill>
            <a:prstDash val="solid"/>
          </a:ln>
        </p:spPr>
      </p:sp>
      <p:pic>
        <p:nvPicPr>
          <p:cNvPr id="17" name="Image 3" descr="preencoded.png">    </p:cNvPr>
          <p:cNvPicPr>
            <a:picLocks noChangeAspect="1"/>
          </p:cNvPicPr>
          <p:nvPr/>
        </p:nvPicPr>
        <p:blipFill>
          <a:blip r:embed="rId4"/>
          <a:stretch>
            <a:fillRect/>
          </a:stretch>
        </p:blipFill>
        <p:spPr>
          <a:xfrm>
            <a:off x="859536" y="3374136"/>
            <a:ext cx="338328" cy="338328"/>
          </a:xfrm>
          <a:prstGeom prst="rect">
            <a:avLst/>
          </a:prstGeom>
        </p:spPr>
      </p:pic>
      <p:sp>
        <p:nvSpPr>
          <p:cNvPr id="18" name="Text 12"/>
          <p:cNvSpPr txBox="1"/>
          <p:nvPr/>
        </p:nvSpPr>
        <p:spPr>
          <a:xfrm>
            <a:off x="1508760" y="3108960"/>
            <a:ext cx="4206240" cy="86868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Record communication preferences, preferred language, and access needs so outreach reaches the right person the right way.</a:t>
            </a:r>
            <a:endParaRPr lang="en-US" sz="1400" dirty="0"/>
          </a:p>
        </p:txBody>
      </p:sp>
      <p:sp>
        <p:nvSpPr>
          <p:cNvPr id="19" name="Shape 13"/>
          <p:cNvSpPr/>
          <p:nvPr/>
        </p:nvSpPr>
        <p:spPr>
          <a:xfrm>
            <a:off x="6263640" y="3017520"/>
            <a:ext cx="5349240" cy="1051560"/>
          </a:xfrm>
          <a:prstGeom prst="roundRect">
            <a:avLst>
              <a:gd name="adj" fmla="val 8696"/>
            </a:avLst>
          </a:prstGeom>
          <a:solidFill>
            <a:srgbClr val="EAF1FA"/>
          </a:solidFill>
          <a:ln w="12700">
            <a:solidFill>
              <a:srgbClr val="EAF1FA"/>
            </a:solidFill>
            <a:prstDash val="solid"/>
          </a:ln>
        </p:spPr>
      </p:sp>
      <p:sp>
        <p:nvSpPr>
          <p:cNvPr id="20" name="Shape 14"/>
          <p:cNvSpPr/>
          <p:nvPr/>
        </p:nvSpPr>
        <p:spPr>
          <a:xfrm>
            <a:off x="6446520" y="3246120"/>
            <a:ext cx="594360" cy="594360"/>
          </a:xfrm>
          <a:prstGeom prst="ellipse">
            <a:avLst/>
          </a:prstGeom>
          <a:solidFill>
            <a:srgbClr val="FFFFFF"/>
          </a:solidFill>
          <a:ln w="12700">
            <a:solidFill>
              <a:srgbClr val="FFFFFF"/>
            </a:solidFill>
            <a:prstDash val="solid"/>
          </a:ln>
        </p:spPr>
      </p:sp>
      <p:pic>
        <p:nvPicPr>
          <p:cNvPr id="21" name="Image 4" descr="preencoded.png">    </p:cNvPr>
          <p:cNvPicPr>
            <a:picLocks noChangeAspect="1"/>
          </p:cNvPicPr>
          <p:nvPr/>
        </p:nvPicPr>
        <p:blipFill>
          <a:blip r:embed="rId5"/>
          <a:stretch>
            <a:fillRect/>
          </a:stretch>
        </p:blipFill>
        <p:spPr>
          <a:xfrm>
            <a:off x="6574536" y="3374136"/>
            <a:ext cx="338328" cy="338328"/>
          </a:xfrm>
          <a:prstGeom prst="rect">
            <a:avLst/>
          </a:prstGeom>
        </p:spPr>
      </p:pic>
      <p:sp>
        <p:nvSpPr>
          <p:cNvPr id="22" name="Text 15"/>
          <p:cNvSpPr txBox="1"/>
          <p:nvPr/>
        </p:nvSpPr>
        <p:spPr>
          <a:xfrm>
            <a:off x="7223760" y="3108960"/>
            <a:ext cx="4206240" cy="86868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Attach and classify consents, releases of information, and legal documents such as healthcare proxy or power of attorney.</a:t>
            </a:r>
            <a:endParaRPr lang="en-US" sz="1400" dirty="0"/>
          </a:p>
        </p:txBody>
      </p:sp>
      <p:sp>
        <p:nvSpPr>
          <p:cNvPr id="23" name="Shape 16"/>
          <p:cNvSpPr/>
          <p:nvPr/>
        </p:nvSpPr>
        <p:spPr>
          <a:xfrm>
            <a:off x="548640" y="4343400"/>
            <a:ext cx="5349240" cy="1051560"/>
          </a:xfrm>
          <a:prstGeom prst="roundRect">
            <a:avLst>
              <a:gd name="adj" fmla="val 8696"/>
            </a:avLst>
          </a:prstGeom>
          <a:solidFill>
            <a:srgbClr val="EAF1FA"/>
          </a:solidFill>
          <a:ln w="12700">
            <a:solidFill>
              <a:srgbClr val="EAF1FA"/>
            </a:solidFill>
            <a:prstDash val="solid"/>
          </a:ln>
        </p:spPr>
      </p:sp>
      <p:sp>
        <p:nvSpPr>
          <p:cNvPr id="24" name="Shape 17"/>
          <p:cNvSpPr/>
          <p:nvPr/>
        </p:nvSpPr>
        <p:spPr>
          <a:xfrm>
            <a:off x="731520" y="4572000"/>
            <a:ext cx="594360" cy="594360"/>
          </a:xfrm>
          <a:prstGeom prst="ellipse">
            <a:avLst/>
          </a:prstGeom>
          <a:solidFill>
            <a:srgbClr val="FFFFFF"/>
          </a:solidFill>
          <a:ln w="12700">
            <a:solidFill>
              <a:srgbClr val="FFFFFF"/>
            </a:solidFill>
            <a:prstDash val="solid"/>
          </a:ln>
        </p:spPr>
      </p:sp>
      <p:pic>
        <p:nvPicPr>
          <p:cNvPr id="25" name="Image 5" descr="preencoded.png">    </p:cNvPr>
          <p:cNvPicPr>
            <a:picLocks noChangeAspect="1"/>
          </p:cNvPicPr>
          <p:nvPr/>
        </p:nvPicPr>
        <p:blipFill>
          <a:blip r:embed="rId6"/>
          <a:stretch>
            <a:fillRect/>
          </a:stretch>
        </p:blipFill>
        <p:spPr>
          <a:xfrm>
            <a:off x="859536" y="4700016"/>
            <a:ext cx="338328" cy="338328"/>
          </a:xfrm>
          <a:prstGeom prst="rect">
            <a:avLst/>
          </a:prstGeom>
        </p:spPr>
      </p:pic>
      <p:sp>
        <p:nvSpPr>
          <p:cNvPr id="26" name="Text 18"/>
          <p:cNvSpPr txBox="1"/>
          <p:nvPr/>
        </p:nvSpPr>
        <p:spPr>
          <a:xfrm>
            <a:off x="1508760" y="4434840"/>
            <a:ext cx="4206240" cy="86868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Use practice alerts to surface safety, access, and communication instructions to the whole team.</a:t>
            </a:r>
            <a:endParaRPr lang="en-US" sz="1400" dirty="0"/>
          </a:p>
        </p:txBody>
      </p:sp>
      <p:sp>
        <p:nvSpPr>
          <p:cNvPr id="27" name="Shape 19"/>
          <p:cNvSpPr/>
          <p:nvPr/>
        </p:nvSpPr>
        <p:spPr>
          <a:xfrm>
            <a:off x="6263640" y="4343400"/>
            <a:ext cx="5349240" cy="1051560"/>
          </a:xfrm>
          <a:prstGeom prst="roundRect">
            <a:avLst>
              <a:gd name="adj" fmla="val 8696"/>
            </a:avLst>
          </a:prstGeom>
          <a:solidFill>
            <a:srgbClr val="EAF1FA"/>
          </a:solidFill>
          <a:ln w="12700">
            <a:solidFill>
              <a:srgbClr val="EAF1FA"/>
            </a:solidFill>
            <a:prstDash val="solid"/>
          </a:ln>
        </p:spPr>
      </p:sp>
      <p:sp>
        <p:nvSpPr>
          <p:cNvPr id="28" name="Shape 20"/>
          <p:cNvSpPr/>
          <p:nvPr/>
        </p:nvSpPr>
        <p:spPr>
          <a:xfrm>
            <a:off x="6446520" y="4572000"/>
            <a:ext cx="594360" cy="594360"/>
          </a:xfrm>
          <a:prstGeom prst="ellipse">
            <a:avLst/>
          </a:prstGeom>
          <a:solidFill>
            <a:srgbClr val="FFFFFF"/>
          </a:solidFill>
          <a:ln w="12700">
            <a:solidFill>
              <a:srgbClr val="FFFFFF"/>
            </a:solidFill>
            <a:prstDash val="solid"/>
          </a:ln>
        </p:spPr>
      </p:sp>
      <p:pic>
        <p:nvPicPr>
          <p:cNvPr id="29" name="Image 6" descr="preencoded.png">    </p:cNvPr>
          <p:cNvPicPr>
            <a:picLocks noChangeAspect="1"/>
          </p:cNvPicPr>
          <p:nvPr/>
        </p:nvPicPr>
        <p:blipFill>
          <a:blip r:embed="rId7"/>
          <a:stretch>
            <a:fillRect/>
          </a:stretch>
        </p:blipFill>
        <p:spPr>
          <a:xfrm>
            <a:off x="6574536" y="4700016"/>
            <a:ext cx="338328" cy="338328"/>
          </a:xfrm>
          <a:prstGeom prst="rect">
            <a:avLst/>
          </a:prstGeom>
        </p:spPr>
      </p:pic>
      <p:sp>
        <p:nvSpPr>
          <p:cNvPr id="30" name="Text 21"/>
          <p:cNvSpPr txBox="1"/>
          <p:nvPr/>
        </p:nvSpPr>
        <p:spPr>
          <a:xfrm>
            <a:off x="7223760" y="4434840"/>
            <a:ext cx="4206240" cy="86868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Keep registration current through routine verification at every contact.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AF1FA"/>
        </a:solidFill>
      </p:bgPr>
    </p:bg>
    <p:spTree>
      <p:nvGrpSpPr>
        <p:cNvPr id="1" name=""/>
        <p:cNvGrpSpPr/>
        <p:nvPr/>
      </p:nvGrpSpPr>
      <p:grpSpPr>
        <a:xfrm>
          <a:off x="0" y="0"/>
          <a:ext cx="0" cy="0"/>
          <a:chOff x="0" y="0"/>
          <a:chExt cx="0" cy="0"/>
        </a:xfrm>
      </p:grpSpPr>
      <p:sp>
        <p:nvSpPr>
          <p:cNvPr id="2" name="Shape 0"/>
          <p:cNvSpPr/>
          <p:nvPr/>
        </p:nvSpPr>
        <p:spPr>
          <a:xfrm>
            <a:off x="8412480" y="1097280"/>
            <a:ext cx="4572000" cy="4572000"/>
          </a:xfrm>
          <a:prstGeom prst="ellipse">
            <a:avLst/>
          </a:prstGeom>
          <a:solidFill>
            <a:srgbClr val="84ACDF">
              <a:alpha val="35000"/>
            </a:srgbClr>
          </a:solidFill>
          <a:ln w="12700">
            <a:solidFill>
              <a:srgbClr val="84ACDF">
                <a:alpha val="35000"/>
              </a:srgbClr>
            </a:solidFill>
            <a:prstDash val="solid"/>
          </a:ln>
        </p:spPr>
      </p:sp>
      <p:pic>
        <p:nvPicPr>
          <p:cNvPr id="3"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4" name="Text 1"/>
          <p:cNvSpPr txBox="1"/>
          <p:nvPr/>
        </p:nvSpPr>
        <p:spPr>
          <a:xfrm>
            <a:off x="731520" y="2011680"/>
            <a:ext cx="5486400" cy="365760"/>
          </a:xfrm>
          <a:prstGeom prst="rect">
            <a:avLst/>
          </a:prstGeom>
          <a:noFill/>
          <a:ln/>
        </p:spPr>
        <p:txBody>
          <a:bodyPr wrap="square" lIns="0" tIns="0" rIns="0" bIns="0" rtlCol="0" anchor="ctr"/>
          <a:lstStyle/>
          <a:p>
            <a:pPr indent="0" marL="0">
              <a:buNone/>
            </a:pPr>
            <a:r>
              <a:rPr lang="en-US" sz="1400" b="1" spc="300" kern="0" dirty="0">
                <a:solidFill>
                  <a:srgbClr val="586C47"/>
                </a:solidFill>
                <a:latin typeface="Calibri" pitchFamily="34" charset="0"/>
                <a:ea typeface="Calibri" pitchFamily="34" charset="-122"/>
                <a:cs typeface="Calibri" pitchFamily="34" charset="-120"/>
              </a:rPr>
              <a:t>PART 1</a:t>
            </a:r>
            <a:endParaRPr lang="en-US" sz="1400" dirty="0"/>
          </a:p>
        </p:txBody>
      </p:sp>
      <p:sp>
        <p:nvSpPr>
          <p:cNvPr id="5" name="Text 2"/>
          <p:cNvSpPr txBox="1"/>
          <p:nvPr/>
        </p:nvSpPr>
        <p:spPr>
          <a:xfrm>
            <a:off x="731520" y="2423160"/>
            <a:ext cx="7772400" cy="1463040"/>
          </a:xfrm>
          <a:prstGeom prst="rect">
            <a:avLst/>
          </a:prstGeom>
          <a:noFill/>
          <a:ln/>
        </p:spPr>
        <p:txBody>
          <a:bodyPr wrap="square" lIns="0" tIns="0" rIns="0" bIns="0" rtlCol="0" anchor="t"/>
          <a:lstStyle/>
          <a:p>
            <a:pPr indent="0" marL="0">
              <a:buNone/>
            </a:pPr>
            <a:r>
              <a:rPr lang="en-US" sz="4000" b="1" dirty="0">
                <a:solidFill>
                  <a:srgbClr val="1E4A87"/>
                </a:solidFill>
                <a:latin typeface="Cambria" pitchFamily="34" charset="0"/>
                <a:ea typeface="Cambria" pitchFamily="34" charset="-122"/>
                <a:cs typeface="Cambria" pitchFamily="34" charset="-120"/>
              </a:rPr>
              <a:t>Why registration quality matters in memory support</a:t>
            </a:r>
            <a:endParaRPr lang="en-US" sz="4000" dirty="0"/>
          </a:p>
        </p:txBody>
      </p:sp>
      <p:sp>
        <p:nvSpPr>
          <p:cNvPr id="6" name="Text 3"/>
          <p:cNvSpPr txBox="1"/>
          <p:nvPr/>
        </p:nvSpPr>
        <p:spPr>
          <a:xfrm>
            <a:off x="731520" y="3977640"/>
            <a:ext cx="7315200" cy="1097280"/>
          </a:xfrm>
          <a:prstGeom prst="rect">
            <a:avLst/>
          </a:prstGeom>
          <a:noFill/>
          <a:ln/>
        </p:spPr>
        <p:txBody>
          <a:bodyPr wrap="square" lIns="0" tIns="0" rIns="0" bIns="0" rtlCol="0" anchor="ctr"/>
          <a:lstStyle/>
          <a:p>
            <a:pPr indent="0" marL="0">
              <a:buNone/>
            </a:pPr>
            <a:r>
              <a:rPr lang="en-US" sz="1600" dirty="0">
                <a:solidFill>
                  <a:srgbClr val="5B6773"/>
                </a:solidFill>
                <a:latin typeface="Calibri" pitchFamily="34" charset="0"/>
                <a:ea typeface="Calibri" pitchFamily="34" charset="-122"/>
                <a:cs typeface="Calibri" pitchFamily="34" charset="-120"/>
              </a:rPr>
              <a:t>For a patient living with dementia, the caregiver is often the person we actually reach. If the contact is wrong, nothing else in the chart can do its job.</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THE STAKES</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What goes wrong when registration is incomplete</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2 · Patient Registration, Demographics &amp; Caregiver Contacts</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5</a:t>
            </a:r>
            <a:endParaRPr lang="en-US" sz="900" dirty="0"/>
          </a:p>
        </p:txBody>
      </p:sp>
      <p:sp>
        <p:nvSpPr>
          <p:cNvPr id="7" name="Shape 4"/>
          <p:cNvSpPr/>
          <p:nvPr/>
        </p:nvSpPr>
        <p:spPr>
          <a:xfrm>
            <a:off x="548640" y="1691640"/>
            <a:ext cx="5408676" cy="2080260"/>
          </a:xfrm>
          <a:prstGeom prst="roundRect">
            <a:avLst>
              <a:gd name="adj" fmla="val 4396"/>
            </a:avLst>
          </a:prstGeom>
          <a:solidFill>
            <a:srgbClr val="EAF1FA"/>
          </a:solidFill>
          <a:ln w="12700">
            <a:solidFill>
              <a:srgbClr val="EAF1FA"/>
            </a:solidFill>
            <a:prstDash val="solid"/>
          </a:ln>
        </p:spPr>
      </p:sp>
      <p:sp>
        <p:nvSpPr>
          <p:cNvPr id="8" name="Shape 5"/>
          <p:cNvSpPr/>
          <p:nvPr/>
        </p:nvSpPr>
        <p:spPr>
          <a:xfrm>
            <a:off x="777240" y="1920240"/>
            <a:ext cx="548640" cy="548640"/>
          </a:xfrm>
          <a:prstGeom prst="ellipse">
            <a:avLst/>
          </a:prstGeom>
          <a:solidFill>
            <a:srgbClr val="FFFFFF"/>
          </a:solidFill>
          <a:ln w="12700">
            <a:solidFill>
              <a:srgbClr val="FFFFFF"/>
            </a:solidFill>
            <a:prstDash val="solid"/>
          </a:ln>
        </p:spPr>
      </p:sp>
      <p:pic>
        <p:nvPicPr>
          <p:cNvPr id="9" name="Image 1" descr="preencoded.png">    </p:cNvPr>
          <p:cNvPicPr>
            <a:picLocks noChangeAspect="1"/>
          </p:cNvPicPr>
          <p:nvPr/>
        </p:nvPicPr>
        <p:blipFill>
          <a:blip r:embed="rId2"/>
          <a:stretch>
            <a:fillRect/>
          </a:stretch>
        </p:blipFill>
        <p:spPr>
          <a:xfrm>
            <a:off x="896112" y="2039112"/>
            <a:ext cx="310896" cy="310896"/>
          </a:xfrm>
          <a:prstGeom prst="rect">
            <a:avLst/>
          </a:prstGeom>
        </p:spPr>
      </p:pic>
      <p:sp>
        <p:nvSpPr>
          <p:cNvPr id="10" name="Text 6"/>
          <p:cNvSpPr txBox="1"/>
          <p:nvPr/>
        </p:nvSpPr>
        <p:spPr>
          <a:xfrm>
            <a:off x="1463040" y="1892808"/>
            <a:ext cx="4311396"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Unreachable families</a:t>
            </a:r>
            <a:endParaRPr lang="en-US" sz="1500" dirty="0"/>
          </a:p>
        </p:txBody>
      </p:sp>
      <p:sp>
        <p:nvSpPr>
          <p:cNvPr id="11" name="Text 7"/>
          <p:cNvSpPr txBox="1"/>
          <p:nvPr/>
        </p:nvSpPr>
        <p:spPr>
          <a:xfrm>
            <a:off x="777240" y="2606040"/>
            <a:ext cx="4951476"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Outreach calls go to a disconnected number or to the patient, who can't relay the message. Follow-ups are missed and the family feels abandoned.</a:t>
            </a:r>
            <a:endParaRPr lang="en-US" sz="1150" dirty="0"/>
          </a:p>
        </p:txBody>
      </p:sp>
      <p:sp>
        <p:nvSpPr>
          <p:cNvPr id="12" name="Shape 8"/>
          <p:cNvSpPr/>
          <p:nvPr/>
        </p:nvSpPr>
        <p:spPr>
          <a:xfrm>
            <a:off x="6231636" y="1691640"/>
            <a:ext cx="5408676" cy="2080260"/>
          </a:xfrm>
          <a:prstGeom prst="roundRect">
            <a:avLst>
              <a:gd name="adj" fmla="val 4396"/>
            </a:avLst>
          </a:prstGeom>
          <a:solidFill>
            <a:srgbClr val="EAF1FA"/>
          </a:solidFill>
          <a:ln w="12700">
            <a:solidFill>
              <a:srgbClr val="EAF1FA"/>
            </a:solidFill>
            <a:prstDash val="solid"/>
          </a:ln>
        </p:spPr>
      </p:sp>
      <p:sp>
        <p:nvSpPr>
          <p:cNvPr id="13" name="Shape 9"/>
          <p:cNvSpPr/>
          <p:nvPr/>
        </p:nvSpPr>
        <p:spPr>
          <a:xfrm>
            <a:off x="6460236" y="1920240"/>
            <a:ext cx="548640" cy="548640"/>
          </a:xfrm>
          <a:prstGeom prst="ellipse">
            <a:avLst/>
          </a:prstGeom>
          <a:solidFill>
            <a:srgbClr val="FFFFFF"/>
          </a:solidFill>
          <a:ln w="12700">
            <a:solidFill>
              <a:srgbClr val="FFFFFF"/>
            </a:solidFill>
            <a:prstDash val="solid"/>
          </a:ln>
        </p:spPr>
      </p:sp>
      <p:pic>
        <p:nvPicPr>
          <p:cNvPr id="14" name="Image 2" descr="preencoded.png">    </p:cNvPr>
          <p:cNvPicPr>
            <a:picLocks noChangeAspect="1"/>
          </p:cNvPicPr>
          <p:nvPr/>
        </p:nvPicPr>
        <p:blipFill>
          <a:blip r:embed="rId3"/>
          <a:stretch>
            <a:fillRect/>
          </a:stretch>
        </p:blipFill>
        <p:spPr>
          <a:xfrm>
            <a:off x="6579108" y="2039112"/>
            <a:ext cx="310896" cy="310896"/>
          </a:xfrm>
          <a:prstGeom prst="rect">
            <a:avLst/>
          </a:prstGeom>
        </p:spPr>
      </p:pic>
      <p:sp>
        <p:nvSpPr>
          <p:cNvPr id="15" name="Text 10"/>
          <p:cNvSpPr txBox="1"/>
          <p:nvPr/>
        </p:nvSpPr>
        <p:spPr>
          <a:xfrm>
            <a:off x="7146036" y="1892808"/>
            <a:ext cx="4311396"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Duplicate charts</a:t>
            </a:r>
            <a:endParaRPr lang="en-US" sz="1500" dirty="0"/>
          </a:p>
        </p:txBody>
      </p:sp>
      <p:sp>
        <p:nvSpPr>
          <p:cNvPr id="16" name="Text 11"/>
          <p:cNvSpPr txBox="1"/>
          <p:nvPr/>
        </p:nvSpPr>
        <p:spPr>
          <a:xfrm>
            <a:off x="6460236" y="2606040"/>
            <a:ext cx="4951476"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A second chart is created because the first wasn't found. Medications, allergies, and history are split. This is a patient-safety event.</a:t>
            </a:r>
            <a:endParaRPr lang="en-US" sz="1150" dirty="0"/>
          </a:p>
        </p:txBody>
      </p:sp>
      <p:sp>
        <p:nvSpPr>
          <p:cNvPr id="17" name="Shape 12"/>
          <p:cNvSpPr/>
          <p:nvPr/>
        </p:nvSpPr>
        <p:spPr>
          <a:xfrm>
            <a:off x="548640" y="4046220"/>
            <a:ext cx="5408676" cy="2080260"/>
          </a:xfrm>
          <a:prstGeom prst="roundRect">
            <a:avLst>
              <a:gd name="adj" fmla="val 4396"/>
            </a:avLst>
          </a:prstGeom>
          <a:solidFill>
            <a:srgbClr val="EAF1FA"/>
          </a:solidFill>
          <a:ln w="12700">
            <a:solidFill>
              <a:srgbClr val="EAF1FA"/>
            </a:solidFill>
            <a:prstDash val="solid"/>
          </a:ln>
        </p:spPr>
      </p:sp>
      <p:sp>
        <p:nvSpPr>
          <p:cNvPr id="18" name="Shape 13"/>
          <p:cNvSpPr/>
          <p:nvPr/>
        </p:nvSpPr>
        <p:spPr>
          <a:xfrm>
            <a:off x="777240" y="4274820"/>
            <a:ext cx="548640" cy="548640"/>
          </a:xfrm>
          <a:prstGeom prst="ellipse">
            <a:avLst/>
          </a:prstGeom>
          <a:solidFill>
            <a:srgbClr val="FFFFFF"/>
          </a:solidFill>
          <a:ln w="12700">
            <a:solidFill>
              <a:srgbClr val="FFFFFF"/>
            </a:solidFill>
            <a:prstDash val="solid"/>
          </a:ln>
        </p:spPr>
      </p:sp>
      <p:pic>
        <p:nvPicPr>
          <p:cNvPr id="19" name="Image 3" descr="preencoded.png">    </p:cNvPr>
          <p:cNvPicPr>
            <a:picLocks noChangeAspect="1"/>
          </p:cNvPicPr>
          <p:nvPr/>
        </p:nvPicPr>
        <p:blipFill>
          <a:blip r:embed="rId4"/>
          <a:stretch>
            <a:fillRect/>
          </a:stretch>
        </p:blipFill>
        <p:spPr>
          <a:xfrm>
            <a:off x="896112" y="4393692"/>
            <a:ext cx="310896" cy="310896"/>
          </a:xfrm>
          <a:prstGeom prst="rect">
            <a:avLst/>
          </a:prstGeom>
        </p:spPr>
      </p:pic>
      <p:sp>
        <p:nvSpPr>
          <p:cNvPr id="20" name="Text 14"/>
          <p:cNvSpPr txBox="1"/>
          <p:nvPr/>
        </p:nvSpPr>
        <p:spPr>
          <a:xfrm>
            <a:off x="1463040" y="4247388"/>
            <a:ext cx="4311396"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Privacy breaches</a:t>
            </a:r>
            <a:endParaRPr lang="en-US" sz="1500" dirty="0"/>
          </a:p>
        </p:txBody>
      </p:sp>
      <p:sp>
        <p:nvSpPr>
          <p:cNvPr id="21" name="Text 15"/>
          <p:cNvSpPr txBox="1"/>
          <p:nvPr/>
        </p:nvSpPr>
        <p:spPr>
          <a:xfrm>
            <a:off x="777240" y="4960620"/>
            <a:ext cx="4951476"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Health information is discussed with a relative who is not an authorized contact. Even a well-meaning family member can be a HIPAA violation.</a:t>
            </a:r>
            <a:endParaRPr lang="en-US" sz="1150" dirty="0"/>
          </a:p>
        </p:txBody>
      </p:sp>
      <p:sp>
        <p:nvSpPr>
          <p:cNvPr id="22" name="Shape 16"/>
          <p:cNvSpPr/>
          <p:nvPr/>
        </p:nvSpPr>
        <p:spPr>
          <a:xfrm>
            <a:off x="6231636" y="4046220"/>
            <a:ext cx="5408676" cy="2080260"/>
          </a:xfrm>
          <a:prstGeom prst="roundRect">
            <a:avLst>
              <a:gd name="adj" fmla="val 4396"/>
            </a:avLst>
          </a:prstGeom>
          <a:solidFill>
            <a:srgbClr val="EEF2E8"/>
          </a:solidFill>
          <a:ln w="12700">
            <a:solidFill>
              <a:srgbClr val="EEF2E8"/>
            </a:solidFill>
            <a:prstDash val="solid"/>
          </a:ln>
        </p:spPr>
      </p:sp>
      <p:sp>
        <p:nvSpPr>
          <p:cNvPr id="23" name="Shape 17"/>
          <p:cNvSpPr/>
          <p:nvPr/>
        </p:nvSpPr>
        <p:spPr>
          <a:xfrm>
            <a:off x="6460236" y="4274820"/>
            <a:ext cx="548640" cy="548640"/>
          </a:xfrm>
          <a:prstGeom prst="ellipse">
            <a:avLst/>
          </a:prstGeom>
          <a:solidFill>
            <a:srgbClr val="FFFFFF"/>
          </a:solidFill>
          <a:ln w="12700">
            <a:solidFill>
              <a:srgbClr val="FFFFFF"/>
            </a:solidFill>
            <a:prstDash val="solid"/>
          </a:ln>
        </p:spPr>
      </p:sp>
      <p:pic>
        <p:nvPicPr>
          <p:cNvPr id="24" name="Image 4" descr="preencoded.png">    </p:cNvPr>
          <p:cNvPicPr>
            <a:picLocks noChangeAspect="1"/>
          </p:cNvPicPr>
          <p:nvPr/>
        </p:nvPicPr>
        <p:blipFill>
          <a:blip r:embed="rId5"/>
          <a:stretch>
            <a:fillRect/>
          </a:stretch>
        </p:blipFill>
        <p:spPr>
          <a:xfrm>
            <a:off x="6579108" y="4393692"/>
            <a:ext cx="310896" cy="310896"/>
          </a:xfrm>
          <a:prstGeom prst="rect">
            <a:avLst/>
          </a:prstGeom>
        </p:spPr>
      </p:pic>
      <p:sp>
        <p:nvSpPr>
          <p:cNvPr id="25" name="Text 18"/>
          <p:cNvSpPr txBox="1"/>
          <p:nvPr/>
        </p:nvSpPr>
        <p:spPr>
          <a:xfrm>
            <a:off x="7146036" y="4247388"/>
            <a:ext cx="4311396"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Program and billing failures</a:t>
            </a:r>
            <a:endParaRPr lang="en-US" sz="1500" dirty="0"/>
          </a:p>
        </p:txBody>
      </p:sp>
      <p:sp>
        <p:nvSpPr>
          <p:cNvPr id="26" name="Text 19"/>
          <p:cNvSpPr txBox="1"/>
          <p:nvPr/>
        </p:nvSpPr>
        <p:spPr>
          <a:xfrm>
            <a:off x="6460236" y="4960620"/>
            <a:ext cx="4951476"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Wrong DOB, name mismatch with the insurance card, or missing consents cause claim denials and program enrollment gaps.</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YOUR RESPONSIBILITY</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The registration data you own as a navigator</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2 · Patient Registration, Demographics &amp; Caregiver Contacts</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6</a:t>
            </a:r>
            <a:endParaRPr lang="en-US" sz="900" dirty="0"/>
          </a:p>
        </p:txBody>
      </p:sp>
      <p:sp>
        <p:nvSpPr>
          <p:cNvPr id="7" name="Text 4"/>
          <p:cNvSpPr txBox="1"/>
          <p:nvPr/>
        </p:nvSpPr>
        <p:spPr>
          <a:xfrm>
            <a:off x="548640" y="1691640"/>
            <a:ext cx="6217920" cy="4389120"/>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Legal name, preferred name, DOB, sex, and patient ID accuracy</a:t>
            </a:r>
            <a:endParaRPr lang="en-US" sz="1400" dirty="0"/>
          </a:p>
          <a:p>
            <a:pPr marL="228600" indent="-2286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Home address (where in-home visits happen) and mailing address if different</a:t>
            </a:r>
            <a:endParaRPr lang="en-US" sz="1400" dirty="0"/>
          </a:p>
          <a:p>
            <a:pPr marL="228600" indent="-2286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Phone numbers with type (mobile, home, caregiver) and which is primary</a:t>
            </a:r>
            <a:endParaRPr lang="en-US" sz="1400" dirty="0"/>
          </a:p>
          <a:p>
            <a:pPr marL="228600" indent="-2286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Caregiver and emergency contacts with relationship and authorization level</a:t>
            </a:r>
            <a:endParaRPr lang="en-US" sz="1400" dirty="0"/>
          </a:p>
          <a:p>
            <a:pPr marL="228600" indent="-2286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Preferred language, interpreter needs, hearing/vision considerations</a:t>
            </a:r>
            <a:endParaRPr lang="en-US" sz="1400" dirty="0"/>
          </a:p>
          <a:p>
            <a:pPr marL="228600" indent="-2286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Communication preferences: who to call, how, and when</a:t>
            </a:r>
            <a:endParaRPr lang="en-US" sz="1400" dirty="0"/>
          </a:p>
          <a:p>
            <a:pPr marL="228600" indent="-2286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Consents, ROI forms, and legal decision-making documents on file</a:t>
            </a:r>
            <a:endParaRPr lang="en-US" sz="1400" dirty="0"/>
          </a:p>
        </p:txBody>
      </p:sp>
      <p:sp>
        <p:nvSpPr>
          <p:cNvPr id="8" name="Shape 5"/>
          <p:cNvSpPr/>
          <p:nvPr/>
        </p:nvSpPr>
        <p:spPr>
          <a:xfrm>
            <a:off x="7223760" y="1691640"/>
            <a:ext cx="4434840" cy="4389120"/>
          </a:xfrm>
          <a:prstGeom prst="roundRect">
            <a:avLst>
              <a:gd name="adj" fmla="val 2500"/>
            </a:avLst>
          </a:prstGeom>
          <a:solidFill>
            <a:srgbClr val="1E4A87"/>
          </a:solidFill>
          <a:ln w="12700">
            <a:solidFill>
              <a:srgbClr val="1E4A87"/>
            </a:solidFill>
            <a:prstDash val="solid"/>
          </a:ln>
        </p:spPr>
      </p:sp>
      <p:pic>
        <p:nvPicPr>
          <p:cNvPr id="9" name="Image 1" descr="preencoded.png">    </p:cNvPr>
          <p:cNvPicPr>
            <a:picLocks noChangeAspect="1"/>
          </p:cNvPicPr>
          <p:nvPr/>
        </p:nvPicPr>
        <p:blipFill>
          <a:blip r:embed="rId2"/>
          <a:stretch>
            <a:fillRect/>
          </a:stretch>
        </p:blipFill>
        <p:spPr>
          <a:xfrm>
            <a:off x="7543800" y="2011680"/>
            <a:ext cx="548640" cy="548640"/>
          </a:xfrm>
          <a:prstGeom prst="rect">
            <a:avLst/>
          </a:prstGeom>
        </p:spPr>
      </p:pic>
      <p:sp>
        <p:nvSpPr>
          <p:cNvPr id="10" name="Text 6"/>
          <p:cNvSpPr txBox="1"/>
          <p:nvPr/>
        </p:nvSpPr>
        <p:spPr>
          <a:xfrm>
            <a:off x="7543800" y="2697480"/>
            <a:ext cx="3794760" cy="731520"/>
          </a:xfrm>
          <a:prstGeom prst="rect">
            <a:avLst/>
          </a:prstGeom>
          <a:noFill/>
          <a:ln/>
        </p:spPr>
        <p:txBody>
          <a:bodyPr wrap="square" lIns="0" tIns="0" rIns="0" bIns="0"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Rule of thumb</a:t>
            </a:r>
            <a:endParaRPr lang="en-US" sz="2000" dirty="0"/>
          </a:p>
        </p:txBody>
      </p:sp>
      <p:sp>
        <p:nvSpPr>
          <p:cNvPr id="11" name="Text 7"/>
          <p:cNvSpPr txBox="1"/>
          <p:nvPr/>
        </p:nvSpPr>
        <p:spPr>
          <a:xfrm>
            <a:off x="7543800" y="3474720"/>
            <a:ext cx="3794760" cy="2286000"/>
          </a:xfrm>
          <a:prstGeom prst="rect">
            <a:avLst/>
          </a:prstGeom>
          <a:noFill/>
          <a:ln/>
        </p:spPr>
        <p:txBody>
          <a:bodyPr wrap="square" lIns="0" tIns="0" rIns="0" bIns="0" rtlCol="0" anchor="t"/>
          <a:lstStyle/>
          <a:p>
            <a:pPr indent="0" marL="0">
              <a:buNone/>
            </a:pPr>
            <a:r>
              <a:rPr lang="en-US" sz="1250" dirty="0">
                <a:solidFill>
                  <a:srgbClr val="EAF1FA"/>
                </a:solidFill>
                <a:latin typeface="Calibri" pitchFamily="34" charset="0"/>
                <a:ea typeface="Calibri" pitchFamily="34" charset="-122"/>
                <a:cs typeface="Calibri" pitchFamily="34" charset="-120"/>
              </a:rPr>
              <a:t>If a piece of information determines WHO we talk to, HOW we reach them, or WHETHER we're allowed to — it's yours to keep accurate.</a:t>
            </a:r>
            <a:endParaRPr lang="en-US" sz="1250" dirty="0"/>
          </a:p>
          <a:p>
            <a:pPr indent="0" marL="0">
              <a:buNone/>
            </a:pPr>
            <a:endParaRPr lang="en-US" sz="1250" dirty="0"/>
          </a:p>
          <a:p>
            <a:pPr indent="0" marL="0">
              <a:buNone/>
            </a:pPr>
            <a:r>
              <a:rPr lang="en-US" sz="1250" dirty="0">
                <a:solidFill>
                  <a:srgbClr val="EAF1FA"/>
                </a:solidFill>
                <a:latin typeface="Calibri" pitchFamily="34" charset="0"/>
                <a:ea typeface="Calibri" pitchFamily="34" charset="-122"/>
                <a:cs typeface="Calibri" pitchFamily="34" charset="-120"/>
              </a:rPr>
              <a:t>Insurance and billing fields belong to the billing team (Module 4 covers what you verify).</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AF1FA"/>
        </a:solidFill>
      </p:bgPr>
    </p:bg>
    <p:spTree>
      <p:nvGrpSpPr>
        <p:cNvPr id="1" name=""/>
        <p:cNvGrpSpPr/>
        <p:nvPr/>
      </p:nvGrpSpPr>
      <p:grpSpPr>
        <a:xfrm>
          <a:off x="0" y="0"/>
          <a:ext cx="0" cy="0"/>
          <a:chOff x="0" y="0"/>
          <a:chExt cx="0" cy="0"/>
        </a:xfrm>
      </p:grpSpPr>
      <p:sp>
        <p:nvSpPr>
          <p:cNvPr id="2" name="Shape 0"/>
          <p:cNvSpPr/>
          <p:nvPr/>
        </p:nvSpPr>
        <p:spPr>
          <a:xfrm>
            <a:off x="8412480" y="1097280"/>
            <a:ext cx="4572000" cy="4572000"/>
          </a:xfrm>
          <a:prstGeom prst="ellipse">
            <a:avLst/>
          </a:prstGeom>
          <a:solidFill>
            <a:srgbClr val="84ACDF">
              <a:alpha val="35000"/>
            </a:srgbClr>
          </a:solidFill>
          <a:ln w="12700">
            <a:solidFill>
              <a:srgbClr val="84ACDF">
                <a:alpha val="35000"/>
              </a:srgbClr>
            </a:solidFill>
            <a:prstDash val="solid"/>
          </a:ln>
        </p:spPr>
      </p:sp>
      <p:pic>
        <p:nvPicPr>
          <p:cNvPr id="3"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4" name="Text 1"/>
          <p:cNvSpPr txBox="1"/>
          <p:nvPr/>
        </p:nvSpPr>
        <p:spPr>
          <a:xfrm>
            <a:off x="731520" y="2011680"/>
            <a:ext cx="5486400" cy="365760"/>
          </a:xfrm>
          <a:prstGeom prst="rect">
            <a:avLst/>
          </a:prstGeom>
          <a:noFill/>
          <a:ln/>
        </p:spPr>
        <p:txBody>
          <a:bodyPr wrap="square" lIns="0" tIns="0" rIns="0" bIns="0" rtlCol="0" anchor="ctr"/>
          <a:lstStyle/>
          <a:p>
            <a:pPr indent="0" marL="0">
              <a:buNone/>
            </a:pPr>
            <a:r>
              <a:rPr lang="en-US" sz="1400" b="1" spc="300" kern="0" dirty="0">
                <a:solidFill>
                  <a:srgbClr val="586C47"/>
                </a:solidFill>
                <a:latin typeface="Calibri" pitchFamily="34" charset="0"/>
                <a:ea typeface="Calibri" pitchFamily="34" charset="-122"/>
                <a:cs typeface="Calibri" pitchFamily="34" charset="-120"/>
              </a:rPr>
              <a:t>PART 2</a:t>
            </a:r>
            <a:endParaRPr lang="en-US" sz="1400" dirty="0"/>
          </a:p>
        </p:txBody>
      </p:sp>
      <p:sp>
        <p:nvSpPr>
          <p:cNvPr id="5" name="Text 2"/>
          <p:cNvSpPr txBox="1"/>
          <p:nvPr/>
        </p:nvSpPr>
        <p:spPr>
          <a:xfrm>
            <a:off x="731520" y="2423160"/>
            <a:ext cx="7772400" cy="1463040"/>
          </a:xfrm>
          <a:prstGeom prst="rect">
            <a:avLst/>
          </a:prstGeom>
          <a:noFill/>
          <a:ln/>
        </p:spPr>
        <p:txBody>
          <a:bodyPr wrap="square" lIns="0" tIns="0" rIns="0" bIns="0" rtlCol="0" anchor="t"/>
          <a:lstStyle/>
          <a:p>
            <a:pPr indent="0" marL="0">
              <a:buNone/>
            </a:pPr>
            <a:r>
              <a:rPr lang="en-US" sz="4000" b="1" dirty="0">
                <a:solidFill>
                  <a:srgbClr val="1E4A87"/>
                </a:solidFill>
                <a:latin typeface="Cambria" pitchFamily="34" charset="0"/>
                <a:ea typeface="Cambria" pitchFamily="34" charset="-122"/>
                <a:cs typeface="Cambria" pitchFamily="34" charset="-120"/>
              </a:rPr>
              <a:t>Registering a new patient and verifying identity</a:t>
            </a:r>
            <a:endParaRPr lang="en-US" sz="4000" dirty="0"/>
          </a:p>
        </p:txBody>
      </p:sp>
      <p:sp>
        <p:nvSpPr>
          <p:cNvPr id="6" name="Text 3"/>
          <p:cNvSpPr txBox="1"/>
          <p:nvPr/>
        </p:nvSpPr>
        <p:spPr>
          <a:xfrm>
            <a:off x="731520" y="3977640"/>
            <a:ext cx="7315200" cy="1097280"/>
          </a:xfrm>
          <a:prstGeom prst="rect">
            <a:avLst/>
          </a:prstGeom>
          <a:noFill/>
          <a:ln/>
        </p:spPr>
        <p:txBody>
          <a:bodyPr wrap="square" lIns="0" tIns="0" rIns="0" bIns="0" rtlCol="0" anchor="ctr"/>
          <a:lstStyle/>
          <a:p>
            <a:pPr indent="0" marL="0">
              <a:buNone/>
            </a:pPr>
            <a:r>
              <a:rPr lang="en-US" sz="1600" dirty="0">
                <a:solidFill>
                  <a:srgbClr val="5B6773"/>
                </a:solidFill>
                <a:latin typeface="Calibri" pitchFamily="34" charset="0"/>
                <a:ea typeface="Calibri" pitchFamily="34" charset="-122"/>
                <a:cs typeface="Calibri" pitchFamily="34" charset="-120"/>
              </a:rPr>
              <a:t>Most new patients arrive through a referral or program enrollment. Your first job is making sure they don't already exist.</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REGISTRATION</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Before you create a chart: the duplicate check</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2 · Patient Registration, Demographics &amp; Caregiver Contacts</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8</a:t>
            </a:r>
            <a:endParaRPr lang="en-US" sz="900" dirty="0"/>
          </a:p>
        </p:txBody>
      </p:sp>
      <p:sp>
        <p:nvSpPr>
          <p:cNvPr id="7" name="Shape 4"/>
          <p:cNvSpPr/>
          <p:nvPr/>
        </p:nvSpPr>
        <p:spPr>
          <a:xfrm>
            <a:off x="548640" y="1737360"/>
            <a:ext cx="2601468" cy="4297680"/>
          </a:xfrm>
          <a:prstGeom prst="roundRect">
            <a:avLst>
              <a:gd name="adj" fmla="val 3515"/>
            </a:avLst>
          </a:prstGeom>
          <a:solidFill>
            <a:srgbClr val="FFFFFF"/>
          </a:solidFill>
          <a:ln w="12700">
            <a:solidFill>
              <a:srgbClr val="D6DEE8"/>
            </a:solidFill>
            <a:prstDash val="solid"/>
          </a:ln>
          <a:effectLst>
            <a:outerShdw sx="100000" sy="100000" kx="0" ky="0" algn="bl" rotWithShape="0" blurRad="76200" dist="25400" dir="5400000">
              <a:srgbClr val="000000">
                <a:alpha val="12000"/>
              </a:srgbClr>
            </a:outerShdw>
          </a:effectLst>
        </p:spPr>
      </p:sp>
      <p:sp>
        <p:nvSpPr>
          <p:cNvPr id="8" name="Shape 5"/>
          <p:cNvSpPr/>
          <p:nvPr/>
        </p:nvSpPr>
        <p:spPr>
          <a:xfrm>
            <a:off x="777240" y="1965960"/>
            <a:ext cx="548640" cy="548640"/>
          </a:xfrm>
          <a:prstGeom prst="ellipse">
            <a:avLst/>
          </a:prstGeom>
          <a:solidFill>
            <a:srgbClr val="1E4A87"/>
          </a:solidFill>
          <a:ln w="12700">
            <a:solidFill>
              <a:srgbClr val="1E4A87"/>
            </a:solidFill>
            <a:prstDash val="solid"/>
          </a:ln>
        </p:spPr>
      </p:sp>
      <p:sp>
        <p:nvSpPr>
          <p:cNvPr id="9" name="Text 6"/>
          <p:cNvSpPr txBox="1"/>
          <p:nvPr/>
        </p:nvSpPr>
        <p:spPr>
          <a:xfrm>
            <a:off x="777240" y="19659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0" name="Text 7"/>
          <p:cNvSpPr txBox="1"/>
          <p:nvPr/>
        </p:nvSpPr>
        <p:spPr>
          <a:xfrm>
            <a:off x="777240" y="2651760"/>
            <a:ext cx="2144268" cy="731520"/>
          </a:xfrm>
          <a:prstGeom prst="rect">
            <a:avLst/>
          </a:prstGeom>
          <a:noFill/>
          <a:ln/>
        </p:spPr>
        <p:txBody>
          <a:bodyPr wrap="square" lIns="0" tIns="0" rIns="0" bIns="0" rtlCol="0" anchor="t"/>
          <a:lstStyle/>
          <a:p>
            <a:pPr indent="0" marL="0">
              <a:buNone/>
            </a:pPr>
            <a:r>
              <a:rPr lang="en-US" sz="1600" b="1" dirty="0">
                <a:solidFill>
                  <a:srgbClr val="1E4A87"/>
                </a:solidFill>
                <a:latin typeface="Calibri" pitchFamily="34" charset="0"/>
                <a:ea typeface="Calibri" pitchFamily="34" charset="-122"/>
                <a:cs typeface="Calibri" pitchFamily="34" charset="-120"/>
              </a:rPr>
              <a:t>Search by name and DOB</a:t>
            </a:r>
            <a:endParaRPr lang="en-US" sz="1600" dirty="0"/>
          </a:p>
        </p:txBody>
      </p:sp>
      <p:sp>
        <p:nvSpPr>
          <p:cNvPr id="11" name="Text 8"/>
          <p:cNvSpPr txBox="1"/>
          <p:nvPr/>
        </p:nvSpPr>
        <p:spPr>
          <a:xfrm>
            <a:off x="777240" y="3429000"/>
            <a:ext cx="2144268" cy="237744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Try the legal name and any nicknames. Try the DOB alone. Common surnames and hyphenated names hide duplicates.</a:t>
            </a:r>
            <a:endParaRPr lang="en-US" sz="1300" dirty="0"/>
          </a:p>
        </p:txBody>
      </p:sp>
      <p:sp>
        <p:nvSpPr>
          <p:cNvPr id="12" name="Shape 9"/>
          <p:cNvSpPr/>
          <p:nvPr/>
        </p:nvSpPr>
        <p:spPr>
          <a:xfrm>
            <a:off x="3378708" y="1737360"/>
            <a:ext cx="2601468" cy="4297680"/>
          </a:xfrm>
          <a:prstGeom prst="roundRect">
            <a:avLst>
              <a:gd name="adj" fmla="val 3515"/>
            </a:avLst>
          </a:prstGeom>
          <a:solidFill>
            <a:srgbClr val="FFFFFF"/>
          </a:solidFill>
          <a:ln w="12700">
            <a:solidFill>
              <a:srgbClr val="D6DEE8"/>
            </a:solidFill>
            <a:prstDash val="solid"/>
          </a:ln>
          <a:effectLst>
            <a:outerShdw sx="100000" sy="100000" kx="0" ky="0" algn="bl" rotWithShape="0" blurRad="76200" dist="25400" dir="5400000">
              <a:srgbClr val="000000">
                <a:alpha val="12000"/>
              </a:srgbClr>
            </a:outerShdw>
          </a:effectLst>
        </p:spPr>
      </p:sp>
      <p:sp>
        <p:nvSpPr>
          <p:cNvPr id="13" name="Shape 10"/>
          <p:cNvSpPr/>
          <p:nvPr/>
        </p:nvSpPr>
        <p:spPr>
          <a:xfrm>
            <a:off x="3607308" y="1965960"/>
            <a:ext cx="548640" cy="548640"/>
          </a:xfrm>
          <a:prstGeom prst="ellipse">
            <a:avLst/>
          </a:prstGeom>
          <a:solidFill>
            <a:srgbClr val="1E4A87"/>
          </a:solidFill>
          <a:ln w="12700">
            <a:solidFill>
              <a:srgbClr val="1E4A87"/>
            </a:solidFill>
            <a:prstDash val="solid"/>
          </a:ln>
        </p:spPr>
      </p:sp>
      <p:sp>
        <p:nvSpPr>
          <p:cNvPr id="14" name="Text 11"/>
          <p:cNvSpPr txBox="1"/>
          <p:nvPr/>
        </p:nvSpPr>
        <p:spPr>
          <a:xfrm>
            <a:off x="3607308" y="19659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5" name="Text 12"/>
          <p:cNvSpPr txBox="1"/>
          <p:nvPr/>
        </p:nvSpPr>
        <p:spPr>
          <a:xfrm>
            <a:off x="3607308" y="2651760"/>
            <a:ext cx="2144268" cy="731520"/>
          </a:xfrm>
          <a:prstGeom prst="rect">
            <a:avLst/>
          </a:prstGeom>
          <a:noFill/>
          <a:ln/>
        </p:spPr>
        <p:txBody>
          <a:bodyPr wrap="square" lIns="0" tIns="0" rIns="0" bIns="0" rtlCol="0" anchor="t"/>
          <a:lstStyle/>
          <a:p>
            <a:pPr indent="0" marL="0">
              <a:buNone/>
            </a:pPr>
            <a:r>
              <a:rPr lang="en-US" sz="1600" b="1" dirty="0">
                <a:solidFill>
                  <a:srgbClr val="1E4A87"/>
                </a:solidFill>
                <a:latin typeface="Calibri" pitchFamily="34" charset="0"/>
                <a:ea typeface="Calibri" pitchFamily="34" charset="-122"/>
                <a:cs typeface="Calibri" pitchFamily="34" charset="-120"/>
              </a:rPr>
              <a:t>Search by phone</a:t>
            </a:r>
            <a:endParaRPr lang="en-US" sz="1600" dirty="0"/>
          </a:p>
        </p:txBody>
      </p:sp>
      <p:sp>
        <p:nvSpPr>
          <p:cNvPr id="16" name="Text 13"/>
          <p:cNvSpPr txBox="1"/>
          <p:nvPr/>
        </p:nvSpPr>
        <p:spPr>
          <a:xfrm>
            <a:off x="3607308" y="3429000"/>
            <a:ext cx="2144268" cy="237744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Search the caregiver's number and the patient's number. A match here often reveals a chart under a different spelling.</a:t>
            </a:r>
            <a:endParaRPr lang="en-US" sz="1300" dirty="0"/>
          </a:p>
        </p:txBody>
      </p:sp>
      <p:sp>
        <p:nvSpPr>
          <p:cNvPr id="17" name="Shape 14"/>
          <p:cNvSpPr/>
          <p:nvPr/>
        </p:nvSpPr>
        <p:spPr>
          <a:xfrm>
            <a:off x="6208776" y="1737360"/>
            <a:ext cx="2601468" cy="4297680"/>
          </a:xfrm>
          <a:prstGeom prst="roundRect">
            <a:avLst>
              <a:gd name="adj" fmla="val 3515"/>
            </a:avLst>
          </a:prstGeom>
          <a:solidFill>
            <a:srgbClr val="FFFFFF"/>
          </a:solidFill>
          <a:ln w="12700">
            <a:solidFill>
              <a:srgbClr val="D6DEE8"/>
            </a:solidFill>
            <a:prstDash val="solid"/>
          </a:ln>
          <a:effectLst>
            <a:outerShdw sx="100000" sy="100000" kx="0" ky="0" algn="bl" rotWithShape="0" blurRad="76200" dist="25400" dir="5400000">
              <a:srgbClr val="000000">
                <a:alpha val="12000"/>
              </a:srgbClr>
            </a:outerShdw>
          </a:effectLst>
        </p:spPr>
      </p:sp>
      <p:sp>
        <p:nvSpPr>
          <p:cNvPr id="18" name="Shape 15"/>
          <p:cNvSpPr/>
          <p:nvPr/>
        </p:nvSpPr>
        <p:spPr>
          <a:xfrm>
            <a:off x="6437376" y="1965960"/>
            <a:ext cx="548640" cy="548640"/>
          </a:xfrm>
          <a:prstGeom prst="ellipse">
            <a:avLst/>
          </a:prstGeom>
          <a:solidFill>
            <a:srgbClr val="1E4A87"/>
          </a:solidFill>
          <a:ln w="12700">
            <a:solidFill>
              <a:srgbClr val="1E4A87"/>
            </a:solidFill>
            <a:prstDash val="solid"/>
          </a:ln>
        </p:spPr>
      </p:sp>
      <p:sp>
        <p:nvSpPr>
          <p:cNvPr id="19" name="Text 16"/>
          <p:cNvSpPr txBox="1"/>
          <p:nvPr/>
        </p:nvSpPr>
        <p:spPr>
          <a:xfrm>
            <a:off x="6437376" y="19659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0" name="Text 17"/>
          <p:cNvSpPr txBox="1"/>
          <p:nvPr/>
        </p:nvSpPr>
        <p:spPr>
          <a:xfrm>
            <a:off x="6437376" y="2651760"/>
            <a:ext cx="2144268" cy="731520"/>
          </a:xfrm>
          <a:prstGeom prst="rect">
            <a:avLst/>
          </a:prstGeom>
          <a:noFill/>
          <a:ln/>
        </p:spPr>
        <p:txBody>
          <a:bodyPr wrap="square" lIns="0" tIns="0" rIns="0" bIns="0" rtlCol="0" anchor="t"/>
          <a:lstStyle/>
          <a:p>
            <a:pPr indent="0" marL="0">
              <a:buNone/>
            </a:pPr>
            <a:r>
              <a:rPr lang="en-US" sz="1600" b="1" dirty="0">
                <a:solidFill>
                  <a:srgbClr val="1E4A87"/>
                </a:solidFill>
                <a:latin typeface="Calibri" pitchFamily="34" charset="0"/>
                <a:ea typeface="Calibri" pitchFamily="34" charset="-122"/>
                <a:cs typeface="Calibri" pitchFamily="34" charset="-120"/>
              </a:rPr>
              <a:t>Check inactive charts</a:t>
            </a:r>
            <a:endParaRPr lang="en-US" sz="1600" dirty="0"/>
          </a:p>
        </p:txBody>
      </p:sp>
      <p:sp>
        <p:nvSpPr>
          <p:cNvPr id="21" name="Text 18"/>
          <p:cNvSpPr txBox="1"/>
          <p:nvPr/>
        </p:nvSpPr>
        <p:spPr>
          <a:xfrm>
            <a:off x="6437376" y="3429000"/>
            <a:ext cx="2144268" cy="237744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Include inactive and deceased statuses. A previously discharged patient re-enrolling should be reactivated, not re-created.</a:t>
            </a:r>
            <a:endParaRPr lang="en-US" sz="1300" dirty="0"/>
          </a:p>
        </p:txBody>
      </p:sp>
      <p:sp>
        <p:nvSpPr>
          <p:cNvPr id="22" name="Shape 19"/>
          <p:cNvSpPr/>
          <p:nvPr/>
        </p:nvSpPr>
        <p:spPr>
          <a:xfrm>
            <a:off x="9038844" y="1737360"/>
            <a:ext cx="2601468" cy="4297680"/>
          </a:xfrm>
          <a:prstGeom prst="roundRect">
            <a:avLst>
              <a:gd name="adj" fmla="val 3515"/>
            </a:avLst>
          </a:prstGeom>
          <a:solidFill>
            <a:srgbClr val="FFFFFF"/>
          </a:solidFill>
          <a:ln w="12700">
            <a:solidFill>
              <a:srgbClr val="D6DEE8"/>
            </a:solidFill>
            <a:prstDash val="solid"/>
          </a:ln>
          <a:effectLst>
            <a:outerShdw sx="100000" sy="100000" kx="0" ky="0" algn="bl" rotWithShape="0" blurRad="76200" dist="25400" dir="5400000">
              <a:srgbClr val="000000">
                <a:alpha val="12000"/>
              </a:srgbClr>
            </a:outerShdw>
          </a:effectLst>
        </p:spPr>
      </p:sp>
      <p:sp>
        <p:nvSpPr>
          <p:cNvPr id="23" name="Shape 20"/>
          <p:cNvSpPr/>
          <p:nvPr/>
        </p:nvSpPr>
        <p:spPr>
          <a:xfrm>
            <a:off x="9267444" y="1965960"/>
            <a:ext cx="548640" cy="548640"/>
          </a:xfrm>
          <a:prstGeom prst="ellipse">
            <a:avLst/>
          </a:prstGeom>
          <a:solidFill>
            <a:srgbClr val="586C47"/>
          </a:solidFill>
          <a:ln w="12700">
            <a:solidFill>
              <a:srgbClr val="586C47"/>
            </a:solidFill>
            <a:prstDash val="solid"/>
          </a:ln>
        </p:spPr>
      </p:sp>
      <p:sp>
        <p:nvSpPr>
          <p:cNvPr id="24" name="Text 21"/>
          <p:cNvSpPr txBox="1"/>
          <p:nvPr/>
        </p:nvSpPr>
        <p:spPr>
          <a:xfrm>
            <a:off x="9267444" y="19659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5" name="Text 22"/>
          <p:cNvSpPr txBox="1"/>
          <p:nvPr/>
        </p:nvSpPr>
        <p:spPr>
          <a:xfrm>
            <a:off x="9267444" y="2651760"/>
            <a:ext cx="2144268" cy="731520"/>
          </a:xfrm>
          <a:prstGeom prst="rect">
            <a:avLst/>
          </a:prstGeom>
          <a:noFill/>
          <a:ln/>
        </p:spPr>
        <p:txBody>
          <a:bodyPr wrap="square" lIns="0" tIns="0" rIns="0" bIns="0" rtlCol="0" anchor="t"/>
          <a:lstStyle/>
          <a:p>
            <a:pPr indent="0" marL="0">
              <a:buNone/>
            </a:pPr>
            <a:r>
              <a:rPr lang="en-US" sz="1600" b="1" dirty="0">
                <a:solidFill>
                  <a:srgbClr val="1E4A87"/>
                </a:solidFill>
                <a:latin typeface="Calibri" pitchFamily="34" charset="0"/>
                <a:ea typeface="Calibri" pitchFamily="34" charset="-122"/>
                <a:cs typeface="Calibri" pitchFamily="34" charset="-120"/>
              </a:rPr>
              <a:t>Only then create</a:t>
            </a:r>
            <a:endParaRPr lang="en-US" sz="1600" dirty="0"/>
          </a:p>
        </p:txBody>
      </p:sp>
      <p:sp>
        <p:nvSpPr>
          <p:cNvPr id="26" name="Text 23"/>
          <p:cNvSpPr txBox="1"/>
          <p:nvPr/>
        </p:nvSpPr>
        <p:spPr>
          <a:xfrm>
            <a:off x="9267444" y="3429000"/>
            <a:ext cx="2144268" cy="237744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If no match exists, create the chart. If you find a likely match you're unsure about, ask your supervisor before creating a new one.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REGISTRATION</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Creating the new patient record</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2 · Patient Registration, Demographics &amp; Caregiver Contacts</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9</a:t>
            </a:r>
            <a:endParaRPr lang="en-US" sz="900" dirty="0"/>
          </a:p>
        </p:txBody>
      </p:sp>
      <p:sp>
        <p:nvSpPr>
          <p:cNvPr id="7" name="Shape 4"/>
          <p:cNvSpPr/>
          <p:nvPr/>
        </p:nvSpPr>
        <p:spPr>
          <a:xfrm>
            <a:off x="548640" y="1719072"/>
            <a:ext cx="347472" cy="347472"/>
          </a:xfrm>
          <a:prstGeom prst="ellipse">
            <a:avLst/>
          </a:prstGeom>
          <a:solidFill>
            <a:srgbClr val="1E4A87"/>
          </a:solidFill>
          <a:ln w="12700">
            <a:solidFill>
              <a:srgbClr val="1E4A87"/>
            </a:solidFill>
            <a:prstDash val="solid"/>
          </a:ln>
        </p:spPr>
      </p:sp>
      <p:sp>
        <p:nvSpPr>
          <p:cNvPr id="8" name="Text 5"/>
          <p:cNvSpPr txBox="1"/>
          <p:nvPr/>
        </p:nvSpPr>
        <p:spPr>
          <a:xfrm>
            <a:off x="548640" y="171907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6"/>
          <p:cNvSpPr txBox="1"/>
          <p:nvPr/>
        </p:nvSpPr>
        <p:spPr>
          <a:xfrm>
            <a:off x="1005840" y="1691640"/>
            <a:ext cx="4754880" cy="777240"/>
          </a:xfrm>
          <a:prstGeom prst="rect">
            <a:avLst/>
          </a:prstGeom>
          <a:noFill/>
          <a:ln/>
        </p:spPr>
        <p:txBody>
          <a:bodyPr wrap="square" lIns="0" tIns="0" rIns="0" bIns="0" rtlCol="0" anchor="t"/>
          <a:lstStyle/>
          <a:p>
            <a:pPr indent="0" marL="0">
              <a:buNone/>
            </a:pPr>
            <a:r>
              <a:rPr lang="en-US" sz="1250" b="1" dirty="0">
                <a:solidFill>
                  <a:srgbClr val="1E4A87"/>
                </a:solidFill>
                <a:latin typeface="Calibri" pitchFamily="34" charset="0"/>
                <a:ea typeface="Calibri" pitchFamily="34" charset="-122"/>
                <a:cs typeface="Calibri" pitchFamily="34" charset="-120"/>
              </a:rPr>
              <a:t>Patients → Register Patient (Quick Registration). </a:t>
            </a:r>
            <a:pPr indent="0" marL="0">
              <a:buNone/>
            </a:pPr>
            <a:r>
              <a:rPr lang="en-US" sz="1250" dirty="0">
                <a:solidFill>
                  <a:srgbClr val="1F2933"/>
                </a:solidFill>
                <a:latin typeface="Calibri" pitchFamily="34" charset="0"/>
                <a:ea typeface="Calibri" pitchFamily="34" charset="-122"/>
                <a:cs typeface="Calibri" pitchFamily="34" charset="-120"/>
              </a:rPr>
              <a:t>athenaOne shows a duplicate-profile alert if it finds a likely match — stop and open that chart instead.</a:t>
            </a:r>
            <a:endParaRPr lang="en-US" sz="1250" dirty="0"/>
          </a:p>
        </p:txBody>
      </p:sp>
      <p:sp>
        <p:nvSpPr>
          <p:cNvPr id="10" name="Shape 7"/>
          <p:cNvSpPr/>
          <p:nvPr/>
        </p:nvSpPr>
        <p:spPr>
          <a:xfrm>
            <a:off x="548640" y="2542032"/>
            <a:ext cx="347472" cy="347472"/>
          </a:xfrm>
          <a:prstGeom prst="ellipse">
            <a:avLst/>
          </a:prstGeom>
          <a:solidFill>
            <a:srgbClr val="1E4A87"/>
          </a:solidFill>
          <a:ln w="12700">
            <a:solidFill>
              <a:srgbClr val="1E4A87"/>
            </a:solidFill>
            <a:prstDash val="solid"/>
          </a:ln>
        </p:spPr>
      </p:sp>
      <p:sp>
        <p:nvSpPr>
          <p:cNvPr id="11" name="Text 8"/>
          <p:cNvSpPr txBox="1"/>
          <p:nvPr/>
        </p:nvSpPr>
        <p:spPr>
          <a:xfrm>
            <a:off x="548640" y="254203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9"/>
          <p:cNvSpPr txBox="1"/>
          <p:nvPr/>
        </p:nvSpPr>
        <p:spPr>
          <a:xfrm>
            <a:off x="1005840" y="2514600"/>
            <a:ext cx="4754880" cy="777240"/>
          </a:xfrm>
          <a:prstGeom prst="rect">
            <a:avLst/>
          </a:prstGeom>
          <a:noFill/>
          <a:ln/>
        </p:spPr>
        <p:txBody>
          <a:bodyPr wrap="square" lIns="0" tIns="0" rIns="0" bIns="0" rtlCol="0" anchor="t"/>
          <a:lstStyle/>
          <a:p>
            <a:pPr indent="0" marL="0">
              <a:buNone/>
            </a:pPr>
            <a:r>
              <a:rPr lang="en-US" sz="1250" b="1" dirty="0">
                <a:solidFill>
                  <a:srgbClr val="1E4A87"/>
                </a:solidFill>
                <a:latin typeface="Calibri" pitchFamily="34" charset="0"/>
                <a:ea typeface="Calibri" pitchFamily="34" charset="-122"/>
                <a:cs typeface="Calibri" pitchFamily="34" charset="-120"/>
              </a:rPr>
              <a:t>Enter legal name exactly as on the ID or insurance card. </a:t>
            </a:r>
            <a:pPr indent="0" marL="0">
              <a:buNone/>
            </a:pPr>
            <a:r>
              <a:rPr lang="en-US" sz="1250" dirty="0">
                <a:solidFill>
                  <a:srgbClr val="1F2933"/>
                </a:solidFill>
                <a:latin typeface="Calibri" pitchFamily="34" charset="0"/>
                <a:ea typeface="Calibri" pitchFamily="34" charset="-122"/>
                <a:cs typeface="Calibri" pitchFamily="34" charset="-120"/>
              </a:rPr>
              <a:t>Put nicknames in the preferred-name field, never in the legal name.</a:t>
            </a:r>
            <a:endParaRPr lang="en-US" sz="1250" dirty="0"/>
          </a:p>
        </p:txBody>
      </p:sp>
      <p:sp>
        <p:nvSpPr>
          <p:cNvPr id="13" name="Shape 10"/>
          <p:cNvSpPr/>
          <p:nvPr/>
        </p:nvSpPr>
        <p:spPr>
          <a:xfrm>
            <a:off x="548640" y="3364992"/>
            <a:ext cx="347472" cy="347472"/>
          </a:xfrm>
          <a:prstGeom prst="ellipse">
            <a:avLst/>
          </a:prstGeom>
          <a:solidFill>
            <a:srgbClr val="1E4A87"/>
          </a:solidFill>
          <a:ln w="12700">
            <a:solidFill>
              <a:srgbClr val="1E4A87"/>
            </a:solidFill>
            <a:prstDash val="solid"/>
          </a:ln>
        </p:spPr>
      </p:sp>
      <p:sp>
        <p:nvSpPr>
          <p:cNvPr id="14" name="Text 11"/>
          <p:cNvSpPr txBox="1"/>
          <p:nvPr/>
        </p:nvSpPr>
        <p:spPr>
          <a:xfrm>
            <a:off x="548640" y="336499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5" name="Text 12"/>
          <p:cNvSpPr txBox="1"/>
          <p:nvPr/>
        </p:nvSpPr>
        <p:spPr>
          <a:xfrm>
            <a:off x="1005840" y="3337560"/>
            <a:ext cx="4754880" cy="777240"/>
          </a:xfrm>
          <a:prstGeom prst="rect">
            <a:avLst/>
          </a:prstGeom>
          <a:noFill/>
          <a:ln/>
        </p:spPr>
        <p:txBody>
          <a:bodyPr wrap="square" lIns="0" tIns="0" rIns="0" bIns="0" rtlCol="0" anchor="t"/>
          <a:lstStyle/>
          <a:p>
            <a:pPr indent="0" marL="0">
              <a:buNone/>
            </a:pPr>
            <a:r>
              <a:rPr lang="en-US" sz="1250" b="1" dirty="0">
                <a:solidFill>
                  <a:srgbClr val="1E4A87"/>
                </a:solidFill>
                <a:latin typeface="Calibri" pitchFamily="34" charset="0"/>
                <a:ea typeface="Calibri" pitchFamily="34" charset="-122"/>
                <a:cs typeface="Calibri" pitchFamily="34" charset="-120"/>
              </a:rPr>
              <a:t>Enter DOB, sex, and identifiers. </a:t>
            </a:r>
            <a:pPr indent="0" marL="0">
              <a:buNone/>
            </a:pPr>
            <a:r>
              <a:rPr lang="en-US" sz="1250" dirty="0">
                <a:solidFill>
                  <a:srgbClr val="1F2933"/>
                </a:solidFill>
                <a:latin typeface="Calibri" pitchFamily="34" charset="0"/>
                <a:ea typeface="Calibri" pitchFamily="34" charset="-122"/>
                <a:cs typeface="Calibri" pitchFamily="34" charset="-120"/>
              </a:rPr>
              <a:t>Double-check DOB against the referral. A single transposed digit creates a search failure later.</a:t>
            </a:r>
            <a:endParaRPr lang="en-US" sz="1250" dirty="0"/>
          </a:p>
        </p:txBody>
      </p:sp>
      <p:sp>
        <p:nvSpPr>
          <p:cNvPr id="16" name="Shape 13"/>
          <p:cNvSpPr/>
          <p:nvPr/>
        </p:nvSpPr>
        <p:spPr>
          <a:xfrm>
            <a:off x="548640" y="4187952"/>
            <a:ext cx="347472" cy="347472"/>
          </a:xfrm>
          <a:prstGeom prst="ellipse">
            <a:avLst/>
          </a:prstGeom>
          <a:solidFill>
            <a:srgbClr val="1E4A87"/>
          </a:solidFill>
          <a:ln w="12700">
            <a:solidFill>
              <a:srgbClr val="1E4A87"/>
            </a:solidFill>
            <a:prstDash val="solid"/>
          </a:ln>
        </p:spPr>
      </p:sp>
      <p:sp>
        <p:nvSpPr>
          <p:cNvPr id="17" name="Text 14"/>
          <p:cNvSpPr txBox="1"/>
          <p:nvPr/>
        </p:nvSpPr>
        <p:spPr>
          <a:xfrm>
            <a:off x="548640" y="418795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8" name="Text 15"/>
          <p:cNvSpPr txBox="1"/>
          <p:nvPr/>
        </p:nvSpPr>
        <p:spPr>
          <a:xfrm>
            <a:off x="1005840" y="4160520"/>
            <a:ext cx="4754880" cy="777240"/>
          </a:xfrm>
          <a:prstGeom prst="rect">
            <a:avLst/>
          </a:prstGeom>
          <a:noFill/>
          <a:ln/>
        </p:spPr>
        <p:txBody>
          <a:bodyPr wrap="square" lIns="0" tIns="0" rIns="0" bIns="0" rtlCol="0" anchor="t"/>
          <a:lstStyle/>
          <a:p>
            <a:pPr indent="0" marL="0">
              <a:buNone/>
            </a:pPr>
            <a:r>
              <a:rPr lang="en-US" sz="1250" b="1" dirty="0">
                <a:solidFill>
                  <a:srgbClr val="1E4A87"/>
                </a:solidFill>
                <a:latin typeface="Calibri" pitchFamily="34" charset="0"/>
                <a:ea typeface="Calibri" pitchFamily="34" charset="-122"/>
                <a:cs typeface="Calibri" pitchFamily="34" charset="-120"/>
              </a:rPr>
              <a:t>Enter addresses and phones with types. </a:t>
            </a:r>
            <a:pPr indent="0" marL="0">
              <a:buNone/>
            </a:pPr>
            <a:r>
              <a:rPr lang="en-US" sz="1250" dirty="0">
                <a:solidFill>
                  <a:srgbClr val="1F2933"/>
                </a:solidFill>
                <a:latin typeface="Calibri" pitchFamily="34" charset="0"/>
                <a:ea typeface="Calibri" pitchFamily="34" charset="-122"/>
                <a:cs typeface="Calibri" pitchFamily="34" charset="-120"/>
              </a:rPr>
              <a:t>Mark the primary phone. For memory-support patients the primary is usually the caregiver's mobile.</a:t>
            </a:r>
            <a:endParaRPr lang="en-US" sz="1250" dirty="0"/>
          </a:p>
        </p:txBody>
      </p:sp>
      <p:sp>
        <p:nvSpPr>
          <p:cNvPr id="19" name="Shape 16"/>
          <p:cNvSpPr/>
          <p:nvPr/>
        </p:nvSpPr>
        <p:spPr>
          <a:xfrm>
            <a:off x="548640" y="5010912"/>
            <a:ext cx="347472" cy="347472"/>
          </a:xfrm>
          <a:prstGeom prst="ellipse">
            <a:avLst/>
          </a:prstGeom>
          <a:solidFill>
            <a:srgbClr val="1E4A87"/>
          </a:solidFill>
          <a:ln w="12700">
            <a:solidFill>
              <a:srgbClr val="1E4A87"/>
            </a:solidFill>
            <a:prstDash val="solid"/>
          </a:ln>
        </p:spPr>
      </p:sp>
      <p:sp>
        <p:nvSpPr>
          <p:cNvPr id="20" name="Text 17"/>
          <p:cNvSpPr txBox="1"/>
          <p:nvPr/>
        </p:nvSpPr>
        <p:spPr>
          <a:xfrm>
            <a:off x="548640" y="501091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1" name="Text 18"/>
          <p:cNvSpPr txBox="1"/>
          <p:nvPr/>
        </p:nvSpPr>
        <p:spPr>
          <a:xfrm>
            <a:off x="1005840" y="4983480"/>
            <a:ext cx="4754880" cy="777240"/>
          </a:xfrm>
          <a:prstGeom prst="rect">
            <a:avLst/>
          </a:prstGeom>
          <a:noFill/>
          <a:ln/>
        </p:spPr>
        <p:txBody>
          <a:bodyPr wrap="square" lIns="0" tIns="0" rIns="0" bIns="0" rtlCol="0" anchor="t"/>
          <a:lstStyle/>
          <a:p>
            <a:pPr indent="0" marL="0">
              <a:buNone/>
            </a:pPr>
            <a:r>
              <a:rPr lang="en-US" sz="1250" b="1" dirty="0">
                <a:solidFill>
                  <a:srgbClr val="1E4A87"/>
                </a:solidFill>
                <a:latin typeface="Calibri" pitchFamily="34" charset="0"/>
                <a:ea typeface="Calibri" pitchFamily="34" charset="-122"/>
                <a:cs typeface="Calibri" pitchFamily="34" charset="-120"/>
              </a:rPr>
              <a:t>Save, then read the banner. </a:t>
            </a:r>
            <a:pPr indent="0" marL="0">
              <a:buNone/>
            </a:pPr>
            <a:r>
              <a:rPr lang="en-US" sz="1250" dirty="0">
                <a:solidFill>
                  <a:srgbClr val="1F2933"/>
                </a:solidFill>
                <a:latin typeface="Calibri" pitchFamily="34" charset="0"/>
                <a:ea typeface="Calibri" pitchFamily="34" charset="-122"/>
                <a:cs typeface="Calibri" pitchFamily="34" charset="-120"/>
              </a:rPr>
              <a:t>Confirm the new patient ID and department. Now add contacts (next section).</a:t>
            </a:r>
            <a:endParaRPr lang="en-US" sz="1250" dirty="0"/>
          </a:p>
        </p:txBody>
      </p:sp>
      <p:sp>
        <p:nvSpPr>
          <p:cNvPr id="22" name="Shape 19"/>
          <p:cNvSpPr/>
          <p:nvPr/>
        </p:nvSpPr>
        <p:spPr>
          <a:xfrm>
            <a:off x="6309360" y="1691640"/>
            <a:ext cx="5349240" cy="4480560"/>
          </a:xfrm>
          <a:prstGeom prst="roundRect">
            <a:avLst>
              <a:gd name="adj" fmla="val 1633"/>
            </a:avLst>
          </a:prstGeom>
          <a:solidFill>
            <a:srgbClr val="F7F9FC"/>
          </a:solidFill>
          <a:ln w="12700">
            <a:solidFill>
              <a:srgbClr val="D6DEE8"/>
            </a:solidFill>
            <a:prstDash val="solid"/>
          </a:ln>
          <a:effectLst>
            <a:outerShdw sx="100000" sy="100000" kx="0" ky="0" algn="bl" rotWithShape="0" blurRad="76200" dist="25400" dir="5400000">
              <a:srgbClr val="000000">
                <a:alpha val="12000"/>
              </a:srgbClr>
            </a:outerShdw>
          </a:effectLst>
        </p:spPr>
      </p:sp>
      <p:sp>
        <p:nvSpPr>
          <p:cNvPr id="23" name="Shape 20"/>
          <p:cNvSpPr/>
          <p:nvPr/>
        </p:nvSpPr>
        <p:spPr>
          <a:xfrm>
            <a:off x="6309360" y="1691640"/>
            <a:ext cx="5349240" cy="411480"/>
          </a:xfrm>
          <a:prstGeom prst="rect">
            <a:avLst/>
          </a:prstGeom>
          <a:solidFill>
            <a:srgbClr val="1E4A87"/>
          </a:solidFill>
          <a:ln w="12700">
            <a:solidFill>
              <a:srgbClr val="1E4A87"/>
            </a:solidFill>
            <a:prstDash val="solid"/>
          </a:ln>
        </p:spPr>
      </p:sp>
      <p:sp>
        <p:nvSpPr>
          <p:cNvPr id="24" name="Text 21"/>
          <p:cNvSpPr txBox="1"/>
          <p:nvPr/>
        </p:nvSpPr>
        <p:spPr>
          <a:xfrm>
            <a:off x="6492240" y="1691640"/>
            <a:ext cx="4983480" cy="41148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Patients · Register Patient</a:t>
            </a:r>
            <a:endParaRPr lang="en-US" sz="1100" dirty="0"/>
          </a:p>
        </p:txBody>
      </p:sp>
      <p:sp>
        <p:nvSpPr>
          <p:cNvPr id="25" name="Text 22"/>
          <p:cNvSpPr txBox="1"/>
          <p:nvPr/>
        </p:nvSpPr>
        <p:spPr>
          <a:xfrm>
            <a:off x="6492240" y="1691640"/>
            <a:ext cx="4983480" cy="411480"/>
          </a:xfrm>
          <a:prstGeom prst="rect">
            <a:avLst/>
          </a:prstGeom>
          <a:noFill/>
          <a:ln/>
        </p:spPr>
        <p:txBody>
          <a:bodyPr wrap="square" lIns="0" tIns="0" rIns="0" bIns="0" rtlCol="0" anchor="ctr"/>
          <a:lstStyle/>
          <a:p>
            <a:pPr algn="r" indent="0" marL="0">
              <a:buNone/>
            </a:pPr>
            <a:r>
              <a:rPr lang="en-US" sz="800" dirty="0">
                <a:solidFill>
                  <a:srgbClr val="84ACDF"/>
                </a:solidFill>
                <a:latin typeface="Calibri" pitchFamily="34" charset="0"/>
                <a:ea typeface="Calibri" pitchFamily="34" charset="-122"/>
                <a:cs typeface="Calibri" pitchFamily="34" charset="-120"/>
              </a:rPr>
              <a:t>athenaOne · illustrative screen</a:t>
            </a:r>
            <a:endParaRPr lang="en-US" sz="800" dirty="0"/>
          </a:p>
        </p:txBody>
      </p:sp>
      <p:sp>
        <p:nvSpPr>
          <p:cNvPr id="26" name="Text 23"/>
          <p:cNvSpPr txBox="1"/>
          <p:nvPr/>
        </p:nvSpPr>
        <p:spPr>
          <a:xfrm>
            <a:off x="6537960" y="2286000"/>
            <a:ext cx="1737360" cy="310896"/>
          </a:xfrm>
          <a:prstGeom prst="rect">
            <a:avLst/>
          </a:prstGeom>
          <a:noFill/>
          <a:ln/>
        </p:spPr>
        <p:txBody>
          <a:bodyPr wrap="square" lIns="0" tIns="0" rIns="0" bIns="0" rtlCol="0" anchor="ctr"/>
          <a:lstStyle/>
          <a:p>
            <a:pPr indent="0" marL="0">
              <a:buNone/>
            </a:pPr>
            <a:r>
              <a:rPr lang="en-US" sz="1000" dirty="0">
                <a:solidFill>
                  <a:srgbClr val="5B6773"/>
                </a:solidFill>
                <a:latin typeface="Calibri" pitchFamily="34" charset="0"/>
                <a:ea typeface="Calibri" pitchFamily="34" charset="-122"/>
                <a:cs typeface="Calibri" pitchFamily="34" charset="-120"/>
              </a:rPr>
              <a:t>Legal name</a:t>
            </a:r>
            <a:endParaRPr lang="en-US" sz="1000" dirty="0"/>
          </a:p>
        </p:txBody>
      </p:sp>
      <p:sp>
        <p:nvSpPr>
          <p:cNvPr id="27" name="Shape 24"/>
          <p:cNvSpPr/>
          <p:nvPr/>
        </p:nvSpPr>
        <p:spPr>
          <a:xfrm>
            <a:off x="8275320" y="2304288"/>
            <a:ext cx="3108960" cy="274320"/>
          </a:xfrm>
          <a:prstGeom prst="rect">
            <a:avLst/>
          </a:prstGeom>
          <a:solidFill>
            <a:srgbClr val="FFFFFF"/>
          </a:solidFill>
          <a:ln w="9525">
            <a:solidFill>
              <a:srgbClr val="D6DEE8"/>
            </a:solidFill>
            <a:prstDash val="solid"/>
          </a:ln>
        </p:spPr>
      </p:sp>
      <p:sp>
        <p:nvSpPr>
          <p:cNvPr id="28" name="Text 25"/>
          <p:cNvSpPr txBox="1"/>
          <p:nvPr/>
        </p:nvSpPr>
        <p:spPr>
          <a:xfrm>
            <a:off x="8366760" y="2304288"/>
            <a:ext cx="297180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Doe, Jane Marie</a:t>
            </a:r>
            <a:endParaRPr lang="en-US" sz="1000" dirty="0"/>
          </a:p>
        </p:txBody>
      </p:sp>
      <p:sp>
        <p:nvSpPr>
          <p:cNvPr id="29" name="Text 26"/>
          <p:cNvSpPr txBox="1"/>
          <p:nvPr/>
        </p:nvSpPr>
        <p:spPr>
          <a:xfrm>
            <a:off x="6537960" y="2651760"/>
            <a:ext cx="1737360" cy="310896"/>
          </a:xfrm>
          <a:prstGeom prst="rect">
            <a:avLst/>
          </a:prstGeom>
          <a:noFill/>
          <a:ln/>
        </p:spPr>
        <p:txBody>
          <a:bodyPr wrap="square" lIns="0" tIns="0" rIns="0" bIns="0" rtlCol="0" anchor="ctr"/>
          <a:lstStyle/>
          <a:p>
            <a:pPr indent="0" marL="0">
              <a:buNone/>
            </a:pPr>
            <a:r>
              <a:rPr lang="en-US" sz="1000" dirty="0">
                <a:solidFill>
                  <a:srgbClr val="5B6773"/>
                </a:solidFill>
                <a:latin typeface="Calibri" pitchFamily="34" charset="0"/>
                <a:ea typeface="Calibri" pitchFamily="34" charset="-122"/>
                <a:cs typeface="Calibri" pitchFamily="34" charset="-120"/>
              </a:rPr>
              <a:t>Preferred name</a:t>
            </a:r>
            <a:endParaRPr lang="en-US" sz="1000" dirty="0"/>
          </a:p>
        </p:txBody>
      </p:sp>
      <p:sp>
        <p:nvSpPr>
          <p:cNvPr id="30" name="Shape 27"/>
          <p:cNvSpPr/>
          <p:nvPr/>
        </p:nvSpPr>
        <p:spPr>
          <a:xfrm>
            <a:off x="8275320" y="2670048"/>
            <a:ext cx="3108960" cy="274320"/>
          </a:xfrm>
          <a:prstGeom prst="rect">
            <a:avLst/>
          </a:prstGeom>
          <a:solidFill>
            <a:srgbClr val="FFFFFF"/>
          </a:solidFill>
          <a:ln w="9525">
            <a:solidFill>
              <a:srgbClr val="D6DEE8"/>
            </a:solidFill>
            <a:prstDash val="solid"/>
          </a:ln>
        </p:spPr>
      </p:sp>
      <p:sp>
        <p:nvSpPr>
          <p:cNvPr id="31" name="Text 28"/>
          <p:cNvSpPr txBox="1"/>
          <p:nvPr/>
        </p:nvSpPr>
        <p:spPr>
          <a:xfrm>
            <a:off x="8366760" y="2670048"/>
            <a:ext cx="297180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Janie</a:t>
            </a:r>
            <a:endParaRPr lang="en-US" sz="1000" dirty="0"/>
          </a:p>
        </p:txBody>
      </p:sp>
      <p:sp>
        <p:nvSpPr>
          <p:cNvPr id="32" name="Text 29"/>
          <p:cNvSpPr txBox="1"/>
          <p:nvPr/>
        </p:nvSpPr>
        <p:spPr>
          <a:xfrm>
            <a:off x="6537960" y="3017520"/>
            <a:ext cx="1737360" cy="310896"/>
          </a:xfrm>
          <a:prstGeom prst="rect">
            <a:avLst/>
          </a:prstGeom>
          <a:noFill/>
          <a:ln/>
        </p:spPr>
        <p:txBody>
          <a:bodyPr wrap="square" lIns="0" tIns="0" rIns="0" bIns="0" rtlCol="0" anchor="ctr"/>
          <a:lstStyle/>
          <a:p>
            <a:pPr indent="0" marL="0">
              <a:buNone/>
            </a:pPr>
            <a:r>
              <a:rPr lang="en-US" sz="1000" dirty="0">
                <a:solidFill>
                  <a:srgbClr val="5B6773"/>
                </a:solidFill>
                <a:latin typeface="Calibri" pitchFamily="34" charset="0"/>
                <a:ea typeface="Calibri" pitchFamily="34" charset="-122"/>
                <a:cs typeface="Calibri" pitchFamily="34" charset="-120"/>
              </a:rPr>
              <a:t>DOB / Sex</a:t>
            </a:r>
            <a:endParaRPr lang="en-US" sz="1000" dirty="0"/>
          </a:p>
        </p:txBody>
      </p:sp>
      <p:sp>
        <p:nvSpPr>
          <p:cNvPr id="33" name="Shape 30"/>
          <p:cNvSpPr/>
          <p:nvPr/>
        </p:nvSpPr>
        <p:spPr>
          <a:xfrm>
            <a:off x="8275320" y="3035808"/>
            <a:ext cx="3108960" cy="274320"/>
          </a:xfrm>
          <a:prstGeom prst="rect">
            <a:avLst/>
          </a:prstGeom>
          <a:solidFill>
            <a:srgbClr val="FFF6D6"/>
          </a:solidFill>
          <a:ln w="15875">
            <a:solidFill>
              <a:srgbClr val="F1C232"/>
            </a:solidFill>
            <a:prstDash val="solid"/>
          </a:ln>
        </p:spPr>
      </p:sp>
      <p:sp>
        <p:nvSpPr>
          <p:cNvPr id="34" name="Text 31"/>
          <p:cNvSpPr txBox="1"/>
          <p:nvPr/>
        </p:nvSpPr>
        <p:spPr>
          <a:xfrm>
            <a:off x="8366760" y="3035808"/>
            <a:ext cx="297180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03/12/1944 · F</a:t>
            </a:r>
            <a:endParaRPr lang="en-US" sz="1000" dirty="0"/>
          </a:p>
        </p:txBody>
      </p:sp>
      <p:sp>
        <p:nvSpPr>
          <p:cNvPr id="35" name="Text 32"/>
          <p:cNvSpPr txBox="1"/>
          <p:nvPr/>
        </p:nvSpPr>
        <p:spPr>
          <a:xfrm>
            <a:off x="6537960" y="3383280"/>
            <a:ext cx="1737360" cy="310896"/>
          </a:xfrm>
          <a:prstGeom prst="rect">
            <a:avLst/>
          </a:prstGeom>
          <a:noFill/>
          <a:ln/>
        </p:spPr>
        <p:txBody>
          <a:bodyPr wrap="square" lIns="0" tIns="0" rIns="0" bIns="0" rtlCol="0" anchor="ctr"/>
          <a:lstStyle/>
          <a:p>
            <a:pPr indent="0" marL="0">
              <a:buNone/>
            </a:pPr>
            <a:r>
              <a:rPr lang="en-US" sz="1000" dirty="0">
                <a:solidFill>
                  <a:srgbClr val="5B6773"/>
                </a:solidFill>
                <a:latin typeface="Calibri" pitchFamily="34" charset="0"/>
                <a:ea typeface="Calibri" pitchFamily="34" charset="-122"/>
                <a:cs typeface="Calibri" pitchFamily="34" charset="-120"/>
              </a:rPr>
              <a:t>Home address</a:t>
            </a:r>
            <a:endParaRPr lang="en-US" sz="1000" dirty="0"/>
          </a:p>
        </p:txBody>
      </p:sp>
      <p:sp>
        <p:nvSpPr>
          <p:cNvPr id="36" name="Shape 33"/>
          <p:cNvSpPr/>
          <p:nvPr/>
        </p:nvSpPr>
        <p:spPr>
          <a:xfrm>
            <a:off x="8275320" y="3401568"/>
            <a:ext cx="3108960" cy="274320"/>
          </a:xfrm>
          <a:prstGeom prst="rect">
            <a:avLst/>
          </a:prstGeom>
          <a:solidFill>
            <a:srgbClr val="FFFFFF"/>
          </a:solidFill>
          <a:ln w="9525">
            <a:solidFill>
              <a:srgbClr val="D6DEE8"/>
            </a:solidFill>
            <a:prstDash val="solid"/>
          </a:ln>
        </p:spPr>
      </p:sp>
      <p:sp>
        <p:nvSpPr>
          <p:cNvPr id="37" name="Text 34"/>
          <p:cNvSpPr txBox="1"/>
          <p:nvPr/>
        </p:nvSpPr>
        <p:spPr>
          <a:xfrm>
            <a:off x="8366760" y="3401568"/>
            <a:ext cx="297180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142 Maple Ct, Tampa FL 33602</a:t>
            </a:r>
            <a:endParaRPr lang="en-US" sz="1000" dirty="0"/>
          </a:p>
        </p:txBody>
      </p:sp>
      <p:sp>
        <p:nvSpPr>
          <p:cNvPr id="38" name="Text 35"/>
          <p:cNvSpPr txBox="1"/>
          <p:nvPr/>
        </p:nvSpPr>
        <p:spPr>
          <a:xfrm>
            <a:off x="6537960" y="3749040"/>
            <a:ext cx="1737360" cy="310896"/>
          </a:xfrm>
          <a:prstGeom prst="rect">
            <a:avLst/>
          </a:prstGeom>
          <a:noFill/>
          <a:ln/>
        </p:spPr>
        <p:txBody>
          <a:bodyPr wrap="square" lIns="0" tIns="0" rIns="0" bIns="0" rtlCol="0" anchor="ctr"/>
          <a:lstStyle/>
          <a:p>
            <a:pPr indent="0" marL="0">
              <a:buNone/>
            </a:pPr>
            <a:r>
              <a:rPr lang="en-US" sz="1000" dirty="0">
                <a:solidFill>
                  <a:srgbClr val="5B6773"/>
                </a:solidFill>
                <a:latin typeface="Calibri" pitchFamily="34" charset="0"/>
                <a:ea typeface="Calibri" pitchFamily="34" charset="-122"/>
                <a:cs typeface="Calibri" pitchFamily="34" charset="-120"/>
              </a:rPr>
              <a:t>Primary phone</a:t>
            </a:r>
            <a:endParaRPr lang="en-US" sz="1000" dirty="0"/>
          </a:p>
        </p:txBody>
      </p:sp>
      <p:sp>
        <p:nvSpPr>
          <p:cNvPr id="39" name="Shape 36"/>
          <p:cNvSpPr/>
          <p:nvPr/>
        </p:nvSpPr>
        <p:spPr>
          <a:xfrm>
            <a:off x="8275320" y="3767328"/>
            <a:ext cx="3108960" cy="274320"/>
          </a:xfrm>
          <a:prstGeom prst="rect">
            <a:avLst/>
          </a:prstGeom>
          <a:solidFill>
            <a:srgbClr val="FFF6D6"/>
          </a:solidFill>
          <a:ln w="15875">
            <a:solidFill>
              <a:srgbClr val="F1C232"/>
            </a:solidFill>
            <a:prstDash val="solid"/>
          </a:ln>
        </p:spPr>
      </p:sp>
      <p:sp>
        <p:nvSpPr>
          <p:cNvPr id="40" name="Text 37"/>
          <p:cNvSpPr txBox="1"/>
          <p:nvPr/>
        </p:nvSpPr>
        <p:spPr>
          <a:xfrm>
            <a:off x="8366760" y="3767328"/>
            <a:ext cx="297180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(813) 555-0142 · Mobile (caregiver)</a:t>
            </a:r>
            <a:endParaRPr lang="en-US" sz="1000" dirty="0"/>
          </a:p>
        </p:txBody>
      </p:sp>
      <p:sp>
        <p:nvSpPr>
          <p:cNvPr id="41" name="Text 38"/>
          <p:cNvSpPr txBox="1"/>
          <p:nvPr/>
        </p:nvSpPr>
        <p:spPr>
          <a:xfrm>
            <a:off x="6537960" y="4114800"/>
            <a:ext cx="1737360" cy="310896"/>
          </a:xfrm>
          <a:prstGeom prst="rect">
            <a:avLst/>
          </a:prstGeom>
          <a:noFill/>
          <a:ln/>
        </p:spPr>
        <p:txBody>
          <a:bodyPr wrap="square" lIns="0" tIns="0" rIns="0" bIns="0" rtlCol="0" anchor="ctr"/>
          <a:lstStyle/>
          <a:p>
            <a:pPr indent="0" marL="0">
              <a:buNone/>
            </a:pPr>
            <a:r>
              <a:rPr lang="en-US" sz="1000" dirty="0">
                <a:solidFill>
                  <a:srgbClr val="5B6773"/>
                </a:solidFill>
                <a:latin typeface="Calibri" pitchFamily="34" charset="0"/>
                <a:ea typeface="Calibri" pitchFamily="34" charset="-122"/>
                <a:cs typeface="Calibri" pitchFamily="34" charset="-120"/>
              </a:rPr>
              <a:t>Department</a:t>
            </a:r>
            <a:endParaRPr lang="en-US" sz="1000" dirty="0"/>
          </a:p>
        </p:txBody>
      </p:sp>
      <p:sp>
        <p:nvSpPr>
          <p:cNvPr id="42" name="Shape 39"/>
          <p:cNvSpPr/>
          <p:nvPr/>
        </p:nvSpPr>
        <p:spPr>
          <a:xfrm>
            <a:off x="8275320" y="4133088"/>
            <a:ext cx="3108960" cy="274320"/>
          </a:xfrm>
          <a:prstGeom prst="rect">
            <a:avLst/>
          </a:prstGeom>
          <a:solidFill>
            <a:srgbClr val="FFFFFF"/>
          </a:solidFill>
          <a:ln w="9525">
            <a:solidFill>
              <a:srgbClr val="D6DEE8"/>
            </a:solidFill>
            <a:prstDash val="solid"/>
          </a:ln>
        </p:spPr>
      </p:sp>
      <p:sp>
        <p:nvSpPr>
          <p:cNvPr id="43" name="Text 40"/>
          <p:cNvSpPr txBox="1"/>
          <p:nvPr/>
        </p:nvSpPr>
        <p:spPr>
          <a:xfrm>
            <a:off x="8366760" y="4133088"/>
            <a:ext cx="297180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AbleLiving Memory Support — Tampa</a:t>
            </a:r>
            <a:endParaRPr lang="en-US" sz="1000" dirty="0"/>
          </a:p>
        </p:txBody>
      </p:sp>
      <p:sp>
        <p:nvSpPr>
          <p:cNvPr id="44" name="Shape 41"/>
          <p:cNvSpPr/>
          <p:nvPr/>
        </p:nvSpPr>
        <p:spPr>
          <a:xfrm>
            <a:off x="6537960" y="4526280"/>
            <a:ext cx="1554480" cy="329184"/>
          </a:xfrm>
          <a:prstGeom prst="roundRect">
            <a:avLst>
              <a:gd name="adj" fmla="val 13889"/>
            </a:avLst>
          </a:prstGeom>
          <a:solidFill>
            <a:srgbClr val="1E4A87"/>
          </a:solidFill>
          <a:ln w="12700">
            <a:solidFill>
              <a:srgbClr val="1E4A87"/>
            </a:solidFill>
            <a:prstDash val="solid"/>
          </a:ln>
        </p:spPr>
      </p:sp>
      <p:sp>
        <p:nvSpPr>
          <p:cNvPr id="45" name="Text 42"/>
          <p:cNvSpPr txBox="1"/>
          <p:nvPr/>
        </p:nvSpPr>
        <p:spPr>
          <a:xfrm>
            <a:off x="6537960" y="4526280"/>
            <a:ext cx="1554480"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Save patient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TIPS &amp; PITFALLS</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Registration</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2 · Patient Registration, Demographics &amp; Caregiver Contacts</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10</a:t>
            </a:r>
            <a:endParaRPr lang="en-US" sz="900" dirty="0"/>
          </a:p>
        </p:txBody>
      </p:sp>
      <p:sp>
        <p:nvSpPr>
          <p:cNvPr id="7" name="Shape 4"/>
          <p:cNvSpPr/>
          <p:nvPr/>
        </p:nvSpPr>
        <p:spPr>
          <a:xfrm>
            <a:off x="548640" y="1691640"/>
            <a:ext cx="5394960" cy="4434840"/>
          </a:xfrm>
          <a:prstGeom prst="roundRect">
            <a:avLst>
              <a:gd name="adj" fmla="val 2062"/>
            </a:avLst>
          </a:prstGeom>
          <a:solidFill>
            <a:srgbClr val="EEF2E8"/>
          </a:solidFill>
          <a:ln w="12700">
            <a:solidFill>
              <a:srgbClr val="EEF2E8"/>
            </a:solidFill>
            <a:prstDash val="solid"/>
          </a:ln>
        </p:spPr>
      </p:sp>
      <p:pic>
        <p:nvPicPr>
          <p:cNvPr id="8" name="Image 1" descr="preencoded.png">    </p:cNvPr>
          <p:cNvPicPr>
            <a:picLocks noChangeAspect="1"/>
          </p:cNvPicPr>
          <p:nvPr/>
        </p:nvPicPr>
        <p:blipFill>
          <a:blip r:embed="rId2"/>
          <a:stretch>
            <a:fillRect/>
          </a:stretch>
        </p:blipFill>
        <p:spPr>
          <a:xfrm>
            <a:off x="822960" y="1965960"/>
            <a:ext cx="411480" cy="411480"/>
          </a:xfrm>
          <a:prstGeom prst="rect">
            <a:avLst/>
          </a:prstGeom>
        </p:spPr>
      </p:pic>
      <p:sp>
        <p:nvSpPr>
          <p:cNvPr id="9" name="Text 5"/>
          <p:cNvSpPr txBox="1"/>
          <p:nvPr/>
        </p:nvSpPr>
        <p:spPr>
          <a:xfrm>
            <a:off x="1371600" y="1920240"/>
            <a:ext cx="4389120" cy="502920"/>
          </a:xfrm>
          <a:prstGeom prst="rect">
            <a:avLst/>
          </a:prstGeom>
          <a:noFill/>
          <a:ln/>
        </p:spPr>
        <p:txBody>
          <a:bodyPr wrap="square" lIns="0" tIns="0" rIns="0" bIns="0" rtlCol="0" anchor="ctr"/>
          <a:lstStyle/>
          <a:p>
            <a:pPr indent="0" marL="0">
              <a:buNone/>
            </a:pPr>
            <a:r>
              <a:rPr lang="en-US" sz="2000" b="1" dirty="0">
                <a:solidFill>
                  <a:srgbClr val="586C47"/>
                </a:solidFill>
                <a:latin typeface="Cambria" pitchFamily="34" charset="0"/>
                <a:ea typeface="Cambria" pitchFamily="34" charset="-122"/>
                <a:cs typeface="Cambria" pitchFamily="34" charset="-120"/>
              </a:rPr>
              <a:t>Do this</a:t>
            </a:r>
            <a:endParaRPr lang="en-US" sz="2000" dirty="0"/>
          </a:p>
        </p:txBody>
      </p:sp>
      <p:sp>
        <p:nvSpPr>
          <p:cNvPr id="10" name="Text 6"/>
          <p:cNvSpPr txBox="1"/>
          <p:nvPr/>
        </p:nvSpPr>
        <p:spPr>
          <a:xfrm>
            <a:off x="822960" y="2606040"/>
            <a:ext cx="4846320" cy="3337560"/>
          </a:xfrm>
          <a:prstGeom prst="rect">
            <a:avLst/>
          </a:prstGeom>
          <a:noFill/>
          <a:ln/>
        </p:spPr>
        <p:txBody>
          <a:bodyPr wrap="square" lIns="0" tIns="0" rIns="0" bIns="0" rtlCol="0" anchor="t"/>
          <a:lstStyle/>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Use the referral packet or insurance card as your source for legal name and DOB — not the caregiver's memory.</a:t>
            </a:r>
            <a:endParaRPr lang="en-US" sz="1250" dirty="0"/>
          </a:p>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Record the home address exactly as GPS will find it; add gate codes or access notes in a practice alert, not the address line.</a:t>
            </a:r>
            <a:endParaRPr lang="en-US" sz="1250" dirty="0"/>
          </a:p>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Set the patient's preferred name; care teams use it to build rapport with someone who may not respond to a formal name.</a:t>
            </a:r>
            <a:endParaRPr lang="en-US" sz="1250" dirty="0"/>
          </a:p>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After saving, immediately add at least one caregiver contact. A chart with no reachable person is an open risk.</a:t>
            </a:r>
            <a:endParaRPr lang="en-US" sz="1250" dirty="0"/>
          </a:p>
        </p:txBody>
      </p:sp>
      <p:sp>
        <p:nvSpPr>
          <p:cNvPr id="11" name="Shape 7"/>
          <p:cNvSpPr/>
          <p:nvPr/>
        </p:nvSpPr>
        <p:spPr>
          <a:xfrm>
            <a:off x="6245352" y="1691640"/>
            <a:ext cx="5394960" cy="4434840"/>
          </a:xfrm>
          <a:prstGeom prst="roundRect">
            <a:avLst>
              <a:gd name="adj" fmla="val 2062"/>
            </a:avLst>
          </a:prstGeom>
          <a:solidFill>
            <a:srgbClr val="FBEDEA"/>
          </a:solidFill>
          <a:ln w="12700">
            <a:solidFill>
              <a:srgbClr val="FBEDEA"/>
            </a:solidFill>
            <a:prstDash val="solid"/>
          </a:ln>
        </p:spPr>
      </p:sp>
      <p:pic>
        <p:nvPicPr>
          <p:cNvPr id="12" name="Image 2" descr="preencoded.png">    </p:cNvPr>
          <p:cNvPicPr>
            <a:picLocks noChangeAspect="1"/>
          </p:cNvPicPr>
          <p:nvPr/>
        </p:nvPicPr>
        <p:blipFill>
          <a:blip r:embed="rId3"/>
          <a:stretch>
            <a:fillRect/>
          </a:stretch>
        </p:blipFill>
        <p:spPr>
          <a:xfrm>
            <a:off x="6519672" y="1965960"/>
            <a:ext cx="411480" cy="411480"/>
          </a:xfrm>
          <a:prstGeom prst="rect">
            <a:avLst/>
          </a:prstGeom>
        </p:spPr>
      </p:pic>
      <p:sp>
        <p:nvSpPr>
          <p:cNvPr id="13" name="Text 8"/>
          <p:cNvSpPr txBox="1"/>
          <p:nvPr/>
        </p:nvSpPr>
        <p:spPr>
          <a:xfrm>
            <a:off x="7068312" y="1920240"/>
            <a:ext cx="4389120" cy="502920"/>
          </a:xfrm>
          <a:prstGeom prst="rect">
            <a:avLst/>
          </a:prstGeom>
          <a:noFill/>
          <a:ln/>
        </p:spPr>
        <p:txBody>
          <a:bodyPr wrap="square" lIns="0" tIns="0" rIns="0" bIns="0" rtlCol="0" anchor="ctr"/>
          <a:lstStyle/>
          <a:p>
            <a:pPr indent="0" marL="0">
              <a:buNone/>
            </a:pPr>
            <a:r>
              <a:rPr lang="en-US" sz="2000" b="1" dirty="0">
                <a:solidFill>
                  <a:srgbClr val="A33A2B"/>
                </a:solidFill>
                <a:latin typeface="Cambria" pitchFamily="34" charset="0"/>
                <a:ea typeface="Cambria" pitchFamily="34" charset="-122"/>
                <a:cs typeface="Cambria" pitchFamily="34" charset="-120"/>
              </a:rPr>
              <a:t>Watch out for</a:t>
            </a:r>
            <a:endParaRPr lang="en-US" sz="2000" dirty="0"/>
          </a:p>
        </p:txBody>
      </p:sp>
      <p:sp>
        <p:nvSpPr>
          <p:cNvPr id="14" name="Text 9"/>
          <p:cNvSpPr txBox="1"/>
          <p:nvPr/>
        </p:nvSpPr>
        <p:spPr>
          <a:xfrm>
            <a:off x="6519672" y="2606040"/>
            <a:ext cx="4846320" cy="3337560"/>
          </a:xfrm>
          <a:prstGeom prst="rect">
            <a:avLst/>
          </a:prstGeom>
          <a:noFill/>
          <a:ln/>
        </p:spPr>
        <p:txBody>
          <a:bodyPr wrap="square" lIns="0" tIns="0" rIns="0" bIns="0" rtlCol="0" anchor="t"/>
          <a:lstStyle/>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Creating a chart from a phone call without a duplicate search.</a:t>
            </a:r>
            <a:endParaRPr lang="en-US" sz="1250" dirty="0"/>
          </a:p>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Typing 'Jane (Janie) Doe' into the legal name field — it breaks matching with payers.</a:t>
            </a:r>
            <a:endParaRPr lang="en-US" sz="1250" dirty="0"/>
          </a:p>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Recording the patient's own phone as primary when the patient can't reliably answer or relay messages.</a:t>
            </a:r>
            <a:endParaRPr lang="en-US" sz="1250" dirty="0"/>
          </a:p>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Leaving the department blank or defaulting to the wrong region; it hides the patient from the local team's Calendar and worklists.</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AF1FA"/>
        </a:solidFill>
      </p:bgPr>
    </p:bg>
    <p:spTree>
      <p:nvGrpSpPr>
        <p:cNvPr id="1" name=""/>
        <p:cNvGrpSpPr/>
        <p:nvPr/>
      </p:nvGrpSpPr>
      <p:grpSpPr>
        <a:xfrm>
          <a:off x="0" y="0"/>
          <a:ext cx="0" cy="0"/>
          <a:chOff x="0" y="0"/>
          <a:chExt cx="0" cy="0"/>
        </a:xfrm>
      </p:grpSpPr>
      <p:sp>
        <p:nvSpPr>
          <p:cNvPr id="2" name="Shape 0"/>
          <p:cNvSpPr/>
          <p:nvPr/>
        </p:nvSpPr>
        <p:spPr>
          <a:xfrm>
            <a:off x="8412480" y="1097280"/>
            <a:ext cx="4572000" cy="4572000"/>
          </a:xfrm>
          <a:prstGeom prst="ellipse">
            <a:avLst/>
          </a:prstGeom>
          <a:solidFill>
            <a:srgbClr val="84ACDF">
              <a:alpha val="35000"/>
            </a:srgbClr>
          </a:solidFill>
          <a:ln w="12700">
            <a:solidFill>
              <a:srgbClr val="84ACDF">
                <a:alpha val="35000"/>
              </a:srgbClr>
            </a:solidFill>
            <a:prstDash val="solid"/>
          </a:ln>
        </p:spPr>
      </p:sp>
      <p:pic>
        <p:nvPicPr>
          <p:cNvPr id="3"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4" name="Text 1"/>
          <p:cNvSpPr txBox="1"/>
          <p:nvPr/>
        </p:nvSpPr>
        <p:spPr>
          <a:xfrm>
            <a:off x="731520" y="2011680"/>
            <a:ext cx="5486400" cy="365760"/>
          </a:xfrm>
          <a:prstGeom prst="rect">
            <a:avLst/>
          </a:prstGeom>
          <a:noFill/>
          <a:ln/>
        </p:spPr>
        <p:txBody>
          <a:bodyPr wrap="square" lIns="0" tIns="0" rIns="0" bIns="0" rtlCol="0" anchor="ctr"/>
          <a:lstStyle/>
          <a:p>
            <a:pPr indent="0" marL="0">
              <a:buNone/>
            </a:pPr>
            <a:r>
              <a:rPr lang="en-US" sz="1400" b="1" spc="300" kern="0" dirty="0">
                <a:solidFill>
                  <a:srgbClr val="586C47"/>
                </a:solidFill>
                <a:latin typeface="Calibri" pitchFamily="34" charset="0"/>
                <a:ea typeface="Calibri" pitchFamily="34" charset="-122"/>
                <a:cs typeface="Calibri" pitchFamily="34" charset="-120"/>
              </a:rPr>
              <a:t>PART 3</a:t>
            </a:r>
            <a:endParaRPr lang="en-US" sz="1400" dirty="0"/>
          </a:p>
        </p:txBody>
      </p:sp>
      <p:sp>
        <p:nvSpPr>
          <p:cNvPr id="5" name="Text 2"/>
          <p:cNvSpPr txBox="1"/>
          <p:nvPr/>
        </p:nvSpPr>
        <p:spPr>
          <a:xfrm>
            <a:off x="731520" y="2423160"/>
            <a:ext cx="7772400" cy="1463040"/>
          </a:xfrm>
          <a:prstGeom prst="rect">
            <a:avLst/>
          </a:prstGeom>
          <a:noFill/>
          <a:ln/>
        </p:spPr>
        <p:txBody>
          <a:bodyPr wrap="square" lIns="0" tIns="0" rIns="0" bIns="0" rtlCol="0" anchor="t"/>
          <a:lstStyle/>
          <a:p>
            <a:pPr indent="0" marL="0">
              <a:buNone/>
            </a:pPr>
            <a:r>
              <a:rPr lang="en-US" sz="4000" b="1" dirty="0">
                <a:solidFill>
                  <a:srgbClr val="1E4A87"/>
                </a:solidFill>
                <a:latin typeface="Cambria" pitchFamily="34" charset="0"/>
                <a:ea typeface="Cambria" pitchFamily="34" charset="-122"/>
                <a:cs typeface="Cambria" pitchFamily="34" charset="-120"/>
              </a:rPr>
              <a:t>Caregiver, emergency, and authorized contacts</a:t>
            </a:r>
            <a:endParaRPr lang="en-US" sz="4000" dirty="0"/>
          </a:p>
        </p:txBody>
      </p:sp>
      <p:sp>
        <p:nvSpPr>
          <p:cNvPr id="6" name="Text 3"/>
          <p:cNvSpPr txBox="1"/>
          <p:nvPr/>
        </p:nvSpPr>
        <p:spPr>
          <a:xfrm>
            <a:off x="731520" y="3977640"/>
            <a:ext cx="7315200" cy="1097280"/>
          </a:xfrm>
          <a:prstGeom prst="rect">
            <a:avLst/>
          </a:prstGeom>
          <a:noFill/>
          <a:ln/>
        </p:spPr>
        <p:txBody>
          <a:bodyPr wrap="square" lIns="0" tIns="0" rIns="0" bIns="0" rtlCol="0" anchor="ctr"/>
          <a:lstStyle/>
          <a:p>
            <a:pPr indent="0" marL="0">
              <a:buNone/>
            </a:pPr>
            <a:r>
              <a:rPr lang="en-US" sz="1600" dirty="0">
                <a:solidFill>
                  <a:srgbClr val="5B6773"/>
                </a:solidFill>
                <a:latin typeface="Calibri" pitchFamily="34" charset="0"/>
                <a:ea typeface="Calibri" pitchFamily="34" charset="-122"/>
                <a:cs typeface="Calibri" pitchFamily="34" charset="-120"/>
              </a:rPr>
              <a:t>This is the heart of memory-support registration. Get the relationship, the role, and the authorization right.</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CONTACT TYPES</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Three kinds of contacts — and why the distinction matters</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2 · Patient Registration, Demographics &amp; Caregiver Contacts</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12</a:t>
            </a:r>
            <a:endParaRPr lang="en-US" sz="900" dirty="0"/>
          </a:p>
        </p:txBody>
      </p:sp>
      <p:sp>
        <p:nvSpPr>
          <p:cNvPr id="7" name="Shape 4"/>
          <p:cNvSpPr/>
          <p:nvPr/>
        </p:nvSpPr>
        <p:spPr>
          <a:xfrm>
            <a:off x="548640" y="1691640"/>
            <a:ext cx="3514344" cy="3566160"/>
          </a:xfrm>
          <a:prstGeom prst="roundRect">
            <a:avLst>
              <a:gd name="adj" fmla="val 2602"/>
            </a:avLst>
          </a:prstGeom>
          <a:solidFill>
            <a:srgbClr val="EAF1FA"/>
          </a:solidFill>
          <a:ln w="12700">
            <a:solidFill>
              <a:srgbClr val="EAF1FA"/>
            </a:solidFill>
            <a:prstDash val="solid"/>
          </a:ln>
        </p:spPr>
      </p:sp>
      <p:sp>
        <p:nvSpPr>
          <p:cNvPr id="8" name="Shape 5"/>
          <p:cNvSpPr/>
          <p:nvPr/>
        </p:nvSpPr>
        <p:spPr>
          <a:xfrm>
            <a:off x="777240" y="1920240"/>
            <a:ext cx="548640" cy="548640"/>
          </a:xfrm>
          <a:prstGeom prst="ellipse">
            <a:avLst/>
          </a:prstGeom>
          <a:solidFill>
            <a:srgbClr val="FFFFFF"/>
          </a:solidFill>
          <a:ln w="12700">
            <a:solidFill>
              <a:srgbClr val="FFFFFF"/>
            </a:solidFill>
            <a:prstDash val="solid"/>
          </a:ln>
        </p:spPr>
      </p:sp>
      <p:pic>
        <p:nvPicPr>
          <p:cNvPr id="9" name="Image 1" descr="preencoded.png">    </p:cNvPr>
          <p:cNvPicPr>
            <a:picLocks noChangeAspect="1"/>
          </p:cNvPicPr>
          <p:nvPr/>
        </p:nvPicPr>
        <p:blipFill>
          <a:blip r:embed="rId2"/>
          <a:stretch>
            <a:fillRect/>
          </a:stretch>
        </p:blipFill>
        <p:spPr>
          <a:xfrm>
            <a:off x="896112" y="2039112"/>
            <a:ext cx="310896" cy="310896"/>
          </a:xfrm>
          <a:prstGeom prst="rect">
            <a:avLst/>
          </a:prstGeom>
        </p:spPr>
      </p:pic>
      <p:sp>
        <p:nvSpPr>
          <p:cNvPr id="10" name="Text 6"/>
          <p:cNvSpPr txBox="1"/>
          <p:nvPr/>
        </p:nvSpPr>
        <p:spPr>
          <a:xfrm>
            <a:off x="1463040" y="1892808"/>
            <a:ext cx="2417064"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Caregiver</a:t>
            </a:r>
            <a:endParaRPr lang="en-US" sz="1500" dirty="0"/>
          </a:p>
        </p:txBody>
      </p:sp>
      <p:sp>
        <p:nvSpPr>
          <p:cNvPr id="11" name="Text 7"/>
          <p:cNvSpPr txBox="1"/>
          <p:nvPr/>
        </p:nvSpPr>
        <p:spPr>
          <a:xfrm>
            <a:off x="777240" y="2606040"/>
            <a:ext cx="3057144" cy="25146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person providing day-to-day support. Usually the primary point of contact for scheduling and outreach. May or may not have legal authority.</a:t>
            </a:r>
            <a:endParaRPr lang="en-US" sz="1300" dirty="0"/>
          </a:p>
        </p:txBody>
      </p:sp>
      <p:sp>
        <p:nvSpPr>
          <p:cNvPr id="12" name="Shape 8"/>
          <p:cNvSpPr/>
          <p:nvPr/>
        </p:nvSpPr>
        <p:spPr>
          <a:xfrm>
            <a:off x="4337304" y="1691640"/>
            <a:ext cx="3514344" cy="3566160"/>
          </a:xfrm>
          <a:prstGeom prst="roundRect">
            <a:avLst>
              <a:gd name="adj" fmla="val 2602"/>
            </a:avLst>
          </a:prstGeom>
          <a:solidFill>
            <a:srgbClr val="EAF1FA"/>
          </a:solidFill>
          <a:ln w="12700">
            <a:solidFill>
              <a:srgbClr val="EAF1FA"/>
            </a:solidFill>
            <a:prstDash val="solid"/>
          </a:ln>
        </p:spPr>
      </p:sp>
      <p:sp>
        <p:nvSpPr>
          <p:cNvPr id="13" name="Shape 9"/>
          <p:cNvSpPr/>
          <p:nvPr/>
        </p:nvSpPr>
        <p:spPr>
          <a:xfrm>
            <a:off x="4565904" y="1920240"/>
            <a:ext cx="548640" cy="548640"/>
          </a:xfrm>
          <a:prstGeom prst="ellipse">
            <a:avLst/>
          </a:prstGeom>
          <a:solidFill>
            <a:srgbClr val="FFFFFF"/>
          </a:solidFill>
          <a:ln w="12700">
            <a:solidFill>
              <a:srgbClr val="FFFFFF"/>
            </a:solidFill>
            <a:prstDash val="solid"/>
          </a:ln>
        </p:spPr>
      </p:sp>
      <p:pic>
        <p:nvPicPr>
          <p:cNvPr id="14" name="Image 2" descr="preencoded.png">    </p:cNvPr>
          <p:cNvPicPr>
            <a:picLocks noChangeAspect="1"/>
          </p:cNvPicPr>
          <p:nvPr/>
        </p:nvPicPr>
        <p:blipFill>
          <a:blip r:embed="rId3"/>
          <a:stretch>
            <a:fillRect/>
          </a:stretch>
        </p:blipFill>
        <p:spPr>
          <a:xfrm>
            <a:off x="4684776" y="2039112"/>
            <a:ext cx="310896" cy="310896"/>
          </a:xfrm>
          <a:prstGeom prst="rect">
            <a:avLst/>
          </a:prstGeom>
        </p:spPr>
      </p:pic>
      <p:sp>
        <p:nvSpPr>
          <p:cNvPr id="15" name="Text 10"/>
          <p:cNvSpPr txBox="1"/>
          <p:nvPr/>
        </p:nvSpPr>
        <p:spPr>
          <a:xfrm>
            <a:off x="5251704" y="1892808"/>
            <a:ext cx="2417064"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Emergency contact</a:t>
            </a:r>
            <a:endParaRPr lang="en-US" sz="1500" dirty="0"/>
          </a:p>
        </p:txBody>
      </p:sp>
      <p:sp>
        <p:nvSpPr>
          <p:cNvPr id="16" name="Text 11"/>
          <p:cNvSpPr txBox="1"/>
          <p:nvPr/>
        </p:nvSpPr>
        <p:spPr>
          <a:xfrm>
            <a:off x="4565904" y="2606040"/>
            <a:ext cx="3057144" cy="25146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Who we call if the patient is in danger or unreachable. Often the same as caregiver, but not always — record both explicitly.</a:t>
            </a:r>
            <a:endParaRPr lang="en-US" sz="1300" dirty="0"/>
          </a:p>
        </p:txBody>
      </p:sp>
      <p:sp>
        <p:nvSpPr>
          <p:cNvPr id="17" name="Shape 12"/>
          <p:cNvSpPr/>
          <p:nvPr/>
        </p:nvSpPr>
        <p:spPr>
          <a:xfrm>
            <a:off x="8125968" y="1691640"/>
            <a:ext cx="3514344" cy="3566160"/>
          </a:xfrm>
          <a:prstGeom prst="roundRect">
            <a:avLst>
              <a:gd name="adj" fmla="val 2602"/>
            </a:avLst>
          </a:prstGeom>
          <a:solidFill>
            <a:srgbClr val="EEF2E8"/>
          </a:solidFill>
          <a:ln w="12700">
            <a:solidFill>
              <a:srgbClr val="EEF2E8"/>
            </a:solidFill>
            <a:prstDash val="solid"/>
          </a:ln>
        </p:spPr>
      </p:sp>
      <p:sp>
        <p:nvSpPr>
          <p:cNvPr id="18" name="Shape 13"/>
          <p:cNvSpPr/>
          <p:nvPr/>
        </p:nvSpPr>
        <p:spPr>
          <a:xfrm>
            <a:off x="8354568" y="1920240"/>
            <a:ext cx="548640" cy="548640"/>
          </a:xfrm>
          <a:prstGeom prst="ellipse">
            <a:avLst/>
          </a:prstGeom>
          <a:solidFill>
            <a:srgbClr val="FFFFFF"/>
          </a:solidFill>
          <a:ln w="12700">
            <a:solidFill>
              <a:srgbClr val="FFFFFF"/>
            </a:solidFill>
            <a:prstDash val="solid"/>
          </a:ln>
        </p:spPr>
      </p:sp>
      <p:pic>
        <p:nvPicPr>
          <p:cNvPr id="19" name="Image 3" descr="preencoded.png">    </p:cNvPr>
          <p:cNvPicPr>
            <a:picLocks noChangeAspect="1"/>
          </p:cNvPicPr>
          <p:nvPr/>
        </p:nvPicPr>
        <p:blipFill>
          <a:blip r:embed="rId4"/>
          <a:stretch>
            <a:fillRect/>
          </a:stretch>
        </p:blipFill>
        <p:spPr>
          <a:xfrm>
            <a:off x="8473440" y="2039112"/>
            <a:ext cx="310896" cy="310896"/>
          </a:xfrm>
          <a:prstGeom prst="rect">
            <a:avLst/>
          </a:prstGeom>
        </p:spPr>
      </p:pic>
      <p:sp>
        <p:nvSpPr>
          <p:cNvPr id="20" name="Text 14"/>
          <p:cNvSpPr txBox="1"/>
          <p:nvPr/>
        </p:nvSpPr>
        <p:spPr>
          <a:xfrm>
            <a:off x="9040368" y="1892808"/>
            <a:ext cx="2417064"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Authorized / legal contact</a:t>
            </a:r>
            <a:endParaRPr lang="en-US" sz="1500" dirty="0"/>
          </a:p>
        </p:txBody>
      </p:sp>
      <p:sp>
        <p:nvSpPr>
          <p:cNvPr id="21" name="Text 15"/>
          <p:cNvSpPr txBox="1"/>
          <p:nvPr/>
        </p:nvSpPr>
        <p:spPr>
          <a:xfrm>
            <a:off x="8354568" y="2606040"/>
            <a:ext cx="3057144" cy="25146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Someone with documented permission to receive health information (ROI on file) or make decisions (healthcare proxy, POA, guardianship). Authorization must be backed by a document.</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CONTACTS</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Adding a caregiver contact</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2 · Patient Registration, Demographics &amp; Caregiver Contacts</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13</a:t>
            </a:r>
            <a:endParaRPr lang="en-US" sz="900" dirty="0"/>
          </a:p>
        </p:txBody>
      </p:sp>
      <p:sp>
        <p:nvSpPr>
          <p:cNvPr id="7" name="Shape 4"/>
          <p:cNvSpPr/>
          <p:nvPr/>
        </p:nvSpPr>
        <p:spPr>
          <a:xfrm>
            <a:off x="548640" y="1719072"/>
            <a:ext cx="347472" cy="347472"/>
          </a:xfrm>
          <a:prstGeom prst="ellipse">
            <a:avLst/>
          </a:prstGeom>
          <a:solidFill>
            <a:srgbClr val="1E4A87"/>
          </a:solidFill>
          <a:ln w="12700">
            <a:solidFill>
              <a:srgbClr val="1E4A87"/>
            </a:solidFill>
            <a:prstDash val="solid"/>
          </a:ln>
        </p:spPr>
      </p:sp>
      <p:sp>
        <p:nvSpPr>
          <p:cNvPr id="8" name="Text 5"/>
          <p:cNvSpPr txBox="1"/>
          <p:nvPr/>
        </p:nvSpPr>
        <p:spPr>
          <a:xfrm>
            <a:off x="548640" y="171907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6"/>
          <p:cNvSpPr txBox="1"/>
          <p:nvPr/>
        </p:nvSpPr>
        <p:spPr>
          <a:xfrm>
            <a:off x="1005840" y="1691640"/>
            <a:ext cx="4754880" cy="777240"/>
          </a:xfrm>
          <a:prstGeom prst="rect">
            <a:avLst/>
          </a:prstGeom>
          <a:noFill/>
          <a:ln/>
        </p:spPr>
        <p:txBody>
          <a:bodyPr wrap="square" lIns="0" tIns="0" rIns="0" bIns="0" rtlCol="0" anchor="t"/>
          <a:lstStyle/>
          <a:p>
            <a:pPr indent="0" marL="0">
              <a:buNone/>
            </a:pPr>
            <a:r>
              <a:rPr lang="en-US" sz="1250" b="1" dirty="0">
                <a:solidFill>
                  <a:srgbClr val="1E4A87"/>
                </a:solidFill>
                <a:latin typeface="Calibri" pitchFamily="34" charset="0"/>
                <a:ea typeface="Calibri" pitchFamily="34" charset="-122"/>
                <a:cs typeface="Calibri" pitchFamily="34" charset="-120"/>
              </a:rPr>
              <a:t>Open Quickview → Emergency Contact / Contacts section. </a:t>
            </a:r>
            <a:pPr indent="0" marL="0">
              <a:buNone/>
            </a:pPr>
            <a:r>
              <a:rPr lang="en-US" sz="1250" dirty="0">
                <a:solidFill>
                  <a:srgbClr val="1F2933"/>
                </a:solidFill>
                <a:latin typeface="Calibri" pitchFamily="34" charset="0"/>
                <a:ea typeface="Calibri" pitchFamily="34" charset="-122"/>
                <a:cs typeface="Calibri" pitchFamily="34" charset="-120"/>
              </a:rPr>
              <a:t>Verify the banner shows the right patient. athenaOne stores an emergency contact, guarantor, and additional contacts with relationship.</a:t>
            </a:r>
            <a:endParaRPr lang="en-US" sz="1250" dirty="0"/>
          </a:p>
        </p:txBody>
      </p:sp>
      <p:sp>
        <p:nvSpPr>
          <p:cNvPr id="10" name="Shape 7"/>
          <p:cNvSpPr/>
          <p:nvPr/>
        </p:nvSpPr>
        <p:spPr>
          <a:xfrm>
            <a:off x="548640" y="2542032"/>
            <a:ext cx="347472" cy="347472"/>
          </a:xfrm>
          <a:prstGeom prst="ellipse">
            <a:avLst/>
          </a:prstGeom>
          <a:solidFill>
            <a:srgbClr val="1E4A87"/>
          </a:solidFill>
          <a:ln w="12700">
            <a:solidFill>
              <a:srgbClr val="1E4A87"/>
            </a:solidFill>
            <a:prstDash val="solid"/>
          </a:ln>
        </p:spPr>
      </p:sp>
      <p:sp>
        <p:nvSpPr>
          <p:cNvPr id="11" name="Text 8"/>
          <p:cNvSpPr txBox="1"/>
          <p:nvPr/>
        </p:nvSpPr>
        <p:spPr>
          <a:xfrm>
            <a:off x="548640" y="254203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9"/>
          <p:cNvSpPr txBox="1"/>
          <p:nvPr/>
        </p:nvSpPr>
        <p:spPr>
          <a:xfrm>
            <a:off x="1005840" y="2514600"/>
            <a:ext cx="4754880" cy="777240"/>
          </a:xfrm>
          <a:prstGeom prst="rect">
            <a:avLst/>
          </a:prstGeom>
          <a:noFill/>
          <a:ln/>
        </p:spPr>
        <p:txBody>
          <a:bodyPr wrap="square" lIns="0" tIns="0" rIns="0" bIns="0" rtlCol="0" anchor="t"/>
          <a:lstStyle/>
          <a:p>
            <a:pPr indent="0" marL="0">
              <a:buNone/>
            </a:pPr>
            <a:r>
              <a:rPr lang="en-US" sz="1250" b="1" dirty="0">
                <a:solidFill>
                  <a:srgbClr val="1E4A87"/>
                </a:solidFill>
                <a:latin typeface="Calibri" pitchFamily="34" charset="0"/>
                <a:ea typeface="Calibri" pitchFamily="34" charset="-122"/>
                <a:cs typeface="Calibri" pitchFamily="34" charset="-120"/>
              </a:rPr>
              <a:t>Add contact. </a:t>
            </a:r>
            <a:pPr indent="0" marL="0">
              <a:buNone/>
            </a:pPr>
            <a:r>
              <a:rPr lang="en-US" sz="1250" dirty="0">
                <a:solidFill>
                  <a:srgbClr val="1F2933"/>
                </a:solidFill>
                <a:latin typeface="Calibri" pitchFamily="34" charset="0"/>
                <a:ea typeface="Calibri" pitchFamily="34" charset="-122"/>
                <a:cs typeface="Calibri" pitchFamily="34" charset="-120"/>
              </a:rPr>
              <a:t>Enter full name, relationship (daughter, spouse, friend, paid aide), and best phone with type.</a:t>
            </a:r>
            <a:endParaRPr lang="en-US" sz="1250" dirty="0"/>
          </a:p>
        </p:txBody>
      </p:sp>
      <p:sp>
        <p:nvSpPr>
          <p:cNvPr id="13" name="Shape 10"/>
          <p:cNvSpPr/>
          <p:nvPr/>
        </p:nvSpPr>
        <p:spPr>
          <a:xfrm>
            <a:off x="548640" y="3364992"/>
            <a:ext cx="347472" cy="347472"/>
          </a:xfrm>
          <a:prstGeom prst="ellipse">
            <a:avLst/>
          </a:prstGeom>
          <a:solidFill>
            <a:srgbClr val="1E4A87"/>
          </a:solidFill>
          <a:ln w="12700">
            <a:solidFill>
              <a:srgbClr val="1E4A87"/>
            </a:solidFill>
            <a:prstDash val="solid"/>
          </a:ln>
        </p:spPr>
      </p:sp>
      <p:sp>
        <p:nvSpPr>
          <p:cNvPr id="14" name="Text 11"/>
          <p:cNvSpPr txBox="1"/>
          <p:nvPr/>
        </p:nvSpPr>
        <p:spPr>
          <a:xfrm>
            <a:off x="548640" y="336499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5" name="Text 12"/>
          <p:cNvSpPr txBox="1"/>
          <p:nvPr/>
        </p:nvSpPr>
        <p:spPr>
          <a:xfrm>
            <a:off x="1005840" y="3337560"/>
            <a:ext cx="4754880" cy="777240"/>
          </a:xfrm>
          <a:prstGeom prst="rect">
            <a:avLst/>
          </a:prstGeom>
          <a:noFill/>
          <a:ln/>
        </p:spPr>
        <p:txBody>
          <a:bodyPr wrap="square" lIns="0" tIns="0" rIns="0" bIns="0" rtlCol="0" anchor="t"/>
          <a:lstStyle/>
          <a:p>
            <a:pPr indent="0" marL="0">
              <a:buNone/>
            </a:pPr>
            <a:r>
              <a:rPr lang="en-US" sz="1250" b="1" dirty="0">
                <a:solidFill>
                  <a:srgbClr val="1E4A87"/>
                </a:solidFill>
                <a:latin typeface="Calibri" pitchFamily="34" charset="0"/>
                <a:ea typeface="Calibri" pitchFamily="34" charset="-122"/>
                <a:cs typeface="Calibri" pitchFamily="34" charset="-120"/>
              </a:rPr>
              <a:t>Set contact roles. </a:t>
            </a:r>
            <a:pPr indent="0" marL="0">
              <a:buNone/>
            </a:pPr>
            <a:r>
              <a:rPr lang="en-US" sz="1250" dirty="0">
                <a:solidFill>
                  <a:srgbClr val="1F2933"/>
                </a:solidFill>
                <a:latin typeface="Calibri" pitchFamily="34" charset="0"/>
                <a:ea typeface="Calibri" pitchFamily="34" charset="-122"/>
                <a:cs typeface="Calibri" pitchFamily="34" charset="-120"/>
              </a:rPr>
              <a:t>Flag Caregiver, Emergency, and — only if a document supports it — Authorized to receive PHI.</a:t>
            </a:r>
            <a:endParaRPr lang="en-US" sz="1250" dirty="0"/>
          </a:p>
        </p:txBody>
      </p:sp>
      <p:sp>
        <p:nvSpPr>
          <p:cNvPr id="16" name="Shape 13"/>
          <p:cNvSpPr/>
          <p:nvPr/>
        </p:nvSpPr>
        <p:spPr>
          <a:xfrm>
            <a:off x="548640" y="4187952"/>
            <a:ext cx="347472" cy="347472"/>
          </a:xfrm>
          <a:prstGeom prst="ellipse">
            <a:avLst/>
          </a:prstGeom>
          <a:solidFill>
            <a:srgbClr val="1E4A87"/>
          </a:solidFill>
          <a:ln w="12700">
            <a:solidFill>
              <a:srgbClr val="1E4A87"/>
            </a:solidFill>
            <a:prstDash val="solid"/>
          </a:ln>
        </p:spPr>
      </p:sp>
      <p:sp>
        <p:nvSpPr>
          <p:cNvPr id="17" name="Text 14"/>
          <p:cNvSpPr txBox="1"/>
          <p:nvPr/>
        </p:nvSpPr>
        <p:spPr>
          <a:xfrm>
            <a:off x="548640" y="418795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8" name="Text 15"/>
          <p:cNvSpPr txBox="1"/>
          <p:nvPr/>
        </p:nvSpPr>
        <p:spPr>
          <a:xfrm>
            <a:off x="1005840" y="4160520"/>
            <a:ext cx="4754880" cy="777240"/>
          </a:xfrm>
          <a:prstGeom prst="rect">
            <a:avLst/>
          </a:prstGeom>
          <a:noFill/>
          <a:ln/>
        </p:spPr>
        <p:txBody>
          <a:bodyPr wrap="square" lIns="0" tIns="0" rIns="0" bIns="0" rtlCol="0" anchor="t"/>
          <a:lstStyle/>
          <a:p>
            <a:pPr indent="0" marL="0">
              <a:buNone/>
            </a:pPr>
            <a:r>
              <a:rPr lang="en-US" sz="1250" b="1" dirty="0">
                <a:solidFill>
                  <a:srgbClr val="1E4A87"/>
                </a:solidFill>
                <a:latin typeface="Calibri" pitchFamily="34" charset="0"/>
                <a:ea typeface="Calibri" pitchFamily="34" charset="-122"/>
                <a:cs typeface="Calibri" pitchFamily="34" charset="-120"/>
              </a:rPr>
              <a:t>Add notes that help the team. </a:t>
            </a:r>
            <a:pPr indent="0" marL="0">
              <a:buNone/>
            </a:pPr>
            <a:r>
              <a:rPr lang="en-US" sz="1250" dirty="0">
                <a:solidFill>
                  <a:srgbClr val="1F2933"/>
                </a:solidFill>
                <a:latin typeface="Calibri" pitchFamily="34" charset="0"/>
                <a:ea typeface="Calibri" pitchFamily="34" charset="-122"/>
                <a:cs typeface="Calibri" pitchFamily="34" charset="-120"/>
              </a:rPr>
              <a:t>'Works days; best after 5 PM.' 'Lives out of state; local contact is son Mark.'</a:t>
            </a:r>
            <a:endParaRPr lang="en-US" sz="1250" dirty="0"/>
          </a:p>
        </p:txBody>
      </p:sp>
      <p:sp>
        <p:nvSpPr>
          <p:cNvPr id="19" name="Shape 16"/>
          <p:cNvSpPr/>
          <p:nvPr/>
        </p:nvSpPr>
        <p:spPr>
          <a:xfrm>
            <a:off x="548640" y="5010912"/>
            <a:ext cx="347472" cy="347472"/>
          </a:xfrm>
          <a:prstGeom prst="ellipse">
            <a:avLst/>
          </a:prstGeom>
          <a:solidFill>
            <a:srgbClr val="1E4A87"/>
          </a:solidFill>
          <a:ln w="12700">
            <a:solidFill>
              <a:srgbClr val="1E4A87"/>
            </a:solidFill>
            <a:prstDash val="solid"/>
          </a:ln>
        </p:spPr>
      </p:sp>
      <p:sp>
        <p:nvSpPr>
          <p:cNvPr id="20" name="Text 17"/>
          <p:cNvSpPr txBox="1"/>
          <p:nvPr/>
        </p:nvSpPr>
        <p:spPr>
          <a:xfrm>
            <a:off x="548640" y="501091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1" name="Text 18"/>
          <p:cNvSpPr txBox="1"/>
          <p:nvPr/>
        </p:nvSpPr>
        <p:spPr>
          <a:xfrm>
            <a:off x="1005840" y="4983480"/>
            <a:ext cx="4754880" cy="777240"/>
          </a:xfrm>
          <a:prstGeom prst="rect">
            <a:avLst/>
          </a:prstGeom>
          <a:noFill/>
          <a:ln/>
        </p:spPr>
        <p:txBody>
          <a:bodyPr wrap="square" lIns="0" tIns="0" rIns="0" bIns="0" rtlCol="0" anchor="t"/>
          <a:lstStyle/>
          <a:p>
            <a:pPr indent="0" marL="0">
              <a:buNone/>
            </a:pPr>
            <a:r>
              <a:rPr lang="en-US" sz="1250" b="1" dirty="0">
                <a:solidFill>
                  <a:srgbClr val="1E4A87"/>
                </a:solidFill>
                <a:latin typeface="Calibri" pitchFamily="34" charset="0"/>
                <a:ea typeface="Calibri" pitchFamily="34" charset="-122"/>
                <a:cs typeface="Calibri" pitchFamily="34" charset="-120"/>
              </a:rPr>
              <a:t>Save and verify. </a:t>
            </a:r>
            <a:pPr indent="0" marL="0">
              <a:buNone/>
            </a:pPr>
            <a:r>
              <a:rPr lang="en-US" sz="1250" dirty="0">
                <a:solidFill>
                  <a:srgbClr val="1F2933"/>
                </a:solidFill>
                <a:latin typeface="Calibri" pitchFamily="34" charset="0"/>
                <a:ea typeface="Calibri" pitchFamily="34" charset="-122"/>
                <a:cs typeface="Calibri" pitchFamily="34" charset="-120"/>
              </a:rPr>
              <a:t>Confirm the contact appears in the chart summary with the correct roles.</a:t>
            </a:r>
            <a:endParaRPr lang="en-US" sz="1250" dirty="0"/>
          </a:p>
        </p:txBody>
      </p:sp>
      <p:sp>
        <p:nvSpPr>
          <p:cNvPr id="22" name="Shape 19"/>
          <p:cNvSpPr/>
          <p:nvPr/>
        </p:nvSpPr>
        <p:spPr>
          <a:xfrm>
            <a:off x="6309360" y="1691640"/>
            <a:ext cx="5349240" cy="4480560"/>
          </a:xfrm>
          <a:prstGeom prst="roundRect">
            <a:avLst>
              <a:gd name="adj" fmla="val 1633"/>
            </a:avLst>
          </a:prstGeom>
          <a:solidFill>
            <a:srgbClr val="F7F9FC"/>
          </a:solidFill>
          <a:ln w="12700">
            <a:solidFill>
              <a:srgbClr val="D6DEE8"/>
            </a:solidFill>
            <a:prstDash val="solid"/>
          </a:ln>
          <a:effectLst>
            <a:outerShdw sx="100000" sy="100000" kx="0" ky="0" algn="bl" rotWithShape="0" blurRad="76200" dist="25400" dir="5400000">
              <a:srgbClr val="000000">
                <a:alpha val="12000"/>
              </a:srgbClr>
            </a:outerShdw>
          </a:effectLst>
        </p:spPr>
      </p:sp>
      <p:sp>
        <p:nvSpPr>
          <p:cNvPr id="23" name="Shape 20"/>
          <p:cNvSpPr/>
          <p:nvPr/>
        </p:nvSpPr>
        <p:spPr>
          <a:xfrm>
            <a:off x="6309360" y="1691640"/>
            <a:ext cx="5349240" cy="411480"/>
          </a:xfrm>
          <a:prstGeom prst="rect">
            <a:avLst/>
          </a:prstGeom>
          <a:solidFill>
            <a:srgbClr val="1E4A87"/>
          </a:solidFill>
          <a:ln w="12700">
            <a:solidFill>
              <a:srgbClr val="1E4A87"/>
            </a:solidFill>
            <a:prstDash val="solid"/>
          </a:ln>
        </p:spPr>
      </p:sp>
      <p:sp>
        <p:nvSpPr>
          <p:cNvPr id="24" name="Text 21"/>
          <p:cNvSpPr txBox="1"/>
          <p:nvPr/>
        </p:nvSpPr>
        <p:spPr>
          <a:xfrm>
            <a:off x="6492240" y="1691640"/>
            <a:ext cx="4983480" cy="41148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Quickview · Contacts · Add</a:t>
            </a:r>
            <a:endParaRPr lang="en-US" sz="1100" dirty="0"/>
          </a:p>
        </p:txBody>
      </p:sp>
      <p:sp>
        <p:nvSpPr>
          <p:cNvPr id="25" name="Text 22"/>
          <p:cNvSpPr txBox="1"/>
          <p:nvPr/>
        </p:nvSpPr>
        <p:spPr>
          <a:xfrm>
            <a:off x="6492240" y="1691640"/>
            <a:ext cx="4983480" cy="411480"/>
          </a:xfrm>
          <a:prstGeom prst="rect">
            <a:avLst/>
          </a:prstGeom>
          <a:noFill/>
          <a:ln/>
        </p:spPr>
        <p:txBody>
          <a:bodyPr wrap="square" lIns="0" tIns="0" rIns="0" bIns="0" rtlCol="0" anchor="ctr"/>
          <a:lstStyle/>
          <a:p>
            <a:pPr algn="r" indent="0" marL="0">
              <a:buNone/>
            </a:pPr>
            <a:r>
              <a:rPr lang="en-US" sz="800" dirty="0">
                <a:solidFill>
                  <a:srgbClr val="84ACDF"/>
                </a:solidFill>
                <a:latin typeface="Calibri" pitchFamily="34" charset="0"/>
                <a:ea typeface="Calibri" pitchFamily="34" charset="-122"/>
                <a:cs typeface="Calibri" pitchFamily="34" charset="-120"/>
              </a:rPr>
              <a:t>athenaOne · illustrative screen</a:t>
            </a:r>
            <a:endParaRPr lang="en-US" sz="800" dirty="0"/>
          </a:p>
        </p:txBody>
      </p:sp>
      <p:sp>
        <p:nvSpPr>
          <p:cNvPr id="26" name="Text 23"/>
          <p:cNvSpPr txBox="1"/>
          <p:nvPr/>
        </p:nvSpPr>
        <p:spPr>
          <a:xfrm>
            <a:off x="6537960" y="2286000"/>
            <a:ext cx="1737360" cy="310896"/>
          </a:xfrm>
          <a:prstGeom prst="rect">
            <a:avLst/>
          </a:prstGeom>
          <a:noFill/>
          <a:ln/>
        </p:spPr>
        <p:txBody>
          <a:bodyPr wrap="square" lIns="0" tIns="0" rIns="0" bIns="0" rtlCol="0" anchor="ctr"/>
          <a:lstStyle/>
          <a:p>
            <a:pPr indent="0" marL="0">
              <a:buNone/>
            </a:pPr>
            <a:r>
              <a:rPr lang="en-US" sz="1000" dirty="0">
                <a:solidFill>
                  <a:srgbClr val="5B6773"/>
                </a:solidFill>
                <a:latin typeface="Calibri" pitchFamily="34" charset="0"/>
                <a:ea typeface="Calibri" pitchFamily="34" charset="-122"/>
                <a:cs typeface="Calibri" pitchFamily="34" charset="-120"/>
              </a:rPr>
              <a:t>Name</a:t>
            </a:r>
            <a:endParaRPr lang="en-US" sz="1000" dirty="0"/>
          </a:p>
        </p:txBody>
      </p:sp>
      <p:sp>
        <p:nvSpPr>
          <p:cNvPr id="27" name="Shape 24"/>
          <p:cNvSpPr/>
          <p:nvPr/>
        </p:nvSpPr>
        <p:spPr>
          <a:xfrm>
            <a:off x="8275320" y="2304288"/>
            <a:ext cx="3108960" cy="274320"/>
          </a:xfrm>
          <a:prstGeom prst="rect">
            <a:avLst/>
          </a:prstGeom>
          <a:solidFill>
            <a:srgbClr val="FFFFFF"/>
          </a:solidFill>
          <a:ln w="9525">
            <a:solidFill>
              <a:srgbClr val="D6DEE8"/>
            </a:solidFill>
            <a:prstDash val="solid"/>
          </a:ln>
        </p:spPr>
      </p:sp>
      <p:sp>
        <p:nvSpPr>
          <p:cNvPr id="28" name="Text 25"/>
          <p:cNvSpPr txBox="1"/>
          <p:nvPr/>
        </p:nvSpPr>
        <p:spPr>
          <a:xfrm>
            <a:off x="8366760" y="2304288"/>
            <a:ext cx="297180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Doe, Susan</a:t>
            </a:r>
            <a:endParaRPr lang="en-US" sz="1000" dirty="0"/>
          </a:p>
        </p:txBody>
      </p:sp>
      <p:sp>
        <p:nvSpPr>
          <p:cNvPr id="29" name="Text 26"/>
          <p:cNvSpPr txBox="1"/>
          <p:nvPr/>
        </p:nvSpPr>
        <p:spPr>
          <a:xfrm>
            <a:off x="6537960" y="2651760"/>
            <a:ext cx="1737360" cy="310896"/>
          </a:xfrm>
          <a:prstGeom prst="rect">
            <a:avLst/>
          </a:prstGeom>
          <a:noFill/>
          <a:ln/>
        </p:spPr>
        <p:txBody>
          <a:bodyPr wrap="square" lIns="0" tIns="0" rIns="0" bIns="0" rtlCol="0" anchor="ctr"/>
          <a:lstStyle/>
          <a:p>
            <a:pPr indent="0" marL="0">
              <a:buNone/>
            </a:pPr>
            <a:r>
              <a:rPr lang="en-US" sz="1000" dirty="0">
                <a:solidFill>
                  <a:srgbClr val="5B6773"/>
                </a:solidFill>
                <a:latin typeface="Calibri" pitchFamily="34" charset="0"/>
                <a:ea typeface="Calibri" pitchFamily="34" charset="-122"/>
                <a:cs typeface="Calibri" pitchFamily="34" charset="-120"/>
              </a:rPr>
              <a:t>Relationship</a:t>
            </a:r>
            <a:endParaRPr lang="en-US" sz="1000" dirty="0"/>
          </a:p>
        </p:txBody>
      </p:sp>
      <p:sp>
        <p:nvSpPr>
          <p:cNvPr id="30" name="Shape 27"/>
          <p:cNvSpPr/>
          <p:nvPr/>
        </p:nvSpPr>
        <p:spPr>
          <a:xfrm>
            <a:off x="8275320" y="2670048"/>
            <a:ext cx="3108960" cy="274320"/>
          </a:xfrm>
          <a:prstGeom prst="rect">
            <a:avLst/>
          </a:prstGeom>
          <a:solidFill>
            <a:srgbClr val="FFFFFF"/>
          </a:solidFill>
          <a:ln w="9525">
            <a:solidFill>
              <a:srgbClr val="D6DEE8"/>
            </a:solidFill>
            <a:prstDash val="solid"/>
          </a:ln>
        </p:spPr>
      </p:sp>
      <p:sp>
        <p:nvSpPr>
          <p:cNvPr id="31" name="Text 28"/>
          <p:cNvSpPr txBox="1"/>
          <p:nvPr/>
        </p:nvSpPr>
        <p:spPr>
          <a:xfrm>
            <a:off x="8366760" y="2670048"/>
            <a:ext cx="297180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Daughter</a:t>
            </a:r>
            <a:endParaRPr lang="en-US" sz="1000" dirty="0"/>
          </a:p>
        </p:txBody>
      </p:sp>
      <p:sp>
        <p:nvSpPr>
          <p:cNvPr id="32" name="Text 29"/>
          <p:cNvSpPr txBox="1"/>
          <p:nvPr/>
        </p:nvSpPr>
        <p:spPr>
          <a:xfrm>
            <a:off x="6537960" y="3017520"/>
            <a:ext cx="1737360" cy="310896"/>
          </a:xfrm>
          <a:prstGeom prst="rect">
            <a:avLst/>
          </a:prstGeom>
          <a:noFill/>
          <a:ln/>
        </p:spPr>
        <p:txBody>
          <a:bodyPr wrap="square" lIns="0" tIns="0" rIns="0" bIns="0" rtlCol="0" anchor="ctr"/>
          <a:lstStyle/>
          <a:p>
            <a:pPr indent="0" marL="0">
              <a:buNone/>
            </a:pPr>
            <a:r>
              <a:rPr lang="en-US" sz="1000" dirty="0">
                <a:solidFill>
                  <a:srgbClr val="5B6773"/>
                </a:solidFill>
                <a:latin typeface="Calibri" pitchFamily="34" charset="0"/>
                <a:ea typeface="Calibri" pitchFamily="34" charset="-122"/>
                <a:cs typeface="Calibri" pitchFamily="34" charset="-120"/>
              </a:rPr>
              <a:t>Phone</a:t>
            </a:r>
            <a:endParaRPr lang="en-US" sz="1000" dirty="0"/>
          </a:p>
        </p:txBody>
      </p:sp>
      <p:sp>
        <p:nvSpPr>
          <p:cNvPr id="33" name="Shape 30"/>
          <p:cNvSpPr/>
          <p:nvPr/>
        </p:nvSpPr>
        <p:spPr>
          <a:xfrm>
            <a:off x="8275320" y="3035808"/>
            <a:ext cx="3108960" cy="274320"/>
          </a:xfrm>
          <a:prstGeom prst="rect">
            <a:avLst/>
          </a:prstGeom>
          <a:solidFill>
            <a:srgbClr val="FFFFFF"/>
          </a:solidFill>
          <a:ln w="9525">
            <a:solidFill>
              <a:srgbClr val="D6DEE8"/>
            </a:solidFill>
            <a:prstDash val="solid"/>
          </a:ln>
        </p:spPr>
      </p:sp>
      <p:sp>
        <p:nvSpPr>
          <p:cNvPr id="34" name="Text 31"/>
          <p:cNvSpPr txBox="1"/>
          <p:nvPr/>
        </p:nvSpPr>
        <p:spPr>
          <a:xfrm>
            <a:off x="8366760" y="3035808"/>
            <a:ext cx="297180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(813) 555-0142 · Mobile</a:t>
            </a:r>
            <a:endParaRPr lang="en-US" sz="1000" dirty="0"/>
          </a:p>
        </p:txBody>
      </p:sp>
      <p:sp>
        <p:nvSpPr>
          <p:cNvPr id="35" name="Text 32"/>
          <p:cNvSpPr txBox="1"/>
          <p:nvPr/>
        </p:nvSpPr>
        <p:spPr>
          <a:xfrm>
            <a:off x="6537960" y="3383280"/>
            <a:ext cx="1737360" cy="310896"/>
          </a:xfrm>
          <a:prstGeom prst="rect">
            <a:avLst/>
          </a:prstGeom>
          <a:noFill/>
          <a:ln/>
        </p:spPr>
        <p:txBody>
          <a:bodyPr wrap="square" lIns="0" tIns="0" rIns="0" bIns="0" rtlCol="0" anchor="ctr"/>
          <a:lstStyle/>
          <a:p>
            <a:pPr indent="0" marL="0">
              <a:buNone/>
            </a:pPr>
            <a:r>
              <a:rPr lang="en-US" sz="1000" dirty="0">
                <a:solidFill>
                  <a:srgbClr val="5B6773"/>
                </a:solidFill>
                <a:latin typeface="Calibri" pitchFamily="34" charset="0"/>
                <a:ea typeface="Calibri" pitchFamily="34" charset="-122"/>
                <a:cs typeface="Calibri" pitchFamily="34" charset="-120"/>
              </a:rPr>
              <a:t>Roles</a:t>
            </a:r>
            <a:endParaRPr lang="en-US" sz="1000" dirty="0"/>
          </a:p>
        </p:txBody>
      </p:sp>
      <p:sp>
        <p:nvSpPr>
          <p:cNvPr id="36" name="Shape 33"/>
          <p:cNvSpPr/>
          <p:nvPr/>
        </p:nvSpPr>
        <p:spPr>
          <a:xfrm>
            <a:off x="8275320" y="3401568"/>
            <a:ext cx="3108960" cy="274320"/>
          </a:xfrm>
          <a:prstGeom prst="rect">
            <a:avLst/>
          </a:prstGeom>
          <a:solidFill>
            <a:srgbClr val="FFF6D6"/>
          </a:solidFill>
          <a:ln w="15875">
            <a:solidFill>
              <a:srgbClr val="F1C232"/>
            </a:solidFill>
            <a:prstDash val="solid"/>
          </a:ln>
        </p:spPr>
      </p:sp>
      <p:sp>
        <p:nvSpPr>
          <p:cNvPr id="37" name="Text 34"/>
          <p:cNvSpPr txBox="1"/>
          <p:nvPr/>
        </p:nvSpPr>
        <p:spPr>
          <a:xfrm>
            <a:off x="8366760" y="3401568"/>
            <a:ext cx="297180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Caregiver ☑  Emergency ☑  Authorized (PHI) ☑</a:t>
            </a:r>
            <a:endParaRPr lang="en-US" sz="1000" dirty="0"/>
          </a:p>
        </p:txBody>
      </p:sp>
      <p:sp>
        <p:nvSpPr>
          <p:cNvPr id="38" name="Text 35"/>
          <p:cNvSpPr txBox="1"/>
          <p:nvPr/>
        </p:nvSpPr>
        <p:spPr>
          <a:xfrm>
            <a:off x="6537960" y="3749040"/>
            <a:ext cx="1737360" cy="310896"/>
          </a:xfrm>
          <a:prstGeom prst="rect">
            <a:avLst/>
          </a:prstGeom>
          <a:noFill/>
          <a:ln/>
        </p:spPr>
        <p:txBody>
          <a:bodyPr wrap="square" lIns="0" tIns="0" rIns="0" bIns="0" rtlCol="0" anchor="ctr"/>
          <a:lstStyle/>
          <a:p>
            <a:pPr indent="0" marL="0">
              <a:buNone/>
            </a:pPr>
            <a:r>
              <a:rPr lang="en-US" sz="1000" dirty="0">
                <a:solidFill>
                  <a:srgbClr val="5B6773"/>
                </a:solidFill>
                <a:latin typeface="Calibri" pitchFamily="34" charset="0"/>
                <a:ea typeface="Calibri" pitchFamily="34" charset="-122"/>
                <a:cs typeface="Calibri" pitchFamily="34" charset="-120"/>
              </a:rPr>
              <a:t>Authorization</a:t>
            </a:r>
            <a:endParaRPr lang="en-US" sz="1000" dirty="0"/>
          </a:p>
        </p:txBody>
      </p:sp>
      <p:sp>
        <p:nvSpPr>
          <p:cNvPr id="39" name="Shape 36"/>
          <p:cNvSpPr/>
          <p:nvPr/>
        </p:nvSpPr>
        <p:spPr>
          <a:xfrm>
            <a:off x="8275320" y="3767328"/>
            <a:ext cx="3108960" cy="274320"/>
          </a:xfrm>
          <a:prstGeom prst="rect">
            <a:avLst/>
          </a:prstGeom>
          <a:solidFill>
            <a:srgbClr val="FFFFFF"/>
          </a:solidFill>
          <a:ln w="9525">
            <a:solidFill>
              <a:srgbClr val="D6DEE8"/>
            </a:solidFill>
            <a:prstDash val="solid"/>
          </a:ln>
        </p:spPr>
      </p:sp>
      <p:sp>
        <p:nvSpPr>
          <p:cNvPr id="40" name="Text 37"/>
          <p:cNvSpPr txBox="1"/>
          <p:nvPr/>
        </p:nvSpPr>
        <p:spPr>
          <a:xfrm>
            <a:off x="8366760" y="3767328"/>
            <a:ext cx="297180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ROI signed 08/14/2026 · Healthcare proxy on file</a:t>
            </a:r>
            <a:endParaRPr lang="en-US" sz="1000" dirty="0"/>
          </a:p>
        </p:txBody>
      </p:sp>
      <p:sp>
        <p:nvSpPr>
          <p:cNvPr id="41" name="Text 38"/>
          <p:cNvSpPr txBox="1"/>
          <p:nvPr/>
        </p:nvSpPr>
        <p:spPr>
          <a:xfrm>
            <a:off x="6537960" y="4114800"/>
            <a:ext cx="1737360" cy="310896"/>
          </a:xfrm>
          <a:prstGeom prst="rect">
            <a:avLst/>
          </a:prstGeom>
          <a:noFill/>
          <a:ln/>
        </p:spPr>
        <p:txBody>
          <a:bodyPr wrap="square" lIns="0" tIns="0" rIns="0" bIns="0" rtlCol="0" anchor="ctr"/>
          <a:lstStyle/>
          <a:p>
            <a:pPr indent="0" marL="0">
              <a:buNone/>
            </a:pPr>
            <a:r>
              <a:rPr lang="en-US" sz="1000" dirty="0">
                <a:solidFill>
                  <a:srgbClr val="5B6773"/>
                </a:solidFill>
                <a:latin typeface="Calibri" pitchFamily="34" charset="0"/>
                <a:ea typeface="Calibri" pitchFamily="34" charset="-122"/>
                <a:cs typeface="Calibri" pitchFamily="34" charset="-120"/>
              </a:rPr>
              <a:t>Notes</a:t>
            </a:r>
            <a:endParaRPr lang="en-US" sz="1000" dirty="0"/>
          </a:p>
        </p:txBody>
      </p:sp>
      <p:sp>
        <p:nvSpPr>
          <p:cNvPr id="42" name="Shape 39"/>
          <p:cNvSpPr/>
          <p:nvPr/>
        </p:nvSpPr>
        <p:spPr>
          <a:xfrm>
            <a:off x="8275320" y="4133088"/>
            <a:ext cx="3108960" cy="274320"/>
          </a:xfrm>
          <a:prstGeom prst="rect">
            <a:avLst/>
          </a:prstGeom>
          <a:solidFill>
            <a:srgbClr val="FFFFFF"/>
          </a:solidFill>
          <a:ln w="9525">
            <a:solidFill>
              <a:srgbClr val="D6DEE8"/>
            </a:solidFill>
            <a:prstDash val="solid"/>
          </a:ln>
        </p:spPr>
      </p:sp>
      <p:sp>
        <p:nvSpPr>
          <p:cNvPr id="43" name="Text 40"/>
          <p:cNvSpPr txBox="1"/>
          <p:nvPr/>
        </p:nvSpPr>
        <p:spPr>
          <a:xfrm>
            <a:off x="8366760" y="4133088"/>
            <a:ext cx="297180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Best after 5 PM; primary point of contact</a:t>
            </a:r>
            <a:endParaRPr lang="en-US" sz="1000" dirty="0"/>
          </a:p>
        </p:txBody>
      </p:sp>
      <p:sp>
        <p:nvSpPr>
          <p:cNvPr id="44" name="Shape 41"/>
          <p:cNvSpPr/>
          <p:nvPr/>
        </p:nvSpPr>
        <p:spPr>
          <a:xfrm>
            <a:off x="6537960" y="4526280"/>
            <a:ext cx="1554480" cy="329184"/>
          </a:xfrm>
          <a:prstGeom prst="roundRect">
            <a:avLst>
              <a:gd name="adj" fmla="val 13889"/>
            </a:avLst>
          </a:prstGeom>
          <a:solidFill>
            <a:srgbClr val="1E4A87"/>
          </a:solidFill>
          <a:ln w="12700">
            <a:solidFill>
              <a:srgbClr val="1E4A87"/>
            </a:solidFill>
            <a:prstDash val="solid"/>
          </a:ln>
        </p:spPr>
      </p:sp>
      <p:sp>
        <p:nvSpPr>
          <p:cNvPr id="45" name="Text 42"/>
          <p:cNvSpPr txBox="1"/>
          <p:nvPr/>
        </p:nvSpPr>
        <p:spPr>
          <a:xfrm>
            <a:off x="6537960" y="4526280"/>
            <a:ext cx="1554480"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Save contact</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REAL-WORLD SITUATIONS</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Multiple caregivers and complicated families</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2 · Patient Registration, Demographics &amp; Caregiver Contacts</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14</a:t>
            </a:r>
            <a:endParaRPr lang="en-US" sz="900" dirty="0"/>
          </a:p>
        </p:txBody>
      </p:sp>
      <p:sp>
        <p:nvSpPr>
          <p:cNvPr id="7" name="Shape 4"/>
          <p:cNvSpPr/>
          <p:nvPr/>
        </p:nvSpPr>
        <p:spPr>
          <a:xfrm>
            <a:off x="548640" y="1691640"/>
            <a:ext cx="5408676" cy="2080260"/>
          </a:xfrm>
          <a:prstGeom prst="roundRect">
            <a:avLst>
              <a:gd name="adj" fmla="val 4396"/>
            </a:avLst>
          </a:prstGeom>
          <a:solidFill>
            <a:srgbClr val="EAF1FA"/>
          </a:solidFill>
          <a:ln w="12700">
            <a:solidFill>
              <a:srgbClr val="EAF1FA"/>
            </a:solidFill>
            <a:prstDash val="solid"/>
          </a:ln>
        </p:spPr>
      </p:sp>
      <p:sp>
        <p:nvSpPr>
          <p:cNvPr id="8" name="Shape 5"/>
          <p:cNvSpPr/>
          <p:nvPr/>
        </p:nvSpPr>
        <p:spPr>
          <a:xfrm>
            <a:off x="777240" y="1920240"/>
            <a:ext cx="548640" cy="548640"/>
          </a:xfrm>
          <a:prstGeom prst="ellipse">
            <a:avLst/>
          </a:prstGeom>
          <a:solidFill>
            <a:srgbClr val="FFFFFF"/>
          </a:solidFill>
          <a:ln w="12700">
            <a:solidFill>
              <a:srgbClr val="FFFFFF"/>
            </a:solidFill>
            <a:prstDash val="solid"/>
          </a:ln>
        </p:spPr>
      </p:sp>
      <p:pic>
        <p:nvPicPr>
          <p:cNvPr id="9" name="Image 1" descr="preencoded.png">    </p:cNvPr>
          <p:cNvPicPr>
            <a:picLocks noChangeAspect="1"/>
          </p:cNvPicPr>
          <p:nvPr/>
        </p:nvPicPr>
        <p:blipFill>
          <a:blip r:embed="rId2"/>
          <a:stretch>
            <a:fillRect/>
          </a:stretch>
        </p:blipFill>
        <p:spPr>
          <a:xfrm>
            <a:off x="896112" y="2039112"/>
            <a:ext cx="310896" cy="310896"/>
          </a:xfrm>
          <a:prstGeom prst="rect">
            <a:avLst/>
          </a:prstGeom>
        </p:spPr>
      </p:pic>
      <p:sp>
        <p:nvSpPr>
          <p:cNvPr id="10" name="Text 6"/>
          <p:cNvSpPr txBox="1"/>
          <p:nvPr/>
        </p:nvSpPr>
        <p:spPr>
          <a:xfrm>
            <a:off x="1463040" y="1892808"/>
            <a:ext cx="4311396"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Several siblings</a:t>
            </a:r>
            <a:endParaRPr lang="en-US" sz="1500" dirty="0"/>
          </a:p>
        </p:txBody>
      </p:sp>
      <p:sp>
        <p:nvSpPr>
          <p:cNvPr id="11" name="Text 7"/>
          <p:cNvSpPr txBox="1"/>
          <p:nvPr/>
        </p:nvSpPr>
        <p:spPr>
          <a:xfrm>
            <a:off x="777240" y="2606040"/>
            <a:ext cx="4951476"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Record each with their role. Designate one primary point of contact and note it clearly. Don't let 'whoever calls' become the de facto decision-maker.</a:t>
            </a:r>
            <a:endParaRPr lang="en-US" sz="1150" dirty="0"/>
          </a:p>
        </p:txBody>
      </p:sp>
      <p:sp>
        <p:nvSpPr>
          <p:cNvPr id="12" name="Shape 8"/>
          <p:cNvSpPr/>
          <p:nvPr/>
        </p:nvSpPr>
        <p:spPr>
          <a:xfrm>
            <a:off x="6231636" y="1691640"/>
            <a:ext cx="5408676" cy="2080260"/>
          </a:xfrm>
          <a:prstGeom prst="roundRect">
            <a:avLst>
              <a:gd name="adj" fmla="val 4396"/>
            </a:avLst>
          </a:prstGeom>
          <a:solidFill>
            <a:srgbClr val="EAF1FA"/>
          </a:solidFill>
          <a:ln w="12700">
            <a:solidFill>
              <a:srgbClr val="EAF1FA"/>
            </a:solidFill>
            <a:prstDash val="solid"/>
          </a:ln>
        </p:spPr>
      </p:sp>
      <p:sp>
        <p:nvSpPr>
          <p:cNvPr id="13" name="Shape 9"/>
          <p:cNvSpPr/>
          <p:nvPr/>
        </p:nvSpPr>
        <p:spPr>
          <a:xfrm>
            <a:off x="6460236" y="1920240"/>
            <a:ext cx="548640" cy="548640"/>
          </a:xfrm>
          <a:prstGeom prst="ellipse">
            <a:avLst/>
          </a:prstGeom>
          <a:solidFill>
            <a:srgbClr val="FFFFFF"/>
          </a:solidFill>
          <a:ln w="12700">
            <a:solidFill>
              <a:srgbClr val="FFFFFF"/>
            </a:solidFill>
            <a:prstDash val="solid"/>
          </a:ln>
        </p:spPr>
      </p:sp>
      <p:pic>
        <p:nvPicPr>
          <p:cNvPr id="14" name="Image 2" descr="preencoded.png">    </p:cNvPr>
          <p:cNvPicPr>
            <a:picLocks noChangeAspect="1"/>
          </p:cNvPicPr>
          <p:nvPr/>
        </p:nvPicPr>
        <p:blipFill>
          <a:blip r:embed="rId3"/>
          <a:stretch>
            <a:fillRect/>
          </a:stretch>
        </p:blipFill>
        <p:spPr>
          <a:xfrm>
            <a:off x="6579108" y="2039112"/>
            <a:ext cx="310896" cy="310896"/>
          </a:xfrm>
          <a:prstGeom prst="rect">
            <a:avLst/>
          </a:prstGeom>
        </p:spPr>
      </p:pic>
      <p:sp>
        <p:nvSpPr>
          <p:cNvPr id="15" name="Text 10"/>
          <p:cNvSpPr txBox="1"/>
          <p:nvPr/>
        </p:nvSpPr>
        <p:spPr>
          <a:xfrm>
            <a:off x="7146036" y="1892808"/>
            <a:ext cx="4311396"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Paid or agency caregivers</a:t>
            </a:r>
            <a:endParaRPr lang="en-US" sz="1500" dirty="0"/>
          </a:p>
        </p:txBody>
      </p:sp>
      <p:sp>
        <p:nvSpPr>
          <p:cNvPr id="16" name="Text 11"/>
          <p:cNvSpPr txBox="1"/>
          <p:nvPr/>
        </p:nvSpPr>
        <p:spPr>
          <a:xfrm>
            <a:off x="6460236" y="2606040"/>
            <a:ext cx="4951476"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Enter with relationship 'paid caregiver' and the agency name. They typically are not authorized for PHI unless the family has signed a release naming them.</a:t>
            </a:r>
            <a:endParaRPr lang="en-US" sz="1150" dirty="0"/>
          </a:p>
        </p:txBody>
      </p:sp>
      <p:sp>
        <p:nvSpPr>
          <p:cNvPr id="17" name="Shape 12"/>
          <p:cNvSpPr/>
          <p:nvPr/>
        </p:nvSpPr>
        <p:spPr>
          <a:xfrm>
            <a:off x="548640" y="4046220"/>
            <a:ext cx="5408676" cy="2080260"/>
          </a:xfrm>
          <a:prstGeom prst="roundRect">
            <a:avLst>
              <a:gd name="adj" fmla="val 4396"/>
            </a:avLst>
          </a:prstGeom>
          <a:solidFill>
            <a:srgbClr val="EAF1FA"/>
          </a:solidFill>
          <a:ln w="12700">
            <a:solidFill>
              <a:srgbClr val="EAF1FA"/>
            </a:solidFill>
            <a:prstDash val="solid"/>
          </a:ln>
        </p:spPr>
      </p:sp>
      <p:sp>
        <p:nvSpPr>
          <p:cNvPr id="18" name="Shape 13"/>
          <p:cNvSpPr/>
          <p:nvPr/>
        </p:nvSpPr>
        <p:spPr>
          <a:xfrm>
            <a:off x="777240" y="4274820"/>
            <a:ext cx="548640" cy="548640"/>
          </a:xfrm>
          <a:prstGeom prst="ellipse">
            <a:avLst/>
          </a:prstGeom>
          <a:solidFill>
            <a:srgbClr val="FFFFFF"/>
          </a:solidFill>
          <a:ln w="12700">
            <a:solidFill>
              <a:srgbClr val="FFFFFF"/>
            </a:solidFill>
            <a:prstDash val="solid"/>
          </a:ln>
        </p:spPr>
      </p:sp>
      <p:pic>
        <p:nvPicPr>
          <p:cNvPr id="19" name="Image 3" descr="preencoded.png">    </p:cNvPr>
          <p:cNvPicPr>
            <a:picLocks noChangeAspect="1"/>
          </p:cNvPicPr>
          <p:nvPr/>
        </p:nvPicPr>
        <p:blipFill>
          <a:blip r:embed="rId4"/>
          <a:stretch>
            <a:fillRect/>
          </a:stretch>
        </p:blipFill>
        <p:spPr>
          <a:xfrm>
            <a:off x="896112" y="4393692"/>
            <a:ext cx="310896" cy="310896"/>
          </a:xfrm>
          <a:prstGeom prst="rect">
            <a:avLst/>
          </a:prstGeom>
        </p:spPr>
      </p:pic>
      <p:sp>
        <p:nvSpPr>
          <p:cNvPr id="20" name="Text 14"/>
          <p:cNvSpPr txBox="1"/>
          <p:nvPr/>
        </p:nvSpPr>
        <p:spPr>
          <a:xfrm>
            <a:off x="1463040" y="4247388"/>
            <a:ext cx="4311396"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Out-of-state family</a:t>
            </a:r>
            <a:endParaRPr lang="en-US" sz="1500" dirty="0"/>
          </a:p>
        </p:txBody>
      </p:sp>
      <p:sp>
        <p:nvSpPr>
          <p:cNvPr id="21" name="Text 15"/>
          <p:cNvSpPr txBox="1"/>
          <p:nvPr/>
        </p:nvSpPr>
        <p:spPr>
          <a:xfrm>
            <a:off x="777240" y="4960620"/>
            <a:ext cx="4951476"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Keep them as contacts with a note on time zone and availability. Identify who is physically present for visits.</a:t>
            </a:r>
            <a:endParaRPr lang="en-US" sz="1150" dirty="0"/>
          </a:p>
        </p:txBody>
      </p:sp>
      <p:sp>
        <p:nvSpPr>
          <p:cNvPr id="22" name="Shape 16"/>
          <p:cNvSpPr/>
          <p:nvPr/>
        </p:nvSpPr>
        <p:spPr>
          <a:xfrm>
            <a:off x="6231636" y="4046220"/>
            <a:ext cx="5408676" cy="2080260"/>
          </a:xfrm>
          <a:prstGeom prst="roundRect">
            <a:avLst>
              <a:gd name="adj" fmla="val 4396"/>
            </a:avLst>
          </a:prstGeom>
          <a:solidFill>
            <a:srgbClr val="EEF2E8"/>
          </a:solidFill>
          <a:ln w="12700">
            <a:solidFill>
              <a:srgbClr val="EEF2E8"/>
            </a:solidFill>
            <a:prstDash val="solid"/>
          </a:ln>
        </p:spPr>
      </p:sp>
      <p:sp>
        <p:nvSpPr>
          <p:cNvPr id="23" name="Shape 17"/>
          <p:cNvSpPr/>
          <p:nvPr/>
        </p:nvSpPr>
        <p:spPr>
          <a:xfrm>
            <a:off x="6460236" y="4274820"/>
            <a:ext cx="548640" cy="548640"/>
          </a:xfrm>
          <a:prstGeom prst="ellipse">
            <a:avLst/>
          </a:prstGeom>
          <a:solidFill>
            <a:srgbClr val="FFFFFF"/>
          </a:solidFill>
          <a:ln w="12700">
            <a:solidFill>
              <a:srgbClr val="FFFFFF"/>
            </a:solidFill>
            <a:prstDash val="solid"/>
          </a:ln>
        </p:spPr>
      </p:sp>
      <p:pic>
        <p:nvPicPr>
          <p:cNvPr id="24" name="Image 4" descr="preencoded.png">    </p:cNvPr>
          <p:cNvPicPr>
            <a:picLocks noChangeAspect="1"/>
          </p:cNvPicPr>
          <p:nvPr/>
        </p:nvPicPr>
        <p:blipFill>
          <a:blip r:embed="rId5"/>
          <a:stretch>
            <a:fillRect/>
          </a:stretch>
        </p:blipFill>
        <p:spPr>
          <a:xfrm>
            <a:off x="6579108" y="4393692"/>
            <a:ext cx="310896" cy="310896"/>
          </a:xfrm>
          <a:prstGeom prst="rect">
            <a:avLst/>
          </a:prstGeom>
        </p:spPr>
      </p:pic>
      <p:sp>
        <p:nvSpPr>
          <p:cNvPr id="25" name="Text 18"/>
          <p:cNvSpPr txBox="1"/>
          <p:nvPr/>
        </p:nvSpPr>
        <p:spPr>
          <a:xfrm>
            <a:off x="7146036" y="4247388"/>
            <a:ext cx="4311396"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Family conflict or restricted contacts</a:t>
            </a:r>
            <a:endParaRPr lang="en-US" sz="1500" dirty="0"/>
          </a:p>
        </p:txBody>
      </p:sp>
      <p:sp>
        <p:nvSpPr>
          <p:cNvPr id="26" name="Text 19"/>
          <p:cNvSpPr txBox="1"/>
          <p:nvPr/>
        </p:nvSpPr>
        <p:spPr>
          <a:xfrm>
            <a:off x="6460236" y="4960620"/>
            <a:ext cx="4951476"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If a family member is not to receive information, document the restriction in the chart and in an alert. Route disputes to your supervisor — never mediate in the chart.</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TIPS &amp; PITFALLS</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Contacts</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2 · Patient Registration, Demographics &amp; Caregiver Contacts</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15</a:t>
            </a:r>
            <a:endParaRPr lang="en-US" sz="900" dirty="0"/>
          </a:p>
        </p:txBody>
      </p:sp>
      <p:sp>
        <p:nvSpPr>
          <p:cNvPr id="7" name="Shape 4"/>
          <p:cNvSpPr/>
          <p:nvPr/>
        </p:nvSpPr>
        <p:spPr>
          <a:xfrm>
            <a:off x="548640" y="1691640"/>
            <a:ext cx="5394960" cy="4434840"/>
          </a:xfrm>
          <a:prstGeom prst="roundRect">
            <a:avLst>
              <a:gd name="adj" fmla="val 2062"/>
            </a:avLst>
          </a:prstGeom>
          <a:solidFill>
            <a:srgbClr val="EEF2E8"/>
          </a:solidFill>
          <a:ln w="12700">
            <a:solidFill>
              <a:srgbClr val="EEF2E8"/>
            </a:solidFill>
            <a:prstDash val="solid"/>
          </a:ln>
        </p:spPr>
      </p:sp>
      <p:pic>
        <p:nvPicPr>
          <p:cNvPr id="8" name="Image 1" descr="preencoded.png">    </p:cNvPr>
          <p:cNvPicPr>
            <a:picLocks noChangeAspect="1"/>
          </p:cNvPicPr>
          <p:nvPr/>
        </p:nvPicPr>
        <p:blipFill>
          <a:blip r:embed="rId2"/>
          <a:stretch>
            <a:fillRect/>
          </a:stretch>
        </p:blipFill>
        <p:spPr>
          <a:xfrm>
            <a:off x="822960" y="1965960"/>
            <a:ext cx="411480" cy="411480"/>
          </a:xfrm>
          <a:prstGeom prst="rect">
            <a:avLst/>
          </a:prstGeom>
        </p:spPr>
      </p:pic>
      <p:sp>
        <p:nvSpPr>
          <p:cNvPr id="9" name="Text 5"/>
          <p:cNvSpPr txBox="1"/>
          <p:nvPr/>
        </p:nvSpPr>
        <p:spPr>
          <a:xfrm>
            <a:off x="1371600" y="1920240"/>
            <a:ext cx="4389120" cy="502920"/>
          </a:xfrm>
          <a:prstGeom prst="rect">
            <a:avLst/>
          </a:prstGeom>
          <a:noFill/>
          <a:ln/>
        </p:spPr>
        <p:txBody>
          <a:bodyPr wrap="square" lIns="0" tIns="0" rIns="0" bIns="0" rtlCol="0" anchor="ctr"/>
          <a:lstStyle/>
          <a:p>
            <a:pPr indent="0" marL="0">
              <a:buNone/>
            </a:pPr>
            <a:r>
              <a:rPr lang="en-US" sz="2000" b="1" dirty="0">
                <a:solidFill>
                  <a:srgbClr val="586C47"/>
                </a:solidFill>
                <a:latin typeface="Cambria" pitchFamily="34" charset="0"/>
                <a:ea typeface="Cambria" pitchFamily="34" charset="-122"/>
                <a:cs typeface="Cambria" pitchFamily="34" charset="-120"/>
              </a:rPr>
              <a:t>Do this</a:t>
            </a:r>
            <a:endParaRPr lang="en-US" sz="2000" dirty="0"/>
          </a:p>
        </p:txBody>
      </p:sp>
      <p:sp>
        <p:nvSpPr>
          <p:cNvPr id="10" name="Text 6"/>
          <p:cNvSpPr txBox="1"/>
          <p:nvPr/>
        </p:nvSpPr>
        <p:spPr>
          <a:xfrm>
            <a:off x="822960" y="2606040"/>
            <a:ext cx="4846320" cy="3337560"/>
          </a:xfrm>
          <a:prstGeom prst="rect">
            <a:avLst/>
          </a:prstGeom>
          <a:noFill/>
          <a:ln/>
        </p:spPr>
        <p:txBody>
          <a:bodyPr wrap="square" lIns="0" tIns="0" rIns="0" bIns="0" rtlCol="0" anchor="t"/>
          <a:lstStyle/>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Verify a contact's identity and authorization before discussing anything beyond appointment logistics.</a:t>
            </a:r>
            <a:endParaRPr lang="en-US" sz="1250" dirty="0"/>
          </a:p>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Re-confirm phone numbers at every call: 'Is 555-0142 still the best number for you?'</a:t>
            </a:r>
            <a:endParaRPr lang="en-US" sz="1250" dirty="0"/>
          </a:p>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When a caregiver changes (hospitalization, move, death), update immediately and add a dated note explaining the change.</a:t>
            </a:r>
            <a:endParaRPr lang="en-US" sz="1250" dirty="0"/>
          </a:p>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Use the contact notes field for how-to-reach details; use practice alerts for must-know safety details.</a:t>
            </a:r>
            <a:endParaRPr lang="en-US" sz="1250" dirty="0"/>
          </a:p>
        </p:txBody>
      </p:sp>
      <p:sp>
        <p:nvSpPr>
          <p:cNvPr id="11" name="Shape 7"/>
          <p:cNvSpPr/>
          <p:nvPr/>
        </p:nvSpPr>
        <p:spPr>
          <a:xfrm>
            <a:off x="6245352" y="1691640"/>
            <a:ext cx="5394960" cy="4434840"/>
          </a:xfrm>
          <a:prstGeom prst="roundRect">
            <a:avLst>
              <a:gd name="adj" fmla="val 2062"/>
            </a:avLst>
          </a:prstGeom>
          <a:solidFill>
            <a:srgbClr val="FBEDEA"/>
          </a:solidFill>
          <a:ln w="12700">
            <a:solidFill>
              <a:srgbClr val="FBEDEA"/>
            </a:solidFill>
            <a:prstDash val="solid"/>
          </a:ln>
        </p:spPr>
      </p:sp>
      <p:pic>
        <p:nvPicPr>
          <p:cNvPr id="12" name="Image 2" descr="preencoded.png">    </p:cNvPr>
          <p:cNvPicPr>
            <a:picLocks noChangeAspect="1"/>
          </p:cNvPicPr>
          <p:nvPr/>
        </p:nvPicPr>
        <p:blipFill>
          <a:blip r:embed="rId3"/>
          <a:stretch>
            <a:fillRect/>
          </a:stretch>
        </p:blipFill>
        <p:spPr>
          <a:xfrm>
            <a:off x="6519672" y="1965960"/>
            <a:ext cx="411480" cy="411480"/>
          </a:xfrm>
          <a:prstGeom prst="rect">
            <a:avLst/>
          </a:prstGeom>
        </p:spPr>
      </p:pic>
      <p:sp>
        <p:nvSpPr>
          <p:cNvPr id="13" name="Text 8"/>
          <p:cNvSpPr txBox="1"/>
          <p:nvPr/>
        </p:nvSpPr>
        <p:spPr>
          <a:xfrm>
            <a:off x="7068312" y="1920240"/>
            <a:ext cx="4389120" cy="502920"/>
          </a:xfrm>
          <a:prstGeom prst="rect">
            <a:avLst/>
          </a:prstGeom>
          <a:noFill/>
          <a:ln/>
        </p:spPr>
        <p:txBody>
          <a:bodyPr wrap="square" lIns="0" tIns="0" rIns="0" bIns="0" rtlCol="0" anchor="ctr"/>
          <a:lstStyle/>
          <a:p>
            <a:pPr indent="0" marL="0">
              <a:buNone/>
            </a:pPr>
            <a:r>
              <a:rPr lang="en-US" sz="2000" b="1" dirty="0">
                <a:solidFill>
                  <a:srgbClr val="A33A2B"/>
                </a:solidFill>
                <a:latin typeface="Cambria" pitchFamily="34" charset="0"/>
                <a:ea typeface="Cambria" pitchFamily="34" charset="-122"/>
                <a:cs typeface="Cambria" pitchFamily="34" charset="-120"/>
              </a:rPr>
              <a:t>Watch out for</a:t>
            </a:r>
            <a:endParaRPr lang="en-US" sz="2000" dirty="0"/>
          </a:p>
        </p:txBody>
      </p:sp>
      <p:sp>
        <p:nvSpPr>
          <p:cNvPr id="14" name="Text 9"/>
          <p:cNvSpPr txBox="1"/>
          <p:nvPr/>
        </p:nvSpPr>
        <p:spPr>
          <a:xfrm>
            <a:off x="6519672" y="2606040"/>
            <a:ext cx="4846320" cy="3337560"/>
          </a:xfrm>
          <a:prstGeom prst="rect">
            <a:avLst/>
          </a:prstGeom>
          <a:noFill/>
          <a:ln/>
        </p:spPr>
        <p:txBody>
          <a:bodyPr wrap="square" lIns="0" tIns="0" rIns="0" bIns="0" rtlCol="0" anchor="t"/>
          <a:lstStyle/>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Marking a contact 'authorized' because they say they are the healthcare proxy — ask for the document.</a:t>
            </a:r>
            <a:endParaRPr lang="en-US" sz="1250" dirty="0"/>
          </a:p>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Deleting an old caregiver instead of marking inactive; history matters if questions arise later.</a:t>
            </a:r>
            <a:endParaRPr lang="en-US" sz="1250" dirty="0"/>
          </a:p>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Discussing the patient's condition with a grandchild who called 'on behalf of' the caregiver.</a:t>
            </a:r>
            <a:endParaRPr lang="en-US" sz="1250" dirty="0"/>
          </a:p>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Putting the caregiver's phone in the patient's own phone field so it looks like the patient's number.</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AF1FA"/>
        </a:solidFill>
      </p:bgPr>
    </p:bg>
    <p:spTree>
      <p:nvGrpSpPr>
        <p:cNvPr id="1" name=""/>
        <p:cNvGrpSpPr/>
        <p:nvPr/>
      </p:nvGrpSpPr>
      <p:grpSpPr>
        <a:xfrm>
          <a:off x="0" y="0"/>
          <a:ext cx="0" cy="0"/>
          <a:chOff x="0" y="0"/>
          <a:chExt cx="0" cy="0"/>
        </a:xfrm>
      </p:grpSpPr>
      <p:sp>
        <p:nvSpPr>
          <p:cNvPr id="2" name="Shape 0"/>
          <p:cNvSpPr/>
          <p:nvPr/>
        </p:nvSpPr>
        <p:spPr>
          <a:xfrm>
            <a:off x="8412480" y="1097280"/>
            <a:ext cx="4572000" cy="4572000"/>
          </a:xfrm>
          <a:prstGeom prst="ellipse">
            <a:avLst/>
          </a:prstGeom>
          <a:solidFill>
            <a:srgbClr val="84ACDF">
              <a:alpha val="35000"/>
            </a:srgbClr>
          </a:solidFill>
          <a:ln w="12700">
            <a:solidFill>
              <a:srgbClr val="84ACDF">
                <a:alpha val="35000"/>
              </a:srgbClr>
            </a:solidFill>
            <a:prstDash val="solid"/>
          </a:ln>
        </p:spPr>
      </p:sp>
      <p:pic>
        <p:nvPicPr>
          <p:cNvPr id="3"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4" name="Text 1"/>
          <p:cNvSpPr txBox="1"/>
          <p:nvPr/>
        </p:nvSpPr>
        <p:spPr>
          <a:xfrm>
            <a:off x="731520" y="2011680"/>
            <a:ext cx="5486400" cy="365760"/>
          </a:xfrm>
          <a:prstGeom prst="rect">
            <a:avLst/>
          </a:prstGeom>
          <a:noFill/>
          <a:ln/>
        </p:spPr>
        <p:txBody>
          <a:bodyPr wrap="square" lIns="0" tIns="0" rIns="0" bIns="0" rtlCol="0" anchor="ctr"/>
          <a:lstStyle/>
          <a:p>
            <a:pPr indent="0" marL="0">
              <a:buNone/>
            </a:pPr>
            <a:r>
              <a:rPr lang="en-US" sz="1400" b="1" spc="300" kern="0" dirty="0">
                <a:solidFill>
                  <a:srgbClr val="586C47"/>
                </a:solidFill>
                <a:latin typeface="Calibri" pitchFamily="34" charset="0"/>
                <a:ea typeface="Calibri" pitchFamily="34" charset="-122"/>
                <a:cs typeface="Calibri" pitchFamily="34" charset="-120"/>
              </a:rPr>
              <a:t>PART 4</a:t>
            </a:r>
            <a:endParaRPr lang="en-US" sz="1400" dirty="0"/>
          </a:p>
        </p:txBody>
      </p:sp>
      <p:sp>
        <p:nvSpPr>
          <p:cNvPr id="5" name="Text 2"/>
          <p:cNvSpPr txBox="1"/>
          <p:nvPr/>
        </p:nvSpPr>
        <p:spPr>
          <a:xfrm>
            <a:off x="731520" y="2423160"/>
            <a:ext cx="7772400" cy="1463040"/>
          </a:xfrm>
          <a:prstGeom prst="rect">
            <a:avLst/>
          </a:prstGeom>
          <a:noFill/>
          <a:ln/>
        </p:spPr>
        <p:txBody>
          <a:bodyPr wrap="square" lIns="0" tIns="0" rIns="0" bIns="0" rtlCol="0" anchor="t"/>
          <a:lstStyle/>
          <a:p>
            <a:pPr indent="0" marL="0">
              <a:buNone/>
            </a:pPr>
            <a:r>
              <a:rPr lang="en-US" sz="4000" b="1" dirty="0">
                <a:solidFill>
                  <a:srgbClr val="1E4A87"/>
                </a:solidFill>
                <a:latin typeface="Cambria" pitchFamily="34" charset="0"/>
                <a:ea typeface="Cambria" pitchFamily="34" charset="-122"/>
                <a:cs typeface="Cambria" pitchFamily="34" charset="-120"/>
              </a:rPr>
              <a:t>Communication preferences, language, and access needs</a:t>
            </a:r>
            <a:endParaRPr lang="en-US" sz="4000" dirty="0"/>
          </a:p>
        </p:txBody>
      </p:sp>
      <p:sp>
        <p:nvSpPr>
          <p:cNvPr id="6" name="Text 3"/>
          <p:cNvSpPr txBox="1"/>
          <p:nvPr/>
        </p:nvSpPr>
        <p:spPr>
          <a:xfrm>
            <a:off x="731520" y="3977640"/>
            <a:ext cx="7315200" cy="1097280"/>
          </a:xfrm>
          <a:prstGeom prst="rect">
            <a:avLst/>
          </a:prstGeom>
          <a:noFill/>
          <a:ln/>
        </p:spPr>
        <p:txBody>
          <a:bodyPr wrap="square" lIns="0" tIns="0" rIns="0" bIns="0" rtlCol="0" anchor="ctr"/>
          <a:lstStyle/>
          <a:p>
            <a:pPr indent="0" marL="0">
              <a:buNone/>
            </a:pPr>
            <a:r>
              <a:rPr lang="en-US" sz="1600" dirty="0">
                <a:solidFill>
                  <a:srgbClr val="5B6773"/>
                </a:solidFill>
                <a:latin typeface="Calibri" pitchFamily="34" charset="0"/>
                <a:ea typeface="Calibri" pitchFamily="34" charset="-122"/>
                <a:cs typeface="Calibri" pitchFamily="34" charset="-120"/>
              </a:rPr>
              <a:t>The right message, to the right person, in the right way. Preferences prevent missed care and reduce caregiver burden.</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PREFERENCES</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What to capture</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2 · Patient Registration, Demographics &amp; Caregiver Contacts</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17</a:t>
            </a:r>
            <a:endParaRPr lang="en-US" sz="900" dirty="0"/>
          </a:p>
        </p:txBody>
      </p:sp>
      <p:sp>
        <p:nvSpPr>
          <p:cNvPr id="7" name="Shape 4"/>
          <p:cNvSpPr/>
          <p:nvPr/>
        </p:nvSpPr>
        <p:spPr>
          <a:xfrm>
            <a:off x="548640" y="1691640"/>
            <a:ext cx="3514344" cy="2080260"/>
          </a:xfrm>
          <a:prstGeom prst="roundRect">
            <a:avLst>
              <a:gd name="adj" fmla="val 4396"/>
            </a:avLst>
          </a:prstGeom>
          <a:solidFill>
            <a:srgbClr val="EAF1FA"/>
          </a:solidFill>
          <a:ln w="12700">
            <a:solidFill>
              <a:srgbClr val="EAF1FA"/>
            </a:solidFill>
            <a:prstDash val="solid"/>
          </a:ln>
        </p:spPr>
      </p:sp>
      <p:sp>
        <p:nvSpPr>
          <p:cNvPr id="8" name="Shape 5"/>
          <p:cNvSpPr/>
          <p:nvPr/>
        </p:nvSpPr>
        <p:spPr>
          <a:xfrm>
            <a:off x="777240" y="1920240"/>
            <a:ext cx="548640" cy="548640"/>
          </a:xfrm>
          <a:prstGeom prst="ellipse">
            <a:avLst/>
          </a:prstGeom>
          <a:solidFill>
            <a:srgbClr val="FFFFFF"/>
          </a:solidFill>
          <a:ln w="12700">
            <a:solidFill>
              <a:srgbClr val="FFFFFF"/>
            </a:solidFill>
            <a:prstDash val="solid"/>
          </a:ln>
        </p:spPr>
      </p:sp>
      <p:pic>
        <p:nvPicPr>
          <p:cNvPr id="9" name="Image 1" descr="preencoded.png">    </p:cNvPr>
          <p:cNvPicPr>
            <a:picLocks noChangeAspect="1"/>
          </p:cNvPicPr>
          <p:nvPr/>
        </p:nvPicPr>
        <p:blipFill>
          <a:blip r:embed="rId2"/>
          <a:stretch>
            <a:fillRect/>
          </a:stretch>
        </p:blipFill>
        <p:spPr>
          <a:xfrm>
            <a:off x="896112" y="2039112"/>
            <a:ext cx="310896" cy="310896"/>
          </a:xfrm>
          <a:prstGeom prst="rect">
            <a:avLst/>
          </a:prstGeom>
        </p:spPr>
      </p:pic>
      <p:sp>
        <p:nvSpPr>
          <p:cNvPr id="10" name="Text 6"/>
          <p:cNvSpPr txBox="1"/>
          <p:nvPr/>
        </p:nvSpPr>
        <p:spPr>
          <a:xfrm>
            <a:off x="1463040" y="1892808"/>
            <a:ext cx="2417064"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Who to contact first</a:t>
            </a:r>
            <a:endParaRPr lang="en-US" sz="1500" dirty="0"/>
          </a:p>
        </p:txBody>
      </p:sp>
      <p:sp>
        <p:nvSpPr>
          <p:cNvPr id="11" name="Text 7"/>
          <p:cNvSpPr txBox="1"/>
          <p:nvPr/>
        </p:nvSpPr>
        <p:spPr>
          <a:xfrm>
            <a:off x="777240" y="2606040"/>
            <a:ext cx="3057144"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Patient directly, caregiver, or both. For most memory-support patients, outreach goes to the caregiver with the patient included where appropriate.</a:t>
            </a:r>
            <a:endParaRPr lang="en-US" sz="1150" dirty="0"/>
          </a:p>
        </p:txBody>
      </p:sp>
      <p:sp>
        <p:nvSpPr>
          <p:cNvPr id="12" name="Shape 8"/>
          <p:cNvSpPr/>
          <p:nvPr/>
        </p:nvSpPr>
        <p:spPr>
          <a:xfrm>
            <a:off x="4337304" y="1691640"/>
            <a:ext cx="3514344" cy="2080260"/>
          </a:xfrm>
          <a:prstGeom prst="roundRect">
            <a:avLst>
              <a:gd name="adj" fmla="val 4396"/>
            </a:avLst>
          </a:prstGeom>
          <a:solidFill>
            <a:srgbClr val="EAF1FA"/>
          </a:solidFill>
          <a:ln w="12700">
            <a:solidFill>
              <a:srgbClr val="EAF1FA"/>
            </a:solidFill>
            <a:prstDash val="solid"/>
          </a:ln>
        </p:spPr>
      </p:sp>
      <p:sp>
        <p:nvSpPr>
          <p:cNvPr id="13" name="Shape 9"/>
          <p:cNvSpPr/>
          <p:nvPr/>
        </p:nvSpPr>
        <p:spPr>
          <a:xfrm>
            <a:off x="4565904" y="1920240"/>
            <a:ext cx="548640" cy="548640"/>
          </a:xfrm>
          <a:prstGeom prst="ellipse">
            <a:avLst/>
          </a:prstGeom>
          <a:solidFill>
            <a:srgbClr val="FFFFFF"/>
          </a:solidFill>
          <a:ln w="12700">
            <a:solidFill>
              <a:srgbClr val="FFFFFF"/>
            </a:solidFill>
            <a:prstDash val="solid"/>
          </a:ln>
        </p:spPr>
      </p:sp>
      <p:pic>
        <p:nvPicPr>
          <p:cNvPr id="14" name="Image 2" descr="preencoded.png">    </p:cNvPr>
          <p:cNvPicPr>
            <a:picLocks noChangeAspect="1"/>
          </p:cNvPicPr>
          <p:nvPr/>
        </p:nvPicPr>
        <p:blipFill>
          <a:blip r:embed="rId3"/>
          <a:stretch>
            <a:fillRect/>
          </a:stretch>
        </p:blipFill>
        <p:spPr>
          <a:xfrm>
            <a:off x="4684776" y="2039112"/>
            <a:ext cx="310896" cy="310896"/>
          </a:xfrm>
          <a:prstGeom prst="rect">
            <a:avLst/>
          </a:prstGeom>
        </p:spPr>
      </p:pic>
      <p:sp>
        <p:nvSpPr>
          <p:cNvPr id="15" name="Text 10"/>
          <p:cNvSpPr txBox="1"/>
          <p:nvPr/>
        </p:nvSpPr>
        <p:spPr>
          <a:xfrm>
            <a:off x="5251704" y="1892808"/>
            <a:ext cx="2417064"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How to contact</a:t>
            </a:r>
            <a:endParaRPr lang="en-US" sz="1500" dirty="0"/>
          </a:p>
        </p:txBody>
      </p:sp>
      <p:sp>
        <p:nvSpPr>
          <p:cNvPr id="16" name="Text 11"/>
          <p:cNvSpPr txBox="1"/>
          <p:nvPr/>
        </p:nvSpPr>
        <p:spPr>
          <a:xfrm>
            <a:off x="4565904" y="2606040"/>
            <a:ext cx="3057144"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Phone call, text, portal message, mail. Record consent for text messaging separately — it's required before automated texts can be sent.</a:t>
            </a:r>
            <a:endParaRPr lang="en-US" sz="1150" dirty="0"/>
          </a:p>
        </p:txBody>
      </p:sp>
      <p:sp>
        <p:nvSpPr>
          <p:cNvPr id="17" name="Shape 12"/>
          <p:cNvSpPr/>
          <p:nvPr/>
        </p:nvSpPr>
        <p:spPr>
          <a:xfrm>
            <a:off x="8125968" y="1691640"/>
            <a:ext cx="3514344" cy="2080260"/>
          </a:xfrm>
          <a:prstGeom prst="roundRect">
            <a:avLst>
              <a:gd name="adj" fmla="val 4396"/>
            </a:avLst>
          </a:prstGeom>
          <a:solidFill>
            <a:srgbClr val="EAF1FA"/>
          </a:solidFill>
          <a:ln w="12700">
            <a:solidFill>
              <a:srgbClr val="EAF1FA"/>
            </a:solidFill>
            <a:prstDash val="solid"/>
          </a:ln>
        </p:spPr>
      </p:sp>
      <p:sp>
        <p:nvSpPr>
          <p:cNvPr id="18" name="Shape 13"/>
          <p:cNvSpPr/>
          <p:nvPr/>
        </p:nvSpPr>
        <p:spPr>
          <a:xfrm>
            <a:off x="8354568" y="1920240"/>
            <a:ext cx="548640" cy="548640"/>
          </a:xfrm>
          <a:prstGeom prst="ellipse">
            <a:avLst/>
          </a:prstGeom>
          <a:solidFill>
            <a:srgbClr val="FFFFFF"/>
          </a:solidFill>
          <a:ln w="12700">
            <a:solidFill>
              <a:srgbClr val="FFFFFF"/>
            </a:solidFill>
            <a:prstDash val="solid"/>
          </a:ln>
        </p:spPr>
      </p:sp>
      <p:pic>
        <p:nvPicPr>
          <p:cNvPr id="19" name="Image 3" descr="preencoded.png">    </p:cNvPr>
          <p:cNvPicPr>
            <a:picLocks noChangeAspect="1"/>
          </p:cNvPicPr>
          <p:nvPr/>
        </p:nvPicPr>
        <p:blipFill>
          <a:blip r:embed="rId4"/>
          <a:stretch>
            <a:fillRect/>
          </a:stretch>
        </p:blipFill>
        <p:spPr>
          <a:xfrm>
            <a:off x="8473440" y="2039112"/>
            <a:ext cx="310896" cy="310896"/>
          </a:xfrm>
          <a:prstGeom prst="rect">
            <a:avLst/>
          </a:prstGeom>
        </p:spPr>
      </p:pic>
      <p:sp>
        <p:nvSpPr>
          <p:cNvPr id="20" name="Text 14"/>
          <p:cNvSpPr txBox="1"/>
          <p:nvPr/>
        </p:nvSpPr>
        <p:spPr>
          <a:xfrm>
            <a:off x="9040368" y="1892808"/>
            <a:ext cx="2417064"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When to contact</a:t>
            </a:r>
            <a:endParaRPr lang="en-US" sz="1500" dirty="0"/>
          </a:p>
        </p:txBody>
      </p:sp>
      <p:sp>
        <p:nvSpPr>
          <p:cNvPr id="21" name="Text 15"/>
          <p:cNvSpPr txBox="1"/>
          <p:nvPr/>
        </p:nvSpPr>
        <p:spPr>
          <a:xfrm>
            <a:off x="8354568" y="2606040"/>
            <a:ext cx="3057144"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Best days and times. Caregivers who work or provide overnight care have narrow windows; respecting them raises answer rates.</a:t>
            </a:r>
            <a:endParaRPr lang="en-US" sz="1150" dirty="0"/>
          </a:p>
        </p:txBody>
      </p:sp>
      <p:sp>
        <p:nvSpPr>
          <p:cNvPr id="22" name="Shape 16"/>
          <p:cNvSpPr/>
          <p:nvPr/>
        </p:nvSpPr>
        <p:spPr>
          <a:xfrm>
            <a:off x="548640" y="4046220"/>
            <a:ext cx="3514344" cy="2080260"/>
          </a:xfrm>
          <a:prstGeom prst="roundRect">
            <a:avLst>
              <a:gd name="adj" fmla="val 4396"/>
            </a:avLst>
          </a:prstGeom>
          <a:solidFill>
            <a:srgbClr val="EAF1FA"/>
          </a:solidFill>
          <a:ln w="12700">
            <a:solidFill>
              <a:srgbClr val="EAF1FA"/>
            </a:solidFill>
            <a:prstDash val="solid"/>
          </a:ln>
        </p:spPr>
      </p:sp>
      <p:sp>
        <p:nvSpPr>
          <p:cNvPr id="23" name="Shape 17"/>
          <p:cNvSpPr/>
          <p:nvPr/>
        </p:nvSpPr>
        <p:spPr>
          <a:xfrm>
            <a:off x="777240" y="4274820"/>
            <a:ext cx="548640" cy="548640"/>
          </a:xfrm>
          <a:prstGeom prst="ellipse">
            <a:avLst/>
          </a:prstGeom>
          <a:solidFill>
            <a:srgbClr val="FFFFFF"/>
          </a:solidFill>
          <a:ln w="12700">
            <a:solidFill>
              <a:srgbClr val="FFFFFF"/>
            </a:solidFill>
            <a:prstDash val="solid"/>
          </a:ln>
        </p:spPr>
      </p:sp>
      <p:pic>
        <p:nvPicPr>
          <p:cNvPr id="24" name="Image 4" descr="preencoded.png">    </p:cNvPr>
          <p:cNvPicPr>
            <a:picLocks noChangeAspect="1"/>
          </p:cNvPicPr>
          <p:nvPr/>
        </p:nvPicPr>
        <p:blipFill>
          <a:blip r:embed="rId5"/>
          <a:stretch>
            <a:fillRect/>
          </a:stretch>
        </p:blipFill>
        <p:spPr>
          <a:xfrm>
            <a:off x="896112" y="4393692"/>
            <a:ext cx="310896" cy="310896"/>
          </a:xfrm>
          <a:prstGeom prst="rect">
            <a:avLst/>
          </a:prstGeom>
        </p:spPr>
      </p:pic>
      <p:sp>
        <p:nvSpPr>
          <p:cNvPr id="25" name="Text 18"/>
          <p:cNvSpPr txBox="1"/>
          <p:nvPr/>
        </p:nvSpPr>
        <p:spPr>
          <a:xfrm>
            <a:off x="1463040" y="4247388"/>
            <a:ext cx="2417064"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Language and interpreter</a:t>
            </a:r>
            <a:endParaRPr lang="en-US" sz="1500" dirty="0"/>
          </a:p>
        </p:txBody>
      </p:sp>
      <p:sp>
        <p:nvSpPr>
          <p:cNvPr id="26" name="Text 19"/>
          <p:cNvSpPr txBox="1"/>
          <p:nvPr/>
        </p:nvSpPr>
        <p:spPr>
          <a:xfrm>
            <a:off x="777240" y="4960620"/>
            <a:ext cx="3057144"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Preferred spoken and written language for patient and caregiver. Flag interpreter needs so visits are scheduled with support.</a:t>
            </a:r>
            <a:endParaRPr lang="en-US" sz="1150" dirty="0"/>
          </a:p>
        </p:txBody>
      </p:sp>
      <p:sp>
        <p:nvSpPr>
          <p:cNvPr id="27" name="Shape 20"/>
          <p:cNvSpPr/>
          <p:nvPr/>
        </p:nvSpPr>
        <p:spPr>
          <a:xfrm>
            <a:off x="4337304" y="4046220"/>
            <a:ext cx="3514344" cy="2080260"/>
          </a:xfrm>
          <a:prstGeom prst="roundRect">
            <a:avLst>
              <a:gd name="adj" fmla="val 4396"/>
            </a:avLst>
          </a:prstGeom>
          <a:solidFill>
            <a:srgbClr val="EAF1FA"/>
          </a:solidFill>
          <a:ln w="12700">
            <a:solidFill>
              <a:srgbClr val="EAF1FA"/>
            </a:solidFill>
            <a:prstDash val="solid"/>
          </a:ln>
        </p:spPr>
      </p:sp>
      <p:sp>
        <p:nvSpPr>
          <p:cNvPr id="28" name="Shape 21"/>
          <p:cNvSpPr/>
          <p:nvPr/>
        </p:nvSpPr>
        <p:spPr>
          <a:xfrm>
            <a:off x="4565904" y="4274820"/>
            <a:ext cx="548640" cy="548640"/>
          </a:xfrm>
          <a:prstGeom prst="ellipse">
            <a:avLst/>
          </a:prstGeom>
          <a:solidFill>
            <a:srgbClr val="FFFFFF"/>
          </a:solidFill>
          <a:ln w="12700">
            <a:solidFill>
              <a:srgbClr val="FFFFFF"/>
            </a:solidFill>
            <a:prstDash val="solid"/>
          </a:ln>
        </p:spPr>
      </p:sp>
      <p:pic>
        <p:nvPicPr>
          <p:cNvPr id="29" name="Image 5" descr="preencoded.png">    </p:cNvPr>
          <p:cNvPicPr>
            <a:picLocks noChangeAspect="1"/>
          </p:cNvPicPr>
          <p:nvPr/>
        </p:nvPicPr>
        <p:blipFill>
          <a:blip r:embed="rId6"/>
          <a:stretch>
            <a:fillRect/>
          </a:stretch>
        </p:blipFill>
        <p:spPr>
          <a:xfrm>
            <a:off x="4684776" y="4393692"/>
            <a:ext cx="310896" cy="310896"/>
          </a:xfrm>
          <a:prstGeom prst="rect">
            <a:avLst/>
          </a:prstGeom>
        </p:spPr>
      </p:pic>
      <p:sp>
        <p:nvSpPr>
          <p:cNvPr id="30" name="Text 22"/>
          <p:cNvSpPr txBox="1"/>
          <p:nvPr/>
        </p:nvSpPr>
        <p:spPr>
          <a:xfrm>
            <a:off x="5251704" y="4247388"/>
            <a:ext cx="2417064"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Hearing, vision, cognition</a:t>
            </a:r>
            <a:endParaRPr lang="en-US" sz="1500" dirty="0"/>
          </a:p>
        </p:txBody>
      </p:sp>
      <p:sp>
        <p:nvSpPr>
          <p:cNvPr id="31" name="Text 23"/>
          <p:cNvSpPr txBox="1"/>
          <p:nvPr/>
        </p:nvSpPr>
        <p:spPr>
          <a:xfrm>
            <a:off x="4565904" y="4960620"/>
            <a:ext cx="3057144"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Hard of hearing → use caregiver or speaker phone. Low vision → large-print mailings. Cognition → always confirm plans with the caregiver.</a:t>
            </a:r>
            <a:endParaRPr lang="en-US" sz="1150" dirty="0"/>
          </a:p>
        </p:txBody>
      </p:sp>
      <p:sp>
        <p:nvSpPr>
          <p:cNvPr id="32" name="Shape 24"/>
          <p:cNvSpPr/>
          <p:nvPr/>
        </p:nvSpPr>
        <p:spPr>
          <a:xfrm>
            <a:off x="8125968" y="4046220"/>
            <a:ext cx="3514344" cy="2080260"/>
          </a:xfrm>
          <a:prstGeom prst="roundRect">
            <a:avLst>
              <a:gd name="adj" fmla="val 4396"/>
            </a:avLst>
          </a:prstGeom>
          <a:solidFill>
            <a:srgbClr val="EEF2E8"/>
          </a:solidFill>
          <a:ln w="12700">
            <a:solidFill>
              <a:srgbClr val="EEF2E8"/>
            </a:solidFill>
            <a:prstDash val="solid"/>
          </a:ln>
        </p:spPr>
      </p:sp>
      <p:sp>
        <p:nvSpPr>
          <p:cNvPr id="33" name="Shape 25"/>
          <p:cNvSpPr/>
          <p:nvPr/>
        </p:nvSpPr>
        <p:spPr>
          <a:xfrm>
            <a:off x="8354568" y="4274820"/>
            <a:ext cx="548640" cy="548640"/>
          </a:xfrm>
          <a:prstGeom prst="ellipse">
            <a:avLst/>
          </a:prstGeom>
          <a:solidFill>
            <a:srgbClr val="FFFFFF"/>
          </a:solidFill>
          <a:ln w="12700">
            <a:solidFill>
              <a:srgbClr val="FFFFFF"/>
            </a:solidFill>
            <a:prstDash val="solid"/>
          </a:ln>
        </p:spPr>
      </p:sp>
      <p:pic>
        <p:nvPicPr>
          <p:cNvPr id="34" name="Image 6" descr="preencoded.png">    </p:cNvPr>
          <p:cNvPicPr>
            <a:picLocks noChangeAspect="1"/>
          </p:cNvPicPr>
          <p:nvPr/>
        </p:nvPicPr>
        <p:blipFill>
          <a:blip r:embed="rId7"/>
          <a:stretch>
            <a:fillRect/>
          </a:stretch>
        </p:blipFill>
        <p:spPr>
          <a:xfrm>
            <a:off x="8473440" y="4393692"/>
            <a:ext cx="310896" cy="310896"/>
          </a:xfrm>
          <a:prstGeom prst="rect">
            <a:avLst/>
          </a:prstGeom>
        </p:spPr>
      </p:pic>
      <p:sp>
        <p:nvSpPr>
          <p:cNvPr id="35" name="Text 26"/>
          <p:cNvSpPr txBox="1"/>
          <p:nvPr/>
        </p:nvSpPr>
        <p:spPr>
          <a:xfrm>
            <a:off x="9040368" y="4247388"/>
            <a:ext cx="2417064"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Automated messaging opt-in/out</a:t>
            </a:r>
            <a:endParaRPr lang="en-US" sz="1500" dirty="0"/>
          </a:p>
        </p:txBody>
      </p:sp>
      <p:sp>
        <p:nvSpPr>
          <p:cNvPr id="36" name="Text 27"/>
          <p:cNvSpPr txBox="1"/>
          <p:nvPr/>
        </p:nvSpPr>
        <p:spPr>
          <a:xfrm>
            <a:off x="8354568" y="4960620"/>
            <a:ext cx="3057144"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Reminder calls and texts are driven by these settings. Opting the patient out and the caregiver in is a common, correct configuration.</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PREFERENCES</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Setting communication preferences</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2 · Patient Registration, Demographics &amp; Caregiver Contacts</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18</a:t>
            </a:r>
            <a:endParaRPr lang="en-US" sz="900" dirty="0"/>
          </a:p>
        </p:txBody>
      </p:sp>
      <p:sp>
        <p:nvSpPr>
          <p:cNvPr id="7" name="Shape 4"/>
          <p:cNvSpPr/>
          <p:nvPr/>
        </p:nvSpPr>
        <p:spPr>
          <a:xfrm>
            <a:off x="548640" y="1719072"/>
            <a:ext cx="347472" cy="347472"/>
          </a:xfrm>
          <a:prstGeom prst="ellipse">
            <a:avLst/>
          </a:prstGeom>
          <a:solidFill>
            <a:srgbClr val="1E4A87"/>
          </a:solidFill>
          <a:ln w="12700">
            <a:solidFill>
              <a:srgbClr val="1E4A87"/>
            </a:solidFill>
            <a:prstDash val="solid"/>
          </a:ln>
        </p:spPr>
      </p:sp>
      <p:sp>
        <p:nvSpPr>
          <p:cNvPr id="8" name="Text 5"/>
          <p:cNvSpPr txBox="1"/>
          <p:nvPr/>
        </p:nvSpPr>
        <p:spPr>
          <a:xfrm>
            <a:off x="548640" y="171907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6"/>
          <p:cNvSpPr txBox="1"/>
          <p:nvPr/>
        </p:nvSpPr>
        <p:spPr>
          <a:xfrm>
            <a:off x="1005840" y="1691640"/>
            <a:ext cx="4754880" cy="777240"/>
          </a:xfrm>
          <a:prstGeom prst="rect">
            <a:avLst/>
          </a:prstGeom>
          <a:noFill/>
          <a:ln/>
        </p:spPr>
        <p:txBody>
          <a:bodyPr wrap="square" lIns="0" tIns="0" rIns="0" bIns="0" rtlCol="0" anchor="t"/>
          <a:lstStyle/>
          <a:p>
            <a:pPr indent="0" marL="0">
              <a:buNone/>
            </a:pPr>
            <a:r>
              <a:rPr lang="en-US" sz="1250" b="1" dirty="0">
                <a:solidFill>
                  <a:srgbClr val="1E4A87"/>
                </a:solidFill>
                <a:latin typeface="Calibri" pitchFamily="34" charset="0"/>
                <a:ea typeface="Calibri" pitchFamily="34" charset="-122"/>
                <a:cs typeface="Calibri" pitchFamily="34" charset="-120"/>
              </a:rPr>
              <a:t>Open Quickview → Privacy &amp; Communication preferences. </a:t>
            </a:r>
            <a:pPr indent="0" marL="0">
              <a:buNone/>
            </a:pPr>
            <a:r>
              <a:rPr lang="en-US" sz="1250" dirty="0">
                <a:solidFill>
                  <a:srgbClr val="1F2933"/>
                </a:solidFill>
                <a:latin typeface="Calibri" pitchFamily="34" charset="0"/>
                <a:ea typeface="Calibri" pitchFamily="34" charset="-122"/>
                <a:cs typeface="Calibri" pitchFamily="34" charset="-120"/>
              </a:rPr>
              <a:t>This is where consent to contact by phone, text, email, and portal is recorded per number.</a:t>
            </a:r>
            <a:endParaRPr lang="en-US" sz="1250" dirty="0"/>
          </a:p>
        </p:txBody>
      </p:sp>
      <p:sp>
        <p:nvSpPr>
          <p:cNvPr id="10" name="Shape 7"/>
          <p:cNvSpPr/>
          <p:nvPr/>
        </p:nvSpPr>
        <p:spPr>
          <a:xfrm>
            <a:off x="548640" y="2542032"/>
            <a:ext cx="347472" cy="347472"/>
          </a:xfrm>
          <a:prstGeom prst="ellipse">
            <a:avLst/>
          </a:prstGeom>
          <a:solidFill>
            <a:srgbClr val="1E4A87"/>
          </a:solidFill>
          <a:ln w="12700">
            <a:solidFill>
              <a:srgbClr val="1E4A87"/>
            </a:solidFill>
            <a:prstDash val="solid"/>
          </a:ln>
        </p:spPr>
      </p:sp>
      <p:sp>
        <p:nvSpPr>
          <p:cNvPr id="11" name="Text 8"/>
          <p:cNvSpPr txBox="1"/>
          <p:nvPr/>
        </p:nvSpPr>
        <p:spPr>
          <a:xfrm>
            <a:off x="548640" y="254203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9"/>
          <p:cNvSpPr txBox="1"/>
          <p:nvPr/>
        </p:nvSpPr>
        <p:spPr>
          <a:xfrm>
            <a:off x="1005840" y="2514600"/>
            <a:ext cx="4754880" cy="777240"/>
          </a:xfrm>
          <a:prstGeom prst="rect">
            <a:avLst/>
          </a:prstGeom>
          <a:noFill/>
          <a:ln/>
        </p:spPr>
        <p:txBody>
          <a:bodyPr wrap="square" lIns="0" tIns="0" rIns="0" bIns="0" rtlCol="0" anchor="t"/>
          <a:lstStyle/>
          <a:p>
            <a:pPr indent="0" marL="0">
              <a:buNone/>
            </a:pPr>
            <a:r>
              <a:rPr lang="en-US" sz="1250" b="1" dirty="0">
                <a:solidFill>
                  <a:srgbClr val="1E4A87"/>
                </a:solidFill>
                <a:latin typeface="Calibri" pitchFamily="34" charset="0"/>
                <a:ea typeface="Calibri" pitchFamily="34" charset="-122"/>
                <a:cs typeface="Calibri" pitchFamily="34" charset="-120"/>
              </a:rPr>
              <a:t>Set the preferred contact person. </a:t>
            </a:r>
            <a:pPr indent="0" marL="0">
              <a:buNone/>
            </a:pPr>
            <a:r>
              <a:rPr lang="en-US" sz="1250" dirty="0">
                <a:solidFill>
                  <a:srgbClr val="1F2933"/>
                </a:solidFill>
                <a:latin typeface="Calibri" pitchFamily="34" charset="0"/>
                <a:ea typeface="Calibri" pitchFamily="34" charset="-122"/>
                <a:cs typeface="Calibri" pitchFamily="34" charset="-120"/>
              </a:rPr>
              <a:t>Choose caregiver where the patient cannot reliably manage calls or messages.</a:t>
            </a:r>
            <a:endParaRPr lang="en-US" sz="1250" dirty="0"/>
          </a:p>
        </p:txBody>
      </p:sp>
      <p:sp>
        <p:nvSpPr>
          <p:cNvPr id="13" name="Shape 10"/>
          <p:cNvSpPr/>
          <p:nvPr/>
        </p:nvSpPr>
        <p:spPr>
          <a:xfrm>
            <a:off x="548640" y="3364992"/>
            <a:ext cx="347472" cy="347472"/>
          </a:xfrm>
          <a:prstGeom prst="ellipse">
            <a:avLst/>
          </a:prstGeom>
          <a:solidFill>
            <a:srgbClr val="1E4A87"/>
          </a:solidFill>
          <a:ln w="12700">
            <a:solidFill>
              <a:srgbClr val="1E4A87"/>
            </a:solidFill>
            <a:prstDash val="solid"/>
          </a:ln>
        </p:spPr>
      </p:sp>
      <p:sp>
        <p:nvSpPr>
          <p:cNvPr id="14" name="Text 11"/>
          <p:cNvSpPr txBox="1"/>
          <p:nvPr/>
        </p:nvSpPr>
        <p:spPr>
          <a:xfrm>
            <a:off x="548640" y="336499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5" name="Text 12"/>
          <p:cNvSpPr txBox="1"/>
          <p:nvPr/>
        </p:nvSpPr>
        <p:spPr>
          <a:xfrm>
            <a:off x="1005840" y="3337560"/>
            <a:ext cx="4754880" cy="777240"/>
          </a:xfrm>
          <a:prstGeom prst="rect">
            <a:avLst/>
          </a:prstGeom>
          <a:noFill/>
          <a:ln/>
        </p:spPr>
        <p:txBody>
          <a:bodyPr wrap="square" lIns="0" tIns="0" rIns="0" bIns="0" rtlCol="0" anchor="t"/>
          <a:lstStyle/>
          <a:p>
            <a:pPr indent="0" marL="0">
              <a:buNone/>
            </a:pPr>
            <a:r>
              <a:rPr lang="en-US" sz="1250" b="1" dirty="0">
                <a:solidFill>
                  <a:srgbClr val="1E4A87"/>
                </a:solidFill>
                <a:latin typeface="Calibri" pitchFamily="34" charset="0"/>
                <a:ea typeface="Calibri" pitchFamily="34" charset="-122"/>
                <a:cs typeface="Calibri" pitchFamily="34" charset="-120"/>
              </a:rPr>
              <a:t>Set channel consents. </a:t>
            </a:r>
            <a:pPr indent="0" marL="0">
              <a:buNone/>
            </a:pPr>
            <a:r>
              <a:rPr lang="en-US" sz="1250" dirty="0">
                <a:solidFill>
                  <a:srgbClr val="1F2933"/>
                </a:solidFill>
                <a:latin typeface="Calibri" pitchFamily="34" charset="0"/>
                <a:ea typeface="Calibri" pitchFamily="34" charset="-122"/>
                <a:cs typeface="Calibri" pitchFamily="34" charset="-120"/>
              </a:rPr>
              <a:t>athenaCommunicator will only text a number with text consent recorded. Record the date.</a:t>
            </a:r>
            <a:endParaRPr lang="en-US" sz="1250" dirty="0"/>
          </a:p>
        </p:txBody>
      </p:sp>
      <p:sp>
        <p:nvSpPr>
          <p:cNvPr id="16" name="Shape 13"/>
          <p:cNvSpPr/>
          <p:nvPr/>
        </p:nvSpPr>
        <p:spPr>
          <a:xfrm>
            <a:off x="548640" y="4187952"/>
            <a:ext cx="347472" cy="347472"/>
          </a:xfrm>
          <a:prstGeom prst="ellipse">
            <a:avLst/>
          </a:prstGeom>
          <a:solidFill>
            <a:srgbClr val="1E4A87"/>
          </a:solidFill>
          <a:ln w="12700">
            <a:solidFill>
              <a:srgbClr val="1E4A87"/>
            </a:solidFill>
            <a:prstDash val="solid"/>
          </a:ln>
        </p:spPr>
      </p:sp>
      <p:sp>
        <p:nvSpPr>
          <p:cNvPr id="17" name="Text 14"/>
          <p:cNvSpPr txBox="1"/>
          <p:nvPr/>
        </p:nvSpPr>
        <p:spPr>
          <a:xfrm>
            <a:off x="548640" y="418795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8" name="Text 15"/>
          <p:cNvSpPr txBox="1"/>
          <p:nvPr/>
        </p:nvSpPr>
        <p:spPr>
          <a:xfrm>
            <a:off x="1005840" y="4160520"/>
            <a:ext cx="4754880" cy="777240"/>
          </a:xfrm>
          <a:prstGeom prst="rect">
            <a:avLst/>
          </a:prstGeom>
          <a:noFill/>
          <a:ln/>
        </p:spPr>
        <p:txBody>
          <a:bodyPr wrap="square" lIns="0" tIns="0" rIns="0" bIns="0" rtlCol="0" anchor="t"/>
          <a:lstStyle/>
          <a:p>
            <a:pPr indent="0" marL="0">
              <a:buNone/>
            </a:pPr>
            <a:r>
              <a:rPr lang="en-US" sz="1250" b="1" dirty="0">
                <a:solidFill>
                  <a:srgbClr val="1E4A87"/>
                </a:solidFill>
                <a:latin typeface="Calibri" pitchFamily="34" charset="0"/>
                <a:ea typeface="Calibri" pitchFamily="34" charset="-122"/>
                <a:cs typeface="Calibri" pitchFamily="34" charset="-120"/>
              </a:rPr>
              <a:t>Enter language and access needs. </a:t>
            </a:r>
            <a:pPr indent="0" marL="0">
              <a:buNone/>
            </a:pPr>
            <a:r>
              <a:rPr lang="en-US" sz="1250" dirty="0">
                <a:solidFill>
                  <a:srgbClr val="1F2933"/>
                </a:solidFill>
                <a:latin typeface="Calibri" pitchFamily="34" charset="0"/>
                <a:ea typeface="Calibri" pitchFamily="34" charset="-122"/>
                <a:cs typeface="Calibri" pitchFamily="34" charset="-120"/>
              </a:rPr>
              <a:t>Select preferred language, interpreter required, and any hearing or vision flags.</a:t>
            </a:r>
            <a:endParaRPr lang="en-US" sz="1250" dirty="0"/>
          </a:p>
        </p:txBody>
      </p:sp>
      <p:sp>
        <p:nvSpPr>
          <p:cNvPr id="19" name="Shape 16"/>
          <p:cNvSpPr/>
          <p:nvPr/>
        </p:nvSpPr>
        <p:spPr>
          <a:xfrm>
            <a:off x="548640" y="5010912"/>
            <a:ext cx="347472" cy="347472"/>
          </a:xfrm>
          <a:prstGeom prst="ellipse">
            <a:avLst/>
          </a:prstGeom>
          <a:solidFill>
            <a:srgbClr val="1E4A87"/>
          </a:solidFill>
          <a:ln w="12700">
            <a:solidFill>
              <a:srgbClr val="1E4A87"/>
            </a:solidFill>
            <a:prstDash val="solid"/>
          </a:ln>
        </p:spPr>
      </p:sp>
      <p:sp>
        <p:nvSpPr>
          <p:cNvPr id="20" name="Text 17"/>
          <p:cNvSpPr txBox="1"/>
          <p:nvPr/>
        </p:nvSpPr>
        <p:spPr>
          <a:xfrm>
            <a:off x="548640" y="501091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1" name="Text 18"/>
          <p:cNvSpPr txBox="1"/>
          <p:nvPr/>
        </p:nvSpPr>
        <p:spPr>
          <a:xfrm>
            <a:off x="1005840" y="4983480"/>
            <a:ext cx="4754880" cy="777240"/>
          </a:xfrm>
          <a:prstGeom prst="rect">
            <a:avLst/>
          </a:prstGeom>
          <a:noFill/>
          <a:ln/>
        </p:spPr>
        <p:txBody>
          <a:bodyPr wrap="square" lIns="0" tIns="0" rIns="0" bIns="0" rtlCol="0" anchor="t"/>
          <a:lstStyle/>
          <a:p>
            <a:pPr indent="0" marL="0">
              <a:buNone/>
            </a:pPr>
            <a:r>
              <a:rPr lang="en-US" sz="1250" b="1" dirty="0">
                <a:solidFill>
                  <a:srgbClr val="1E4A87"/>
                </a:solidFill>
                <a:latin typeface="Calibri" pitchFamily="34" charset="0"/>
                <a:ea typeface="Calibri" pitchFamily="34" charset="-122"/>
                <a:cs typeface="Calibri" pitchFamily="34" charset="-120"/>
              </a:rPr>
              <a:t>Add a patient alert for must-know items. </a:t>
            </a:r>
            <a:pPr indent="0" marL="0">
              <a:buNone/>
            </a:pPr>
            <a:r>
              <a:rPr lang="en-US" sz="1250" dirty="0">
                <a:solidFill>
                  <a:srgbClr val="1F2933"/>
                </a:solidFill>
                <a:latin typeface="Calibri" pitchFamily="34" charset="0"/>
                <a:ea typeface="Calibri" pitchFamily="34" charset="-122"/>
                <a:cs typeface="Calibri" pitchFamily="34" charset="-120"/>
              </a:rPr>
              <a:t>Quickview alert text: 'Call daughter Susan, not patient. Patient is hard of hearing.'</a:t>
            </a:r>
            <a:endParaRPr lang="en-US" sz="1250" dirty="0"/>
          </a:p>
        </p:txBody>
      </p:sp>
      <p:sp>
        <p:nvSpPr>
          <p:cNvPr id="22" name="Shape 19"/>
          <p:cNvSpPr/>
          <p:nvPr/>
        </p:nvSpPr>
        <p:spPr>
          <a:xfrm>
            <a:off x="6309360" y="1691640"/>
            <a:ext cx="5349240" cy="4480560"/>
          </a:xfrm>
          <a:prstGeom prst="roundRect">
            <a:avLst>
              <a:gd name="adj" fmla="val 1633"/>
            </a:avLst>
          </a:prstGeom>
          <a:solidFill>
            <a:srgbClr val="F7F9FC"/>
          </a:solidFill>
          <a:ln w="12700">
            <a:solidFill>
              <a:srgbClr val="D6DEE8"/>
            </a:solidFill>
            <a:prstDash val="solid"/>
          </a:ln>
          <a:effectLst>
            <a:outerShdw sx="100000" sy="100000" kx="0" ky="0" algn="bl" rotWithShape="0" blurRad="76200" dist="25400" dir="5400000">
              <a:srgbClr val="000000">
                <a:alpha val="12000"/>
              </a:srgbClr>
            </a:outerShdw>
          </a:effectLst>
        </p:spPr>
      </p:sp>
      <p:sp>
        <p:nvSpPr>
          <p:cNvPr id="23" name="Shape 20"/>
          <p:cNvSpPr/>
          <p:nvPr/>
        </p:nvSpPr>
        <p:spPr>
          <a:xfrm>
            <a:off x="6309360" y="1691640"/>
            <a:ext cx="5349240" cy="411480"/>
          </a:xfrm>
          <a:prstGeom prst="rect">
            <a:avLst/>
          </a:prstGeom>
          <a:solidFill>
            <a:srgbClr val="1E4A87"/>
          </a:solidFill>
          <a:ln w="12700">
            <a:solidFill>
              <a:srgbClr val="1E4A87"/>
            </a:solidFill>
            <a:prstDash val="solid"/>
          </a:ln>
        </p:spPr>
      </p:sp>
      <p:sp>
        <p:nvSpPr>
          <p:cNvPr id="24" name="Text 21"/>
          <p:cNvSpPr txBox="1"/>
          <p:nvPr/>
        </p:nvSpPr>
        <p:spPr>
          <a:xfrm>
            <a:off x="6492240" y="1691640"/>
            <a:ext cx="4983480" cy="41148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Quickview · Privacy &amp; Communication</a:t>
            </a:r>
            <a:endParaRPr lang="en-US" sz="1100" dirty="0"/>
          </a:p>
        </p:txBody>
      </p:sp>
      <p:sp>
        <p:nvSpPr>
          <p:cNvPr id="25" name="Text 22"/>
          <p:cNvSpPr txBox="1"/>
          <p:nvPr/>
        </p:nvSpPr>
        <p:spPr>
          <a:xfrm>
            <a:off x="6492240" y="1691640"/>
            <a:ext cx="4983480" cy="411480"/>
          </a:xfrm>
          <a:prstGeom prst="rect">
            <a:avLst/>
          </a:prstGeom>
          <a:noFill/>
          <a:ln/>
        </p:spPr>
        <p:txBody>
          <a:bodyPr wrap="square" lIns="0" tIns="0" rIns="0" bIns="0" rtlCol="0" anchor="ctr"/>
          <a:lstStyle/>
          <a:p>
            <a:pPr algn="r" indent="0" marL="0">
              <a:buNone/>
            </a:pPr>
            <a:r>
              <a:rPr lang="en-US" sz="800" dirty="0">
                <a:solidFill>
                  <a:srgbClr val="84ACDF"/>
                </a:solidFill>
                <a:latin typeface="Calibri" pitchFamily="34" charset="0"/>
                <a:ea typeface="Calibri" pitchFamily="34" charset="-122"/>
                <a:cs typeface="Calibri" pitchFamily="34" charset="-120"/>
              </a:rPr>
              <a:t>athenaOne · illustrative screen</a:t>
            </a:r>
            <a:endParaRPr lang="en-US" sz="800" dirty="0"/>
          </a:p>
        </p:txBody>
      </p:sp>
      <p:sp>
        <p:nvSpPr>
          <p:cNvPr id="26" name="Text 23"/>
          <p:cNvSpPr txBox="1"/>
          <p:nvPr/>
        </p:nvSpPr>
        <p:spPr>
          <a:xfrm>
            <a:off x="6537960" y="2286000"/>
            <a:ext cx="1737360" cy="310896"/>
          </a:xfrm>
          <a:prstGeom prst="rect">
            <a:avLst/>
          </a:prstGeom>
          <a:noFill/>
          <a:ln/>
        </p:spPr>
        <p:txBody>
          <a:bodyPr wrap="square" lIns="0" tIns="0" rIns="0" bIns="0" rtlCol="0" anchor="ctr"/>
          <a:lstStyle/>
          <a:p>
            <a:pPr indent="0" marL="0">
              <a:buNone/>
            </a:pPr>
            <a:r>
              <a:rPr lang="en-US" sz="1000" dirty="0">
                <a:solidFill>
                  <a:srgbClr val="5B6773"/>
                </a:solidFill>
                <a:latin typeface="Calibri" pitchFamily="34" charset="0"/>
                <a:ea typeface="Calibri" pitchFamily="34" charset="-122"/>
                <a:cs typeface="Calibri" pitchFamily="34" charset="-120"/>
              </a:rPr>
              <a:t>Contact first</a:t>
            </a:r>
            <a:endParaRPr lang="en-US" sz="1000" dirty="0"/>
          </a:p>
        </p:txBody>
      </p:sp>
      <p:sp>
        <p:nvSpPr>
          <p:cNvPr id="27" name="Shape 24"/>
          <p:cNvSpPr/>
          <p:nvPr/>
        </p:nvSpPr>
        <p:spPr>
          <a:xfrm>
            <a:off x="8275320" y="2304288"/>
            <a:ext cx="3108960" cy="274320"/>
          </a:xfrm>
          <a:prstGeom prst="rect">
            <a:avLst/>
          </a:prstGeom>
          <a:solidFill>
            <a:srgbClr val="FFF6D6"/>
          </a:solidFill>
          <a:ln w="15875">
            <a:solidFill>
              <a:srgbClr val="F1C232"/>
            </a:solidFill>
            <a:prstDash val="solid"/>
          </a:ln>
        </p:spPr>
      </p:sp>
      <p:sp>
        <p:nvSpPr>
          <p:cNvPr id="28" name="Text 25"/>
          <p:cNvSpPr txBox="1"/>
          <p:nvPr/>
        </p:nvSpPr>
        <p:spPr>
          <a:xfrm>
            <a:off x="8366760" y="2304288"/>
            <a:ext cx="297180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Caregiver — Susan Doe (daughter)</a:t>
            </a:r>
            <a:endParaRPr lang="en-US" sz="1000" dirty="0"/>
          </a:p>
        </p:txBody>
      </p:sp>
      <p:sp>
        <p:nvSpPr>
          <p:cNvPr id="29" name="Text 26"/>
          <p:cNvSpPr txBox="1"/>
          <p:nvPr/>
        </p:nvSpPr>
        <p:spPr>
          <a:xfrm>
            <a:off x="6537960" y="2651760"/>
            <a:ext cx="1737360" cy="310896"/>
          </a:xfrm>
          <a:prstGeom prst="rect">
            <a:avLst/>
          </a:prstGeom>
          <a:noFill/>
          <a:ln/>
        </p:spPr>
        <p:txBody>
          <a:bodyPr wrap="square" lIns="0" tIns="0" rIns="0" bIns="0" rtlCol="0" anchor="ctr"/>
          <a:lstStyle/>
          <a:p>
            <a:pPr indent="0" marL="0">
              <a:buNone/>
            </a:pPr>
            <a:r>
              <a:rPr lang="en-US" sz="1000" dirty="0">
                <a:solidFill>
                  <a:srgbClr val="5B6773"/>
                </a:solidFill>
                <a:latin typeface="Calibri" pitchFamily="34" charset="0"/>
                <a:ea typeface="Calibri" pitchFamily="34" charset="-122"/>
                <a:cs typeface="Calibri" pitchFamily="34" charset="-120"/>
              </a:rPr>
              <a:t>Channels</a:t>
            </a:r>
            <a:endParaRPr lang="en-US" sz="1000" dirty="0"/>
          </a:p>
        </p:txBody>
      </p:sp>
      <p:sp>
        <p:nvSpPr>
          <p:cNvPr id="30" name="Shape 27"/>
          <p:cNvSpPr/>
          <p:nvPr/>
        </p:nvSpPr>
        <p:spPr>
          <a:xfrm>
            <a:off x="8275320" y="2670048"/>
            <a:ext cx="3108960" cy="274320"/>
          </a:xfrm>
          <a:prstGeom prst="rect">
            <a:avLst/>
          </a:prstGeom>
          <a:solidFill>
            <a:srgbClr val="FFFFFF"/>
          </a:solidFill>
          <a:ln w="9525">
            <a:solidFill>
              <a:srgbClr val="D6DEE8"/>
            </a:solidFill>
            <a:prstDash val="solid"/>
          </a:ln>
        </p:spPr>
      </p:sp>
      <p:sp>
        <p:nvSpPr>
          <p:cNvPr id="31" name="Text 28"/>
          <p:cNvSpPr txBox="1"/>
          <p:nvPr/>
        </p:nvSpPr>
        <p:spPr>
          <a:xfrm>
            <a:off x="8366760" y="2670048"/>
            <a:ext cx="297180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Phone ☑  Text ☑ (consent 08/14/26)  Portal ☑  Mail ☐</a:t>
            </a:r>
            <a:endParaRPr lang="en-US" sz="1000" dirty="0"/>
          </a:p>
        </p:txBody>
      </p:sp>
      <p:sp>
        <p:nvSpPr>
          <p:cNvPr id="32" name="Text 29"/>
          <p:cNvSpPr txBox="1"/>
          <p:nvPr/>
        </p:nvSpPr>
        <p:spPr>
          <a:xfrm>
            <a:off x="6537960" y="3017520"/>
            <a:ext cx="1737360" cy="310896"/>
          </a:xfrm>
          <a:prstGeom prst="rect">
            <a:avLst/>
          </a:prstGeom>
          <a:noFill/>
          <a:ln/>
        </p:spPr>
        <p:txBody>
          <a:bodyPr wrap="square" lIns="0" tIns="0" rIns="0" bIns="0" rtlCol="0" anchor="ctr"/>
          <a:lstStyle/>
          <a:p>
            <a:pPr indent="0" marL="0">
              <a:buNone/>
            </a:pPr>
            <a:r>
              <a:rPr lang="en-US" sz="1000" dirty="0">
                <a:solidFill>
                  <a:srgbClr val="5B6773"/>
                </a:solidFill>
                <a:latin typeface="Calibri" pitchFamily="34" charset="0"/>
                <a:ea typeface="Calibri" pitchFamily="34" charset="-122"/>
                <a:cs typeface="Calibri" pitchFamily="34" charset="-120"/>
              </a:rPr>
              <a:t>Best times</a:t>
            </a:r>
            <a:endParaRPr lang="en-US" sz="1000" dirty="0"/>
          </a:p>
        </p:txBody>
      </p:sp>
      <p:sp>
        <p:nvSpPr>
          <p:cNvPr id="33" name="Shape 30"/>
          <p:cNvSpPr/>
          <p:nvPr/>
        </p:nvSpPr>
        <p:spPr>
          <a:xfrm>
            <a:off x="8275320" y="3035808"/>
            <a:ext cx="3108960" cy="274320"/>
          </a:xfrm>
          <a:prstGeom prst="rect">
            <a:avLst/>
          </a:prstGeom>
          <a:solidFill>
            <a:srgbClr val="FFFFFF"/>
          </a:solidFill>
          <a:ln w="9525">
            <a:solidFill>
              <a:srgbClr val="D6DEE8"/>
            </a:solidFill>
            <a:prstDash val="solid"/>
          </a:ln>
        </p:spPr>
      </p:sp>
      <p:sp>
        <p:nvSpPr>
          <p:cNvPr id="34" name="Text 31"/>
          <p:cNvSpPr txBox="1"/>
          <p:nvPr/>
        </p:nvSpPr>
        <p:spPr>
          <a:xfrm>
            <a:off x="8366760" y="3035808"/>
            <a:ext cx="297180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Weekdays after 5 PM; Sat mornings</a:t>
            </a:r>
            <a:endParaRPr lang="en-US" sz="1000" dirty="0"/>
          </a:p>
        </p:txBody>
      </p:sp>
      <p:sp>
        <p:nvSpPr>
          <p:cNvPr id="35" name="Text 32"/>
          <p:cNvSpPr txBox="1"/>
          <p:nvPr/>
        </p:nvSpPr>
        <p:spPr>
          <a:xfrm>
            <a:off x="6537960" y="3383280"/>
            <a:ext cx="1737360" cy="310896"/>
          </a:xfrm>
          <a:prstGeom prst="rect">
            <a:avLst/>
          </a:prstGeom>
          <a:noFill/>
          <a:ln/>
        </p:spPr>
        <p:txBody>
          <a:bodyPr wrap="square" lIns="0" tIns="0" rIns="0" bIns="0" rtlCol="0" anchor="ctr"/>
          <a:lstStyle/>
          <a:p>
            <a:pPr indent="0" marL="0">
              <a:buNone/>
            </a:pPr>
            <a:r>
              <a:rPr lang="en-US" sz="1000" dirty="0">
                <a:solidFill>
                  <a:srgbClr val="5B6773"/>
                </a:solidFill>
                <a:latin typeface="Calibri" pitchFamily="34" charset="0"/>
                <a:ea typeface="Calibri" pitchFamily="34" charset="-122"/>
                <a:cs typeface="Calibri" pitchFamily="34" charset="-120"/>
              </a:rPr>
              <a:t>Language</a:t>
            </a:r>
            <a:endParaRPr lang="en-US" sz="1000" dirty="0"/>
          </a:p>
        </p:txBody>
      </p:sp>
      <p:sp>
        <p:nvSpPr>
          <p:cNvPr id="36" name="Shape 33"/>
          <p:cNvSpPr/>
          <p:nvPr/>
        </p:nvSpPr>
        <p:spPr>
          <a:xfrm>
            <a:off x="8275320" y="3401568"/>
            <a:ext cx="3108960" cy="274320"/>
          </a:xfrm>
          <a:prstGeom prst="rect">
            <a:avLst/>
          </a:prstGeom>
          <a:solidFill>
            <a:srgbClr val="FFFFFF"/>
          </a:solidFill>
          <a:ln w="9525">
            <a:solidFill>
              <a:srgbClr val="D6DEE8"/>
            </a:solidFill>
            <a:prstDash val="solid"/>
          </a:ln>
        </p:spPr>
      </p:sp>
      <p:sp>
        <p:nvSpPr>
          <p:cNvPr id="37" name="Text 34"/>
          <p:cNvSpPr txBox="1"/>
          <p:nvPr/>
        </p:nvSpPr>
        <p:spPr>
          <a:xfrm>
            <a:off x="8366760" y="3401568"/>
            <a:ext cx="297180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English · No interpreter</a:t>
            </a:r>
            <a:endParaRPr lang="en-US" sz="1000" dirty="0"/>
          </a:p>
        </p:txBody>
      </p:sp>
      <p:sp>
        <p:nvSpPr>
          <p:cNvPr id="38" name="Text 35"/>
          <p:cNvSpPr txBox="1"/>
          <p:nvPr/>
        </p:nvSpPr>
        <p:spPr>
          <a:xfrm>
            <a:off x="6537960" y="3749040"/>
            <a:ext cx="1737360" cy="310896"/>
          </a:xfrm>
          <a:prstGeom prst="rect">
            <a:avLst/>
          </a:prstGeom>
          <a:noFill/>
          <a:ln/>
        </p:spPr>
        <p:txBody>
          <a:bodyPr wrap="square" lIns="0" tIns="0" rIns="0" bIns="0" rtlCol="0" anchor="ctr"/>
          <a:lstStyle/>
          <a:p>
            <a:pPr indent="0" marL="0">
              <a:buNone/>
            </a:pPr>
            <a:r>
              <a:rPr lang="en-US" sz="1000" dirty="0">
                <a:solidFill>
                  <a:srgbClr val="5B6773"/>
                </a:solidFill>
                <a:latin typeface="Calibri" pitchFamily="34" charset="0"/>
                <a:ea typeface="Calibri" pitchFamily="34" charset="-122"/>
                <a:cs typeface="Calibri" pitchFamily="34" charset="-120"/>
              </a:rPr>
              <a:t>Access needs</a:t>
            </a:r>
            <a:endParaRPr lang="en-US" sz="1000" dirty="0"/>
          </a:p>
        </p:txBody>
      </p:sp>
      <p:sp>
        <p:nvSpPr>
          <p:cNvPr id="39" name="Shape 36"/>
          <p:cNvSpPr/>
          <p:nvPr/>
        </p:nvSpPr>
        <p:spPr>
          <a:xfrm>
            <a:off x="8275320" y="3767328"/>
            <a:ext cx="3108960" cy="274320"/>
          </a:xfrm>
          <a:prstGeom prst="rect">
            <a:avLst/>
          </a:prstGeom>
          <a:solidFill>
            <a:srgbClr val="FFFFFF"/>
          </a:solidFill>
          <a:ln w="9525">
            <a:solidFill>
              <a:srgbClr val="D6DEE8"/>
            </a:solidFill>
            <a:prstDash val="solid"/>
          </a:ln>
        </p:spPr>
      </p:sp>
      <p:sp>
        <p:nvSpPr>
          <p:cNvPr id="40" name="Text 37"/>
          <p:cNvSpPr txBox="1"/>
          <p:nvPr/>
        </p:nvSpPr>
        <p:spPr>
          <a:xfrm>
            <a:off x="8366760" y="3767328"/>
            <a:ext cx="297180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Hard of hearing; large print</a:t>
            </a:r>
            <a:endParaRPr lang="en-US" sz="1000" dirty="0"/>
          </a:p>
        </p:txBody>
      </p:sp>
      <p:sp>
        <p:nvSpPr>
          <p:cNvPr id="41" name="Text 38"/>
          <p:cNvSpPr txBox="1"/>
          <p:nvPr/>
        </p:nvSpPr>
        <p:spPr>
          <a:xfrm>
            <a:off x="6537960" y="4114800"/>
            <a:ext cx="1737360" cy="310896"/>
          </a:xfrm>
          <a:prstGeom prst="rect">
            <a:avLst/>
          </a:prstGeom>
          <a:noFill/>
          <a:ln/>
        </p:spPr>
        <p:txBody>
          <a:bodyPr wrap="square" lIns="0" tIns="0" rIns="0" bIns="0" rtlCol="0" anchor="ctr"/>
          <a:lstStyle/>
          <a:p>
            <a:pPr indent="0" marL="0">
              <a:buNone/>
            </a:pPr>
            <a:r>
              <a:rPr lang="en-US" sz="1000" dirty="0">
                <a:solidFill>
                  <a:srgbClr val="5B6773"/>
                </a:solidFill>
                <a:latin typeface="Calibri" pitchFamily="34" charset="0"/>
                <a:ea typeface="Calibri" pitchFamily="34" charset="-122"/>
                <a:cs typeface="Calibri" pitchFamily="34" charset="-120"/>
              </a:rPr>
              <a:t>Automated reminders</a:t>
            </a:r>
            <a:endParaRPr lang="en-US" sz="1000" dirty="0"/>
          </a:p>
        </p:txBody>
      </p:sp>
      <p:sp>
        <p:nvSpPr>
          <p:cNvPr id="42" name="Shape 39"/>
          <p:cNvSpPr/>
          <p:nvPr/>
        </p:nvSpPr>
        <p:spPr>
          <a:xfrm>
            <a:off x="8275320" y="4133088"/>
            <a:ext cx="3108960" cy="274320"/>
          </a:xfrm>
          <a:prstGeom prst="rect">
            <a:avLst/>
          </a:prstGeom>
          <a:solidFill>
            <a:srgbClr val="FFF6D6"/>
          </a:solidFill>
          <a:ln w="15875">
            <a:solidFill>
              <a:srgbClr val="F1C232"/>
            </a:solidFill>
            <a:prstDash val="solid"/>
          </a:ln>
        </p:spPr>
      </p:sp>
      <p:sp>
        <p:nvSpPr>
          <p:cNvPr id="43" name="Text 40"/>
          <p:cNvSpPr txBox="1"/>
          <p:nvPr/>
        </p:nvSpPr>
        <p:spPr>
          <a:xfrm>
            <a:off x="8366760" y="4133088"/>
            <a:ext cx="297180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Patient: off · Caregiver: on</a:t>
            </a:r>
            <a:endParaRPr lang="en-US" sz="1000" dirty="0"/>
          </a:p>
        </p:txBody>
      </p:sp>
      <p:sp>
        <p:nvSpPr>
          <p:cNvPr id="44" name="Shape 41"/>
          <p:cNvSpPr/>
          <p:nvPr/>
        </p:nvSpPr>
        <p:spPr>
          <a:xfrm>
            <a:off x="6537960" y="4526280"/>
            <a:ext cx="1554480" cy="329184"/>
          </a:xfrm>
          <a:prstGeom prst="roundRect">
            <a:avLst>
              <a:gd name="adj" fmla="val 13889"/>
            </a:avLst>
          </a:prstGeom>
          <a:solidFill>
            <a:srgbClr val="1E4A87"/>
          </a:solidFill>
          <a:ln w="12700">
            <a:solidFill>
              <a:srgbClr val="1E4A87"/>
            </a:solidFill>
            <a:prstDash val="solid"/>
          </a:ln>
        </p:spPr>
      </p:sp>
      <p:sp>
        <p:nvSpPr>
          <p:cNvPr id="45" name="Text 42"/>
          <p:cNvSpPr txBox="1"/>
          <p:nvPr/>
        </p:nvSpPr>
        <p:spPr>
          <a:xfrm>
            <a:off x="6537960" y="4526280"/>
            <a:ext cx="1554480"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Save</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QUICKVIEW ALERTS</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Patient alerts: the team's shared sticky note</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2 · Patient Registration, Demographics &amp; Caregiver Contacts</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19</a:t>
            </a:r>
            <a:endParaRPr lang="en-US" sz="900" dirty="0"/>
          </a:p>
        </p:txBody>
      </p:sp>
      <p:sp>
        <p:nvSpPr>
          <p:cNvPr id="7" name="Shape 4"/>
          <p:cNvSpPr/>
          <p:nvPr/>
        </p:nvSpPr>
        <p:spPr>
          <a:xfrm>
            <a:off x="548640" y="1691640"/>
            <a:ext cx="3514344" cy="3566160"/>
          </a:xfrm>
          <a:prstGeom prst="roundRect">
            <a:avLst>
              <a:gd name="adj" fmla="val 2602"/>
            </a:avLst>
          </a:prstGeom>
          <a:solidFill>
            <a:srgbClr val="EAF1FA"/>
          </a:solidFill>
          <a:ln w="12700">
            <a:solidFill>
              <a:srgbClr val="EAF1FA"/>
            </a:solidFill>
            <a:prstDash val="solid"/>
          </a:ln>
        </p:spPr>
      </p:sp>
      <p:sp>
        <p:nvSpPr>
          <p:cNvPr id="8" name="Shape 5"/>
          <p:cNvSpPr/>
          <p:nvPr/>
        </p:nvSpPr>
        <p:spPr>
          <a:xfrm>
            <a:off x="777240" y="1920240"/>
            <a:ext cx="548640" cy="548640"/>
          </a:xfrm>
          <a:prstGeom prst="ellipse">
            <a:avLst/>
          </a:prstGeom>
          <a:solidFill>
            <a:srgbClr val="FFFFFF"/>
          </a:solidFill>
          <a:ln w="12700">
            <a:solidFill>
              <a:srgbClr val="FFFFFF"/>
            </a:solidFill>
            <a:prstDash val="solid"/>
          </a:ln>
        </p:spPr>
      </p:sp>
      <p:pic>
        <p:nvPicPr>
          <p:cNvPr id="9" name="Image 1" descr="preencoded.png">    </p:cNvPr>
          <p:cNvPicPr>
            <a:picLocks noChangeAspect="1"/>
          </p:cNvPicPr>
          <p:nvPr/>
        </p:nvPicPr>
        <p:blipFill>
          <a:blip r:embed="rId2"/>
          <a:stretch>
            <a:fillRect/>
          </a:stretch>
        </p:blipFill>
        <p:spPr>
          <a:xfrm>
            <a:off x="896112" y="2039112"/>
            <a:ext cx="310896" cy="310896"/>
          </a:xfrm>
          <a:prstGeom prst="rect">
            <a:avLst/>
          </a:prstGeom>
        </p:spPr>
      </p:pic>
      <p:sp>
        <p:nvSpPr>
          <p:cNvPr id="10" name="Text 6"/>
          <p:cNvSpPr txBox="1"/>
          <p:nvPr/>
        </p:nvSpPr>
        <p:spPr>
          <a:xfrm>
            <a:off x="1463040" y="1892808"/>
            <a:ext cx="2417064"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Good uses</a:t>
            </a:r>
            <a:endParaRPr lang="en-US" sz="1500" dirty="0"/>
          </a:p>
        </p:txBody>
      </p:sp>
      <p:sp>
        <p:nvSpPr>
          <p:cNvPr id="11" name="Text 7"/>
          <p:cNvSpPr txBox="1"/>
          <p:nvPr/>
        </p:nvSpPr>
        <p:spPr>
          <a:xfrm>
            <a:off x="777240" y="2606040"/>
            <a:ext cx="3057144" cy="25146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Safety in the home (dog, stairs, oxygen), access instructions (gate code, 'knock loudly'), communication rules ('call daughter, not patient'), restricted contacts.</a:t>
            </a:r>
            <a:endParaRPr lang="en-US" sz="1300" dirty="0"/>
          </a:p>
        </p:txBody>
      </p:sp>
      <p:sp>
        <p:nvSpPr>
          <p:cNvPr id="12" name="Shape 8"/>
          <p:cNvSpPr/>
          <p:nvPr/>
        </p:nvSpPr>
        <p:spPr>
          <a:xfrm>
            <a:off x="4337304" y="1691640"/>
            <a:ext cx="3514344" cy="3566160"/>
          </a:xfrm>
          <a:prstGeom prst="roundRect">
            <a:avLst>
              <a:gd name="adj" fmla="val 2602"/>
            </a:avLst>
          </a:prstGeom>
          <a:solidFill>
            <a:srgbClr val="EAF1FA"/>
          </a:solidFill>
          <a:ln w="12700">
            <a:solidFill>
              <a:srgbClr val="EAF1FA"/>
            </a:solidFill>
            <a:prstDash val="solid"/>
          </a:ln>
        </p:spPr>
      </p:sp>
      <p:sp>
        <p:nvSpPr>
          <p:cNvPr id="13" name="Shape 9"/>
          <p:cNvSpPr/>
          <p:nvPr/>
        </p:nvSpPr>
        <p:spPr>
          <a:xfrm>
            <a:off x="4565904" y="1920240"/>
            <a:ext cx="548640" cy="548640"/>
          </a:xfrm>
          <a:prstGeom prst="ellipse">
            <a:avLst/>
          </a:prstGeom>
          <a:solidFill>
            <a:srgbClr val="FFFFFF"/>
          </a:solidFill>
          <a:ln w="12700">
            <a:solidFill>
              <a:srgbClr val="FFFFFF"/>
            </a:solidFill>
            <a:prstDash val="solid"/>
          </a:ln>
        </p:spPr>
      </p:sp>
      <p:pic>
        <p:nvPicPr>
          <p:cNvPr id="14" name="Image 2" descr="preencoded.png">    </p:cNvPr>
          <p:cNvPicPr>
            <a:picLocks noChangeAspect="1"/>
          </p:cNvPicPr>
          <p:nvPr/>
        </p:nvPicPr>
        <p:blipFill>
          <a:blip r:embed="rId3"/>
          <a:stretch>
            <a:fillRect/>
          </a:stretch>
        </p:blipFill>
        <p:spPr>
          <a:xfrm>
            <a:off x="4684776" y="2039112"/>
            <a:ext cx="310896" cy="310896"/>
          </a:xfrm>
          <a:prstGeom prst="rect">
            <a:avLst/>
          </a:prstGeom>
        </p:spPr>
      </p:pic>
      <p:sp>
        <p:nvSpPr>
          <p:cNvPr id="15" name="Text 10"/>
          <p:cNvSpPr txBox="1"/>
          <p:nvPr/>
        </p:nvSpPr>
        <p:spPr>
          <a:xfrm>
            <a:off x="5251704" y="1892808"/>
            <a:ext cx="2417064"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Poor uses</a:t>
            </a:r>
            <a:endParaRPr lang="en-US" sz="1500" dirty="0"/>
          </a:p>
        </p:txBody>
      </p:sp>
      <p:sp>
        <p:nvSpPr>
          <p:cNvPr id="16" name="Text 11"/>
          <p:cNvSpPr txBox="1"/>
          <p:nvPr/>
        </p:nvSpPr>
        <p:spPr>
          <a:xfrm>
            <a:off x="4565904" y="2606040"/>
            <a:ext cx="3057144" cy="25146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Clinical details (belong in the chart), long narratives, opinions about the family, or anything that changes weekly. Alerts should be short and stable.</a:t>
            </a:r>
            <a:endParaRPr lang="en-US" sz="1300" dirty="0"/>
          </a:p>
        </p:txBody>
      </p:sp>
      <p:sp>
        <p:nvSpPr>
          <p:cNvPr id="17" name="Shape 12"/>
          <p:cNvSpPr/>
          <p:nvPr/>
        </p:nvSpPr>
        <p:spPr>
          <a:xfrm>
            <a:off x="8125968" y="1691640"/>
            <a:ext cx="3514344" cy="3566160"/>
          </a:xfrm>
          <a:prstGeom prst="roundRect">
            <a:avLst>
              <a:gd name="adj" fmla="val 2602"/>
            </a:avLst>
          </a:prstGeom>
          <a:solidFill>
            <a:srgbClr val="EEF2E8"/>
          </a:solidFill>
          <a:ln w="12700">
            <a:solidFill>
              <a:srgbClr val="EEF2E8"/>
            </a:solidFill>
            <a:prstDash val="solid"/>
          </a:ln>
        </p:spPr>
      </p:sp>
      <p:sp>
        <p:nvSpPr>
          <p:cNvPr id="18" name="Shape 13"/>
          <p:cNvSpPr/>
          <p:nvPr/>
        </p:nvSpPr>
        <p:spPr>
          <a:xfrm>
            <a:off x="8354568" y="1920240"/>
            <a:ext cx="548640" cy="548640"/>
          </a:xfrm>
          <a:prstGeom prst="ellipse">
            <a:avLst/>
          </a:prstGeom>
          <a:solidFill>
            <a:srgbClr val="FFFFFF"/>
          </a:solidFill>
          <a:ln w="12700">
            <a:solidFill>
              <a:srgbClr val="FFFFFF"/>
            </a:solidFill>
            <a:prstDash val="solid"/>
          </a:ln>
        </p:spPr>
      </p:sp>
      <p:pic>
        <p:nvPicPr>
          <p:cNvPr id="19" name="Image 3" descr="preencoded.png">    </p:cNvPr>
          <p:cNvPicPr>
            <a:picLocks noChangeAspect="1"/>
          </p:cNvPicPr>
          <p:nvPr/>
        </p:nvPicPr>
        <p:blipFill>
          <a:blip r:embed="rId4"/>
          <a:stretch>
            <a:fillRect/>
          </a:stretch>
        </p:blipFill>
        <p:spPr>
          <a:xfrm>
            <a:off x="8473440" y="2039112"/>
            <a:ext cx="310896" cy="310896"/>
          </a:xfrm>
          <a:prstGeom prst="rect">
            <a:avLst/>
          </a:prstGeom>
        </p:spPr>
      </p:pic>
      <p:sp>
        <p:nvSpPr>
          <p:cNvPr id="20" name="Text 14"/>
          <p:cNvSpPr txBox="1"/>
          <p:nvPr/>
        </p:nvSpPr>
        <p:spPr>
          <a:xfrm>
            <a:off x="9040368" y="1892808"/>
            <a:ext cx="2417064"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Keeping them current</a:t>
            </a:r>
            <a:endParaRPr lang="en-US" sz="1500" dirty="0"/>
          </a:p>
        </p:txBody>
      </p:sp>
      <p:sp>
        <p:nvSpPr>
          <p:cNvPr id="21" name="Text 15"/>
          <p:cNvSpPr txBox="1"/>
          <p:nvPr/>
        </p:nvSpPr>
        <p:spPr>
          <a:xfrm>
            <a:off x="8354568" y="2606040"/>
            <a:ext cx="3057144" cy="25146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Review alerts at each contact. Remove or update stale alerts; an alert that's wrong is worse than none because the team stops reading them.</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AF1FA"/>
        </a:solidFill>
      </p:bgPr>
    </p:bg>
    <p:spTree>
      <p:nvGrpSpPr>
        <p:cNvPr id="1" name=""/>
        <p:cNvGrpSpPr/>
        <p:nvPr/>
      </p:nvGrpSpPr>
      <p:grpSpPr>
        <a:xfrm>
          <a:off x="0" y="0"/>
          <a:ext cx="0" cy="0"/>
          <a:chOff x="0" y="0"/>
          <a:chExt cx="0" cy="0"/>
        </a:xfrm>
      </p:grpSpPr>
      <p:sp>
        <p:nvSpPr>
          <p:cNvPr id="2" name="Shape 0"/>
          <p:cNvSpPr/>
          <p:nvPr/>
        </p:nvSpPr>
        <p:spPr>
          <a:xfrm>
            <a:off x="8412480" y="1097280"/>
            <a:ext cx="4572000" cy="4572000"/>
          </a:xfrm>
          <a:prstGeom prst="ellipse">
            <a:avLst/>
          </a:prstGeom>
          <a:solidFill>
            <a:srgbClr val="84ACDF">
              <a:alpha val="35000"/>
            </a:srgbClr>
          </a:solidFill>
          <a:ln w="12700">
            <a:solidFill>
              <a:srgbClr val="84ACDF">
                <a:alpha val="35000"/>
              </a:srgbClr>
            </a:solidFill>
            <a:prstDash val="solid"/>
          </a:ln>
        </p:spPr>
      </p:sp>
      <p:pic>
        <p:nvPicPr>
          <p:cNvPr id="3"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4" name="Text 1"/>
          <p:cNvSpPr txBox="1"/>
          <p:nvPr/>
        </p:nvSpPr>
        <p:spPr>
          <a:xfrm>
            <a:off x="731520" y="2011680"/>
            <a:ext cx="5486400" cy="365760"/>
          </a:xfrm>
          <a:prstGeom prst="rect">
            <a:avLst/>
          </a:prstGeom>
          <a:noFill/>
          <a:ln/>
        </p:spPr>
        <p:txBody>
          <a:bodyPr wrap="square" lIns="0" tIns="0" rIns="0" bIns="0" rtlCol="0" anchor="ctr"/>
          <a:lstStyle/>
          <a:p>
            <a:pPr indent="0" marL="0">
              <a:buNone/>
            </a:pPr>
            <a:r>
              <a:rPr lang="en-US" sz="1400" b="1" spc="300" kern="0" dirty="0">
                <a:solidFill>
                  <a:srgbClr val="586C47"/>
                </a:solidFill>
                <a:latin typeface="Calibri" pitchFamily="34" charset="0"/>
                <a:ea typeface="Calibri" pitchFamily="34" charset="-122"/>
                <a:cs typeface="Calibri" pitchFamily="34" charset="-120"/>
              </a:rPr>
              <a:t>PART 5</a:t>
            </a:r>
            <a:endParaRPr lang="en-US" sz="1400" dirty="0"/>
          </a:p>
        </p:txBody>
      </p:sp>
      <p:sp>
        <p:nvSpPr>
          <p:cNvPr id="5" name="Text 2"/>
          <p:cNvSpPr txBox="1"/>
          <p:nvPr/>
        </p:nvSpPr>
        <p:spPr>
          <a:xfrm>
            <a:off x="731520" y="2423160"/>
            <a:ext cx="7772400" cy="1463040"/>
          </a:xfrm>
          <a:prstGeom prst="rect">
            <a:avLst/>
          </a:prstGeom>
          <a:noFill/>
          <a:ln/>
        </p:spPr>
        <p:txBody>
          <a:bodyPr wrap="square" lIns="0" tIns="0" rIns="0" bIns="0" rtlCol="0" anchor="t"/>
          <a:lstStyle/>
          <a:p>
            <a:pPr indent="0" marL="0">
              <a:buNone/>
            </a:pPr>
            <a:r>
              <a:rPr lang="en-US" sz="4000" b="1" dirty="0">
                <a:solidFill>
                  <a:srgbClr val="1E4A87"/>
                </a:solidFill>
                <a:latin typeface="Cambria" pitchFamily="34" charset="0"/>
                <a:ea typeface="Cambria" pitchFamily="34" charset="-122"/>
                <a:cs typeface="Cambria" pitchFamily="34" charset="-120"/>
              </a:rPr>
              <a:t>Consents, release of information, and legal documents</a:t>
            </a:r>
            <a:endParaRPr lang="en-US" sz="4000" dirty="0"/>
          </a:p>
        </p:txBody>
      </p:sp>
      <p:sp>
        <p:nvSpPr>
          <p:cNvPr id="6" name="Text 3"/>
          <p:cNvSpPr txBox="1"/>
          <p:nvPr/>
        </p:nvSpPr>
        <p:spPr>
          <a:xfrm>
            <a:off x="731520" y="3977640"/>
            <a:ext cx="7315200" cy="1097280"/>
          </a:xfrm>
          <a:prstGeom prst="rect">
            <a:avLst/>
          </a:prstGeom>
          <a:noFill/>
          <a:ln/>
        </p:spPr>
        <p:txBody>
          <a:bodyPr wrap="square" lIns="0" tIns="0" rIns="0" bIns="0" rtlCol="0" anchor="ctr"/>
          <a:lstStyle/>
          <a:p>
            <a:pPr indent="0" marL="0">
              <a:buNone/>
            </a:pPr>
            <a:r>
              <a:rPr lang="en-US" sz="1600" dirty="0">
                <a:solidFill>
                  <a:srgbClr val="5B6773"/>
                </a:solidFill>
                <a:latin typeface="Calibri" pitchFamily="34" charset="0"/>
                <a:ea typeface="Calibri" pitchFamily="34" charset="-122"/>
                <a:cs typeface="Calibri" pitchFamily="34" charset="-120"/>
              </a:rPr>
              <a:t>These documents are what turn a 'caregiver' into an 'authorized contact'. Know what they are, where they live, and how to read them.</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KNOW THE DIFFERENCE</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Documents you'll handle</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2 · Patient Registration, Demographics &amp; Caregiver Contacts</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21</a:t>
            </a:r>
            <a:endParaRPr lang="en-US" sz="900" dirty="0"/>
          </a:p>
        </p:txBody>
      </p:sp>
      <p:sp>
        <p:nvSpPr>
          <p:cNvPr id="7" name="Shape 4"/>
          <p:cNvSpPr/>
          <p:nvPr/>
        </p:nvSpPr>
        <p:spPr>
          <a:xfrm>
            <a:off x="548640" y="1691640"/>
            <a:ext cx="3514344" cy="2080260"/>
          </a:xfrm>
          <a:prstGeom prst="roundRect">
            <a:avLst>
              <a:gd name="adj" fmla="val 4396"/>
            </a:avLst>
          </a:prstGeom>
          <a:solidFill>
            <a:srgbClr val="EAF1FA"/>
          </a:solidFill>
          <a:ln w="12700">
            <a:solidFill>
              <a:srgbClr val="EAF1FA"/>
            </a:solidFill>
            <a:prstDash val="solid"/>
          </a:ln>
        </p:spPr>
      </p:sp>
      <p:sp>
        <p:nvSpPr>
          <p:cNvPr id="8" name="Shape 5"/>
          <p:cNvSpPr/>
          <p:nvPr/>
        </p:nvSpPr>
        <p:spPr>
          <a:xfrm>
            <a:off x="777240" y="1920240"/>
            <a:ext cx="548640" cy="548640"/>
          </a:xfrm>
          <a:prstGeom prst="ellipse">
            <a:avLst/>
          </a:prstGeom>
          <a:solidFill>
            <a:srgbClr val="FFFFFF"/>
          </a:solidFill>
          <a:ln w="12700">
            <a:solidFill>
              <a:srgbClr val="FFFFFF"/>
            </a:solidFill>
            <a:prstDash val="solid"/>
          </a:ln>
        </p:spPr>
      </p:sp>
      <p:pic>
        <p:nvPicPr>
          <p:cNvPr id="9" name="Image 1" descr="preencoded.png">    </p:cNvPr>
          <p:cNvPicPr>
            <a:picLocks noChangeAspect="1"/>
          </p:cNvPicPr>
          <p:nvPr/>
        </p:nvPicPr>
        <p:blipFill>
          <a:blip r:embed="rId2"/>
          <a:stretch>
            <a:fillRect/>
          </a:stretch>
        </p:blipFill>
        <p:spPr>
          <a:xfrm>
            <a:off x="896112" y="2039112"/>
            <a:ext cx="310896" cy="310896"/>
          </a:xfrm>
          <a:prstGeom prst="rect">
            <a:avLst/>
          </a:prstGeom>
        </p:spPr>
      </p:pic>
      <p:sp>
        <p:nvSpPr>
          <p:cNvPr id="10" name="Text 6"/>
          <p:cNvSpPr txBox="1"/>
          <p:nvPr/>
        </p:nvSpPr>
        <p:spPr>
          <a:xfrm>
            <a:off x="1463040" y="1892808"/>
            <a:ext cx="2417064"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Release of Information (ROI)</a:t>
            </a:r>
            <a:endParaRPr lang="en-US" sz="1500" dirty="0"/>
          </a:p>
        </p:txBody>
      </p:sp>
      <p:sp>
        <p:nvSpPr>
          <p:cNvPr id="11" name="Text 7"/>
          <p:cNvSpPr txBox="1"/>
          <p:nvPr/>
        </p:nvSpPr>
        <p:spPr>
          <a:xfrm>
            <a:off x="777240" y="2606040"/>
            <a:ext cx="3057144"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Patient (or legal representative) authorizes AbleLiving to share PHI with named people. Check the named parties, scope, and expiration date.</a:t>
            </a:r>
            <a:endParaRPr lang="en-US" sz="1150" dirty="0"/>
          </a:p>
        </p:txBody>
      </p:sp>
      <p:sp>
        <p:nvSpPr>
          <p:cNvPr id="12" name="Shape 8"/>
          <p:cNvSpPr/>
          <p:nvPr/>
        </p:nvSpPr>
        <p:spPr>
          <a:xfrm>
            <a:off x="4337304" y="1691640"/>
            <a:ext cx="3514344" cy="2080260"/>
          </a:xfrm>
          <a:prstGeom prst="roundRect">
            <a:avLst>
              <a:gd name="adj" fmla="val 4396"/>
            </a:avLst>
          </a:prstGeom>
          <a:solidFill>
            <a:srgbClr val="EAF1FA"/>
          </a:solidFill>
          <a:ln w="12700">
            <a:solidFill>
              <a:srgbClr val="EAF1FA"/>
            </a:solidFill>
            <a:prstDash val="solid"/>
          </a:ln>
        </p:spPr>
      </p:sp>
      <p:sp>
        <p:nvSpPr>
          <p:cNvPr id="13" name="Shape 9"/>
          <p:cNvSpPr/>
          <p:nvPr/>
        </p:nvSpPr>
        <p:spPr>
          <a:xfrm>
            <a:off x="4565904" y="1920240"/>
            <a:ext cx="548640" cy="548640"/>
          </a:xfrm>
          <a:prstGeom prst="ellipse">
            <a:avLst/>
          </a:prstGeom>
          <a:solidFill>
            <a:srgbClr val="FFFFFF"/>
          </a:solidFill>
          <a:ln w="12700">
            <a:solidFill>
              <a:srgbClr val="FFFFFF"/>
            </a:solidFill>
            <a:prstDash val="solid"/>
          </a:ln>
        </p:spPr>
      </p:sp>
      <p:pic>
        <p:nvPicPr>
          <p:cNvPr id="14" name="Image 2" descr="preencoded.png">    </p:cNvPr>
          <p:cNvPicPr>
            <a:picLocks noChangeAspect="1"/>
          </p:cNvPicPr>
          <p:nvPr/>
        </p:nvPicPr>
        <p:blipFill>
          <a:blip r:embed="rId3"/>
          <a:stretch>
            <a:fillRect/>
          </a:stretch>
        </p:blipFill>
        <p:spPr>
          <a:xfrm>
            <a:off x="4684776" y="2039112"/>
            <a:ext cx="310896" cy="310896"/>
          </a:xfrm>
          <a:prstGeom prst="rect">
            <a:avLst/>
          </a:prstGeom>
        </p:spPr>
      </p:pic>
      <p:sp>
        <p:nvSpPr>
          <p:cNvPr id="15" name="Text 10"/>
          <p:cNvSpPr txBox="1"/>
          <p:nvPr/>
        </p:nvSpPr>
        <p:spPr>
          <a:xfrm>
            <a:off x="5251704" y="1892808"/>
            <a:ext cx="2417064"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Healthcare proxy / surrogate</a:t>
            </a:r>
            <a:endParaRPr lang="en-US" sz="1500" dirty="0"/>
          </a:p>
        </p:txBody>
      </p:sp>
      <p:sp>
        <p:nvSpPr>
          <p:cNvPr id="16" name="Text 11"/>
          <p:cNvSpPr txBox="1"/>
          <p:nvPr/>
        </p:nvSpPr>
        <p:spPr>
          <a:xfrm>
            <a:off x="4565904" y="2606040"/>
            <a:ext cx="3057144"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Names who makes medical decisions when the patient cannot. Note the effective conditions; some only activate on incapacity determination.</a:t>
            </a:r>
            <a:endParaRPr lang="en-US" sz="1150" dirty="0"/>
          </a:p>
        </p:txBody>
      </p:sp>
      <p:sp>
        <p:nvSpPr>
          <p:cNvPr id="17" name="Shape 12"/>
          <p:cNvSpPr/>
          <p:nvPr/>
        </p:nvSpPr>
        <p:spPr>
          <a:xfrm>
            <a:off x="8125968" y="1691640"/>
            <a:ext cx="3514344" cy="2080260"/>
          </a:xfrm>
          <a:prstGeom prst="roundRect">
            <a:avLst>
              <a:gd name="adj" fmla="val 4396"/>
            </a:avLst>
          </a:prstGeom>
          <a:solidFill>
            <a:srgbClr val="EAF1FA"/>
          </a:solidFill>
          <a:ln w="12700">
            <a:solidFill>
              <a:srgbClr val="EAF1FA"/>
            </a:solidFill>
            <a:prstDash val="solid"/>
          </a:ln>
        </p:spPr>
      </p:sp>
      <p:sp>
        <p:nvSpPr>
          <p:cNvPr id="18" name="Shape 13"/>
          <p:cNvSpPr/>
          <p:nvPr/>
        </p:nvSpPr>
        <p:spPr>
          <a:xfrm>
            <a:off x="8354568" y="1920240"/>
            <a:ext cx="548640" cy="548640"/>
          </a:xfrm>
          <a:prstGeom prst="ellipse">
            <a:avLst/>
          </a:prstGeom>
          <a:solidFill>
            <a:srgbClr val="FFFFFF"/>
          </a:solidFill>
          <a:ln w="12700">
            <a:solidFill>
              <a:srgbClr val="FFFFFF"/>
            </a:solidFill>
            <a:prstDash val="solid"/>
          </a:ln>
        </p:spPr>
      </p:sp>
      <p:pic>
        <p:nvPicPr>
          <p:cNvPr id="19" name="Image 3" descr="preencoded.png">    </p:cNvPr>
          <p:cNvPicPr>
            <a:picLocks noChangeAspect="1"/>
          </p:cNvPicPr>
          <p:nvPr/>
        </p:nvPicPr>
        <p:blipFill>
          <a:blip r:embed="rId4"/>
          <a:stretch>
            <a:fillRect/>
          </a:stretch>
        </p:blipFill>
        <p:spPr>
          <a:xfrm>
            <a:off x="8473440" y="2039112"/>
            <a:ext cx="310896" cy="310896"/>
          </a:xfrm>
          <a:prstGeom prst="rect">
            <a:avLst/>
          </a:prstGeom>
        </p:spPr>
      </p:pic>
      <p:sp>
        <p:nvSpPr>
          <p:cNvPr id="20" name="Text 14"/>
          <p:cNvSpPr txBox="1"/>
          <p:nvPr/>
        </p:nvSpPr>
        <p:spPr>
          <a:xfrm>
            <a:off x="9040368" y="1892808"/>
            <a:ext cx="2417064"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Power of attorney (POA)</a:t>
            </a:r>
            <a:endParaRPr lang="en-US" sz="1500" dirty="0"/>
          </a:p>
        </p:txBody>
      </p:sp>
      <p:sp>
        <p:nvSpPr>
          <p:cNvPr id="21" name="Text 15"/>
          <p:cNvSpPr txBox="1"/>
          <p:nvPr/>
        </p:nvSpPr>
        <p:spPr>
          <a:xfrm>
            <a:off x="8354568" y="2606040"/>
            <a:ext cx="3057144"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May be financial, medical, or both. A financial POA does not by itself authorize medical decisions. Read the scope; route questions to your supervisor.</a:t>
            </a:r>
            <a:endParaRPr lang="en-US" sz="1150" dirty="0"/>
          </a:p>
        </p:txBody>
      </p:sp>
      <p:sp>
        <p:nvSpPr>
          <p:cNvPr id="22" name="Shape 16"/>
          <p:cNvSpPr/>
          <p:nvPr/>
        </p:nvSpPr>
        <p:spPr>
          <a:xfrm>
            <a:off x="548640" y="4046220"/>
            <a:ext cx="3514344" cy="2080260"/>
          </a:xfrm>
          <a:prstGeom prst="roundRect">
            <a:avLst>
              <a:gd name="adj" fmla="val 4396"/>
            </a:avLst>
          </a:prstGeom>
          <a:solidFill>
            <a:srgbClr val="EAF1FA"/>
          </a:solidFill>
          <a:ln w="12700">
            <a:solidFill>
              <a:srgbClr val="EAF1FA"/>
            </a:solidFill>
            <a:prstDash val="solid"/>
          </a:ln>
        </p:spPr>
      </p:sp>
      <p:sp>
        <p:nvSpPr>
          <p:cNvPr id="23" name="Shape 17"/>
          <p:cNvSpPr/>
          <p:nvPr/>
        </p:nvSpPr>
        <p:spPr>
          <a:xfrm>
            <a:off x="777240" y="4274820"/>
            <a:ext cx="548640" cy="548640"/>
          </a:xfrm>
          <a:prstGeom prst="ellipse">
            <a:avLst/>
          </a:prstGeom>
          <a:solidFill>
            <a:srgbClr val="FFFFFF"/>
          </a:solidFill>
          <a:ln w="12700">
            <a:solidFill>
              <a:srgbClr val="FFFFFF"/>
            </a:solidFill>
            <a:prstDash val="solid"/>
          </a:ln>
        </p:spPr>
      </p:sp>
      <p:pic>
        <p:nvPicPr>
          <p:cNvPr id="24" name="Image 4" descr="preencoded.png">    </p:cNvPr>
          <p:cNvPicPr>
            <a:picLocks noChangeAspect="1"/>
          </p:cNvPicPr>
          <p:nvPr/>
        </p:nvPicPr>
        <p:blipFill>
          <a:blip r:embed="rId5"/>
          <a:stretch>
            <a:fillRect/>
          </a:stretch>
        </p:blipFill>
        <p:spPr>
          <a:xfrm>
            <a:off x="896112" y="4393692"/>
            <a:ext cx="310896" cy="310896"/>
          </a:xfrm>
          <a:prstGeom prst="rect">
            <a:avLst/>
          </a:prstGeom>
        </p:spPr>
      </p:pic>
      <p:sp>
        <p:nvSpPr>
          <p:cNvPr id="25" name="Text 18"/>
          <p:cNvSpPr txBox="1"/>
          <p:nvPr/>
        </p:nvSpPr>
        <p:spPr>
          <a:xfrm>
            <a:off x="1463040" y="4247388"/>
            <a:ext cx="2417064"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Guardianship</a:t>
            </a:r>
            <a:endParaRPr lang="en-US" sz="1500" dirty="0"/>
          </a:p>
        </p:txBody>
      </p:sp>
      <p:sp>
        <p:nvSpPr>
          <p:cNvPr id="26" name="Text 19"/>
          <p:cNvSpPr txBox="1"/>
          <p:nvPr/>
        </p:nvSpPr>
        <p:spPr>
          <a:xfrm>
            <a:off x="777240" y="4960620"/>
            <a:ext cx="3057144"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Court-ordered authority. Highest level; overrides other documents. Requires the court order on file.</a:t>
            </a:r>
            <a:endParaRPr lang="en-US" sz="1150" dirty="0"/>
          </a:p>
        </p:txBody>
      </p:sp>
      <p:sp>
        <p:nvSpPr>
          <p:cNvPr id="27" name="Shape 20"/>
          <p:cNvSpPr/>
          <p:nvPr/>
        </p:nvSpPr>
        <p:spPr>
          <a:xfrm>
            <a:off x="4337304" y="4046220"/>
            <a:ext cx="3514344" cy="2080260"/>
          </a:xfrm>
          <a:prstGeom prst="roundRect">
            <a:avLst>
              <a:gd name="adj" fmla="val 4396"/>
            </a:avLst>
          </a:prstGeom>
          <a:solidFill>
            <a:srgbClr val="EAF1FA"/>
          </a:solidFill>
          <a:ln w="12700">
            <a:solidFill>
              <a:srgbClr val="EAF1FA"/>
            </a:solidFill>
            <a:prstDash val="solid"/>
          </a:ln>
        </p:spPr>
      </p:sp>
      <p:sp>
        <p:nvSpPr>
          <p:cNvPr id="28" name="Shape 21"/>
          <p:cNvSpPr/>
          <p:nvPr/>
        </p:nvSpPr>
        <p:spPr>
          <a:xfrm>
            <a:off x="4565904" y="4274820"/>
            <a:ext cx="548640" cy="548640"/>
          </a:xfrm>
          <a:prstGeom prst="ellipse">
            <a:avLst/>
          </a:prstGeom>
          <a:solidFill>
            <a:srgbClr val="FFFFFF"/>
          </a:solidFill>
          <a:ln w="12700">
            <a:solidFill>
              <a:srgbClr val="FFFFFF"/>
            </a:solidFill>
            <a:prstDash val="solid"/>
          </a:ln>
        </p:spPr>
      </p:sp>
      <p:pic>
        <p:nvPicPr>
          <p:cNvPr id="29" name="Image 5" descr="preencoded.png">    </p:cNvPr>
          <p:cNvPicPr>
            <a:picLocks noChangeAspect="1"/>
          </p:cNvPicPr>
          <p:nvPr/>
        </p:nvPicPr>
        <p:blipFill>
          <a:blip r:embed="rId6"/>
          <a:stretch>
            <a:fillRect/>
          </a:stretch>
        </p:blipFill>
        <p:spPr>
          <a:xfrm>
            <a:off x="4684776" y="4393692"/>
            <a:ext cx="310896" cy="310896"/>
          </a:xfrm>
          <a:prstGeom prst="rect">
            <a:avLst/>
          </a:prstGeom>
        </p:spPr>
      </p:pic>
      <p:sp>
        <p:nvSpPr>
          <p:cNvPr id="30" name="Text 22"/>
          <p:cNvSpPr txBox="1"/>
          <p:nvPr/>
        </p:nvSpPr>
        <p:spPr>
          <a:xfrm>
            <a:off x="5251704" y="4247388"/>
            <a:ext cx="2417064"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Program and treatment consents</a:t>
            </a:r>
            <a:endParaRPr lang="en-US" sz="1500" dirty="0"/>
          </a:p>
        </p:txBody>
      </p:sp>
      <p:sp>
        <p:nvSpPr>
          <p:cNvPr id="31" name="Text 23"/>
          <p:cNvSpPr txBox="1"/>
          <p:nvPr/>
        </p:nvSpPr>
        <p:spPr>
          <a:xfrm>
            <a:off x="4565904" y="4960620"/>
            <a:ext cx="3057144"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Consent to treat, telehealth consent, care-management program consent. Program enrollment often cannot be billed without these.</a:t>
            </a:r>
            <a:endParaRPr lang="en-US" sz="1150" dirty="0"/>
          </a:p>
        </p:txBody>
      </p:sp>
      <p:sp>
        <p:nvSpPr>
          <p:cNvPr id="32" name="Shape 24"/>
          <p:cNvSpPr/>
          <p:nvPr/>
        </p:nvSpPr>
        <p:spPr>
          <a:xfrm>
            <a:off x="8125968" y="4046220"/>
            <a:ext cx="3514344" cy="2080260"/>
          </a:xfrm>
          <a:prstGeom prst="roundRect">
            <a:avLst>
              <a:gd name="adj" fmla="val 4396"/>
            </a:avLst>
          </a:prstGeom>
          <a:solidFill>
            <a:srgbClr val="EEF2E8"/>
          </a:solidFill>
          <a:ln w="12700">
            <a:solidFill>
              <a:srgbClr val="EEF2E8"/>
            </a:solidFill>
            <a:prstDash val="solid"/>
          </a:ln>
        </p:spPr>
      </p:sp>
      <p:sp>
        <p:nvSpPr>
          <p:cNvPr id="33" name="Shape 25"/>
          <p:cNvSpPr/>
          <p:nvPr/>
        </p:nvSpPr>
        <p:spPr>
          <a:xfrm>
            <a:off x="8354568" y="4274820"/>
            <a:ext cx="548640" cy="548640"/>
          </a:xfrm>
          <a:prstGeom prst="ellipse">
            <a:avLst/>
          </a:prstGeom>
          <a:solidFill>
            <a:srgbClr val="FFFFFF"/>
          </a:solidFill>
          <a:ln w="12700">
            <a:solidFill>
              <a:srgbClr val="FFFFFF"/>
            </a:solidFill>
            <a:prstDash val="solid"/>
          </a:ln>
        </p:spPr>
      </p:sp>
      <p:pic>
        <p:nvPicPr>
          <p:cNvPr id="34" name="Image 6" descr="preencoded.png">    </p:cNvPr>
          <p:cNvPicPr>
            <a:picLocks noChangeAspect="1"/>
          </p:cNvPicPr>
          <p:nvPr/>
        </p:nvPicPr>
        <p:blipFill>
          <a:blip r:embed="rId7"/>
          <a:stretch>
            <a:fillRect/>
          </a:stretch>
        </p:blipFill>
        <p:spPr>
          <a:xfrm>
            <a:off x="8473440" y="4393692"/>
            <a:ext cx="310896" cy="310896"/>
          </a:xfrm>
          <a:prstGeom prst="rect">
            <a:avLst/>
          </a:prstGeom>
        </p:spPr>
      </p:pic>
      <p:sp>
        <p:nvSpPr>
          <p:cNvPr id="35" name="Text 26"/>
          <p:cNvSpPr txBox="1"/>
          <p:nvPr/>
        </p:nvSpPr>
        <p:spPr>
          <a:xfrm>
            <a:off x="9040368" y="4247388"/>
            <a:ext cx="2417064"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Advance directives</a:t>
            </a:r>
            <a:endParaRPr lang="en-US" sz="1500" dirty="0"/>
          </a:p>
        </p:txBody>
      </p:sp>
      <p:sp>
        <p:nvSpPr>
          <p:cNvPr id="36" name="Text 27"/>
          <p:cNvSpPr txBox="1"/>
          <p:nvPr/>
        </p:nvSpPr>
        <p:spPr>
          <a:xfrm>
            <a:off x="8354568" y="4960620"/>
            <a:ext cx="3057144"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Living will, POLST/DNR. Clinical significance; scan to the chart and flag for the provider to review.</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DOCUMENT HANDLING</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Getting a document into the chart correctly</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2 · Patient Registration, Demographics &amp; Caregiver Contacts</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22</a:t>
            </a:r>
            <a:endParaRPr lang="en-US" sz="900" dirty="0"/>
          </a:p>
        </p:txBody>
      </p:sp>
      <p:sp>
        <p:nvSpPr>
          <p:cNvPr id="7" name="Shape 4"/>
          <p:cNvSpPr/>
          <p:nvPr/>
        </p:nvSpPr>
        <p:spPr>
          <a:xfrm>
            <a:off x="548640" y="1737360"/>
            <a:ext cx="2035454" cy="4297680"/>
          </a:xfrm>
          <a:prstGeom prst="roundRect">
            <a:avLst>
              <a:gd name="adj" fmla="val 4492"/>
            </a:avLst>
          </a:prstGeom>
          <a:solidFill>
            <a:srgbClr val="FFFFFF"/>
          </a:solidFill>
          <a:ln w="12700">
            <a:solidFill>
              <a:srgbClr val="D6DEE8"/>
            </a:solidFill>
            <a:prstDash val="solid"/>
          </a:ln>
          <a:effectLst>
            <a:outerShdw sx="100000" sy="100000" kx="0" ky="0" algn="bl" rotWithShape="0" blurRad="76200" dist="25400" dir="5400000">
              <a:srgbClr val="000000">
                <a:alpha val="12000"/>
              </a:srgbClr>
            </a:outerShdw>
          </a:effectLst>
        </p:spPr>
      </p:sp>
      <p:sp>
        <p:nvSpPr>
          <p:cNvPr id="8" name="Shape 5"/>
          <p:cNvSpPr/>
          <p:nvPr/>
        </p:nvSpPr>
        <p:spPr>
          <a:xfrm>
            <a:off x="777240" y="1965960"/>
            <a:ext cx="548640" cy="548640"/>
          </a:xfrm>
          <a:prstGeom prst="ellipse">
            <a:avLst/>
          </a:prstGeom>
          <a:solidFill>
            <a:srgbClr val="1E4A87"/>
          </a:solidFill>
          <a:ln w="12700">
            <a:solidFill>
              <a:srgbClr val="1E4A87"/>
            </a:solidFill>
            <a:prstDash val="solid"/>
          </a:ln>
        </p:spPr>
      </p:sp>
      <p:sp>
        <p:nvSpPr>
          <p:cNvPr id="9" name="Text 6"/>
          <p:cNvSpPr txBox="1"/>
          <p:nvPr/>
        </p:nvSpPr>
        <p:spPr>
          <a:xfrm>
            <a:off x="777240" y="19659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0" name="Text 7"/>
          <p:cNvSpPr txBox="1"/>
          <p:nvPr/>
        </p:nvSpPr>
        <p:spPr>
          <a:xfrm>
            <a:off x="777240" y="2651760"/>
            <a:ext cx="1578254" cy="731520"/>
          </a:xfrm>
          <a:prstGeom prst="rect">
            <a:avLst/>
          </a:prstGeom>
          <a:noFill/>
          <a:ln/>
        </p:spPr>
        <p:txBody>
          <a:bodyPr wrap="square" lIns="0" tIns="0" rIns="0" bIns="0" rtlCol="0" anchor="t"/>
          <a:lstStyle/>
          <a:p>
            <a:pPr indent="0" marL="0">
              <a:buNone/>
            </a:pPr>
            <a:r>
              <a:rPr lang="en-US" sz="1400" b="1" dirty="0">
                <a:solidFill>
                  <a:srgbClr val="1E4A87"/>
                </a:solidFill>
                <a:latin typeface="Calibri" pitchFamily="34" charset="0"/>
                <a:ea typeface="Calibri" pitchFamily="34" charset="-122"/>
                <a:cs typeface="Calibri" pitchFamily="34" charset="-120"/>
              </a:rPr>
              <a:t>Verify the patient</a:t>
            </a:r>
            <a:endParaRPr lang="en-US" sz="1400" dirty="0"/>
          </a:p>
        </p:txBody>
      </p:sp>
      <p:sp>
        <p:nvSpPr>
          <p:cNvPr id="11" name="Text 8"/>
          <p:cNvSpPr txBox="1"/>
          <p:nvPr/>
        </p:nvSpPr>
        <p:spPr>
          <a:xfrm>
            <a:off x="777240" y="3429000"/>
            <a:ext cx="1578254" cy="237744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Match name and DOB on the document to the banner. Two identifiers, every time.</a:t>
            </a:r>
            <a:endParaRPr lang="en-US" sz="1150" dirty="0"/>
          </a:p>
        </p:txBody>
      </p:sp>
      <p:sp>
        <p:nvSpPr>
          <p:cNvPr id="12" name="Shape 9"/>
          <p:cNvSpPr/>
          <p:nvPr/>
        </p:nvSpPr>
        <p:spPr>
          <a:xfrm>
            <a:off x="2812694" y="1737360"/>
            <a:ext cx="2035454" cy="4297680"/>
          </a:xfrm>
          <a:prstGeom prst="roundRect">
            <a:avLst>
              <a:gd name="adj" fmla="val 4492"/>
            </a:avLst>
          </a:prstGeom>
          <a:solidFill>
            <a:srgbClr val="FFFFFF"/>
          </a:solidFill>
          <a:ln w="12700">
            <a:solidFill>
              <a:srgbClr val="D6DEE8"/>
            </a:solidFill>
            <a:prstDash val="solid"/>
          </a:ln>
          <a:effectLst>
            <a:outerShdw sx="100000" sy="100000" kx="0" ky="0" algn="bl" rotWithShape="0" blurRad="76200" dist="25400" dir="5400000">
              <a:srgbClr val="000000">
                <a:alpha val="12000"/>
              </a:srgbClr>
            </a:outerShdw>
          </a:effectLst>
        </p:spPr>
      </p:sp>
      <p:sp>
        <p:nvSpPr>
          <p:cNvPr id="13" name="Shape 10"/>
          <p:cNvSpPr/>
          <p:nvPr/>
        </p:nvSpPr>
        <p:spPr>
          <a:xfrm>
            <a:off x="3041294" y="1965960"/>
            <a:ext cx="548640" cy="548640"/>
          </a:xfrm>
          <a:prstGeom prst="ellipse">
            <a:avLst/>
          </a:prstGeom>
          <a:solidFill>
            <a:srgbClr val="1E4A87"/>
          </a:solidFill>
          <a:ln w="12700">
            <a:solidFill>
              <a:srgbClr val="1E4A87"/>
            </a:solidFill>
            <a:prstDash val="solid"/>
          </a:ln>
        </p:spPr>
      </p:sp>
      <p:sp>
        <p:nvSpPr>
          <p:cNvPr id="14" name="Text 11"/>
          <p:cNvSpPr txBox="1"/>
          <p:nvPr/>
        </p:nvSpPr>
        <p:spPr>
          <a:xfrm>
            <a:off x="3041294" y="19659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5" name="Text 12"/>
          <p:cNvSpPr txBox="1"/>
          <p:nvPr/>
        </p:nvSpPr>
        <p:spPr>
          <a:xfrm>
            <a:off x="3041294" y="2651760"/>
            <a:ext cx="1578254" cy="731520"/>
          </a:xfrm>
          <a:prstGeom prst="rect">
            <a:avLst/>
          </a:prstGeom>
          <a:noFill/>
          <a:ln/>
        </p:spPr>
        <p:txBody>
          <a:bodyPr wrap="square" lIns="0" tIns="0" rIns="0" bIns="0" rtlCol="0" anchor="t"/>
          <a:lstStyle/>
          <a:p>
            <a:pPr indent="0" marL="0">
              <a:buNone/>
            </a:pPr>
            <a:r>
              <a:rPr lang="en-US" sz="1400" b="1" dirty="0">
                <a:solidFill>
                  <a:srgbClr val="1E4A87"/>
                </a:solidFill>
                <a:latin typeface="Calibri" pitchFamily="34" charset="0"/>
                <a:ea typeface="Calibri" pitchFamily="34" charset="-122"/>
                <a:cs typeface="Calibri" pitchFamily="34" charset="-120"/>
              </a:rPr>
              <a:t>Scan or receive</a:t>
            </a:r>
            <a:endParaRPr lang="en-US" sz="1400" dirty="0"/>
          </a:p>
        </p:txBody>
      </p:sp>
      <p:sp>
        <p:nvSpPr>
          <p:cNvPr id="16" name="Text 13"/>
          <p:cNvSpPr txBox="1"/>
          <p:nvPr/>
        </p:nvSpPr>
        <p:spPr>
          <a:xfrm>
            <a:off x="3041294" y="3429000"/>
            <a:ext cx="1578254" cy="237744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Upload from the chart (Add Document) or process from the Clinical Inbox document queue. Ensure all pages and signatures are present and legible.</a:t>
            </a:r>
            <a:endParaRPr lang="en-US" sz="1150" dirty="0"/>
          </a:p>
        </p:txBody>
      </p:sp>
      <p:sp>
        <p:nvSpPr>
          <p:cNvPr id="17" name="Shape 14"/>
          <p:cNvSpPr/>
          <p:nvPr/>
        </p:nvSpPr>
        <p:spPr>
          <a:xfrm>
            <a:off x="5076749" y="1737360"/>
            <a:ext cx="2035454" cy="4297680"/>
          </a:xfrm>
          <a:prstGeom prst="roundRect">
            <a:avLst>
              <a:gd name="adj" fmla="val 4492"/>
            </a:avLst>
          </a:prstGeom>
          <a:solidFill>
            <a:srgbClr val="FFFFFF"/>
          </a:solidFill>
          <a:ln w="12700">
            <a:solidFill>
              <a:srgbClr val="D6DEE8"/>
            </a:solidFill>
            <a:prstDash val="solid"/>
          </a:ln>
          <a:effectLst>
            <a:outerShdw sx="100000" sy="100000" kx="0" ky="0" algn="bl" rotWithShape="0" blurRad="76200" dist="25400" dir="5400000">
              <a:srgbClr val="000000">
                <a:alpha val="12000"/>
              </a:srgbClr>
            </a:outerShdw>
          </a:effectLst>
        </p:spPr>
      </p:sp>
      <p:sp>
        <p:nvSpPr>
          <p:cNvPr id="18" name="Shape 15"/>
          <p:cNvSpPr/>
          <p:nvPr/>
        </p:nvSpPr>
        <p:spPr>
          <a:xfrm>
            <a:off x="5305349" y="1965960"/>
            <a:ext cx="548640" cy="548640"/>
          </a:xfrm>
          <a:prstGeom prst="ellipse">
            <a:avLst/>
          </a:prstGeom>
          <a:solidFill>
            <a:srgbClr val="1E4A87"/>
          </a:solidFill>
          <a:ln w="12700">
            <a:solidFill>
              <a:srgbClr val="1E4A87"/>
            </a:solidFill>
            <a:prstDash val="solid"/>
          </a:ln>
        </p:spPr>
      </p:sp>
      <p:sp>
        <p:nvSpPr>
          <p:cNvPr id="19" name="Text 16"/>
          <p:cNvSpPr txBox="1"/>
          <p:nvPr/>
        </p:nvSpPr>
        <p:spPr>
          <a:xfrm>
            <a:off x="5305349" y="19659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0" name="Text 17"/>
          <p:cNvSpPr txBox="1"/>
          <p:nvPr/>
        </p:nvSpPr>
        <p:spPr>
          <a:xfrm>
            <a:off x="5305349" y="2651760"/>
            <a:ext cx="1578254" cy="731520"/>
          </a:xfrm>
          <a:prstGeom prst="rect">
            <a:avLst/>
          </a:prstGeom>
          <a:noFill/>
          <a:ln/>
        </p:spPr>
        <p:txBody>
          <a:bodyPr wrap="square" lIns="0" tIns="0" rIns="0" bIns="0" rtlCol="0" anchor="t"/>
          <a:lstStyle/>
          <a:p>
            <a:pPr indent="0" marL="0">
              <a:buNone/>
            </a:pPr>
            <a:r>
              <a:rPr lang="en-US" sz="1400" b="1" dirty="0">
                <a:solidFill>
                  <a:srgbClr val="1E4A87"/>
                </a:solidFill>
                <a:latin typeface="Calibri" pitchFamily="34" charset="0"/>
                <a:ea typeface="Calibri" pitchFamily="34" charset="-122"/>
                <a:cs typeface="Calibri" pitchFamily="34" charset="-120"/>
              </a:rPr>
              <a:t>Classify</a:t>
            </a:r>
            <a:endParaRPr lang="en-US" sz="1400" dirty="0"/>
          </a:p>
        </p:txBody>
      </p:sp>
      <p:sp>
        <p:nvSpPr>
          <p:cNvPr id="21" name="Text 18"/>
          <p:cNvSpPr txBox="1"/>
          <p:nvPr/>
        </p:nvSpPr>
        <p:spPr>
          <a:xfrm>
            <a:off x="5305349" y="3429000"/>
            <a:ext cx="1578254" cy="237744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Use the real document classes: Admin → Consent, HIPAA, Legal, Signed Forms/Letters, Insurance Card. Advance directives go to Clinical Document per AbleLiving convention. Wrong classes make documents impossible to find later.</a:t>
            </a:r>
            <a:endParaRPr lang="en-US" sz="1150" dirty="0"/>
          </a:p>
        </p:txBody>
      </p:sp>
      <p:sp>
        <p:nvSpPr>
          <p:cNvPr id="22" name="Shape 19"/>
          <p:cNvSpPr/>
          <p:nvPr/>
        </p:nvSpPr>
        <p:spPr>
          <a:xfrm>
            <a:off x="7340803" y="1737360"/>
            <a:ext cx="2035454" cy="4297680"/>
          </a:xfrm>
          <a:prstGeom prst="roundRect">
            <a:avLst>
              <a:gd name="adj" fmla="val 4492"/>
            </a:avLst>
          </a:prstGeom>
          <a:solidFill>
            <a:srgbClr val="FFFFFF"/>
          </a:solidFill>
          <a:ln w="12700">
            <a:solidFill>
              <a:srgbClr val="D6DEE8"/>
            </a:solidFill>
            <a:prstDash val="solid"/>
          </a:ln>
          <a:effectLst>
            <a:outerShdw sx="100000" sy="100000" kx="0" ky="0" algn="bl" rotWithShape="0" blurRad="76200" dist="25400" dir="5400000">
              <a:srgbClr val="000000">
                <a:alpha val="12000"/>
              </a:srgbClr>
            </a:outerShdw>
          </a:effectLst>
        </p:spPr>
      </p:sp>
      <p:sp>
        <p:nvSpPr>
          <p:cNvPr id="23" name="Shape 20"/>
          <p:cNvSpPr/>
          <p:nvPr/>
        </p:nvSpPr>
        <p:spPr>
          <a:xfrm>
            <a:off x="7569403" y="1965960"/>
            <a:ext cx="548640" cy="548640"/>
          </a:xfrm>
          <a:prstGeom prst="ellipse">
            <a:avLst/>
          </a:prstGeom>
          <a:solidFill>
            <a:srgbClr val="1E4A87"/>
          </a:solidFill>
          <a:ln w="12700">
            <a:solidFill>
              <a:srgbClr val="1E4A87"/>
            </a:solidFill>
            <a:prstDash val="solid"/>
          </a:ln>
        </p:spPr>
      </p:sp>
      <p:sp>
        <p:nvSpPr>
          <p:cNvPr id="24" name="Text 21"/>
          <p:cNvSpPr txBox="1"/>
          <p:nvPr/>
        </p:nvSpPr>
        <p:spPr>
          <a:xfrm>
            <a:off x="7569403" y="19659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5" name="Text 22"/>
          <p:cNvSpPr txBox="1"/>
          <p:nvPr/>
        </p:nvSpPr>
        <p:spPr>
          <a:xfrm>
            <a:off x="7569403" y="2651760"/>
            <a:ext cx="1578254" cy="731520"/>
          </a:xfrm>
          <a:prstGeom prst="rect">
            <a:avLst/>
          </a:prstGeom>
          <a:noFill/>
          <a:ln/>
        </p:spPr>
        <p:txBody>
          <a:bodyPr wrap="square" lIns="0" tIns="0" rIns="0" bIns="0" rtlCol="0" anchor="t"/>
          <a:lstStyle/>
          <a:p>
            <a:pPr indent="0" marL="0">
              <a:buNone/>
            </a:pPr>
            <a:r>
              <a:rPr lang="en-US" sz="1400" b="1" dirty="0">
                <a:solidFill>
                  <a:srgbClr val="1E4A87"/>
                </a:solidFill>
                <a:latin typeface="Calibri" pitchFamily="34" charset="0"/>
                <a:ea typeface="Calibri" pitchFamily="34" charset="-122"/>
                <a:cs typeface="Calibri" pitchFamily="34" charset="-120"/>
              </a:rPr>
              <a:t>Update the contact record</a:t>
            </a:r>
            <a:endParaRPr lang="en-US" sz="1400" dirty="0"/>
          </a:p>
        </p:txBody>
      </p:sp>
      <p:sp>
        <p:nvSpPr>
          <p:cNvPr id="26" name="Text 23"/>
          <p:cNvSpPr txBox="1"/>
          <p:nvPr/>
        </p:nvSpPr>
        <p:spPr>
          <a:xfrm>
            <a:off x="7569403" y="3429000"/>
            <a:ext cx="1578254" cy="237744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If the document authorizes someone, update their contact roles and record the document date and expiration.</a:t>
            </a:r>
            <a:endParaRPr lang="en-US" sz="1150" dirty="0"/>
          </a:p>
        </p:txBody>
      </p:sp>
      <p:sp>
        <p:nvSpPr>
          <p:cNvPr id="27" name="Shape 24"/>
          <p:cNvSpPr/>
          <p:nvPr/>
        </p:nvSpPr>
        <p:spPr>
          <a:xfrm>
            <a:off x="9604858" y="1737360"/>
            <a:ext cx="2035454" cy="4297680"/>
          </a:xfrm>
          <a:prstGeom prst="roundRect">
            <a:avLst>
              <a:gd name="adj" fmla="val 4492"/>
            </a:avLst>
          </a:prstGeom>
          <a:solidFill>
            <a:srgbClr val="FFFFFF"/>
          </a:solidFill>
          <a:ln w="12700">
            <a:solidFill>
              <a:srgbClr val="D6DEE8"/>
            </a:solidFill>
            <a:prstDash val="solid"/>
          </a:ln>
          <a:effectLst>
            <a:outerShdw sx="100000" sy="100000" kx="0" ky="0" algn="bl" rotWithShape="0" blurRad="76200" dist="25400" dir="5400000">
              <a:srgbClr val="000000">
                <a:alpha val="12000"/>
              </a:srgbClr>
            </a:outerShdw>
          </a:effectLst>
        </p:spPr>
      </p:sp>
      <p:sp>
        <p:nvSpPr>
          <p:cNvPr id="28" name="Shape 25"/>
          <p:cNvSpPr/>
          <p:nvPr/>
        </p:nvSpPr>
        <p:spPr>
          <a:xfrm>
            <a:off x="9833458" y="1965960"/>
            <a:ext cx="548640" cy="548640"/>
          </a:xfrm>
          <a:prstGeom prst="ellipse">
            <a:avLst/>
          </a:prstGeom>
          <a:solidFill>
            <a:srgbClr val="586C47"/>
          </a:solidFill>
          <a:ln w="12700">
            <a:solidFill>
              <a:srgbClr val="586C47"/>
            </a:solidFill>
            <a:prstDash val="solid"/>
          </a:ln>
        </p:spPr>
      </p:sp>
      <p:sp>
        <p:nvSpPr>
          <p:cNvPr id="29" name="Text 26"/>
          <p:cNvSpPr txBox="1"/>
          <p:nvPr/>
        </p:nvSpPr>
        <p:spPr>
          <a:xfrm>
            <a:off x="9833458" y="19659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0" name="Text 27"/>
          <p:cNvSpPr txBox="1"/>
          <p:nvPr/>
        </p:nvSpPr>
        <p:spPr>
          <a:xfrm>
            <a:off x="9833458" y="2651760"/>
            <a:ext cx="1578254" cy="731520"/>
          </a:xfrm>
          <a:prstGeom prst="rect">
            <a:avLst/>
          </a:prstGeom>
          <a:noFill/>
          <a:ln/>
        </p:spPr>
        <p:txBody>
          <a:bodyPr wrap="square" lIns="0" tIns="0" rIns="0" bIns="0" rtlCol="0" anchor="t"/>
          <a:lstStyle/>
          <a:p>
            <a:pPr indent="0" marL="0">
              <a:buNone/>
            </a:pPr>
            <a:r>
              <a:rPr lang="en-US" sz="1400" b="1" dirty="0">
                <a:solidFill>
                  <a:srgbClr val="1E4A87"/>
                </a:solidFill>
                <a:latin typeface="Calibri" pitchFamily="34" charset="0"/>
                <a:ea typeface="Calibri" pitchFamily="34" charset="-122"/>
                <a:cs typeface="Calibri" pitchFamily="34" charset="-120"/>
              </a:rPr>
              <a:t>Route if needed</a:t>
            </a:r>
            <a:endParaRPr lang="en-US" sz="1400" dirty="0"/>
          </a:p>
        </p:txBody>
      </p:sp>
      <p:sp>
        <p:nvSpPr>
          <p:cNvPr id="31" name="Text 28"/>
          <p:cNvSpPr txBox="1"/>
          <p:nvPr/>
        </p:nvSpPr>
        <p:spPr>
          <a:xfrm>
            <a:off x="9833458" y="3429000"/>
            <a:ext cx="1578254" cy="237744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Advance directives and anything clinical route to the provider. Legal questions route to your supervisor.</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TIPS &amp; PITFALLS</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Consents and legal documents</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2 · Patient Registration, Demographics &amp; Caregiver Contacts</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23</a:t>
            </a:r>
            <a:endParaRPr lang="en-US" sz="900" dirty="0"/>
          </a:p>
        </p:txBody>
      </p:sp>
      <p:sp>
        <p:nvSpPr>
          <p:cNvPr id="7" name="Shape 4"/>
          <p:cNvSpPr/>
          <p:nvPr/>
        </p:nvSpPr>
        <p:spPr>
          <a:xfrm>
            <a:off x="548640" y="1691640"/>
            <a:ext cx="5394960" cy="4434840"/>
          </a:xfrm>
          <a:prstGeom prst="roundRect">
            <a:avLst>
              <a:gd name="adj" fmla="val 2062"/>
            </a:avLst>
          </a:prstGeom>
          <a:solidFill>
            <a:srgbClr val="EEF2E8"/>
          </a:solidFill>
          <a:ln w="12700">
            <a:solidFill>
              <a:srgbClr val="EEF2E8"/>
            </a:solidFill>
            <a:prstDash val="solid"/>
          </a:ln>
        </p:spPr>
      </p:sp>
      <p:pic>
        <p:nvPicPr>
          <p:cNvPr id="8" name="Image 1" descr="preencoded.png">    </p:cNvPr>
          <p:cNvPicPr>
            <a:picLocks noChangeAspect="1"/>
          </p:cNvPicPr>
          <p:nvPr/>
        </p:nvPicPr>
        <p:blipFill>
          <a:blip r:embed="rId2"/>
          <a:stretch>
            <a:fillRect/>
          </a:stretch>
        </p:blipFill>
        <p:spPr>
          <a:xfrm>
            <a:off x="822960" y="1965960"/>
            <a:ext cx="411480" cy="411480"/>
          </a:xfrm>
          <a:prstGeom prst="rect">
            <a:avLst/>
          </a:prstGeom>
        </p:spPr>
      </p:pic>
      <p:sp>
        <p:nvSpPr>
          <p:cNvPr id="9" name="Text 5"/>
          <p:cNvSpPr txBox="1"/>
          <p:nvPr/>
        </p:nvSpPr>
        <p:spPr>
          <a:xfrm>
            <a:off x="1371600" y="1920240"/>
            <a:ext cx="4389120" cy="502920"/>
          </a:xfrm>
          <a:prstGeom prst="rect">
            <a:avLst/>
          </a:prstGeom>
          <a:noFill/>
          <a:ln/>
        </p:spPr>
        <p:txBody>
          <a:bodyPr wrap="square" lIns="0" tIns="0" rIns="0" bIns="0" rtlCol="0" anchor="ctr"/>
          <a:lstStyle/>
          <a:p>
            <a:pPr indent="0" marL="0">
              <a:buNone/>
            </a:pPr>
            <a:r>
              <a:rPr lang="en-US" sz="2000" b="1" dirty="0">
                <a:solidFill>
                  <a:srgbClr val="586C47"/>
                </a:solidFill>
                <a:latin typeface="Cambria" pitchFamily="34" charset="0"/>
                <a:ea typeface="Cambria" pitchFamily="34" charset="-122"/>
                <a:cs typeface="Cambria" pitchFamily="34" charset="-120"/>
              </a:rPr>
              <a:t>Do this</a:t>
            </a:r>
            <a:endParaRPr lang="en-US" sz="2000" dirty="0"/>
          </a:p>
        </p:txBody>
      </p:sp>
      <p:sp>
        <p:nvSpPr>
          <p:cNvPr id="10" name="Text 6"/>
          <p:cNvSpPr txBox="1"/>
          <p:nvPr/>
        </p:nvSpPr>
        <p:spPr>
          <a:xfrm>
            <a:off x="822960" y="2606040"/>
            <a:ext cx="4846320" cy="3337560"/>
          </a:xfrm>
          <a:prstGeom prst="rect">
            <a:avLst/>
          </a:prstGeom>
          <a:noFill/>
          <a:ln/>
        </p:spPr>
        <p:txBody>
          <a:bodyPr wrap="square" lIns="0" tIns="0" rIns="0" bIns="0" rtlCol="0" anchor="t"/>
          <a:lstStyle/>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Check expiration dates on ROIs; many expire after one year. Set a follow-up to renew before they lapse.</a:t>
            </a:r>
            <a:endParaRPr lang="en-US" sz="1250" dirty="0"/>
          </a:p>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Record the document date and what it covers in the contact notes: 'HCP dated 2/2025 — Susan primary, Mark alternate.'</a:t>
            </a:r>
            <a:endParaRPr lang="en-US" sz="1250" dirty="0"/>
          </a:p>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When a caregiver is unsure what they have, ask them to bring all documents to the next visit rather than guessing.</a:t>
            </a:r>
            <a:endParaRPr lang="en-US" sz="1250" dirty="0"/>
          </a:p>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Ask before you share: 'I see a release on file naming you — let me confirm it's current.'</a:t>
            </a:r>
            <a:endParaRPr lang="en-US" sz="1250" dirty="0"/>
          </a:p>
        </p:txBody>
      </p:sp>
      <p:sp>
        <p:nvSpPr>
          <p:cNvPr id="11" name="Shape 7"/>
          <p:cNvSpPr/>
          <p:nvPr/>
        </p:nvSpPr>
        <p:spPr>
          <a:xfrm>
            <a:off x="6245352" y="1691640"/>
            <a:ext cx="5394960" cy="4434840"/>
          </a:xfrm>
          <a:prstGeom prst="roundRect">
            <a:avLst>
              <a:gd name="adj" fmla="val 2062"/>
            </a:avLst>
          </a:prstGeom>
          <a:solidFill>
            <a:srgbClr val="FBEDEA"/>
          </a:solidFill>
          <a:ln w="12700">
            <a:solidFill>
              <a:srgbClr val="FBEDEA"/>
            </a:solidFill>
            <a:prstDash val="solid"/>
          </a:ln>
        </p:spPr>
      </p:sp>
      <p:pic>
        <p:nvPicPr>
          <p:cNvPr id="12" name="Image 2" descr="preencoded.png">    </p:cNvPr>
          <p:cNvPicPr>
            <a:picLocks noChangeAspect="1"/>
          </p:cNvPicPr>
          <p:nvPr/>
        </p:nvPicPr>
        <p:blipFill>
          <a:blip r:embed="rId3"/>
          <a:stretch>
            <a:fillRect/>
          </a:stretch>
        </p:blipFill>
        <p:spPr>
          <a:xfrm>
            <a:off x="6519672" y="1965960"/>
            <a:ext cx="411480" cy="411480"/>
          </a:xfrm>
          <a:prstGeom prst="rect">
            <a:avLst/>
          </a:prstGeom>
        </p:spPr>
      </p:pic>
      <p:sp>
        <p:nvSpPr>
          <p:cNvPr id="13" name="Text 8"/>
          <p:cNvSpPr txBox="1"/>
          <p:nvPr/>
        </p:nvSpPr>
        <p:spPr>
          <a:xfrm>
            <a:off x="7068312" y="1920240"/>
            <a:ext cx="4389120" cy="502920"/>
          </a:xfrm>
          <a:prstGeom prst="rect">
            <a:avLst/>
          </a:prstGeom>
          <a:noFill/>
          <a:ln/>
        </p:spPr>
        <p:txBody>
          <a:bodyPr wrap="square" lIns="0" tIns="0" rIns="0" bIns="0" rtlCol="0" anchor="ctr"/>
          <a:lstStyle/>
          <a:p>
            <a:pPr indent="0" marL="0">
              <a:buNone/>
            </a:pPr>
            <a:r>
              <a:rPr lang="en-US" sz="2000" b="1" dirty="0">
                <a:solidFill>
                  <a:srgbClr val="A33A2B"/>
                </a:solidFill>
                <a:latin typeface="Cambria" pitchFamily="34" charset="0"/>
                <a:ea typeface="Cambria" pitchFamily="34" charset="-122"/>
                <a:cs typeface="Cambria" pitchFamily="34" charset="-120"/>
              </a:rPr>
              <a:t>Watch out for</a:t>
            </a:r>
            <a:endParaRPr lang="en-US" sz="2000" dirty="0"/>
          </a:p>
        </p:txBody>
      </p:sp>
      <p:sp>
        <p:nvSpPr>
          <p:cNvPr id="14" name="Text 9"/>
          <p:cNvSpPr txBox="1"/>
          <p:nvPr/>
        </p:nvSpPr>
        <p:spPr>
          <a:xfrm>
            <a:off x="6519672" y="2606040"/>
            <a:ext cx="4846320" cy="3337560"/>
          </a:xfrm>
          <a:prstGeom prst="rect">
            <a:avLst/>
          </a:prstGeom>
          <a:noFill/>
          <a:ln/>
        </p:spPr>
        <p:txBody>
          <a:bodyPr wrap="square" lIns="0" tIns="0" rIns="0" bIns="0" rtlCol="0" anchor="t"/>
          <a:lstStyle/>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Accepting a verbal claim of POA or proxy as authorization.</a:t>
            </a:r>
            <a:endParaRPr lang="en-US" sz="1250" dirty="0"/>
          </a:p>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Filing a healthcare proxy under a generic class instead of Admin → Legal — no one will find it when it's needed.</a:t>
            </a:r>
            <a:endParaRPr lang="en-US" sz="1250" dirty="0"/>
          </a:p>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Assuming a financial POA authorizes medical information sharing.</a:t>
            </a:r>
            <a:endParaRPr lang="en-US" sz="1250" dirty="0"/>
          </a:p>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Ignoring a document's activation conditions or an expired ROI.</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EAF1FA"/>
        </a:solidFill>
      </p:bgPr>
    </p:bg>
    <p:spTree>
      <p:nvGrpSpPr>
        <p:cNvPr id="1" name=""/>
        <p:cNvGrpSpPr/>
        <p:nvPr/>
      </p:nvGrpSpPr>
      <p:grpSpPr>
        <a:xfrm>
          <a:off x="0" y="0"/>
          <a:ext cx="0" cy="0"/>
          <a:chOff x="0" y="0"/>
          <a:chExt cx="0" cy="0"/>
        </a:xfrm>
      </p:grpSpPr>
      <p:sp>
        <p:nvSpPr>
          <p:cNvPr id="2" name="Shape 0"/>
          <p:cNvSpPr/>
          <p:nvPr/>
        </p:nvSpPr>
        <p:spPr>
          <a:xfrm>
            <a:off x="8412480" y="1097280"/>
            <a:ext cx="4572000" cy="4572000"/>
          </a:xfrm>
          <a:prstGeom prst="ellipse">
            <a:avLst/>
          </a:prstGeom>
          <a:solidFill>
            <a:srgbClr val="84ACDF">
              <a:alpha val="35000"/>
            </a:srgbClr>
          </a:solidFill>
          <a:ln w="12700">
            <a:solidFill>
              <a:srgbClr val="84ACDF">
                <a:alpha val="35000"/>
              </a:srgbClr>
            </a:solidFill>
            <a:prstDash val="solid"/>
          </a:ln>
        </p:spPr>
      </p:sp>
      <p:pic>
        <p:nvPicPr>
          <p:cNvPr id="3"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4" name="Text 1"/>
          <p:cNvSpPr txBox="1"/>
          <p:nvPr/>
        </p:nvSpPr>
        <p:spPr>
          <a:xfrm>
            <a:off x="731520" y="2011680"/>
            <a:ext cx="5486400" cy="365760"/>
          </a:xfrm>
          <a:prstGeom prst="rect">
            <a:avLst/>
          </a:prstGeom>
          <a:noFill/>
          <a:ln/>
        </p:spPr>
        <p:txBody>
          <a:bodyPr wrap="square" lIns="0" tIns="0" rIns="0" bIns="0" rtlCol="0" anchor="ctr"/>
          <a:lstStyle/>
          <a:p>
            <a:pPr indent="0" marL="0">
              <a:buNone/>
            </a:pPr>
            <a:r>
              <a:rPr lang="en-US" sz="1400" b="1" spc="300" kern="0" dirty="0">
                <a:solidFill>
                  <a:srgbClr val="586C47"/>
                </a:solidFill>
                <a:latin typeface="Calibri" pitchFamily="34" charset="0"/>
                <a:ea typeface="Calibri" pitchFamily="34" charset="-122"/>
                <a:cs typeface="Calibri" pitchFamily="34" charset="-120"/>
              </a:rPr>
              <a:t>PART 6</a:t>
            </a:r>
            <a:endParaRPr lang="en-US" sz="1400" dirty="0"/>
          </a:p>
        </p:txBody>
      </p:sp>
      <p:sp>
        <p:nvSpPr>
          <p:cNvPr id="5" name="Text 2"/>
          <p:cNvSpPr txBox="1"/>
          <p:nvPr/>
        </p:nvSpPr>
        <p:spPr>
          <a:xfrm>
            <a:off x="731520" y="2423160"/>
            <a:ext cx="7772400" cy="1463040"/>
          </a:xfrm>
          <a:prstGeom prst="rect">
            <a:avLst/>
          </a:prstGeom>
          <a:noFill/>
          <a:ln/>
        </p:spPr>
        <p:txBody>
          <a:bodyPr wrap="square" lIns="0" tIns="0" rIns="0" bIns="0" rtlCol="0" anchor="t"/>
          <a:lstStyle/>
          <a:p>
            <a:pPr indent="0" marL="0">
              <a:buNone/>
            </a:pPr>
            <a:r>
              <a:rPr lang="en-US" sz="4000" b="1" dirty="0">
                <a:solidFill>
                  <a:srgbClr val="1E4A87"/>
                </a:solidFill>
                <a:latin typeface="Cambria" pitchFamily="34" charset="0"/>
                <a:ea typeface="Cambria" pitchFamily="34" charset="-122"/>
                <a:cs typeface="Cambria" pitchFamily="34" charset="-120"/>
              </a:rPr>
              <a:t>Scenario, knowledge checks, and takeaways</a:t>
            </a:r>
            <a:endParaRPr lang="en-US" sz="4000" dirty="0"/>
          </a:p>
        </p:txBody>
      </p:sp>
      <p:sp>
        <p:nvSpPr>
          <p:cNvPr id="6" name="Text 3"/>
          <p:cNvSpPr txBox="1"/>
          <p:nvPr/>
        </p:nvSpPr>
        <p:spPr>
          <a:xfrm>
            <a:off x="731520" y="3977640"/>
            <a:ext cx="7315200" cy="1097280"/>
          </a:xfrm>
          <a:prstGeom prst="rect">
            <a:avLst/>
          </a:prstGeom>
          <a:noFill/>
          <a:ln/>
        </p:spPr>
        <p:txBody>
          <a:bodyPr wrap="square" lIns="0" tIns="0" rIns="0" bIns="0" rtlCol="0" anchor="ctr"/>
          <a:lstStyle/>
          <a:p>
            <a:pPr indent="0" marL="0">
              <a:buNone/>
            </a:pPr>
            <a:r>
              <a:rPr lang="en-US" sz="1600" dirty="0">
                <a:solidFill>
                  <a:srgbClr val="5B6773"/>
                </a:solidFill>
                <a:latin typeface="Calibri" pitchFamily="34" charset="0"/>
                <a:ea typeface="Calibri" pitchFamily="34" charset="-122"/>
                <a:cs typeface="Calibri" pitchFamily="34" charset="-120"/>
              </a:rPr>
              <a:t>Apply the module to a real-world AbleLiving intake.</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PRACTICE SCENARIO</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A new enrollment from a hospital discharge</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2 · Patient Registration, Demographics &amp; Caregiver Contacts</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25</a:t>
            </a:r>
            <a:endParaRPr lang="en-US" sz="900" dirty="0"/>
          </a:p>
        </p:txBody>
      </p:sp>
      <p:sp>
        <p:nvSpPr>
          <p:cNvPr id="7" name="Shape 4"/>
          <p:cNvSpPr/>
          <p:nvPr/>
        </p:nvSpPr>
        <p:spPr>
          <a:xfrm>
            <a:off x="548640" y="1691640"/>
            <a:ext cx="6035040" cy="4434840"/>
          </a:xfrm>
          <a:prstGeom prst="roundRect">
            <a:avLst>
              <a:gd name="adj" fmla="val 2474"/>
            </a:avLst>
          </a:prstGeom>
          <a:solidFill>
            <a:srgbClr val="1E4A87"/>
          </a:solidFill>
          <a:ln w="12700">
            <a:solidFill>
              <a:srgbClr val="1E4A87"/>
            </a:solidFill>
            <a:prstDash val="solid"/>
          </a:ln>
        </p:spPr>
      </p:sp>
      <p:pic>
        <p:nvPicPr>
          <p:cNvPr id="8" name="Image 1" descr="preencoded.png">    </p:cNvPr>
          <p:cNvPicPr>
            <a:picLocks noChangeAspect="1"/>
          </p:cNvPicPr>
          <p:nvPr/>
        </p:nvPicPr>
        <p:blipFill>
          <a:blip r:embed="rId2"/>
          <a:stretch>
            <a:fillRect/>
          </a:stretch>
        </p:blipFill>
        <p:spPr>
          <a:xfrm>
            <a:off x="868680" y="2011680"/>
            <a:ext cx="502920" cy="502920"/>
          </a:xfrm>
          <a:prstGeom prst="rect">
            <a:avLst/>
          </a:prstGeom>
        </p:spPr>
      </p:pic>
      <p:sp>
        <p:nvSpPr>
          <p:cNvPr id="9" name="Text 5"/>
          <p:cNvSpPr txBox="1"/>
          <p:nvPr/>
        </p:nvSpPr>
        <p:spPr>
          <a:xfrm>
            <a:off x="1554480" y="2011680"/>
            <a:ext cx="4572000" cy="502920"/>
          </a:xfrm>
          <a:prstGeom prst="rect">
            <a:avLst/>
          </a:prstGeom>
          <a:noFill/>
          <a:ln/>
        </p:spPr>
        <p:txBody>
          <a:bodyPr wrap="square" lIns="0" tIns="0" rIns="0" bIns="0" rtlCol="0" anchor="ctr"/>
          <a:lstStyle/>
          <a:p>
            <a:pPr indent="0" marL="0">
              <a:buNone/>
            </a:pPr>
            <a:r>
              <a:rPr lang="en-US" sz="1200" b="1" spc="200" kern="0" dirty="0">
                <a:solidFill>
                  <a:srgbClr val="F1C232"/>
                </a:solidFill>
                <a:latin typeface="Calibri" pitchFamily="34" charset="0"/>
                <a:ea typeface="Calibri" pitchFamily="34" charset="-122"/>
                <a:cs typeface="Calibri" pitchFamily="34" charset="-120"/>
              </a:rPr>
              <a:t>THE SITUATION</a:t>
            </a:r>
            <a:endParaRPr lang="en-US" sz="1200" dirty="0"/>
          </a:p>
        </p:txBody>
      </p:sp>
      <p:sp>
        <p:nvSpPr>
          <p:cNvPr id="10" name="Text 6"/>
          <p:cNvSpPr txBox="1"/>
          <p:nvPr/>
        </p:nvSpPr>
        <p:spPr>
          <a:xfrm>
            <a:off x="868680" y="2697480"/>
            <a:ext cx="5394960" cy="320040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A hospital case manager faxes a referral for Robert Alvarez, 79, with a new dementia diagnosis, being discharged to his home where he lives with his wife, Elena, who has early-stage Parkinson's. The fax lists Robert's phone, Elena's cell, and their son Daniel, who lives in Ohio and 'handles everything'. When you search, you find a 'Roberto Alvarez' with the same DOB who was discharged from AbleLiving two years ago after a move.</a:t>
            </a:r>
            <a:endParaRPr lang="en-US" sz="1350" dirty="0"/>
          </a:p>
        </p:txBody>
      </p:sp>
      <p:sp>
        <p:nvSpPr>
          <p:cNvPr id="11" name="Text 7"/>
          <p:cNvSpPr txBox="1"/>
          <p:nvPr/>
        </p:nvSpPr>
        <p:spPr>
          <a:xfrm>
            <a:off x="6949440" y="1737360"/>
            <a:ext cx="4754880" cy="457200"/>
          </a:xfrm>
          <a:prstGeom prst="rect">
            <a:avLst/>
          </a:prstGeom>
          <a:noFill/>
          <a:ln/>
        </p:spPr>
        <p:txBody>
          <a:bodyPr wrap="square" lIns="0" tIns="0" rIns="0" bIns="0" rtlCol="0" anchor="ctr"/>
          <a:lstStyle/>
          <a:p>
            <a:pPr indent="0" marL="0">
              <a:buNone/>
            </a:pPr>
            <a:r>
              <a:rPr lang="en-US" sz="1800" b="1" dirty="0">
                <a:solidFill>
                  <a:srgbClr val="586C47"/>
                </a:solidFill>
                <a:latin typeface="Cambria" pitchFamily="34" charset="0"/>
                <a:ea typeface="Cambria" pitchFamily="34" charset="-122"/>
                <a:cs typeface="Cambria" pitchFamily="34" charset="-120"/>
              </a:rPr>
              <a:t>Pause and think through:</a:t>
            </a:r>
            <a:endParaRPr lang="en-US" sz="1800" dirty="0"/>
          </a:p>
        </p:txBody>
      </p:sp>
      <p:sp>
        <p:nvSpPr>
          <p:cNvPr id="12" name="Shape 8"/>
          <p:cNvSpPr/>
          <p:nvPr/>
        </p:nvSpPr>
        <p:spPr>
          <a:xfrm>
            <a:off x="6949440" y="2377440"/>
            <a:ext cx="365760" cy="365760"/>
          </a:xfrm>
          <a:prstGeom prst="ellipse">
            <a:avLst/>
          </a:prstGeom>
          <a:solidFill>
            <a:srgbClr val="586C47"/>
          </a:solidFill>
          <a:ln w="12700">
            <a:solidFill>
              <a:srgbClr val="586C47"/>
            </a:solidFill>
            <a:prstDash val="solid"/>
          </a:ln>
        </p:spPr>
      </p:sp>
      <p:sp>
        <p:nvSpPr>
          <p:cNvPr id="13" name="Text 9"/>
          <p:cNvSpPr txBox="1"/>
          <p:nvPr/>
        </p:nvSpPr>
        <p:spPr>
          <a:xfrm>
            <a:off x="6949440" y="23774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4" name="Text 10"/>
          <p:cNvSpPr txBox="1"/>
          <p:nvPr/>
        </p:nvSpPr>
        <p:spPr>
          <a:xfrm>
            <a:off x="7452360" y="2331720"/>
            <a:ext cx="4206240" cy="9144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What do you do about the existing 'Roberto Alvarez' chart?</a:t>
            </a:r>
            <a:endParaRPr lang="en-US" sz="1300" dirty="0"/>
          </a:p>
        </p:txBody>
      </p:sp>
      <p:sp>
        <p:nvSpPr>
          <p:cNvPr id="15" name="Shape 11"/>
          <p:cNvSpPr/>
          <p:nvPr/>
        </p:nvSpPr>
        <p:spPr>
          <a:xfrm>
            <a:off x="6949440" y="3337560"/>
            <a:ext cx="365760" cy="365760"/>
          </a:xfrm>
          <a:prstGeom prst="ellipse">
            <a:avLst/>
          </a:prstGeom>
          <a:solidFill>
            <a:srgbClr val="586C47"/>
          </a:solidFill>
          <a:ln w="12700">
            <a:solidFill>
              <a:srgbClr val="586C47"/>
            </a:solidFill>
            <a:prstDash val="solid"/>
          </a:ln>
        </p:spPr>
      </p:sp>
      <p:sp>
        <p:nvSpPr>
          <p:cNvPr id="16" name="Text 12"/>
          <p:cNvSpPr txBox="1"/>
          <p:nvPr/>
        </p:nvSpPr>
        <p:spPr>
          <a:xfrm>
            <a:off x="6949440" y="333756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7" name="Text 13"/>
          <p:cNvSpPr txBox="1"/>
          <p:nvPr/>
        </p:nvSpPr>
        <p:spPr>
          <a:xfrm>
            <a:off x="7452360" y="3291840"/>
            <a:ext cx="4206240" cy="9144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How do you set up contacts for Elena and Daniel, and who is authorized for what?</a:t>
            </a:r>
            <a:endParaRPr lang="en-US" sz="1300" dirty="0"/>
          </a:p>
        </p:txBody>
      </p:sp>
      <p:sp>
        <p:nvSpPr>
          <p:cNvPr id="18" name="Shape 14"/>
          <p:cNvSpPr/>
          <p:nvPr/>
        </p:nvSpPr>
        <p:spPr>
          <a:xfrm>
            <a:off x="6949440" y="4297680"/>
            <a:ext cx="365760" cy="365760"/>
          </a:xfrm>
          <a:prstGeom prst="ellipse">
            <a:avLst/>
          </a:prstGeom>
          <a:solidFill>
            <a:srgbClr val="586C47"/>
          </a:solidFill>
          <a:ln w="12700">
            <a:solidFill>
              <a:srgbClr val="586C47"/>
            </a:solidFill>
            <a:prstDash val="solid"/>
          </a:ln>
        </p:spPr>
      </p:sp>
      <p:sp>
        <p:nvSpPr>
          <p:cNvPr id="19" name="Text 15"/>
          <p:cNvSpPr txBox="1"/>
          <p:nvPr/>
        </p:nvSpPr>
        <p:spPr>
          <a:xfrm>
            <a:off x="6949440" y="429768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6"/>
          <p:cNvSpPr txBox="1"/>
          <p:nvPr/>
        </p:nvSpPr>
        <p:spPr>
          <a:xfrm>
            <a:off x="7452360" y="4251960"/>
            <a:ext cx="4206240" cy="9144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What communication preferences and alerts would you set, and what documents do you need to request?</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SCENARIO — A STRONG APPROACH</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Enrolling Robert Alvarez</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2 · Patient Registration, Demographics &amp; Caregiver Contacts</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26</a:t>
            </a:r>
            <a:endParaRPr lang="en-US" sz="900" dirty="0"/>
          </a:p>
        </p:txBody>
      </p:sp>
      <p:sp>
        <p:nvSpPr>
          <p:cNvPr id="7" name="Shape 4"/>
          <p:cNvSpPr/>
          <p:nvPr/>
        </p:nvSpPr>
        <p:spPr>
          <a:xfrm>
            <a:off x="548640" y="1691640"/>
            <a:ext cx="11091672" cy="670560"/>
          </a:xfrm>
          <a:prstGeom prst="roundRect">
            <a:avLst>
              <a:gd name="adj" fmla="val 10909"/>
            </a:avLst>
          </a:prstGeom>
          <a:solidFill>
            <a:srgbClr val="EEF2E8"/>
          </a:solidFill>
          <a:ln w="9525">
            <a:solidFill>
              <a:srgbClr val="EEF2E8"/>
            </a:solidFill>
            <a:prstDash val="solid"/>
          </a:ln>
        </p:spPr>
      </p:sp>
      <p:pic>
        <p:nvPicPr>
          <p:cNvPr id="8" name="Image 1" descr="preencoded.png">    </p:cNvPr>
          <p:cNvPicPr>
            <a:picLocks noChangeAspect="1"/>
          </p:cNvPicPr>
          <p:nvPr/>
        </p:nvPicPr>
        <p:blipFill>
          <a:blip r:embed="rId2"/>
          <a:stretch>
            <a:fillRect/>
          </a:stretch>
        </p:blipFill>
        <p:spPr>
          <a:xfrm>
            <a:off x="731520" y="1862328"/>
            <a:ext cx="329184" cy="329184"/>
          </a:xfrm>
          <a:prstGeom prst="rect">
            <a:avLst/>
          </a:prstGeom>
        </p:spPr>
      </p:pic>
      <p:sp>
        <p:nvSpPr>
          <p:cNvPr id="9" name="Text 5"/>
          <p:cNvSpPr txBox="1"/>
          <p:nvPr/>
        </p:nvSpPr>
        <p:spPr>
          <a:xfrm>
            <a:off x="1234440" y="1737360"/>
            <a:ext cx="10241280" cy="579120"/>
          </a:xfrm>
          <a:prstGeom prst="rect">
            <a:avLst/>
          </a:prstGeom>
          <a:noFill/>
          <a:ln/>
        </p:spPr>
        <p:txBody>
          <a:bodyPr wrap="square" lIns="0" tIns="0" rIns="0" bIns="0" rtlCol="0" anchor="ctr"/>
          <a:lstStyle/>
          <a:p>
            <a:pPr indent="0" marL="0">
              <a:buNone/>
            </a:pPr>
            <a:r>
              <a:rPr lang="en-US" sz="1150" b="1" dirty="0">
                <a:solidFill>
                  <a:srgbClr val="1E4A87"/>
                </a:solidFill>
                <a:latin typeface="Calibri" pitchFamily="34" charset="0"/>
                <a:ea typeface="Calibri" pitchFamily="34" charset="-122"/>
                <a:cs typeface="Calibri" pitchFamily="34" charset="-120"/>
              </a:rPr>
              <a:t>Don't create a duplicate.  </a:t>
            </a:r>
            <a:pPr indent="0" marL="0">
              <a:buNone/>
            </a:pPr>
            <a:r>
              <a:rPr lang="en-US" sz="1150" dirty="0">
                <a:solidFill>
                  <a:srgbClr val="1F2933"/>
                </a:solidFill>
                <a:latin typeface="Calibri" pitchFamily="34" charset="0"/>
                <a:ea typeface="Calibri" pitchFamily="34" charset="-122"/>
                <a:cs typeface="Calibri" pitchFamily="34" charset="-120"/>
              </a:rPr>
              <a:t>Same DOB, similar name, prior discharge: this is almost certainly the same patient. Confirm with the family and reactivate the existing chart per policy, updating the legal name if needed.</a:t>
            </a:r>
            <a:endParaRPr lang="en-US" sz="1150" dirty="0"/>
          </a:p>
        </p:txBody>
      </p:sp>
      <p:sp>
        <p:nvSpPr>
          <p:cNvPr id="10" name="Shape 6"/>
          <p:cNvSpPr/>
          <p:nvPr/>
        </p:nvSpPr>
        <p:spPr>
          <a:xfrm>
            <a:off x="548640" y="2453640"/>
            <a:ext cx="11091672" cy="670560"/>
          </a:xfrm>
          <a:prstGeom prst="roundRect">
            <a:avLst>
              <a:gd name="adj" fmla="val 10909"/>
            </a:avLst>
          </a:prstGeom>
          <a:solidFill>
            <a:srgbClr val="FFFFFF"/>
          </a:solidFill>
          <a:ln w="9525">
            <a:solidFill>
              <a:srgbClr val="D6DEE8"/>
            </a:solidFill>
            <a:prstDash val="solid"/>
          </a:ln>
        </p:spPr>
      </p:sp>
      <p:pic>
        <p:nvPicPr>
          <p:cNvPr id="11" name="Image 2" descr="preencoded.png">    </p:cNvPr>
          <p:cNvPicPr>
            <a:picLocks noChangeAspect="1"/>
          </p:cNvPicPr>
          <p:nvPr/>
        </p:nvPicPr>
        <p:blipFill>
          <a:blip r:embed="rId3"/>
          <a:stretch>
            <a:fillRect/>
          </a:stretch>
        </p:blipFill>
        <p:spPr>
          <a:xfrm>
            <a:off x="731520" y="2624328"/>
            <a:ext cx="329184" cy="329184"/>
          </a:xfrm>
          <a:prstGeom prst="rect">
            <a:avLst/>
          </a:prstGeom>
        </p:spPr>
      </p:pic>
      <p:sp>
        <p:nvSpPr>
          <p:cNvPr id="12" name="Text 7"/>
          <p:cNvSpPr txBox="1"/>
          <p:nvPr/>
        </p:nvSpPr>
        <p:spPr>
          <a:xfrm>
            <a:off x="1234440" y="2499360"/>
            <a:ext cx="10241280" cy="579120"/>
          </a:xfrm>
          <a:prstGeom prst="rect">
            <a:avLst/>
          </a:prstGeom>
          <a:noFill/>
          <a:ln/>
        </p:spPr>
        <p:txBody>
          <a:bodyPr wrap="square" lIns="0" tIns="0" rIns="0" bIns="0" rtlCol="0" anchor="ctr"/>
          <a:lstStyle/>
          <a:p>
            <a:pPr indent="0" marL="0">
              <a:buNone/>
            </a:pPr>
            <a:r>
              <a:rPr lang="en-US" sz="1150" b="1" dirty="0">
                <a:solidFill>
                  <a:srgbClr val="1E4A87"/>
                </a:solidFill>
                <a:latin typeface="Calibri" pitchFamily="34" charset="0"/>
                <a:ea typeface="Calibri" pitchFamily="34" charset="-122"/>
                <a:cs typeface="Calibri" pitchFamily="34" charset="-120"/>
              </a:rPr>
              <a:t>Add Elena as caregiver and emergency contact.  </a:t>
            </a:r>
            <a:pPr indent="0" marL="0">
              <a:buNone/>
            </a:pPr>
            <a:r>
              <a:rPr lang="en-US" sz="1150" dirty="0">
                <a:solidFill>
                  <a:srgbClr val="1F2933"/>
                </a:solidFill>
                <a:latin typeface="Calibri" pitchFamily="34" charset="0"/>
                <a:ea typeface="Calibri" pitchFamily="34" charset="-122"/>
                <a:cs typeface="Calibri" pitchFamily="34" charset="-120"/>
              </a:rPr>
              <a:t>She lives with him and is the person at visits. Note her own health limits objectively in contact notes as they affect caregiving capacity (e.g., 'cannot drive').</a:t>
            </a:r>
            <a:endParaRPr lang="en-US" sz="1150" dirty="0"/>
          </a:p>
        </p:txBody>
      </p:sp>
      <p:sp>
        <p:nvSpPr>
          <p:cNvPr id="13" name="Shape 8"/>
          <p:cNvSpPr/>
          <p:nvPr/>
        </p:nvSpPr>
        <p:spPr>
          <a:xfrm>
            <a:off x="548640" y="3215640"/>
            <a:ext cx="11091672" cy="670560"/>
          </a:xfrm>
          <a:prstGeom prst="roundRect">
            <a:avLst>
              <a:gd name="adj" fmla="val 10909"/>
            </a:avLst>
          </a:prstGeom>
          <a:solidFill>
            <a:srgbClr val="EEF2E8"/>
          </a:solidFill>
          <a:ln w="9525">
            <a:solidFill>
              <a:srgbClr val="EEF2E8"/>
            </a:solidFill>
            <a:prstDash val="solid"/>
          </a:ln>
        </p:spPr>
      </p:sp>
      <p:pic>
        <p:nvPicPr>
          <p:cNvPr id="14" name="Image 3" descr="preencoded.png">    </p:cNvPr>
          <p:cNvPicPr>
            <a:picLocks noChangeAspect="1"/>
          </p:cNvPicPr>
          <p:nvPr/>
        </p:nvPicPr>
        <p:blipFill>
          <a:blip r:embed="rId4"/>
          <a:stretch>
            <a:fillRect/>
          </a:stretch>
        </p:blipFill>
        <p:spPr>
          <a:xfrm>
            <a:off x="731520" y="3386328"/>
            <a:ext cx="329184" cy="329184"/>
          </a:xfrm>
          <a:prstGeom prst="rect">
            <a:avLst/>
          </a:prstGeom>
        </p:spPr>
      </p:pic>
      <p:sp>
        <p:nvSpPr>
          <p:cNvPr id="15" name="Text 9"/>
          <p:cNvSpPr txBox="1"/>
          <p:nvPr/>
        </p:nvSpPr>
        <p:spPr>
          <a:xfrm>
            <a:off x="1234440" y="3261360"/>
            <a:ext cx="10241280" cy="579120"/>
          </a:xfrm>
          <a:prstGeom prst="rect">
            <a:avLst/>
          </a:prstGeom>
          <a:noFill/>
          <a:ln/>
        </p:spPr>
        <p:txBody>
          <a:bodyPr wrap="square" lIns="0" tIns="0" rIns="0" bIns="0" rtlCol="0" anchor="ctr"/>
          <a:lstStyle/>
          <a:p>
            <a:pPr indent="0" marL="0">
              <a:buNone/>
            </a:pPr>
            <a:r>
              <a:rPr lang="en-US" sz="1150" b="1" dirty="0">
                <a:solidFill>
                  <a:srgbClr val="1E4A87"/>
                </a:solidFill>
                <a:latin typeface="Calibri" pitchFamily="34" charset="0"/>
                <a:ea typeface="Calibri" pitchFamily="34" charset="-122"/>
                <a:cs typeface="Calibri" pitchFamily="34" charset="-120"/>
              </a:rPr>
              <a:t>Add Daniel as a contact, not yet authorized.  </a:t>
            </a:r>
            <a:pPr indent="0" marL="0">
              <a:buNone/>
            </a:pPr>
            <a:r>
              <a:rPr lang="en-US" sz="1150" dirty="0">
                <a:solidFill>
                  <a:srgbClr val="1F2933"/>
                </a:solidFill>
                <a:latin typeface="Calibri" pitchFamily="34" charset="0"/>
                <a:ea typeface="Calibri" pitchFamily="34" charset="-122"/>
                <a:cs typeface="Calibri" pitchFamily="34" charset="-120"/>
              </a:rPr>
              <a:t>Record him as son, out of state, with time zone. 'Handles everything' is not a document. Request the ROI or POA/proxy before sharing PHI with him.</a:t>
            </a:r>
            <a:endParaRPr lang="en-US" sz="1150" dirty="0"/>
          </a:p>
        </p:txBody>
      </p:sp>
      <p:sp>
        <p:nvSpPr>
          <p:cNvPr id="16" name="Shape 10"/>
          <p:cNvSpPr/>
          <p:nvPr/>
        </p:nvSpPr>
        <p:spPr>
          <a:xfrm>
            <a:off x="548640" y="3977640"/>
            <a:ext cx="11091672" cy="670560"/>
          </a:xfrm>
          <a:prstGeom prst="roundRect">
            <a:avLst>
              <a:gd name="adj" fmla="val 10909"/>
            </a:avLst>
          </a:prstGeom>
          <a:solidFill>
            <a:srgbClr val="FFFFFF"/>
          </a:solidFill>
          <a:ln w="9525">
            <a:solidFill>
              <a:srgbClr val="D6DEE8"/>
            </a:solidFill>
            <a:prstDash val="solid"/>
          </a:ln>
        </p:spPr>
      </p:sp>
      <p:pic>
        <p:nvPicPr>
          <p:cNvPr id="17" name="Image 4" descr="preencoded.png">    </p:cNvPr>
          <p:cNvPicPr>
            <a:picLocks noChangeAspect="1"/>
          </p:cNvPicPr>
          <p:nvPr/>
        </p:nvPicPr>
        <p:blipFill>
          <a:blip r:embed="rId5"/>
          <a:stretch>
            <a:fillRect/>
          </a:stretch>
        </p:blipFill>
        <p:spPr>
          <a:xfrm>
            <a:off x="731520" y="4148328"/>
            <a:ext cx="329184" cy="329184"/>
          </a:xfrm>
          <a:prstGeom prst="rect">
            <a:avLst/>
          </a:prstGeom>
        </p:spPr>
      </p:pic>
      <p:sp>
        <p:nvSpPr>
          <p:cNvPr id="18" name="Text 11"/>
          <p:cNvSpPr txBox="1"/>
          <p:nvPr/>
        </p:nvSpPr>
        <p:spPr>
          <a:xfrm>
            <a:off x="1234440" y="4023360"/>
            <a:ext cx="10241280" cy="579120"/>
          </a:xfrm>
          <a:prstGeom prst="rect">
            <a:avLst/>
          </a:prstGeom>
          <a:noFill/>
          <a:ln/>
        </p:spPr>
        <p:txBody>
          <a:bodyPr wrap="square" lIns="0" tIns="0" rIns="0" bIns="0" rtlCol="0" anchor="ctr"/>
          <a:lstStyle/>
          <a:p>
            <a:pPr indent="0" marL="0">
              <a:buNone/>
            </a:pPr>
            <a:r>
              <a:rPr lang="en-US" sz="1150" b="1" dirty="0">
                <a:solidFill>
                  <a:srgbClr val="1E4A87"/>
                </a:solidFill>
                <a:latin typeface="Calibri" pitchFamily="34" charset="0"/>
                <a:ea typeface="Calibri" pitchFamily="34" charset="-122"/>
                <a:cs typeface="Calibri" pitchFamily="34" charset="-120"/>
              </a:rPr>
              <a:t>Set preferences to reach the household reliably.  </a:t>
            </a:r>
            <a:pPr indent="0" marL="0">
              <a:buNone/>
            </a:pPr>
            <a:r>
              <a:rPr lang="en-US" sz="1150" dirty="0">
                <a:solidFill>
                  <a:srgbClr val="1F2933"/>
                </a:solidFill>
                <a:latin typeface="Calibri" pitchFamily="34" charset="0"/>
                <a:ea typeface="Calibri" pitchFamily="34" charset="-122"/>
                <a:cs typeface="Calibri" pitchFamily="34" charset="-120"/>
              </a:rPr>
              <a:t>Primary contact Elena's mobile; consider Daniel as secondary once authorized. Turn automated reminders on for the caregiver and off for the patient.</a:t>
            </a:r>
            <a:endParaRPr lang="en-US" sz="1150" dirty="0"/>
          </a:p>
        </p:txBody>
      </p:sp>
      <p:sp>
        <p:nvSpPr>
          <p:cNvPr id="19" name="Shape 12"/>
          <p:cNvSpPr/>
          <p:nvPr/>
        </p:nvSpPr>
        <p:spPr>
          <a:xfrm>
            <a:off x="548640" y="4739640"/>
            <a:ext cx="11091672" cy="670560"/>
          </a:xfrm>
          <a:prstGeom prst="roundRect">
            <a:avLst>
              <a:gd name="adj" fmla="val 10909"/>
            </a:avLst>
          </a:prstGeom>
          <a:solidFill>
            <a:srgbClr val="EEF2E8"/>
          </a:solidFill>
          <a:ln w="9525">
            <a:solidFill>
              <a:srgbClr val="EEF2E8"/>
            </a:solidFill>
            <a:prstDash val="solid"/>
          </a:ln>
        </p:spPr>
      </p:sp>
      <p:pic>
        <p:nvPicPr>
          <p:cNvPr id="20" name="Image 5" descr="preencoded.png">    </p:cNvPr>
          <p:cNvPicPr>
            <a:picLocks noChangeAspect="1"/>
          </p:cNvPicPr>
          <p:nvPr/>
        </p:nvPicPr>
        <p:blipFill>
          <a:blip r:embed="rId6"/>
          <a:stretch>
            <a:fillRect/>
          </a:stretch>
        </p:blipFill>
        <p:spPr>
          <a:xfrm>
            <a:off x="731520" y="4910328"/>
            <a:ext cx="329184" cy="329184"/>
          </a:xfrm>
          <a:prstGeom prst="rect">
            <a:avLst/>
          </a:prstGeom>
        </p:spPr>
      </p:pic>
      <p:sp>
        <p:nvSpPr>
          <p:cNvPr id="21" name="Text 13"/>
          <p:cNvSpPr txBox="1"/>
          <p:nvPr/>
        </p:nvSpPr>
        <p:spPr>
          <a:xfrm>
            <a:off x="1234440" y="4785360"/>
            <a:ext cx="10241280" cy="579120"/>
          </a:xfrm>
          <a:prstGeom prst="rect">
            <a:avLst/>
          </a:prstGeom>
          <a:noFill/>
          <a:ln/>
        </p:spPr>
        <p:txBody>
          <a:bodyPr wrap="square" lIns="0" tIns="0" rIns="0" bIns="0" rtlCol="0" anchor="ctr"/>
          <a:lstStyle/>
          <a:p>
            <a:pPr indent="0" marL="0">
              <a:buNone/>
            </a:pPr>
            <a:r>
              <a:rPr lang="en-US" sz="1150" b="1" dirty="0">
                <a:solidFill>
                  <a:srgbClr val="1E4A87"/>
                </a:solidFill>
                <a:latin typeface="Calibri" pitchFamily="34" charset="0"/>
                <a:ea typeface="Calibri" pitchFamily="34" charset="-122"/>
                <a:cs typeface="Calibri" pitchFamily="34" charset="-120"/>
              </a:rPr>
              <a:t>Create practice alerts.  </a:t>
            </a:r>
            <a:pPr indent="0" marL="0">
              <a:buNone/>
            </a:pPr>
            <a:r>
              <a:rPr lang="en-US" sz="1150" dirty="0">
                <a:solidFill>
                  <a:srgbClr val="1F2933"/>
                </a:solidFill>
                <a:latin typeface="Calibri" pitchFamily="34" charset="0"/>
                <a:ea typeface="Calibri" pitchFamily="34" charset="-122"/>
                <a:cs typeface="Calibri" pitchFamily="34" charset="-120"/>
              </a:rPr>
              <a:t>'Spouse Elena is primary caregiver and has mobility limits. Son Daniel (OH) — awaiting ROI.' Keep it short and factual.</a:t>
            </a:r>
            <a:endParaRPr lang="en-US" sz="1150" dirty="0"/>
          </a:p>
        </p:txBody>
      </p:sp>
      <p:sp>
        <p:nvSpPr>
          <p:cNvPr id="22" name="Shape 14"/>
          <p:cNvSpPr/>
          <p:nvPr/>
        </p:nvSpPr>
        <p:spPr>
          <a:xfrm>
            <a:off x="548640" y="5501640"/>
            <a:ext cx="11091672" cy="670560"/>
          </a:xfrm>
          <a:prstGeom prst="roundRect">
            <a:avLst>
              <a:gd name="adj" fmla="val 10909"/>
            </a:avLst>
          </a:prstGeom>
          <a:solidFill>
            <a:srgbClr val="FFFFFF"/>
          </a:solidFill>
          <a:ln w="9525">
            <a:solidFill>
              <a:srgbClr val="D6DEE8"/>
            </a:solidFill>
            <a:prstDash val="solid"/>
          </a:ln>
        </p:spPr>
      </p:sp>
      <p:pic>
        <p:nvPicPr>
          <p:cNvPr id="23" name="Image 6" descr="preencoded.png">    </p:cNvPr>
          <p:cNvPicPr>
            <a:picLocks noChangeAspect="1"/>
          </p:cNvPicPr>
          <p:nvPr/>
        </p:nvPicPr>
        <p:blipFill>
          <a:blip r:embed="rId7"/>
          <a:stretch>
            <a:fillRect/>
          </a:stretch>
        </p:blipFill>
        <p:spPr>
          <a:xfrm>
            <a:off x="731520" y="5672328"/>
            <a:ext cx="329184" cy="329184"/>
          </a:xfrm>
          <a:prstGeom prst="rect">
            <a:avLst/>
          </a:prstGeom>
        </p:spPr>
      </p:pic>
      <p:sp>
        <p:nvSpPr>
          <p:cNvPr id="24" name="Text 15"/>
          <p:cNvSpPr txBox="1"/>
          <p:nvPr/>
        </p:nvSpPr>
        <p:spPr>
          <a:xfrm>
            <a:off x="1234440" y="5547360"/>
            <a:ext cx="10241280" cy="579120"/>
          </a:xfrm>
          <a:prstGeom prst="rect">
            <a:avLst/>
          </a:prstGeom>
          <a:noFill/>
          <a:ln/>
        </p:spPr>
        <p:txBody>
          <a:bodyPr wrap="square" lIns="0" tIns="0" rIns="0" bIns="0" rtlCol="0" anchor="ctr"/>
          <a:lstStyle/>
          <a:p>
            <a:pPr indent="0" marL="0">
              <a:buNone/>
            </a:pPr>
            <a:r>
              <a:rPr lang="en-US" sz="1150" b="1" dirty="0">
                <a:solidFill>
                  <a:srgbClr val="1E4A87"/>
                </a:solidFill>
                <a:latin typeface="Calibri" pitchFamily="34" charset="0"/>
                <a:ea typeface="Calibri" pitchFamily="34" charset="-122"/>
                <a:cs typeface="Calibri" pitchFamily="34" charset="-120"/>
              </a:rPr>
              <a:t>Request and file documents.  </a:t>
            </a:r>
            <a:pPr indent="0" marL="0">
              <a:buNone/>
            </a:pPr>
            <a:r>
              <a:rPr lang="en-US" sz="1150" dirty="0">
                <a:solidFill>
                  <a:srgbClr val="1F2933"/>
                </a:solidFill>
                <a:latin typeface="Calibri" pitchFamily="34" charset="0"/>
                <a:ea typeface="Calibri" pitchFamily="34" charset="-122"/>
                <a:cs typeface="Calibri" pitchFamily="34" charset="-120"/>
              </a:rPr>
              <a:t>Consent to treat, program consent, ROI naming Daniel, any advance directive or proxy. Classify correctly and route the advance directive to the provider.</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TEST YOURSELF</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Knowledge check 1</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2 · Patient Registration, Demographics &amp; Caregiver Contacts</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27</a:t>
            </a:r>
            <a:endParaRPr lang="en-US" sz="900" dirty="0"/>
          </a:p>
        </p:txBody>
      </p:sp>
      <p:sp>
        <p:nvSpPr>
          <p:cNvPr id="7" name="Text 4"/>
          <p:cNvSpPr txBox="1"/>
          <p:nvPr/>
        </p:nvSpPr>
        <p:spPr>
          <a:xfrm>
            <a:off x="548640" y="1691640"/>
            <a:ext cx="11064240" cy="1005840"/>
          </a:xfrm>
          <a:prstGeom prst="rect">
            <a:avLst/>
          </a:prstGeom>
          <a:noFill/>
          <a:ln/>
        </p:spPr>
        <p:txBody>
          <a:bodyPr wrap="square" lIns="0" tIns="0" rIns="0" bIns="0" rtlCol="0" anchor="t"/>
          <a:lstStyle/>
          <a:p>
            <a:pPr indent="0" marL="0">
              <a:buNone/>
            </a:pPr>
            <a:r>
              <a:rPr lang="en-US" sz="1800" b="1" dirty="0">
                <a:solidFill>
                  <a:srgbClr val="1F2933"/>
                </a:solidFill>
                <a:latin typeface="Calibri" pitchFamily="34" charset="0"/>
                <a:ea typeface="Calibri" pitchFamily="34" charset="-122"/>
                <a:cs typeface="Calibri" pitchFamily="34" charset="-120"/>
              </a:rPr>
              <a:t>A patient's granddaughter calls and says she is the healthcare proxy. There is no proxy document on file. What should you do?</a:t>
            </a:r>
            <a:endParaRPr lang="en-US" sz="1800" dirty="0"/>
          </a:p>
        </p:txBody>
      </p:sp>
      <p:sp>
        <p:nvSpPr>
          <p:cNvPr id="8" name="Shape 5"/>
          <p:cNvSpPr/>
          <p:nvPr/>
        </p:nvSpPr>
        <p:spPr>
          <a:xfrm>
            <a:off x="548640" y="2880360"/>
            <a:ext cx="11091672" cy="658368"/>
          </a:xfrm>
          <a:prstGeom prst="roundRect">
            <a:avLst>
              <a:gd name="adj" fmla="val 11111"/>
            </a:avLst>
          </a:prstGeom>
          <a:solidFill>
            <a:srgbClr val="FFFFFF"/>
          </a:solidFill>
          <a:ln w="12700">
            <a:solidFill>
              <a:srgbClr val="D6DEE8"/>
            </a:solidFill>
            <a:prstDash val="solid"/>
          </a:ln>
        </p:spPr>
      </p:sp>
      <p:sp>
        <p:nvSpPr>
          <p:cNvPr id="9" name="Shape 6"/>
          <p:cNvSpPr/>
          <p:nvPr/>
        </p:nvSpPr>
        <p:spPr>
          <a:xfrm>
            <a:off x="731520" y="3026664"/>
            <a:ext cx="365760" cy="365760"/>
          </a:xfrm>
          <a:prstGeom prst="ellipse">
            <a:avLst/>
          </a:prstGeom>
          <a:solidFill>
            <a:srgbClr val="EAF1FA"/>
          </a:solidFill>
          <a:ln w="12700">
            <a:solidFill>
              <a:srgbClr val="EAF1FA"/>
            </a:solidFill>
            <a:prstDash val="solid"/>
          </a:ln>
        </p:spPr>
      </p:sp>
      <p:sp>
        <p:nvSpPr>
          <p:cNvPr id="10" name="Text 7"/>
          <p:cNvSpPr txBox="1"/>
          <p:nvPr/>
        </p:nvSpPr>
        <p:spPr>
          <a:xfrm>
            <a:off x="731520" y="3026664"/>
            <a:ext cx="365760" cy="365760"/>
          </a:xfrm>
          <a:prstGeom prst="rect">
            <a:avLst/>
          </a:prstGeom>
          <a:noFill/>
          <a:ln/>
        </p:spPr>
        <p:txBody>
          <a:bodyPr wrap="square" lIns="0" tIns="0" rIns="0" bIns="0" rtlCol="0" anchor="ctr"/>
          <a:lstStyle/>
          <a:p>
            <a:pPr algn="ctr" indent="0" marL="0">
              <a:buNone/>
            </a:pPr>
            <a:r>
              <a:rPr lang="en-US" sz="1200" b="1" dirty="0">
                <a:solidFill>
                  <a:srgbClr val="1E4A87"/>
                </a:solidFill>
                <a:latin typeface="Calibri" pitchFamily="34" charset="0"/>
                <a:ea typeface="Calibri" pitchFamily="34" charset="-122"/>
                <a:cs typeface="Calibri" pitchFamily="34" charset="-120"/>
              </a:rPr>
              <a:t>A</a:t>
            </a:r>
            <a:endParaRPr lang="en-US" sz="1200" dirty="0"/>
          </a:p>
        </p:txBody>
      </p:sp>
      <p:sp>
        <p:nvSpPr>
          <p:cNvPr id="11" name="Text 8"/>
          <p:cNvSpPr txBox="1"/>
          <p:nvPr/>
        </p:nvSpPr>
        <p:spPr>
          <a:xfrm>
            <a:off x="1280160" y="2880360"/>
            <a:ext cx="10149840" cy="658368"/>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Update her contact record to 'authorized' since she is family.</a:t>
            </a:r>
            <a:endParaRPr lang="en-US" sz="1400" dirty="0"/>
          </a:p>
        </p:txBody>
      </p:sp>
      <p:sp>
        <p:nvSpPr>
          <p:cNvPr id="12" name="Shape 9"/>
          <p:cNvSpPr/>
          <p:nvPr/>
        </p:nvSpPr>
        <p:spPr>
          <a:xfrm>
            <a:off x="548640" y="3657600"/>
            <a:ext cx="11091672" cy="658368"/>
          </a:xfrm>
          <a:prstGeom prst="roundRect">
            <a:avLst>
              <a:gd name="adj" fmla="val 11111"/>
            </a:avLst>
          </a:prstGeom>
          <a:solidFill>
            <a:srgbClr val="FFFFFF"/>
          </a:solidFill>
          <a:ln w="12700">
            <a:solidFill>
              <a:srgbClr val="D6DEE8"/>
            </a:solidFill>
            <a:prstDash val="solid"/>
          </a:ln>
        </p:spPr>
      </p:sp>
      <p:sp>
        <p:nvSpPr>
          <p:cNvPr id="13" name="Shape 10"/>
          <p:cNvSpPr/>
          <p:nvPr/>
        </p:nvSpPr>
        <p:spPr>
          <a:xfrm>
            <a:off x="731520" y="3803904"/>
            <a:ext cx="365760" cy="365760"/>
          </a:xfrm>
          <a:prstGeom prst="ellipse">
            <a:avLst/>
          </a:prstGeom>
          <a:solidFill>
            <a:srgbClr val="EAF1FA"/>
          </a:solidFill>
          <a:ln w="12700">
            <a:solidFill>
              <a:srgbClr val="EAF1FA"/>
            </a:solidFill>
            <a:prstDash val="solid"/>
          </a:ln>
        </p:spPr>
      </p:sp>
      <p:sp>
        <p:nvSpPr>
          <p:cNvPr id="14" name="Text 11"/>
          <p:cNvSpPr txBox="1"/>
          <p:nvPr/>
        </p:nvSpPr>
        <p:spPr>
          <a:xfrm>
            <a:off x="731520" y="3803904"/>
            <a:ext cx="365760" cy="365760"/>
          </a:xfrm>
          <a:prstGeom prst="rect">
            <a:avLst/>
          </a:prstGeom>
          <a:noFill/>
          <a:ln/>
        </p:spPr>
        <p:txBody>
          <a:bodyPr wrap="square" lIns="0" tIns="0" rIns="0" bIns="0" rtlCol="0" anchor="ctr"/>
          <a:lstStyle/>
          <a:p>
            <a:pPr algn="ctr" indent="0" marL="0">
              <a:buNone/>
            </a:pPr>
            <a:r>
              <a:rPr lang="en-US" sz="1200" b="1" dirty="0">
                <a:solidFill>
                  <a:srgbClr val="1E4A87"/>
                </a:solidFill>
                <a:latin typeface="Calibri" pitchFamily="34" charset="0"/>
                <a:ea typeface="Calibri" pitchFamily="34" charset="-122"/>
                <a:cs typeface="Calibri" pitchFamily="34" charset="-120"/>
              </a:rPr>
              <a:t>B</a:t>
            </a:r>
            <a:endParaRPr lang="en-US" sz="1200" dirty="0"/>
          </a:p>
        </p:txBody>
      </p:sp>
      <p:sp>
        <p:nvSpPr>
          <p:cNvPr id="15" name="Text 12"/>
          <p:cNvSpPr txBox="1"/>
          <p:nvPr/>
        </p:nvSpPr>
        <p:spPr>
          <a:xfrm>
            <a:off x="1280160" y="3657600"/>
            <a:ext cx="10149840" cy="658368"/>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Share only appointment logistics, ask her to send the proxy document, and update the record when it is received and verified.</a:t>
            </a:r>
            <a:endParaRPr lang="en-US" sz="1400" dirty="0"/>
          </a:p>
        </p:txBody>
      </p:sp>
      <p:sp>
        <p:nvSpPr>
          <p:cNvPr id="16" name="Shape 13"/>
          <p:cNvSpPr/>
          <p:nvPr/>
        </p:nvSpPr>
        <p:spPr>
          <a:xfrm>
            <a:off x="548640" y="4434840"/>
            <a:ext cx="11091672" cy="658368"/>
          </a:xfrm>
          <a:prstGeom prst="roundRect">
            <a:avLst>
              <a:gd name="adj" fmla="val 11111"/>
            </a:avLst>
          </a:prstGeom>
          <a:solidFill>
            <a:srgbClr val="FFFFFF"/>
          </a:solidFill>
          <a:ln w="12700">
            <a:solidFill>
              <a:srgbClr val="D6DEE8"/>
            </a:solidFill>
            <a:prstDash val="solid"/>
          </a:ln>
        </p:spPr>
      </p:sp>
      <p:sp>
        <p:nvSpPr>
          <p:cNvPr id="17" name="Shape 14"/>
          <p:cNvSpPr/>
          <p:nvPr/>
        </p:nvSpPr>
        <p:spPr>
          <a:xfrm>
            <a:off x="731520" y="4581144"/>
            <a:ext cx="365760" cy="365760"/>
          </a:xfrm>
          <a:prstGeom prst="ellipse">
            <a:avLst/>
          </a:prstGeom>
          <a:solidFill>
            <a:srgbClr val="EAF1FA"/>
          </a:solidFill>
          <a:ln w="12700">
            <a:solidFill>
              <a:srgbClr val="EAF1FA"/>
            </a:solidFill>
            <a:prstDash val="solid"/>
          </a:ln>
        </p:spPr>
      </p:sp>
      <p:sp>
        <p:nvSpPr>
          <p:cNvPr id="18" name="Text 15"/>
          <p:cNvSpPr txBox="1"/>
          <p:nvPr/>
        </p:nvSpPr>
        <p:spPr>
          <a:xfrm>
            <a:off x="731520" y="4581144"/>
            <a:ext cx="365760" cy="365760"/>
          </a:xfrm>
          <a:prstGeom prst="rect">
            <a:avLst/>
          </a:prstGeom>
          <a:noFill/>
          <a:ln/>
        </p:spPr>
        <p:txBody>
          <a:bodyPr wrap="square" lIns="0" tIns="0" rIns="0" bIns="0" rtlCol="0" anchor="ctr"/>
          <a:lstStyle/>
          <a:p>
            <a:pPr algn="ctr" indent="0" marL="0">
              <a:buNone/>
            </a:pPr>
            <a:r>
              <a:rPr lang="en-US" sz="1200" b="1" dirty="0">
                <a:solidFill>
                  <a:srgbClr val="1E4A87"/>
                </a:solidFill>
                <a:latin typeface="Calibri" pitchFamily="34" charset="0"/>
                <a:ea typeface="Calibri" pitchFamily="34" charset="-122"/>
                <a:cs typeface="Calibri" pitchFamily="34" charset="-120"/>
              </a:rPr>
              <a:t>C</a:t>
            </a:r>
            <a:endParaRPr lang="en-US" sz="1200" dirty="0"/>
          </a:p>
        </p:txBody>
      </p:sp>
      <p:sp>
        <p:nvSpPr>
          <p:cNvPr id="19" name="Text 16"/>
          <p:cNvSpPr txBox="1"/>
          <p:nvPr/>
        </p:nvSpPr>
        <p:spPr>
          <a:xfrm>
            <a:off x="1280160" y="4434840"/>
            <a:ext cx="10149840" cy="658368"/>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Refuse to speak with her at all.</a:t>
            </a:r>
            <a:endParaRPr lang="en-US" sz="1400" dirty="0"/>
          </a:p>
        </p:txBody>
      </p:sp>
      <p:sp>
        <p:nvSpPr>
          <p:cNvPr id="20" name="Shape 17"/>
          <p:cNvSpPr/>
          <p:nvPr/>
        </p:nvSpPr>
        <p:spPr>
          <a:xfrm>
            <a:off x="548640" y="5212080"/>
            <a:ext cx="11091672" cy="658368"/>
          </a:xfrm>
          <a:prstGeom prst="roundRect">
            <a:avLst>
              <a:gd name="adj" fmla="val 11111"/>
            </a:avLst>
          </a:prstGeom>
          <a:solidFill>
            <a:srgbClr val="FFFFFF"/>
          </a:solidFill>
          <a:ln w="12700">
            <a:solidFill>
              <a:srgbClr val="D6DEE8"/>
            </a:solidFill>
            <a:prstDash val="solid"/>
          </a:ln>
        </p:spPr>
      </p:sp>
      <p:sp>
        <p:nvSpPr>
          <p:cNvPr id="21" name="Shape 18"/>
          <p:cNvSpPr/>
          <p:nvPr/>
        </p:nvSpPr>
        <p:spPr>
          <a:xfrm>
            <a:off x="731520" y="5358384"/>
            <a:ext cx="365760" cy="365760"/>
          </a:xfrm>
          <a:prstGeom prst="ellipse">
            <a:avLst/>
          </a:prstGeom>
          <a:solidFill>
            <a:srgbClr val="EAF1FA"/>
          </a:solidFill>
          <a:ln w="12700">
            <a:solidFill>
              <a:srgbClr val="EAF1FA"/>
            </a:solidFill>
            <a:prstDash val="solid"/>
          </a:ln>
        </p:spPr>
      </p:sp>
      <p:sp>
        <p:nvSpPr>
          <p:cNvPr id="22" name="Text 19"/>
          <p:cNvSpPr txBox="1"/>
          <p:nvPr/>
        </p:nvSpPr>
        <p:spPr>
          <a:xfrm>
            <a:off x="731520" y="5358384"/>
            <a:ext cx="365760" cy="365760"/>
          </a:xfrm>
          <a:prstGeom prst="rect">
            <a:avLst/>
          </a:prstGeom>
          <a:noFill/>
          <a:ln/>
        </p:spPr>
        <p:txBody>
          <a:bodyPr wrap="square" lIns="0" tIns="0" rIns="0" bIns="0" rtlCol="0" anchor="ctr"/>
          <a:lstStyle/>
          <a:p>
            <a:pPr algn="ctr" indent="0" marL="0">
              <a:buNone/>
            </a:pPr>
            <a:r>
              <a:rPr lang="en-US" sz="1200" b="1" dirty="0">
                <a:solidFill>
                  <a:srgbClr val="1E4A87"/>
                </a:solidFill>
                <a:latin typeface="Calibri" pitchFamily="34" charset="0"/>
                <a:ea typeface="Calibri" pitchFamily="34" charset="-122"/>
                <a:cs typeface="Calibri" pitchFamily="34" charset="-120"/>
              </a:rPr>
              <a:t>D</a:t>
            </a:r>
            <a:endParaRPr lang="en-US" sz="1200" dirty="0"/>
          </a:p>
        </p:txBody>
      </p:sp>
      <p:sp>
        <p:nvSpPr>
          <p:cNvPr id="23" name="Text 20"/>
          <p:cNvSpPr txBox="1"/>
          <p:nvPr/>
        </p:nvSpPr>
        <p:spPr>
          <a:xfrm>
            <a:off x="1280160" y="5212080"/>
            <a:ext cx="10149840" cy="658368"/>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Discuss the patient's condition but note in the chart that no document is on file.</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TEST YOURSELF</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Knowledge check 1 — answer</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2 · Patient Registration, Demographics &amp; Caregiver Contacts</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28</a:t>
            </a:r>
            <a:endParaRPr lang="en-US" sz="900" dirty="0"/>
          </a:p>
        </p:txBody>
      </p:sp>
      <p:sp>
        <p:nvSpPr>
          <p:cNvPr id="7" name="Text 4"/>
          <p:cNvSpPr txBox="1"/>
          <p:nvPr/>
        </p:nvSpPr>
        <p:spPr>
          <a:xfrm>
            <a:off x="548640" y="1691640"/>
            <a:ext cx="11064240" cy="822960"/>
          </a:xfrm>
          <a:prstGeom prst="rect">
            <a:avLst/>
          </a:prstGeom>
          <a:noFill/>
          <a:ln/>
        </p:spPr>
        <p:txBody>
          <a:bodyPr wrap="square" lIns="0" tIns="0" rIns="0" bIns="0" rtlCol="0" anchor="t"/>
          <a:lstStyle/>
          <a:p>
            <a:pPr indent="0" marL="0">
              <a:buNone/>
            </a:pPr>
            <a:r>
              <a:rPr lang="en-US" sz="1500" dirty="0">
                <a:solidFill>
                  <a:srgbClr val="5B6773"/>
                </a:solidFill>
                <a:latin typeface="Calibri" pitchFamily="34" charset="0"/>
                <a:ea typeface="Calibri" pitchFamily="34" charset="-122"/>
                <a:cs typeface="Calibri" pitchFamily="34" charset="-120"/>
              </a:rPr>
              <a:t>A patient's granddaughter calls and says she is the healthcare proxy. There is no proxy document on file. What should you do?</a:t>
            </a:r>
            <a:endParaRPr lang="en-US" sz="1500" dirty="0"/>
          </a:p>
        </p:txBody>
      </p:sp>
      <p:sp>
        <p:nvSpPr>
          <p:cNvPr id="8" name="Shape 5"/>
          <p:cNvSpPr/>
          <p:nvPr/>
        </p:nvSpPr>
        <p:spPr>
          <a:xfrm>
            <a:off x="548640" y="2606040"/>
            <a:ext cx="6309360" cy="475488"/>
          </a:xfrm>
          <a:prstGeom prst="roundRect">
            <a:avLst>
              <a:gd name="adj" fmla="val 11538"/>
            </a:avLst>
          </a:prstGeom>
          <a:solidFill>
            <a:srgbClr val="FFFFFF"/>
          </a:solidFill>
          <a:ln w="9525">
            <a:solidFill>
              <a:srgbClr val="D6DEE8"/>
            </a:solidFill>
            <a:prstDash val="solid"/>
          </a:ln>
        </p:spPr>
      </p:sp>
      <p:sp>
        <p:nvSpPr>
          <p:cNvPr id="9" name="Text 6"/>
          <p:cNvSpPr txBox="1"/>
          <p:nvPr/>
        </p:nvSpPr>
        <p:spPr>
          <a:xfrm>
            <a:off x="731520" y="2606040"/>
            <a:ext cx="5943600" cy="475488"/>
          </a:xfrm>
          <a:prstGeom prst="rect">
            <a:avLst/>
          </a:prstGeom>
          <a:noFill/>
          <a:ln/>
        </p:spPr>
        <p:txBody>
          <a:bodyPr wrap="square" lIns="0" tIns="0" rIns="0" bIns="0" rtlCol="0" anchor="ctr"/>
          <a:lstStyle/>
          <a:p>
            <a:pPr indent="0" marL="0">
              <a:buNone/>
            </a:pPr>
            <a:r>
              <a:rPr lang="en-US" sz="1200" dirty="0">
                <a:solidFill>
                  <a:srgbClr val="5B6773"/>
                </a:solidFill>
                <a:latin typeface="Calibri" pitchFamily="34" charset="0"/>
                <a:ea typeface="Calibri" pitchFamily="34" charset="-122"/>
                <a:cs typeface="Calibri" pitchFamily="34" charset="-120"/>
              </a:rPr>
              <a:t>A.  Update her contact record to 'authorized' since she is family.</a:t>
            </a:r>
            <a:endParaRPr lang="en-US" sz="1200" dirty="0"/>
          </a:p>
        </p:txBody>
      </p:sp>
      <p:sp>
        <p:nvSpPr>
          <p:cNvPr id="10" name="Shape 7"/>
          <p:cNvSpPr/>
          <p:nvPr/>
        </p:nvSpPr>
        <p:spPr>
          <a:xfrm>
            <a:off x="548640" y="3172968"/>
            <a:ext cx="6309360" cy="475488"/>
          </a:xfrm>
          <a:prstGeom prst="roundRect">
            <a:avLst>
              <a:gd name="adj" fmla="val 11538"/>
            </a:avLst>
          </a:prstGeom>
          <a:solidFill>
            <a:srgbClr val="EEF2E8"/>
          </a:solidFill>
          <a:ln w="19050">
            <a:solidFill>
              <a:srgbClr val="586C47"/>
            </a:solidFill>
            <a:prstDash val="solid"/>
          </a:ln>
        </p:spPr>
      </p:sp>
      <p:sp>
        <p:nvSpPr>
          <p:cNvPr id="11" name="Text 8"/>
          <p:cNvSpPr txBox="1"/>
          <p:nvPr/>
        </p:nvSpPr>
        <p:spPr>
          <a:xfrm>
            <a:off x="731520" y="3172968"/>
            <a:ext cx="5943600" cy="475488"/>
          </a:xfrm>
          <a:prstGeom prst="rect">
            <a:avLst/>
          </a:prstGeom>
          <a:noFill/>
          <a:ln/>
        </p:spPr>
        <p:txBody>
          <a:bodyPr wrap="square" lIns="0" tIns="0" rIns="0" bIns="0" rtlCol="0" anchor="ctr"/>
          <a:lstStyle/>
          <a:p>
            <a:pPr indent="0" marL="0">
              <a:buNone/>
            </a:pPr>
            <a:r>
              <a:rPr lang="en-US" sz="1200" b="1" dirty="0">
                <a:solidFill>
                  <a:srgbClr val="586C47"/>
                </a:solidFill>
                <a:latin typeface="Calibri" pitchFamily="34" charset="0"/>
                <a:ea typeface="Calibri" pitchFamily="34" charset="-122"/>
                <a:cs typeface="Calibri" pitchFamily="34" charset="-120"/>
              </a:rPr>
              <a:t>B.  Share only appointment logistics, ask her to send the proxy document, and update the record when it is received and verified.</a:t>
            </a:r>
            <a:endParaRPr lang="en-US" sz="1200" dirty="0"/>
          </a:p>
        </p:txBody>
      </p:sp>
      <p:sp>
        <p:nvSpPr>
          <p:cNvPr id="12" name="Shape 9"/>
          <p:cNvSpPr/>
          <p:nvPr/>
        </p:nvSpPr>
        <p:spPr>
          <a:xfrm>
            <a:off x="548640" y="3739896"/>
            <a:ext cx="6309360" cy="475488"/>
          </a:xfrm>
          <a:prstGeom prst="roundRect">
            <a:avLst>
              <a:gd name="adj" fmla="val 11538"/>
            </a:avLst>
          </a:prstGeom>
          <a:solidFill>
            <a:srgbClr val="FFFFFF"/>
          </a:solidFill>
          <a:ln w="9525">
            <a:solidFill>
              <a:srgbClr val="D6DEE8"/>
            </a:solidFill>
            <a:prstDash val="solid"/>
          </a:ln>
        </p:spPr>
      </p:sp>
      <p:sp>
        <p:nvSpPr>
          <p:cNvPr id="13" name="Text 10"/>
          <p:cNvSpPr txBox="1"/>
          <p:nvPr/>
        </p:nvSpPr>
        <p:spPr>
          <a:xfrm>
            <a:off x="731520" y="3739896"/>
            <a:ext cx="5943600" cy="475488"/>
          </a:xfrm>
          <a:prstGeom prst="rect">
            <a:avLst/>
          </a:prstGeom>
          <a:noFill/>
          <a:ln/>
        </p:spPr>
        <p:txBody>
          <a:bodyPr wrap="square" lIns="0" tIns="0" rIns="0" bIns="0" rtlCol="0" anchor="ctr"/>
          <a:lstStyle/>
          <a:p>
            <a:pPr indent="0" marL="0">
              <a:buNone/>
            </a:pPr>
            <a:r>
              <a:rPr lang="en-US" sz="1200" dirty="0">
                <a:solidFill>
                  <a:srgbClr val="5B6773"/>
                </a:solidFill>
                <a:latin typeface="Calibri" pitchFamily="34" charset="0"/>
                <a:ea typeface="Calibri" pitchFamily="34" charset="-122"/>
                <a:cs typeface="Calibri" pitchFamily="34" charset="-120"/>
              </a:rPr>
              <a:t>C.  Refuse to speak with her at all.</a:t>
            </a:r>
            <a:endParaRPr lang="en-US" sz="1200" dirty="0"/>
          </a:p>
        </p:txBody>
      </p:sp>
      <p:sp>
        <p:nvSpPr>
          <p:cNvPr id="14" name="Shape 11"/>
          <p:cNvSpPr/>
          <p:nvPr/>
        </p:nvSpPr>
        <p:spPr>
          <a:xfrm>
            <a:off x="548640" y="4306824"/>
            <a:ext cx="6309360" cy="475488"/>
          </a:xfrm>
          <a:prstGeom prst="roundRect">
            <a:avLst>
              <a:gd name="adj" fmla="val 11538"/>
            </a:avLst>
          </a:prstGeom>
          <a:solidFill>
            <a:srgbClr val="FFFFFF"/>
          </a:solidFill>
          <a:ln w="9525">
            <a:solidFill>
              <a:srgbClr val="D6DEE8"/>
            </a:solidFill>
            <a:prstDash val="solid"/>
          </a:ln>
        </p:spPr>
      </p:sp>
      <p:sp>
        <p:nvSpPr>
          <p:cNvPr id="15" name="Text 12"/>
          <p:cNvSpPr txBox="1"/>
          <p:nvPr/>
        </p:nvSpPr>
        <p:spPr>
          <a:xfrm>
            <a:off x="731520" y="4306824"/>
            <a:ext cx="5943600" cy="475488"/>
          </a:xfrm>
          <a:prstGeom prst="rect">
            <a:avLst/>
          </a:prstGeom>
          <a:noFill/>
          <a:ln/>
        </p:spPr>
        <p:txBody>
          <a:bodyPr wrap="square" lIns="0" tIns="0" rIns="0" bIns="0" rtlCol="0" anchor="ctr"/>
          <a:lstStyle/>
          <a:p>
            <a:pPr indent="0" marL="0">
              <a:buNone/>
            </a:pPr>
            <a:r>
              <a:rPr lang="en-US" sz="1200" dirty="0">
                <a:solidFill>
                  <a:srgbClr val="5B6773"/>
                </a:solidFill>
                <a:latin typeface="Calibri" pitchFamily="34" charset="0"/>
                <a:ea typeface="Calibri" pitchFamily="34" charset="-122"/>
                <a:cs typeface="Calibri" pitchFamily="34" charset="-120"/>
              </a:rPr>
              <a:t>D.  Discuss the patient's condition but note in the chart that no document is on file.</a:t>
            </a:r>
            <a:endParaRPr lang="en-US" sz="1200" dirty="0"/>
          </a:p>
        </p:txBody>
      </p:sp>
      <p:sp>
        <p:nvSpPr>
          <p:cNvPr id="16" name="Shape 13"/>
          <p:cNvSpPr/>
          <p:nvPr/>
        </p:nvSpPr>
        <p:spPr>
          <a:xfrm>
            <a:off x="7223760" y="2606040"/>
            <a:ext cx="4434840" cy="3520440"/>
          </a:xfrm>
          <a:prstGeom prst="roundRect">
            <a:avLst>
              <a:gd name="adj" fmla="val 3117"/>
            </a:avLst>
          </a:prstGeom>
          <a:solidFill>
            <a:srgbClr val="586C47"/>
          </a:solidFill>
          <a:ln w="12700">
            <a:solidFill>
              <a:srgbClr val="586C47"/>
            </a:solidFill>
            <a:prstDash val="solid"/>
          </a:ln>
        </p:spPr>
      </p:sp>
      <p:pic>
        <p:nvPicPr>
          <p:cNvPr id="17" name="Image 1" descr="preencoded.png">    </p:cNvPr>
          <p:cNvPicPr>
            <a:picLocks noChangeAspect="1"/>
          </p:cNvPicPr>
          <p:nvPr/>
        </p:nvPicPr>
        <p:blipFill>
          <a:blip r:embed="rId2"/>
          <a:stretch>
            <a:fillRect/>
          </a:stretch>
        </p:blipFill>
        <p:spPr>
          <a:xfrm>
            <a:off x="7498080" y="2880360"/>
            <a:ext cx="457200" cy="457200"/>
          </a:xfrm>
          <a:prstGeom prst="rect">
            <a:avLst/>
          </a:prstGeom>
        </p:spPr>
      </p:pic>
      <p:sp>
        <p:nvSpPr>
          <p:cNvPr id="18" name="Text 14"/>
          <p:cNvSpPr txBox="1"/>
          <p:nvPr/>
        </p:nvSpPr>
        <p:spPr>
          <a:xfrm>
            <a:off x="8092440" y="2880360"/>
            <a:ext cx="3383280"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Correct answer: B</a:t>
            </a:r>
            <a:endParaRPr lang="en-US" sz="1800" dirty="0"/>
          </a:p>
        </p:txBody>
      </p:sp>
      <p:sp>
        <p:nvSpPr>
          <p:cNvPr id="19" name="Text 15"/>
          <p:cNvSpPr txBox="1"/>
          <p:nvPr/>
        </p:nvSpPr>
        <p:spPr>
          <a:xfrm>
            <a:off x="7498080" y="3520440"/>
            <a:ext cx="3886200" cy="246888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Authorization comes from documentation, not from a statement or family relationship. You can be helpful with logistics while protecting PHI, and you should proactively request the document so the family isn't blocked next time.</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TEST YOURSELF</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Knowledge check 2</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2 · Patient Registration, Demographics &amp; Caregiver Contacts</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29</a:t>
            </a:r>
            <a:endParaRPr lang="en-US" sz="900" dirty="0"/>
          </a:p>
        </p:txBody>
      </p:sp>
      <p:sp>
        <p:nvSpPr>
          <p:cNvPr id="7" name="Text 4"/>
          <p:cNvSpPr txBox="1"/>
          <p:nvPr/>
        </p:nvSpPr>
        <p:spPr>
          <a:xfrm>
            <a:off x="548640" y="1691640"/>
            <a:ext cx="11064240" cy="1005840"/>
          </a:xfrm>
          <a:prstGeom prst="rect">
            <a:avLst/>
          </a:prstGeom>
          <a:noFill/>
          <a:ln/>
        </p:spPr>
        <p:txBody>
          <a:bodyPr wrap="square" lIns="0" tIns="0" rIns="0" bIns="0" rtlCol="0" anchor="t"/>
          <a:lstStyle/>
          <a:p>
            <a:pPr indent="0" marL="0">
              <a:buNone/>
            </a:pPr>
            <a:r>
              <a:rPr lang="en-US" sz="1800" b="1" dirty="0">
                <a:solidFill>
                  <a:srgbClr val="1F2933"/>
                </a:solidFill>
                <a:latin typeface="Calibri" pitchFamily="34" charset="0"/>
                <a:ea typeface="Calibri" pitchFamily="34" charset="-122"/>
                <a:cs typeface="Calibri" pitchFamily="34" charset="-120"/>
              </a:rPr>
              <a:t>Which is the best place to record 'Gate code 4471; knock loudly, patient is hard of hearing'?</a:t>
            </a:r>
            <a:endParaRPr lang="en-US" sz="1800" dirty="0"/>
          </a:p>
        </p:txBody>
      </p:sp>
      <p:sp>
        <p:nvSpPr>
          <p:cNvPr id="8" name="Shape 5"/>
          <p:cNvSpPr/>
          <p:nvPr/>
        </p:nvSpPr>
        <p:spPr>
          <a:xfrm>
            <a:off x="548640" y="2880360"/>
            <a:ext cx="11091672" cy="658368"/>
          </a:xfrm>
          <a:prstGeom prst="roundRect">
            <a:avLst>
              <a:gd name="adj" fmla="val 11111"/>
            </a:avLst>
          </a:prstGeom>
          <a:solidFill>
            <a:srgbClr val="FFFFFF"/>
          </a:solidFill>
          <a:ln w="12700">
            <a:solidFill>
              <a:srgbClr val="D6DEE8"/>
            </a:solidFill>
            <a:prstDash val="solid"/>
          </a:ln>
        </p:spPr>
      </p:sp>
      <p:sp>
        <p:nvSpPr>
          <p:cNvPr id="9" name="Shape 6"/>
          <p:cNvSpPr/>
          <p:nvPr/>
        </p:nvSpPr>
        <p:spPr>
          <a:xfrm>
            <a:off x="731520" y="3026664"/>
            <a:ext cx="365760" cy="365760"/>
          </a:xfrm>
          <a:prstGeom prst="ellipse">
            <a:avLst/>
          </a:prstGeom>
          <a:solidFill>
            <a:srgbClr val="EAF1FA"/>
          </a:solidFill>
          <a:ln w="12700">
            <a:solidFill>
              <a:srgbClr val="EAF1FA"/>
            </a:solidFill>
            <a:prstDash val="solid"/>
          </a:ln>
        </p:spPr>
      </p:sp>
      <p:sp>
        <p:nvSpPr>
          <p:cNvPr id="10" name="Text 7"/>
          <p:cNvSpPr txBox="1"/>
          <p:nvPr/>
        </p:nvSpPr>
        <p:spPr>
          <a:xfrm>
            <a:off x="731520" y="3026664"/>
            <a:ext cx="365760" cy="365760"/>
          </a:xfrm>
          <a:prstGeom prst="rect">
            <a:avLst/>
          </a:prstGeom>
          <a:noFill/>
          <a:ln/>
        </p:spPr>
        <p:txBody>
          <a:bodyPr wrap="square" lIns="0" tIns="0" rIns="0" bIns="0" rtlCol="0" anchor="ctr"/>
          <a:lstStyle/>
          <a:p>
            <a:pPr algn="ctr" indent="0" marL="0">
              <a:buNone/>
            </a:pPr>
            <a:r>
              <a:rPr lang="en-US" sz="1200" b="1" dirty="0">
                <a:solidFill>
                  <a:srgbClr val="1E4A87"/>
                </a:solidFill>
                <a:latin typeface="Calibri" pitchFamily="34" charset="0"/>
                <a:ea typeface="Calibri" pitchFamily="34" charset="-122"/>
                <a:cs typeface="Calibri" pitchFamily="34" charset="-120"/>
              </a:rPr>
              <a:t>A</a:t>
            </a:r>
            <a:endParaRPr lang="en-US" sz="1200" dirty="0"/>
          </a:p>
        </p:txBody>
      </p:sp>
      <p:sp>
        <p:nvSpPr>
          <p:cNvPr id="11" name="Text 8"/>
          <p:cNvSpPr txBox="1"/>
          <p:nvPr/>
        </p:nvSpPr>
        <p:spPr>
          <a:xfrm>
            <a:off x="1280160" y="2880360"/>
            <a:ext cx="10149840" cy="658368"/>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In the patient's address line.</a:t>
            </a:r>
            <a:endParaRPr lang="en-US" sz="1400" dirty="0"/>
          </a:p>
        </p:txBody>
      </p:sp>
      <p:sp>
        <p:nvSpPr>
          <p:cNvPr id="12" name="Shape 9"/>
          <p:cNvSpPr/>
          <p:nvPr/>
        </p:nvSpPr>
        <p:spPr>
          <a:xfrm>
            <a:off x="548640" y="3657600"/>
            <a:ext cx="11091672" cy="658368"/>
          </a:xfrm>
          <a:prstGeom prst="roundRect">
            <a:avLst>
              <a:gd name="adj" fmla="val 11111"/>
            </a:avLst>
          </a:prstGeom>
          <a:solidFill>
            <a:srgbClr val="FFFFFF"/>
          </a:solidFill>
          <a:ln w="12700">
            <a:solidFill>
              <a:srgbClr val="D6DEE8"/>
            </a:solidFill>
            <a:prstDash val="solid"/>
          </a:ln>
        </p:spPr>
      </p:sp>
      <p:sp>
        <p:nvSpPr>
          <p:cNvPr id="13" name="Shape 10"/>
          <p:cNvSpPr/>
          <p:nvPr/>
        </p:nvSpPr>
        <p:spPr>
          <a:xfrm>
            <a:off x="731520" y="3803904"/>
            <a:ext cx="365760" cy="365760"/>
          </a:xfrm>
          <a:prstGeom prst="ellipse">
            <a:avLst/>
          </a:prstGeom>
          <a:solidFill>
            <a:srgbClr val="EAF1FA"/>
          </a:solidFill>
          <a:ln w="12700">
            <a:solidFill>
              <a:srgbClr val="EAF1FA"/>
            </a:solidFill>
            <a:prstDash val="solid"/>
          </a:ln>
        </p:spPr>
      </p:sp>
      <p:sp>
        <p:nvSpPr>
          <p:cNvPr id="14" name="Text 11"/>
          <p:cNvSpPr txBox="1"/>
          <p:nvPr/>
        </p:nvSpPr>
        <p:spPr>
          <a:xfrm>
            <a:off x="731520" y="3803904"/>
            <a:ext cx="365760" cy="365760"/>
          </a:xfrm>
          <a:prstGeom prst="rect">
            <a:avLst/>
          </a:prstGeom>
          <a:noFill/>
          <a:ln/>
        </p:spPr>
        <p:txBody>
          <a:bodyPr wrap="square" lIns="0" tIns="0" rIns="0" bIns="0" rtlCol="0" anchor="ctr"/>
          <a:lstStyle/>
          <a:p>
            <a:pPr algn="ctr" indent="0" marL="0">
              <a:buNone/>
            </a:pPr>
            <a:r>
              <a:rPr lang="en-US" sz="1200" b="1" dirty="0">
                <a:solidFill>
                  <a:srgbClr val="1E4A87"/>
                </a:solidFill>
                <a:latin typeface="Calibri" pitchFamily="34" charset="0"/>
                <a:ea typeface="Calibri" pitchFamily="34" charset="-122"/>
                <a:cs typeface="Calibri" pitchFamily="34" charset="-120"/>
              </a:rPr>
              <a:t>B</a:t>
            </a:r>
            <a:endParaRPr lang="en-US" sz="1200" dirty="0"/>
          </a:p>
        </p:txBody>
      </p:sp>
      <p:sp>
        <p:nvSpPr>
          <p:cNvPr id="15" name="Text 12"/>
          <p:cNvSpPr txBox="1"/>
          <p:nvPr/>
        </p:nvSpPr>
        <p:spPr>
          <a:xfrm>
            <a:off x="1280160" y="3657600"/>
            <a:ext cx="10149840" cy="658368"/>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In a clinical encounter note.</a:t>
            </a:r>
            <a:endParaRPr lang="en-US" sz="1400" dirty="0"/>
          </a:p>
        </p:txBody>
      </p:sp>
      <p:sp>
        <p:nvSpPr>
          <p:cNvPr id="16" name="Shape 13"/>
          <p:cNvSpPr/>
          <p:nvPr/>
        </p:nvSpPr>
        <p:spPr>
          <a:xfrm>
            <a:off x="548640" y="4434840"/>
            <a:ext cx="11091672" cy="658368"/>
          </a:xfrm>
          <a:prstGeom prst="roundRect">
            <a:avLst>
              <a:gd name="adj" fmla="val 11111"/>
            </a:avLst>
          </a:prstGeom>
          <a:solidFill>
            <a:srgbClr val="FFFFFF"/>
          </a:solidFill>
          <a:ln w="12700">
            <a:solidFill>
              <a:srgbClr val="D6DEE8"/>
            </a:solidFill>
            <a:prstDash val="solid"/>
          </a:ln>
        </p:spPr>
      </p:sp>
      <p:sp>
        <p:nvSpPr>
          <p:cNvPr id="17" name="Shape 14"/>
          <p:cNvSpPr/>
          <p:nvPr/>
        </p:nvSpPr>
        <p:spPr>
          <a:xfrm>
            <a:off x="731520" y="4581144"/>
            <a:ext cx="365760" cy="365760"/>
          </a:xfrm>
          <a:prstGeom prst="ellipse">
            <a:avLst/>
          </a:prstGeom>
          <a:solidFill>
            <a:srgbClr val="EAF1FA"/>
          </a:solidFill>
          <a:ln w="12700">
            <a:solidFill>
              <a:srgbClr val="EAF1FA"/>
            </a:solidFill>
            <a:prstDash val="solid"/>
          </a:ln>
        </p:spPr>
      </p:sp>
      <p:sp>
        <p:nvSpPr>
          <p:cNvPr id="18" name="Text 15"/>
          <p:cNvSpPr txBox="1"/>
          <p:nvPr/>
        </p:nvSpPr>
        <p:spPr>
          <a:xfrm>
            <a:off x="731520" y="4581144"/>
            <a:ext cx="365760" cy="365760"/>
          </a:xfrm>
          <a:prstGeom prst="rect">
            <a:avLst/>
          </a:prstGeom>
          <a:noFill/>
          <a:ln/>
        </p:spPr>
        <p:txBody>
          <a:bodyPr wrap="square" lIns="0" tIns="0" rIns="0" bIns="0" rtlCol="0" anchor="ctr"/>
          <a:lstStyle/>
          <a:p>
            <a:pPr algn="ctr" indent="0" marL="0">
              <a:buNone/>
            </a:pPr>
            <a:r>
              <a:rPr lang="en-US" sz="1200" b="1" dirty="0">
                <a:solidFill>
                  <a:srgbClr val="1E4A87"/>
                </a:solidFill>
                <a:latin typeface="Calibri" pitchFamily="34" charset="0"/>
                <a:ea typeface="Calibri" pitchFamily="34" charset="-122"/>
                <a:cs typeface="Calibri" pitchFamily="34" charset="-120"/>
              </a:rPr>
              <a:t>C</a:t>
            </a:r>
            <a:endParaRPr lang="en-US" sz="1200" dirty="0"/>
          </a:p>
        </p:txBody>
      </p:sp>
      <p:sp>
        <p:nvSpPr>
          <p:cNvPr id="19" name="Text 16"/>
          <p:cNvSpPr txBox="1"/>
          <p:nvPr/>
        </p:nvSpPr>
        <p:spPr>
          <a:xfrm>
            <a:off x="1280160" y="4434840"/>
            <a:ext cx="10149840" cy="658368"/>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In the patient alert on Quickview, shown whenever the patient is opened.</a:t>
            </a:r>
            <a:endParaRPr lang="en-US" sz="1400" dirty="0"/>
          </a:p>
        </p:txBody>
      </p:sp>
      <p:sp>
        <p:nvSpPr>
          <p:cNvPr id="20" name="Shape 17"/>
          <p:cNvSpPr/>
          <p:nvPr/>
        </p:nvSpPr>
        <p:spPr>
          <a:xfrm>
            <a:off x="548640" y="5212080"/>
            <a:ext cx="11091672" cy="658368"/>
          </a:xfrm>
          <a:prstGeom prst="roundRect">
            <a:avLst>
              <a:gd name="adj" fmla="val 11111"/>
            </a:avLst>
          </a:prstGeom>
          <a:solidFill>
            <a:srgbClr val="FFFFFF"/>
          </a:solidFill>
          <a:ln w="12700">
            <a:solidFill>
              <a:srgbClr val="D6DEE8"/>
            </a:solidFill>
            <a:prstDash val="solid"/>
          </a:ln>
        </p:spPr>
      </p:sp>
      <p:sp>
        <p:nvSpPr>
          <p:cNvPr id="21" name="Shape 18"/>
          <p:cNvSpPr/>
          <p:nvPr/>
        </p:nvSpPr>
        <p:spPr>
          <a:xfrm>
            <a:off x="731520" y="5358384"/>
            <a:ext cx="365760" cy="365760"/>
          </a:xfrm>
          <a:prstGeom prst="ellipse">
            <a:avLst/>
          </a:prstGeom>
          <a:solidFill>
            <a:srgbClr val="EAF1FA"/>
          </a:solidFill>
          <a:ln w="12700">
            <a:solidFill>
              <a:srgbClr val="EAF1FA"/>
            </a:solidFill>
            <a:prstDash val="solid"/>
          </a:ln>
        </p:spPr>
      </p:sp>
      <p:sp>
        <p:nvSpPr>
          <p:cNvPr id="22" name="Text 19"/>
          <p:cNvSpPr txBox="1"/>
          <p:nvPr/>
        </p:nvSpPr>
        <p:spPr>
          <a:xfrm>
            <a:off x="731520" y="5358384"/>
            <a:ext cx="365760" cy="365760"/>
          </a:xfrm>
          <a:prstGeom prst="rect">
            <a:avLst/>
          </a:prstGeom>
          <a:noFill/>
          <a:ln/>
        </p:spPr>
        <p:txBody>
          <a:bodyPr wrap="square" lIns="0" tIns="0" rIns="0" bIns="0" rtlCol="0" anchor="ctr"/>
          <a:lstStyle/>
          <a:p>
            <a:pPr algn="ctr" indent="0" marL="0">
              <a:buNone/>
            </a:pPr>
            <a:r>
              <a:rPr lang="en-US" sz="1200" b="1" dirty="0">
                <a:solidFill>
                  <a:srgbClr val="1E4A87"/>
                </a:solidFill>
                <a:latin typeface="Calibri" pitchFamily="34" charset="0"/>
                <a:ea typeface="Calibri" pitchFamily="34" charset="-122"/>
                <a:cs typeface="Calibri" pitchFamily="34" charset="-120"/>
              </a:rPr>
              <a:t>D</a:t>
            </a:r>
            <a:endParaRPr lang="en-US" sz="1200" dirty="0"/>
          </a:p>
        </p:txBody>
      </p:sp>
      <p:sp>
        <p:nvSpPr>
          <p:cNvPr id="23" name="Text 20"/>
          <p:cNvSpPr txBox="1"/>
          <p:nvPr/>
        </p:nvSpPr>
        <p:spPr>
          <a:xfrm>
            <a:off x="1280160" y="5212080"/>
            <a:ext cx="10149840" cy="658368"/>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In the caregiver's contact name field.</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TEST YOURSELF</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Knowledge check 2 — answer</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2 · Patient Registration, Demographics &amp; Caregiver Contacts</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30</a:t>
            </a:r>
            <a:endParaRPr lang="en-US" sz="900" dirty="0"/>
          </a:p>
        </p:txBody>
      </p:sp>
      <p:sp>
        <p:nvSpPr>
          <p:cNvPr id="7" name="Text 4"/>
          <p:cNvSpPr txBox="1"/>
          <p:nvPr/>
        </p:nvSpPr>
        <p:spPr>
          <a:xfrm>
            <a:off x="548640" y="1691640"/>
            <a:ext cx="11064240" cy="822960"/>
          </a:xfrm>
          <a:prstGeom prst="rect">
            <a:avLst/>
          </a:prstGeom>
          <a:noFill/>
          <a:ln/>
        </p:spPr>
        <p:txBody>
          <a:bodyPr wrap="square" lIns="0" tIns="0" rIns="0" bIns="0" rtlCol="0" anchor="t"/>
          <a:lstStyle/>
          <a:p>
            <a:pPr indent="0" marL="0">
              <a:buNone/>
            </a:pPr>
            <a:r>
              <a:rPr lang="en-US" sz="1500" dirty="0">
                <a:solidFill>
                  <a:srgbClr val="5B6773"/>
                </a:solidFill>
                <a:latin typeface="Calibri" pitchFamily="34" charset="0"/>
                <a:ea typeface="Calibri" pitchFamily="34" charset="-122"/>
                <a:cs typeface="Calibri" pitchFamily="34" charset="-120"/>
              </a:rPr>
              <a:t>Which is the best place to record 'Gate code 4471; knock loudly, patient is hard of hearing'?</a:t>
            </a:r>
            <a:endParaRPr lang="en-US" sz="1500" dirty="0"/>
          </a:p>
        </p:txBody>
      </p:sp>
      <p:sp>
        <p:nvSpPr>
          <p:cNvPr id="8" name="Shape 5"/>
          <p:cNvSpPr/>
          <p:nvPr/>
        </p:nvSpPr>
        <p:spPr>
          <a:xfrm>
            <a:off x="548640" y="2606040"/>
            <a:ext cx="6309360" cy="475488"/>
          </a:xfrm>
          <a:prstGeom prst="roundRect">
            <a:avLst>
              <a:gd name="adj" fmla="val 11538"/>
            </a:avLst>
          </a:prstGeom>
          <a:solidFill>
            <a:srgbClr val="FFFFFF"/>
          </a:solidFill>
          <a:ln w="9525">
            <a:solidFill>
              <a:srgbClr val="D6DEE8"/>
            </a:solidFill>
            <a:prstDash val="solid"/>
          </a:ln>
        </p:spPr>
      </p:sp>
      <p:sp>
        <p:nvSpPr>
          <p:cNvPr id="9" name="Text 6"/>
          <p:cNvSpPr txBox="1"/>
          <p:nvPr/>
        </p:nvSpPr>
        <p:spPr>
          <a:xfrm>
            <a:off x="731520" y="2606040"/>
            <a:ext cx="5943600" cy="475488"/>
          </a:xfrm>
          <a:prstGeom prst="rect">
            <a:avLst/>
          </a:prstGeom>
          <a:noFill/>
          <a:ln/>
        </p:spPr>
        <p:txBody>
          <a:bodyPr wrap="square" lIns="0" tIns="0" rIns="0" bIns="0" rtlCol="0" anchor="ctr"/>
          <a:lstStyle/>
          <a:p>
            <a:pPr indent="0" marL="0">
              <a:buNone/>
            </a:pPr>
            <a:r>
              <a:rPr lang="en-US" sz="1200" dirty="0">
                <a:solidFill>
                  <a:srgbClr val="5B6773"/>
                </a:solidFill>
                <a:latin typeface="Calibri" pitchFamily="34" charset="0"/>
                <a:ea typeface="Calibri" pitchFamily="34" charset="-122"/>
                <a:cs typeface="Calibri" pitchFamily="34" charset="-120"/>
              </a:rPr>
              <a:t>A.  In the patient's address line.</a:t>
            </a:r>
            <a:endParaRPr lang="en-US" sz="1200" dirty="0"/>
          </a:p>
        </p:txBody>
      </p:sp>
      <p:sp>
        <p:nvSpPr>
          <p:cNvPr id="10" name="Shape 7"/>
          <p:cNvSpPr/>
          <p:nvPr/>
        </p:nvSpPr>
        <p:spPr>
          <a:xfrm>
            <a:off x="548640" y="3172968"/>
            <a:ext cx="6309360" cy="475488"/>
          </a:xfrm>
          <a:prstGeom prst="roundRect">
            <a:avLst>
              <a:gd name="adj" fmla="val 11538"/>
            </a:avLst>
          </a:prstGeom>
          <a:solidFill>
            <a:srgbClr val="FFFFFF"/>
          </a:solidFill>
          <a:ln w="9525">
            <a:solidFill>
              <a:srgbClr val="D6DEE8"/>
            </a:solidFill>
            <a:prstDash val="solid"/>
          </a:ln>
        </p:spPr>
      </p:sp>
      <p:sp>
        <p:nvSpPr>
          <p:cNvPr id="11" name="Text 8"/>
          <p:cNvSpPr txBox="1"/>
          <p:nvPr/>
        </p:nvSpPr>
        <p:spPr>
          <a:xfrm>
            <a:off x="731520" y="3172968"/>
            <a:ext cx="5943600" cy="475488"/>
          </a:xfrm>
          <a:prstGeom prst="rect">
            <a:avLst/>
          </a:prstGeom>
          <a:noFill/>
          <a:ln/>
        </p:spPr>
        <p:txBody>
          <a:bodyPr wrap="square" lIns="0" tIns="0" rIns="0" bIns="0" rtlCol="0" anchor="ctr"/>
          <a:lstStyle/>
          <a:p>
            <a:pPr indent="0" marL="0">
              <a:buNone/>
            </a:pPr>
            <a:r>
              <a:rPr lang="en-US" sz="1200" dirty="0">
                <a:solidFill>
                  <a:srgbClr val="5B6773"/>
                </a:solidFill>
                <a:latin typeface="Calibri" pitchFamily="34" charset="0"/>
                <a:ea typeface="Calibri" pitchFamily="34" charset="-122"/>
                <a:cs typeface="Calibri" pitchFamily="34" charset="-120"/>
              </a:rPr>
              <a:t>B.  In a clinical encounter note.</a:t>
            </a:r>
            <a:endParaRPr lang="en-US" sz="1200" dirty="0"/>
          </a:p>
        </p:txBody>
      </p:sp>
      <p:sp>
        <p:nvSpPr>
          <p:cNvPr id="12" name="Shape 9"/>
          <p:cNvSpPr/>
          <p:nvPr/>
        </p:nvSpPr>
        <p:spPr>
          <a:xfrm>
            <a:off x="548640" y="3739896"/>
            <a:ext cx="6309360" cy="475488"/>
          </a:xfrm>
          <a:prstGeom prst="roundRect">
            <a:avLst>
              <a:gd name="adj" fmla="val 11538"/>
            </a:avLst>
          </a:prstGeom>
          <a:solidFill>
            <a:srgbClr val="EEF2E8"/>
          </a:solidFill>
          <a:ln w="19050">
            <a:solidFill>
              <a:srgbClr val="586C47"/>
            </a:solidFill>
            <a:prstDash val="solid"/>
          </a:ln>
        </p:spPr>
      </p:sp>
      <p:sp>
        <p:nvSpPr>
          <p:cNvPr id="13" name="Text 10"/>
          <p:cNvSpPr txBox="1"/>
          <p:nvPr/>
        </p:nvSpPr>
        <p:spPr>
          <a:xfrm>
            <a:off x="731520" y="3739896"/>
            <a:ext cx="5943600" cy="475488"/>
          </a:xfrm>
          <a:prstGeom prst="rect">
            <a:avLst/>
          </a:prstGeom>
          <a:noFill/>
          <a:ln/>
        </p:spPr>
        <p:txBody>
          <a:bodyPr wrap="square" lIns="0" tIns="0" rIns="0" bIns="0" rtlCol="0" anchor="ctr"/>
          <a:lstStyle/>
          <a:p>
            <a:pPr indent="0" marL="0">
              <a:buNone/>
            </a:pPr>
            <a:r>
              <a:rPr lang="en-US" sz="1200" b="1" dirty="0">
                <a:solidFill>
                  <a:srgbClr val="586C47"/>
                </a:solidFill>
                <a:latin typeface="Calibri" pitchFamily="34" charset="0"/>
                <a:ea typeface="Calibri" pitchFamily="34" charset="-122"/>
                <a:cs typeface="Calibri" pitchFamily="34" charset="-120"/>
              </a:rPr>
              <a:t>C.  In the patient alert on Quickview, shown whenever the patient is opened.</a:t>
            </a:r>
            <a:endParaRPr lang="en-US" sz="1200" dirty="0"/>
          </a:p>
        </p:txBody>
      </p:sp>
      <p:sp>
        <p:nvSpPr>
          <p:cNvPr id="14" name="Shape 11"/>
          <p:cNvSpPr/>
          <p:nvPr/>
        </p:nvSpPr>
        <p:spPr>
          <a:xfrm>
            <a:off x="548640" y="4306824"/>
            <a:ext cx="6309360" cy="475488"/>
          </a:xfrm>
          <a:prstGeom prst="roundRect">
            <a:avLst>
              <a:gd name="adj" fmla="val 11538"/>
            </a:avLst>
          </a:prstGeom>
          <a:solidFill>
            <a:srgbClr val="FFFFFF"/>
          </a:solidFill>
          <a:ln w="9525">
            <a:solidFill>
              <a:srgbClr val="D6DEE8"/>
            </a:solidFill>
            <a:prstDash val="solid"/>
          </a:ln>
        </p:spPr>
      </p:sp>
      <p:sp>
        <p:nvSpPr>
          <p:cNvPr id="15" name="Text 12"/>
          <p:cNvSpPr txBox="1"/>
          <p:nvPr/>
        </p:nvSpPr>
        <p:spPr>
          <a:xfrm>
            <a:off x="731520" y="4306824"/>
            <a:ext cx="5943600" cy="475488"/>
          </a:xfrm>
          <a:prstGeom prst="rect">
            <a:avLst/>
          </a:prstGeom>
          <a:noFill/>
          <a:ln/>
        </p:spPr>
        <p:txBody>
          <a:bodyPr wrap="square" lIns="0" tIns="0" rIns="0" bIns="0" rtlCol="0" anchor="ctr"/>
          <a:lstStyle/>
          <a:p>
            <a:pPr indent="0" marL="0">
              <a:buNone/>
            </a:pPr>
            <a:r>
              <a:rPr lang="en-US" sz="1200" dirty="0">
                <a:solidFill>
                  <a:srgbClr val="5B6773"/>
                </a:solidFill>
                <a:latin typeface="Calibri" pitchFamily="34" charset="0"/>
                <a:ea typeface="Calibri" pitchFamily="34" charset="-122"/>
                <a:cs typeface="Calibri" pitchFamily="34" charset="-120"/>
              </a:rPr>
              <a:t>D.  In the caregiver's contact name field.</a:t>
            </a:r>
            <a:endParaRPr lang="en-US" sz="1200" dirty="0"/>
          </a:p>
        </p:txBody>
      </p:sp>
      <p:sp>
        <p:nvSpPr>
          <p:cNvPr id="16" name="Shape 13"/>
          <p:cNvSpPr/>
          <p:nvPr/>
        </p:nvSpPr>
        <p:spPr>
          <a:xfrm>
            <a:off x="7223760" y="2606040"/>
            <a:ext cx="4434840" cy="3520440"/>
          </a:xfrm>
          <a:prstGeom prst="roundRect">
            <a:avLst>
              <a:gd name="adj" fmla="val 3117"/>
            </a:avLst>
          </a:prstGeom>
          <a:solidFill>
            <a:srgbClr val="586C47"/>
          </a:solidFill>
          <a:ln w="12700">
            <a:solidFill>
              <a:srgbClr val="586C47"/>
            </a:solidFill>
            <a:prstDash val="solid"/>
          </a:ln>
        </p:spPr>
      </p:sp>
      <p:pic>
        <p:nvPicPr>
          <p:cNvPr id="17" name="Image 1" descr="preencoded.png">    </p:cNvPr>
          <p:cNvPicPr>
            <a:picLocks noChangeAspect="1"/>
          </p:cNvPicPr>
          <p:nvPr/>
        </p:nvPicPr>
        <p:blipFill>
          <a:blip r:embed="rId2"/>
          <a:stretch>
            <a:fillRect/>
          </a:stretch>
        </p:blipFill>
        <p:spPr>
          <a:xfrm>
            <a:off x="7498080" y="2880360"/>
            <a:ext cx="457200" cy="457200"/>
          </a:xfrm>
          <a:prstGeom prst="rect">
            <a:avLst/>
          </a:prstGeom>
        </p:spPr>
      </p:pic>
      <p:sp>
        <p:nvSpPr>
          <p:cNvPr id="18" name="Text 14"/>
          <p:cNvSpPr txBox="1"/>
          <p:nvPr/>
        </p:nvSpPr>
        <p:spPr>
          <a:xfrm>
            <a:off x="8092440" y="2880360"/>
            <a:ext cx="3383280"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Correct answer: C</a:t>
            </a:r>
            <a:endParaRPr lang="en-US" sz="1800" dirty="0"/>
          </a:p>
        </p:txBody>
      </p:sp>
      <p:sp>
        <p:nvSpPr>
          <p:cNvPr id="19" name="Text 15"/>
          <p:cNvSpPr txBox="1"/>
          <p:nvPr/>
        </p:nvSpPr>
        <p:spPr>
          <a:xfrm>
            <a:off x="7498080" y="3520440"/>
            <a:ext cx="3886200" cy="246888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Access and safety instructions belong in the Quickview patient alert where every team member sees them. Address lines must stay clean for mapping and claims, and encounter notes aren't visible at a glance.</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TEST YOURSELF</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Knowledge check 3</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2 · Patient Registration, Demographics &amp; Caregiver Contacts</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31</a:t>
            </a:r>
            <a:endParaRPr lang="en-US" sz="900" dirty="0"/>
          </a:p>
        </p:txBody>
      </p:sp>
      <p:sp>
        <p:nvSpPr>
          <p:cNvPr id="7" name="Text 4"/>
          <p:cNvSpPr txBox="1"/>
          <p:nvPr/>
        </p:nvSpPr>
        <p:spPr>
          <a:xfrm>
            <a:off x="548640" y="1691640"/>
            <a:ext cx="11064240" cy="1005840"/>
          </a:xfrm>
          <a:prstGeom prst="rect">
            <a:avLst/>
          </a:prstGeom>
          <a:noFill/>
          <a:ln/>
        </p:spPr>
        <p:txBody>
          <a:bodyPr wrap="square" lIns="0" tIns="0" rIns="0" bIns="0" rtlCol="0" anchor="t"/>
          <a:lstStyle/>
          <a:p>
            <a:pPr indent="0" marL="0">
              <a:buNone/>
            </a:pPr>
            <a:r>
              <a:rPr lang="en-US" sz="1800" b="1" dirty="0">
                <a:solidFill>
                  <a:srgbClr val="1F2933"/>
                </a:solidFill>
                <a:latin typeface="Calibri" pitchFamily="34" charset="0"/>
                <a:ea typeface="Calibri" pitchFamily="34" charset="-122"/>
                <a:cs typeface="Calibri" pitchFamily="34" charset="-120"/>
              </a:rPr>
              <a:t>A caregiver asks to receive text reminders instead of the patient. What must be true before you enable texting for the caregiver?</a:t>
            </a:r>
            <a:endParaRPr lang="en-US" sz="1800" dirty="0"/>
          </a:p>
        </p:txBody>
      </p:sp>
      <p:sp>
        <p:nvSpPr>
          <p:cNvPr id="8" name="Shape 5"/>
          <p:cNvSpPr/>
          <p:nvPr/>
        </p:nvSpPr>
        <p:spPr>
          <a:xfrm>
            <a:off x="548640" y="2880360"/>
            <a:ext cx="11091672" cy="658368"/>
          </a:xfrm>
          <a:prstGeom prst="roundRect">
            <a:avLst>
              <a:gd name="adj" fmla="val 11111"/>
            </a:avLst>
          </a:prstGeom>
          <a:solidFill>
            <a:srgbClr val="FFFFFF"/>
          </a:solidFill>
          <a:ln w="12700">
            <a:solidFill>
              <a:srgbClr val="D6DEE8"/>
            </a:solidFill>
            <a:prstDash val="solid"/>
          </a:ln>
        </p:spPr>
      </p:sp>
      <p:sp>
        <p:nvSpPr>
          <p:cNvPr id="9" name="Shape 6"/>
          <p:cNvSpPr/>
          <p:nvPr/>
        </p:nvSpPr>
        <p:spPr>
          <a:xfrm>
            <a:off x="731520" y="3026664"/>
            <a:ext cx="365760" cy="365760"/>
          </a:xfrm>
          <a:prstGeom prst="ellipse">
            <a:avLst/>
          </a:prstGeom>
          <a:solidFill>
            <a:srgbClr val="EAF1FA"/>
          </a:solidFill>
          <a:ln w="12700">
            <a:solidFill>
              <a:srgbClr val="EAF1FA"/>
            </a:solidFill>
            <a:prstDash val="solid"/>
          </a:ln>
        </p:spPr>
      </p:sp>
      <p:sp>
        <p:nvSpPr>
          <p:cNvPr id="10" name="Text 7"/>
          <p:cNvSpPr txBox="1"/>
          <p:nvPr/>
        </p:nvSpPr>
        <p:spPr>
          <a:xfrm>
            <a:off x="731520" y="3026664"/>
            <a:ext cx="365760" cy="365760"/>
          </a:xfrm>
          <a:prstGeom prst="rect">
            <a:avLst/>
          </a:prstGeom>
          <a:noFill/>
          <a:ln/>
        </p:spPr>
        <p:txBody>
          <a:bodyPr wrap="square" lIns="0" tIns="0" rIns="0" bIns="0" rtlCol="0" anchor="ctr"/>
          <a:lstStyle/>
          <a:p>
            <a:pPr algn="ctr" indent="0" marL="0">
              <a:buNone/>
            </a:pPr>
            <a:r>
              <a:rPr lang="en-US" sz="1200" b="1" dirty="0">
                <a:solidFill>
                  <a:srgbClr val="1E4A87"/>
                </a:solidFill>
                <a:latin typeface="Calibri" pitchFamily="34" charset="0"/>
                <a:ea typeface="Calibri" pitchFamily="34" charset="-122"/>
                <a:cs typeface="Calibri" pitchFamily="34" charset="-120"/>
              </a:rPr>
              <a:t>A</a:t>
            </a:r>
            <a:endParaRPr lang="en-US" sz="1200" dirty="0"/>
          </a:p>
        </p:txBody>
      </p:sp>
      <p:sp>
        <p:nvSpPr>
          <p:cNvPr id="11" name="Text 8"/>
          <p:cNvSpPr txBox="1"/>
          <p:nvPr/>
        </p:nvSpPr>
        <p:spPr>
          <a:xfrm>
            <a:off x="1280160" y="2880360"/>
            <a:ext cx="10149840" cy="658368"/>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The caregiver has a smartphone.</a:t>
            </a:r>
            <a:endParaRPr lang="en-US" sz="1400" dirty="0"/>
          </a:p>
        </p:txBody>
      </p:sp>
      <p:sp>
        <p:nvSpPr>
          <p:cNvPr id="12" name="Shape 9"/>
          <p:cNvSpPr/>
          <p:nvPr/>
        </p:nvSpPr>
        <p:spPr>
          <a:xfrm>
            <a:off x="548640" y="3657600"/>
            <a:ext cx="11091672" cy="658368"/>
          </a:xfrm>
          <a:prstGeom prst="roundRect">
            <a:avLst>
              <a:gd name="adj" fmla="val 11111"/>
            </a:avLst>
          </a:prstGeom>
          <a:solidFill>
            <a:srgbClr val="FFFFFF"/>
          </a:solidFill>
          <a:ln w="12700">
            <a:solidFill>
              <a:srgbClr val="D6DEE8"/>
            </a:solidFill>
            <a:prstDash val="solid"/>
          </a:ln>
        </p:spPr>
      </p:sp>
      <p:sp>
        <p:nvSpPr>
          <p:cNvPr id="13" name="Shape 10"/>
          <p:cNvSpPr/>
          <p:nvPr/>
        </p:nvSpPr>
        <p:spPr>
          <a:xfrm>
            <a:off x="731520" y="3803904"/>
            <a:ext cx="365760" cy="365760"/>
          </a:xfrm>
          <a:prstGeom prst="ellipse">
            <a:avLst/>
          </a:prstGeom>
          <a:solidFill>
            <a:srgbClr val="EAF1FA"/>
          </a:solidFill>
          <a:ln w="12700">
            <a:solidFill>
              <a:srgbClr val="EAF1FA"/>
            </a:solidFill>
            <a:prstDash val="solid"/>
          </a:ln>
        </p:spPr>
      </p:sp>
      <p:sp>
        <p:nvSpPr>
          <p:cNvPr id="14" name="Text 11"/>
          <p:cNvSpPr txBox="1"/>
          <p:nvPr/>
        </p:nvSpPr>
        <p:spPr>
          <a:xfrm>
            <a:off x="731520" y="3803904"/>
            <a:ext cx="365760" cy="365760"/>
          </a:xfrm>
          <a:prstGeom prst="rect">
            <a:avLst/>
          </a:prstGeom>
          <a:noFill/>
          <a:ln/>
        </p:spPr>
        <p:txBody>
          <a:bodyPr wrap="square" lIns="0" tIns="0" rIns="0" bIns="0" rtlCol="0" anchor="ctr"/>
          <a:lstStyle/>
          <a:p>
            <a:pPr algn="ctr" indent="0" marL="0">
              <a:buNone/>
            </a:pPr>
            <a:r>
              <a:rPr lang="en-US" sz="1200" b="1" dirty="0">
                <a:solidFill>
                  <a:srgbClr val="1E4A87"/>
                </a:solidFill>
                <a:latin typeface="Calibri" pitchFamily="34" charset="0"/>
                <a:ea typeface="Calibri" pitchFamily="34" charset="-122"/>
                <a:cs typeface="Calibri" pitchFamily="34" charset="-120"/>
              </a:rPr>
              <a:t>B</a:t>
            </a:r>
            <a:endParaRPr lang="en-US" sz="1200" dirty="0"/>
          </a:p>
        </p:txBody>
      </p:sp>
      <p:sp>
        <p:nvSpPr>
          <p:cNvPr id="15" name="Text 12"/>
          <p:cNvSpPr txBox="1"/>
          <p:nvPr/>
        </p:nvSpPr>
        <p:spPr>
          <a:xfrm>
            <a:off x="1280160" y="3657600"/>
            <a:ext cx="10149840" cy="658368"/>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Text-message consent for that number is documented, and the caregiver is set as the preferred contact.</a:t>
            </a:r>
            <a:endParaRPr lang="en-US" sz="1400" dirty="0"/>
          </a:p>
        </p:txBody>
      </p:sp>
      <p:sp>
        <p:nvSpPr>
          <p:cNvPr id="16" name="Shape 13"/>
          <p:cNvSpPr/>
          <p:nvPr/>
        </p:nvSpPr>
        <p:spPr>
          <a:xfrm>
            <a:off x="548640" y="4434840"/>
            <a:ext cx="11091672" cy="658368"/>
          </a:xfrm>
          <a:prstGeom prst="roundRect">
            <a:avLst>
              <a:gd name="adj" fmla="val 11111"/>
            </a:avLst>
          </a:prstGeom>
          <a:solidFill>
            <a:srgbClr val="FFFFFF"/>
          </a:solidFill>
          <a:ln w="12700">
            <a:solidFill>
              <a:srgbClr val="D6DEE8"/>
            </a:solidFill>
            <a:prstDash val="solid"/>
          </a:ln>
        </p:spPr>
      </p:sp>
      <p:sp>
        <p:nvSpPr>
          <p:cNvPr id="17" name="Shape 14"/>
          <p:cNvSpPr/>
          <p:nvPr/>
        </p:nvSpPr>
        <p:spPr>
          <a:xfrm>
            <a:off x="731520" y="4581144"/>
            <a:ext cx="365760" cy="365760"/>
          </a:xfrm>
          <a:prstGeom prst="ellipse">
            <a:avLst/>
          </a:prstGeom>
          <a:solidFill>
            <a:srgbClr val="EAF1FA"/>
          </a:solidFill>
          <a:ln w="12700">
            <a:solidFill>
              <a:srgbClr val="EAF1FA"/>
            </a:solidFill>
            <a:prstDash val="solid"/>
          </a:ln>
        </p:spPr>
      </p:sp>
      <p:sp>
        <p:nvSpPr>
          <p:cNvPr id="18" name="Text 15"/>
          <p:cNvSpPr txBox="1"/>
          <p:nvPr/>
        </p:nvSpPr>
        <p:spPr>
          <a:xfrm>
            <a:off x="731520" y="4581144"/>
            <a:ext cx="365760" cy="365760"/>
          </a:xfrm>
          <a:prstGeom prst="rect">
            <a:avLst/>
          </a:prstGeom>
          <a:noFill/>
          <a:ln/>
        </p:spPr>
        <p:txBody>
          <a:bodyPr wrap="square" lIns="0" tIns="0" rIns="0" bIns="0" rtlCol="0" anchor="ctr"/>
          <a:lstStyle/>
          <a:p>
            <a:pPr algn="ctr" indent="0" marL="0">
              <a:buNone/>
            </a:pPr>
            <a:r>
              <a:rPr lang="en-US" sz="1200" b="1" dirty="0">
                <a:solidFill>
                  <a:srgbClr val="1E4A87"/>
                </a:solidFill>
                <a:latin typeface="Calibri" pitchFamily="34" charset="0"/>
                <a:ea typeface="Calibri" pitchFamily="34" charset="-122"/>
                <a:cs typeface="Calibri" pitchFamily="34" charset="-120"/>
              </a:rPr>
              <a:t>C</a:t>
            </a:r>
            <a:endParaRPr lang="en-US" sz="1200" dirty="0"/>
          </a:p>
        </p:txBody>
      </p:sp>
      <p:sp>
        <p:nvSpPr>
          <p:cNvPr id="19" name="Text 16"/>
          <p:cNvSpPr txBox="1"/>
          <p:nvPr/>
        </p:nvSpPr>
        <p:spPr>
          <a:xfrm>
            <a:off x="1280160" y="4434840"/>
            <a:ext cx="10149840" cy="658368"/>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The provider approves it.</a:t>
            </a:r>
            <a:endParaRPr lang="en-US" sz="1400" dirty="0"/>
          </a:p>
        </p:txBody>
      </p:sp>
      <p:sp>
        <p:nvSpPr>
          <p:cNvPr id="20" name="Shape 17"/>
          <p:cNvSpPr/>
          <p:nvPr/>
        </p:nvSpPr>
        <p:spPr>
          <a:xfrm>
            <a:off x="548640" y="5212080"/>
            <a:ext cx="11091672" cy="658368"/>
          </a:xfrm>
          <a:prstGeom prst="roundRect">
            <a:avLst>
              <a:gd name="adj" fmla="val 11111"/>
            </a:avLst>
          </a:prstGeom>
          <a:solidFill>
            <a:srgbClr val="FFFFFF"/>
          </a:solidFill>
          <a:ln w="12700">
            <a:solidFill>
              <a:srgbClr val="D6DEE8"/>
            </a:solidFill>
            <a:prstDash val="solid"/>
          </a:ln>
        </p:spPr>
      </p:sp>
      <p:sp>
        <p:nvSpPr>
          <p:cNvPr id="21" name="Shape 18"/>
          <p:cNvSpPr/>
          <p:nvPr/>
        </p:nvSpPr>
        <p:spPr>
          <a:xfrm>
            <a:off x="731520" y="5358384"/>
            <a:ext cx="365760" cy="365760"/>
          </a:xfrm>
          <a:prstGeom prst="ellipse">
            <a:avLst/>
          </a:prstGeom>
          <a:solidFill>
            <a:srgbClr val="EAF1FA"/>
          </a:solidFill>
          <a:ln w="12700">
            <a:solidFill>
              <a:srgbClr val="EAF1FA"/>
            </a:solidFill>
            <a:prstDash val="solid"/>
          </a:ln>
        </p:spPr>
      </p:sp>
      <p:sp>
        <p:nvSpPr>
          <p:cNvPr id="22" name="Text 19"/>
          <p:cNvSpPr txBox="1"/>
          <p:nvPr/>
        </p:nvSpPr>
        <p:spPr>
          <a:xfrm>
            <a:off x="731520" y="5358384"/>
            <a:ext cx="365760" cy="365760"/>
          </a:xfrm>
          <a:prstGeom prst="rect">
            <a:avLst/>
          </a:prstGeom>
          <a:noFill/>
          <a:ln/>
        </p:spPr>
        <p:txBody>
          <a:bodyPr wrap="square" lIns="0" tIns="0" rIns="0" bIns="0" rtlCol="0" anchor="ctr"/>
          <a:lstStyle/>
          <a:p>
            <a:pPr algn="ctr" indent="0" marL="0">
              <a:buNone/>
            </a:pPr>
            <a:r>
              <a:rPr lang="en-US" sz="1200" b="1" dirty="0">
                <a:solidFill>
                  <a:srgbClr val="1E4A87"/>
                </a:solidFill>
                <a:latin typeface="Calibri" pitchFamily="34" charset="0"/>
                <a:ea typeface="Calibri" pitchFamily="34" charset="-122"/>
                <a:cs typeface="Calibri" pitchFamily="34" charset="-120"/>
              </a:rPr>
              <a:t>D</a:t>
            </a:r>
            <a:endParaRPr lang="en-US" sz="1200" dirty="0"/>
          </a:p>
        </p:txBody>
      </p:sp>
      <p:sp>
        <p:nvSpPr>
          <p:cNvPr id="23" name="Text 20"/>
          <p:cNvSpPr txBox="1"/>
          <p:nvPr/>
        </p:nvSpPr>
        <p:spPr>
          <a:xfrm>
            <a:off x="1280160" y="5212080"/>
            <a:ext cx="10149840" cy="658368"/>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The patient has opted out of all communication.</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TEST YOURSELF</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Knowledge check 3 — answer</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2 · Patient Registration, Demographics &amp; Caregiver Contacts</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32</a:t>
            </a:r>
            <a:endParaRPr lang="en-US" sz="900" dirty="0"/>
          </a:p>
        </p:txBody>
      </p:sp>
      <p:sp>
        <p:nvSpPr>
          <p:cNvPr id="7" name="Text 4"/>
          <p:cNvSpPr txBox="1"/>
          <p:nvPr/>
        </p:nvSpPr>
        <p:spPr>
          <a:xfrm>
            <a:off x="548640" y="1691640"/>
            <a:ext cx="11064240" cy="822960"/>
          </a:xfrm>
          <a:prstGeom prst="rect">
            <a:avLst/>
          </a:prstGeom>
          <a:noFill/>
          <a:ln/>
        </p:spPr>
        <p:txBody>
          <a:bodyPr wrap="square" lIns="0" tIns="0" rIns="0" bIns="0" rtlCol="0" anchor="t"/>
          <a:lstStyle/>
          <a:p>
            <a:pPr indent="0" marL="0">
              <a:buNone/>
            </a:pPr>
            <a:r>
              <a:rPr lang="en-US" sz="1500" dirty="0">
                <a:solidFill>
                  <a:srgbClr val="5B6773"/>
                </a:solidFill>
                <a:latin typeface="Calibri" pitchFamily="34" charset="0"/>
                <a:ea typeface="Calibri" pitchFamily="34" charset="-122"/>
                <a:cs typeface="Calibri" pitchFamily="34" charset="-120"/>
              </a:rPr>
              <a:t>A caregiver asks to receive text reminders instead of the patient. What must be true before you enable texting for the caregiver?</a:t>
            </a:r>
            <a:endParaRPr lang="en-US" sz="1500" dirty="0"/>
          </a:p>
        </p:txBody>
      </p:sp>
      <p:sp>
        <p:nvSpPr>
          <p:cNvPr id="8" name="Shape 5"/>
          <p:cNvSpPr/>
          <p:nvPr/>
        </p:nvSpPr>
        <p:spPr>
          <a:xfrm>
            <a:off x="548640" y="2606040"/>
            <a:ext cx="6309360" cy="475488"/>
          </a:xfrm>
          <a:prstGeom prst="roundRect">
            <a:avLst>
              <a:gd name="adj" fmla="val 11538"/>
            </a:avLst>
          </a:prstGeom>
          <a:solidFill>
            <a:srgbClr val="FFFFFF"/>
          </a:solidFill>
          <a:ln w="9525">
            <a:solidFill>
              <a:srgbClr val="D6DEE8"/>
            </a:solidFill>
            <a:prstDash val="solid"/>
          </a:ln>
        </p:spPr>
      </p:sp>
      <p:sp>
        <p:nvSpPr>
          <p:cNvPr id="9" name="Text 6"/>
          <p:cNvSpPr txBox="1"/>
          <p:nvPr/>
        </p:nvSpPr>
        <p:spPr>
          <a:xfrm>
            <a:off x="731520" y="2606040"/>
            <a:ext cx="5943600" cy="475488"/>
          </a:xfrm>
          <a:prstGeom prst="rect">
            <a:avLst/>
          </a:prstGeom>
          <a:noFill/>
          <a:ln/>
        </p:spPr>
        <p:txBody>
          <a:bodyPr wrap="square" lIns="0" tIns="0" rIns="0" bIns="0" rtlCol="0" anchor="ctr"/>
          <a:lstStyle/>
          <a:p>
            <a:pPr indent="0" marL="0">
              <a:buNone/>
            </a:pPr>
            <a:r>
              <a:rPr lang="en-US" sz="1200" dirty="0">
                <a:solidFill>
                  <a:srgbClr val="5B6773"/>
                </a:solidFill>
                <a:latin typeface="Calibri" pitchFamily="34" charset="0"/>
                <a:ea typeface="Calibri" pitchFamily="34" charset="-122"/>
                <a:cs typeface="Calibri" pitchFamily="34" charset="-120"/>
              </a:rPr>
              <a:t>A.  The caregiver has a smartphone.</a:t>
            </a:r>
            <a:endParaRPr lang="en-US" sz="1200" dirty="0"/>
          </a:p>
        </p:txBody>
      </p:sp>
      <p:sp>
        <p:nvSpPr>
          <p:cNvPr id="10" name="Shape 7"/>
          <p:cNvSpPr/>
          <p:nvPr/>
        </p:nvSpPr>
        <p:spPr>
          <a:xfrm>
            <a:off x="548640" y="3172968"/>
            <a:ext cx="6309360" cy="475488"/>
          </a:xfrm>
          <a:prstGeom prst="roundRect">
            <a:avLst>
              <a:gd name="adj" fmla="val 11538"/>
            </a:avLst>
          </a:prstGeom>
          <a:solidFill>
            <a:srgbClr val="EEF2E8"/>
          </a:solidFill>
          <a:ln w="19050">
            <a:solidFill>
              <a:srgbClr val="586C47"/>
            </a:solidFill>
            <a:prstDash val="solid"/>
          </a:ln>
        </p:spPr>
      </p:sp>
      <p:sp>
        <p:nvSpPr>
          <p:cNvPr id="11" name="Text 8"/>
          <p:cNvSpPr txBox="1"/>
          <p:nvPr/>
        </p:nvSpPr>
        <p:spPr>
          <a:xfrm>
            <a:off x="731520" y="3172968"/>
            <a:ext cx="5943600" cy="475488"/>
          </a:xfrm>
          <a:prstGeom prst="rect">
            <a:avLst/>
          </a:prstGeom>
          <a:noFill/>
          <a:ln/>
        </p:spPr>
        <p:txBody>
          <a:bodyPr wrap="square" lIns="0" tIns="0" rIns="0" bIns="0" rtlCol="0" anchor="ctr"/>
          <a:lstStyle/>
          <a:p>
            <a:pPr indent="0" marL="0">
              <a:buNone/>
            </a:pPr>
            <a:r>
              <a:rPr lang="en-US" sz="1200" b="1" dirty="0">
                <a:solidFill>
                  <a:srgbClr val="586C47"/>
                </a:solidFill>
                <a:latin typeface="Calibri" pitchFamily="34" charset="0"/>
                <a:ea typeface="Calibri" pitchFamily="34" charset="-122"/>
                <a:cs typeface="Calibri" pitchFamily="34" charset="-120"/>
              </a:rPr>
              <a:t>B.  Text-message consent for that number is documented, and the caregiver is set as the preferred contact.</a:t>
            </a:r>
            <a:endParaRPr lang="en-US" sz="1200" dirty="0"/>
          </a:p>
        </p:txBody>
      </p:sp>
      <p:sp>
        <p:nvSpPr>
          <p:cNvPr id="12" name="Shape 9"/>
          <p:cNvSpPr/>
          <p:nvPr/>
        </p:nvSpPr>
        <p:spPr>
          <a:xfrm>
            <a:off x="548640" y="3739896"/>
            <a:ext cx="6309360" cy="475488"/>
          </a:xfrm>
          <a:prstGeom prst="roundRect">
            <a:avLst>
              <a:gd name="adj" fmla="val 11538"/>
            </a:avLst>
          </a:prstGeom>
          <a:solidFill>
            <a:srgbClr val="FFFFFF"/>
          </a:solidFill>
          <a:ln w="9525">
            <a:solidFill>
              <a:srgbClr val="D6DEE8"/>
            </a:solidFill>
            <a:prstDash val="solid"/>
          </a:ln>
        </p:spPr>
      </p:sp>
      <p:sp>
        <p:nvSpPr>
          <p:cNvPr id="13" name="Text 10"/>
          <p:cNvSpPr txBox="1"/>
          <p:nvPr/>
        </p:nvSpPr>
        <p:spPr>
          <a:xfrm>
            <a:off x="731520" y="3739896"/>
            <a:ext cx="5943600" cy="475488"/>
          </a:xfrm>
          <a:prstGeom prst="rect">
            <a:avLst/>
          </a:prstGeom>
          <a:noFill/>
          <a:ln/>
        </p:spPr>
        <p:txBody>
          <a:bodyPr wrap="square" lIns="0" tIns="0" rIns="0" bIns="0" rtlCol="0" anchor="ctr"/>
          <a:lstStyle/>
          <a:p>
            <a:pPr indent="0" marL="0">
              <a:buNone/>
            </a:pPr>
            <a:r>
              <a:rPr lang="en-US" sz="1200" dirty="0">
                <a:solidFill>
                  <a:srgbClr val="5B6773"/>
                </a:solidFill>
                <a:latin typeface="Calibri" pitchFamily="34" charset="0"/>
                <a:ea typeface="Calibri" pitchFamily="34" charset="-122"/>
                <a:cs typeface="Calibri" pitchFamily="34" charset="-120"/>
              </a:rPr>
              <a:t>C.  The provider approves it.</a:t>
            </a:r>
            <a:endParaRPr lang="en-US" sz="1200" dirty="0"/>
          </a:p>
        </p:txBody>
      </p:sp>
      <p:sp>
        <p:nvSpPr>
          <p:cNvPr id="14" name="Shape 11"/>
          <p:cNvSpPr/>
          <p:nvPr/>
        </p:nvSpPr>
        <p:spPr>
          <a:xfrm>
            <a:off x="548640" y="4306824"/>
            <a:ext cx="6309360" cy="475488"/>
          </a:xfrm>
          <a:prstGeom prst="roundRect">
            <a:avLst>
              <a:gd name="adj" fmla="val 11538"/>
            </a:avLst>
          </a:prstGeom>
          <a:solidFill>
            <a:srgbClr val="FFFFFF"/>
          </a:solidFill>
          <a:ln w="9525">
            <a:solidFill>
              <a:srgbClr val="D6DEE8"/>
            </a:solidFill>
            <a:prstDash val="solid"/>
          </a:ln>
        </p:spPr>
      </p:sp>
      <p:sp>
        <p:nvSpPr>
          <p:cNvPr id="15" name="Text 12"/>
          <p:cNvSpPr txBox="1"/>
          <p:nvPr/>
        </p:nvSpPr>
        <p:spPr>
          <a:xfrm>
            <a:off x="731520" y="4306824"/>
            <a:ext cx="5943600" cy="475488"/>
          </a:xfrm>
          <a:prstGeom prst="rect">
            <a:avLst/>
          </a:prstGeom>
          <a:noFill/>
          <a:ln/>
        </p:spPr>
        <p:txBody>
          <a:bodyPr wrap="square" lIns="0" tIns="0" rIns="0" bIns="0" rtlCol="0" anchor="ctr"/>
          <a:lstStyle/>
          <a:p>
            <a:pPr indent="0" marL="0">
              <a:buNone/>
            </a:pPr>
            <a:r>
              <a:rPr lang="en-US" sz="1200" dirty="0">
                <a:solidFill>
                  <a:srgbClr val="5B6773"/>
                </a:solidFill>
                <a:latin typeface="Calibri" pitchFamily="34" charset="0"/>
                <a:ea typeface="Calibri" pitchFamily="34" charset="-122"/>
                <a:cs typeface="Calibri" pitchFamily="34" charset="-120"/>
              </a:rPr>
              <a:t>D.  The patient has opted out of all communication.</a:t>
            </a:r>
            <a:endParaRPr lang="en-US" sz="1200" dirty="0"/>
          </a:p>
        </p:txBody>
      </p:sp>
      <p:sp>
        <p:nvSpPr>
          <p:cNvPr id="16" name="Shape 13"/>
          <p:cNvSpPr/>
          <p:nvPr/>
        </p:nvSpPr>
        <p:spPr>
          <a:xfrm>
            <a:off x="7223760" y="2606040"/>
            <a:ext cx="4434840" cy="3520440"/>
          </a:xfrm>
          <a:prstGeom prst="roundRect">
            <a:avLst>
              <a:gd name="adj" fmla="val 3117"/>
            </a:avLst>
          </a:prstGeom>
          <a:solidFill>
            <a:srgbClr val="586C47"/>
          </a:solidFill>
          <a:ln w="12700">
            <a:solidFill>
              <a:srgbClr val="586C47"/>
            </a:solidFill>
            <a:prstDash val="solid"/>
          </a:ln>
        </p:spPr>
      </p:sp>
      <p:pic>
        <p:nvPicPr>
          <p:cNvPr id="17" name="Image 1" descr="preencoded.png">    </p:cNvPr>
          <p:cNvPicPr>
            <a:picLocks noChangeAspect="1"/>
          </p:cNvPicPr>
          <p:nvPr/>
        </p:nvPicPr>
        <p:blipFill>
          <a:blip r:embed="rId2"/>
          <a:stretch>
            <a:fillRect/>
          </a:stretch>
        </p:blipFill>
        <p:spPr>
          <a:xfrm>
            <a:off x="7498080" y="2880360"/>
            <a:ext cx="457200" cy="457200"/>
          </a:xfrm>
          <a:prstGeom prst="rect">
            <a:avLst/>
          </a:prstGeom>
        </p:spPr>
      </p:pic>
      <p:sp>
        <p:nvSpPr>
          <p:cNvPr id="18" name="Text 14"/>
          <p:cNvSpPr txBox="1"/>
          <p:nvPr/>
        </p:nvSpPr>
        <p:spPr>
          <a:xfrm>
            <a:off x="8092440" y="2880360"/>
            <a:ext cx="3383280"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Correct answer: B</a:t>
            </a:r>
            <a:endParaRPr lang="en-US" sz="1800" dirty="0"/>
          </a:p>
        </p:txBody>
      </p:sp>
      <p:sp>
        <p:nvSpPr>
          <p:cNvPr id="19" name="Text 15"/>
          <p:cNvSpPr txBox="1"/>
          <p:nvPr/>
        </p:nvSpPr>
        <p:spPr>
          <a:xfrm>
            <a:off x="7498080" y="3520440"/>
            <a:ext cx="3886200" cy="246888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Automated texting requires documented consent for the specific number being texted. Set the caregiver's number with text consent dated in Privacy &amp; Communication; the patient's own reminders can be turned off without opting out of all communication.</a:t>
            </a:r>
            <a:endParaRPr lang="en-US" sz="12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MODULE SUMMARY</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Key takeaways</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2 · Patient Registration, Demographics &amp; Caregiver Contacts</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33</a:t>
            </a:r>
            <a:endParaRPr lang="en-US" sz="900" dirty="0"/>
          </a:p>
        </p:txBody>
      </p:sp>
      <p:sp>
        <p:nvSpPr>
          <p:cNvPr id="7" name="Shape 4"/>
          <p:cNvSpPr/>
          <p:nvPr/>
        </p:nvSpPr>
        <p:spPr>
          <a:xfrm>
            <a:off x="548640" y="1691640"/>
            <a:ext cx="11091672" cy="647700"/>
          </a:xfrm>
          <a:prstGeom prst="roundRect">
            <a:avLst>
              <a:gd name="adj" fmla="val 11294"/>
            </a:avLst>
          </a:prstGeom>
          <a:solidFill>
            <a:srgbClr val="FFFFFF"/>
          </a:solidFill>
          <a:ln w="9525">
            <a:solidFill>
              <a:srgbClr val="D6DEE8"/>
            </a:solidFill>
            <a:prstDash val="solid"/>
          </a:ln>
        </p:spPr>
      </p:sp>
      <p:pic>
        <p:nvPicPr>
          <p:cNvPr id="8" name="Image 1" descr="preencoded.png">    </p:cNvPr>
          <p:cNvPicPr>
            <a:picLocks noChangeAspect="1"/>
          </p:cNvPicPr>
          <p:nvPr/>
        </p:nvPicPr>
        <p:blipFill>
          <a:blip r:embed="rId2"/>
          <a:stretch>
            <a:fillRect/>
          </a:stretch>
        </p:blipFill>
        <p:spPr>
          <a:xfrm>
            <a:off x="777240" y="1841754"/>
            <a:ext cx="347472" cy="347472"/>
          </a:xfrm>
          <a:prstGeom prst="rect">
            <a:avLst/>
          </a:prstGeom>
        </p:spPr>
      </p:pic>
      <p:sp>
        <p:nvSpPr>
          <p:cNvPr id="9" name="Text 5"/>
          <p:cNvSpPr txBox="1"/>
          <p:nvPr/>
        </p:nvSpPr>
        <p:spPr>
          <a:xfrm>
            <a:off x="1325880" y="1691640"/>
            <a:ext cx="10149840" cy="64770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Search before you create — by name, DOB, and phone, including inactive charts. Duplicates are a patient-safety event.</a:t>
            </a:r>
            <a:endParaRPr lang="en-US" sz="1400" dirty="0"/>
          </a:p>
        </p:txBody>
      </p:sp>
      <p:sp>
        <p:nvSpPr>
          <p:cNvPr id="10" name="Shape 6"/>
          <p:cNvSpPr/>
          <p:nvPr/>
        </p:nvSpPr>
        <p:spPr>
          <a:xfrm>
            <a:off x="548640" y="2458212"/>
            <a:ext cx="11091672" cy="647700"/>
          </a:xfrm>
          <a:prstGeom prst="roundRect">
            <a:avLst>
              <a:gd name="adj" fmla="val 11294"/>
            </a:avLst>
          </a:prstGeom>
          <a:solidFill>
            <a:srgbClr val="EAF1FA"/>
          </a:solidFill>
          <a:ln w="9525">
            <a:solidFill>
              <a:srgbClr val="EAF1FA"/>
            </a:solidFill>
            <a:prstDash val="solid"/>
          </a:ln>
        </p:spPr>
      </p:sp>
      <p:pic>
        <p:nvPicPr>
          <p:cNvPr id="11" name="Image 2" descr="preencoded.png">    </p:cNvPr>
          <p:cNvPicPr>
            <a:picLocks noChangeAspect="1"/>
          </p:cNvPicPr>
          <p:nvPr/>
        </p:nvPicPr>
        <p:blipFill>
          <a:blip r:embed="rId3"/>
          <a:stretch>
            <a:fillRect/>
          </a:stretch>
        </p:blipFill>
        <p:spPr>
          <a:xfrm>
            <a:off x="777240" y="2608326"/>
            <a:ext cx="347472" cy="347472"/>
          </a:xfrm>
          <a:prstGeom prst="rect">
            <a:avLst/>
          </a:prstGeom>
        </p:spPr>
      </p:pic>
      <p:sp>
        <p:nvSpPr>
          <p:cNvPr id="12" name="Text 7"/>
          <p:cNvSpPr txBox="1"/>
          <p:nvPr/>
        </p:nvSpPr>
        <p:spPr>
          <a:xfrm>
            <a:off x="1325880" y="2458212"/>
            <a:ext cx="10149840" cy="64770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Legal name from the ID or card; preferred name in its own field; DOB double-checked against the source.</a:t>
            </a:r>
            <a:endParaRPr lang="en-US" sz="1400" dirty="0"/>
          </a:p>
        </p:txBody>
      </p:sp>
      <p:sp>
        <p:nvSpPr>
          <p:cNvPr id="13" name="Shape 8"/>
          <p:cNvSpPr/>
          <p:nvPr/>
        </p:nvSpPr>
        <p:spPr>
          <a:xfrm>
            <a:off x="548640" y="3224784"/>
            <a:ext cx="11091672" cy="647700"/>
          </a:xfrm>
          <a:prstGeom prst="roundRect">
            <a:avLst>
              <a:gd name="adj" fmla="val 11294"/>
            </a:avLst>
          </a:prstGeom>
          <a:solidFill>
            <a:srgbClr val="FFFFFF"/>
          </a:solidFill>
          <a:ln w="9525">
            <a:solidFill>
              <a:srgbClr val="D6DEE8"/>
            </a:solidFill>
            <a:prstDash val="solid"/>
          </a:ln>
        </p:spPr>
      </p:sp>
      <p:pic>
        <p:nvPicPr>
          <p:cNvPr id="14" name="Image 3" descr="preencoded.png">    </p:cNvPr>
          <p:cNvPicPr>
            <a:picLocks noChangeAspect="1"/>
          </p:cNvPicPr>
          <p:nvPr/>
        </p:nvPicPr>
        <p:blipFill>
          <a:blip r:embed="rId4"/>
          <a:stretch>
            <a:fillRect/>
          </a:stretch>
        </p:blipFill>
        <p:spPr>
          <a:xfrm>
            <a:off x="777240" y="3374898"/>
            <a:ext cx="347472" cy="347472"/>
          </a:xfrm>
          <a:prstGeom prst="rect">
            <a:avLst/>
          </a:prstGeom>
        </p:spPr>
      </p:pic>
      <p:sp>
        <p:nvSpPr>
          <p:cNvPr id="15" name="Text 9"/>
          <p:cNvSpPr txBox="1"/>
          <p:nvPr/>
        </p:nvSpPr>
        <p:spPr>
          <a:xfrm>
            <a:off x="1325880" y="3224784"/>
            <a:ext cx="10149840" cy="64770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Caregiver, emergency, and authorized are three different roles. 'Authorized' always requires a document on file.</a:t>
            </a:r>
            <a:endParaRPr lang="en-US" sz="1400" dirty="0"/>
          </a:p>
        </p:txBody>
      </p:sp>
      <p:sp>
        <p:nvSpPr>
          <p:cNvPr id="16" name="Shape 10"/>
          <p:cNvSpPr/>
          <p:nvPr/>
        </p:nvSpPr>
        <p:spPr>
          <a:xfrm>
            <a:off x="548640" y="3991356"/>
            <a:ext cx="11091672" cy="647700"/>
          </a:xfrm>
          <a:prstGeom prst="roundRect">
            <a:avLst>
              <a:gd name="adj" fmla="val 11294"/>
            </a:avLst>
          </a:prstGeom>
          <a:solidFill>
            <a:srgbClr val="EAF1FA"/>
          </a:solidFill>
          <a:ln w="9525">
            <a:solidFill>
              <a:srgbClr val="EAF1FA"/>
            </a:solidFill>
            <a:prstDash val="solid"/>
          </a:ln>
        </p:spPr>
      </p:sp>
      <p:pic>
        <p:nvPicPr>
          <p:cNvPr id="17" name="Image 4" descr="preencoded.png">    </p:cNvPr>
          <p:cNvPicPr>
            <a:picLocks noChangeAspect="1"/>
          </p:cNvPicPr>
          <p:nvPr/>
        </p:nvPicPr>
        <p:blipFill>
          <a:blip r:embed="rId5"/>
          <a:stretch>
            <a:fillRect/>
          </a:stretch>
        </p:blipFill>
        <p:spPr>
          <a:xfrm>
            <a:off x="777240" y="4141470"/>
            <a:ext cx="347472" cy="347472"/>
          </a:xfrm>
          <a:prstGeom prst="rect">
            <a:avLst/>
          </a:prstGeom>
        </p:spPr>
      </p:pic>
      <p:sp>
        <p:nvSpPr>
          <p:cNvPr id="18" name="Text 11"/>
          <p:cNvSpPr txBox="1"/>
          <p:nvPr/>
        </p:nvSpPr>
        <p:spPr>
          <a:xfrm>
            <a:off x="1325880" y="3991356"/>
            <a:ext cx="10149840" cy="64770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Preferences decide who we call, how, and when. Consent for texting is recorded per number, per person.</a:t>
            </a:r>
            <a:endParaRPr lang="en-US" sz="1400" dirty="0"/>
          </a:p>
        </p:txBody>
      </p:sp>
      <p:sp>
        <p:nvSpPr>
          <p:cNvPr id="19" name="Shape 12"/>
          <p:cNvSpPr/>
          <p:nvPr/>
        </p:nvSpPr>
        <p:spPr>
          <a:xfrm>
            <a:off x="548640" y="4757928"/>
            <a:ext cx="11091672" cy="647700"/>
          </a:xfrm>
          <a:prstGeom prst="roundRect">
            <a:avLst>
              <a:gd name="adj" fmla="val 11294"/>
            </a:avLst>
          </a:prstGeom>
          <a:solidFill>
            <a:srgbClr val="FFFFFF"/>
          </a:solidFill>
          <a:ln w="9525">
            <a:solidFill>
              <a:srgbClr val="D6DEE8"/>
            </a:solidFill>
            <a:prstDash val="solid"/>
          </a:ln>
        </p:spPr>
      </p:sp>
      <p:pic>
        <p:nvPicPr>
          <p:cNvPr id="20" name="Image 5" descr="preencoded.png">    </p:cNvPr>
          <p:cNvPicPr>
            <a:picLocks noChangeAspect="1"/>
          </p:cNvPicPr>
          <p:nvPr/>
        </p:nvPicPr>
        <p:blipFill>
          <a:blip r:embed="rId6"/>
          <a:stretch>
            <a:fillRect/>
          </a:stretch>
        </p:blipFill>
        <p:spPr>
          <a:xfrm>
            <a:off x="777240" y="4908042"/>
            <a:ext cx="347472" cy="347472"/>
          </a:xfrm>
          <a:prstGeom prst="rect">
            <a:avLst/>
          </a:prstGeom>
        </p:spPr>
      </p:pic>
      <p:sp>
        <p:nvSpPr>
          <p:cNvPr id="21" name="Text 13"/>
          <p:cNvSpPr txBox="1"/>
          <p:nvPr/>
        </p:nvSpPr>
        <p:spPr>
          <a:xfrm>
            <a:off x="1325880" y="4757928"/>
            <a:ext cx="10149840" cy="64770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Patient alerts on Quickview are for short, stable, must-know instructions — safety, access, and communication rules.</a:t>
            </a:r>
            <a:endParaRPr lang="en-US" sz="1400" dirty="0"/>
          </a:p>
        </p:txBody>
      </p:sp>
      <p:sp>
        <p:nvSpPr>
          <p:cNvPr id="22" name="Shape 14"/>
          <p:cNvSpPr/>
          <p:nvPr/>
        </p:nvSpPr>
        <p:spPr>
          <a:xfrm>
            <a:off x="548640" y="5524500"/>
            <a:ext cx="11091672" cy="647700"/>
          </a:xfrm>
          <a:prstGeom prst="roundRect">
            <a:avLst>
              <a:gd name="adj" fmla="val 11294"/>
            </a:avLst>
          </a:prstGeom>
          <a:solidFill>
            <a:srgbClr val="EAF1FA"/>
          </a:solidFill>
          <a:ln w="9525">
            <a:solidFill>
              <a:srgbClr val="EAF1FA"/>
            </a:solidFill>
            <a:prstDash val="solid"/>
          </a:ln>
        </p:spPr>
      </p:sp>
      <p:pic>
        <p:nvPicPr>
          <p:cNvPr id="23" name="Image 6" descr="preencoded.png">    </p:cNvPr>
          <p:cNvPicPr>
            <a:picLocks noChangeAspect="1"/>
          </p:cNvPicPr>
          <p:nvPr/>
        </p:nvPicPr>
        <p:blipFill>
          <a:blip r:embed="rId7"/>
          <a:stretch>
            <a:fillRect/>
          </a:stretch>
        </p:blipFill>
        <p:spPr>
          <a:xfrm>
            <a:off x="777240" y="5674614"/>
            <a:ext cx="347472" cy="347472"/>
          </a:xfrm>
          <a:prstGeom prst="rect">
            <a:avLst/>
          </a:prstGeom>
        </p:spPr>
      </p:pic>
      <p:sp>
        <p:nvSpPr>
          <p:cNvPr id="24" name="Text 15"/>
          <p:cNvSpPr txBox="1"/>
          <p:nvPr/>
        </p:nvSpPr>
        <p:spPr>
          <a:xfrm>
            <a:off x="1325880" y="5524500"/>
            <a:ext cx="10149840" cy="64770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Classify consents and legal documents correctly and update the contact record when a document changes what someone may receive or decide.</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E4A87"/>
        </a:solidFill>
      </p:bgPr>
    </p:bg>
    <p:spTree>
      <p:nvGrpSpPr>
        <p:cNvPr id="1" name=""/>
        <p:cNvGrpSpPr/>
        <p:nvPr/>
      </p:nvGrpSpPr>
      <p:grpSpPr>
        <a:xfrm>
          <a:off x="0" y="0"/>
          <a:ext cx="0" cy="0"/>
          <a:chOff x="0" y="0"/>
          <a:chExt cx="0" cy="0"/>
        </a:xfrm>
      </p:grpSpPr>
      <p:sp>
        <p:nvSpPr>
          <p:cNvPr id="2" name="Shape 0"/>
          <p:cNvSpPr/>
          <p:nvPr/>
        </p:nvSpPr>
        <p:spPr>
          <a:xfrm>
            <a:off x="-1828800" y="-2286000"/>
            <a:ext cx="5486400" cy="5486400"/>
          </a:xfrm>
          <a:prstGeom prst="ellipse">
            <a:avLst/>
          </a:prstGeom>
          <a:solidFill>
            <a:srgbClr val="84ACDF">
              <a:alpha val="20000"/>
            </a:srgbClr>
          </a:solidFill>
          <a:ln w="12700">
            <a:solidFill>
              <a:srgbClr val="84ACDF">
                <a:alpha val="20000"/>
              </a:srgbClr>
            </a:solidFill>
            <a:prstDash val="solid"/>
          </a:ln>
        </p:spPr>
      </p:sp>
      <p:sp>
        <p:nvSpPr>
          <p:cNvPr id="3" name="Shape 1"/>
          <p:cNvSpPr/>
          <p:nvPr/>
        </p:nvSpPr>
        <p:spPr>
          <a:xfrm>
            <a:off x="7498080" y="640080"/>
            <a:ext cx="3931920" cy="1691640"/>
          </a:xfrm>
          <a:prstGeom prst="roundRect">
            <a:avLst>
              <a:gd name="adj" fmla="val 8108"/>
            </a:avLst>
          </a:prstGeom>
          <a:solidFill>
            <a:srgbClr val="FFFFFF"/>
          </a:solidFill>
          <a:ln w="12700">
            <a:solidFill>
              <a:srgbClr val="FFFFFF"/>
            </a:solidFill>
            <a:prstDash val="solid"/>
          </a:ln>
        </p:spPr>
      </p:sp>
      <p:pic>
        <p:nvPicPr>
          <p:cNvPr id="4" name="Image 0" descr="/home/claude/build/logo.png">    </p:cNvPr>
          <p:cNvPicPr>
            <a:picLocks noChangeAspect="1"/>
          </p:cNvPicPr>
          <p:nvPr/>
        </p:nvPicPr>
        <p:blipFill>
          <a:blip r:embed="rId1"/>
          <a:stretch>
            <a:fillRect/>
          </a:stretch>
        </p:blipFill>
        <p:spPr>
          <a:xfrm>
            <a:off x="7635240" y="731520"/>
            <a:ext cx="3657600" cy="1508760"/>
          </a:xfrm>
          <a:prstGeom prst="rect">
            <a:avLst/>
          </a:prstGeom>
        </p:spPr>
      </p:pic>
      <p:sp>
        <p:nvSpPr>
          <p:cNvPr id="5" name="Text 2"/>
          <p:cNvSpPr txBox="1"/>
          <p:nvPr/>
        </p:nvSpPr>
        <p:spPr>
          <a:xfrm>
            <a:off x="731520" y="2743200"/>
            <a:ext cx="1005840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You've completed Module 2</a:t>
            </a:r>
            <a:endParaRPr lang="en-US" sz="4000" dirty="0"/>
          </a:p>
        </p:txBody>
      </p:sp>
      <p:sp>
        <p:nvSpPr>
          <p:cNvPr id="6" name="Text 3"/>
          <p:cNvSpPr txBox="1"/>
          <p:nvPr/>
        </p:nvSpPr>
        <p:spPr>
          <a:xfrm>
            <a:off x="731520" y="3611880"/>
            <a:ext cx="10058400" cy="548640"/>
          </a:xfrm>
          <a:prstGeom prst="rect">
            <a:avLst/>
          </a:prstGeom>
          <a:noFill/>
          <a:ln/>
        </p:spPr>
        <p:txBody>
          <a:bodyPr wrap="square" lIns="0" tIns="0" rIns="0" bIns="0" rtlCol="0" anchor="ctr"/>
          <a:lstStyle/>
          <a:p>
            <a:pPr indent="0" marL="0">
              <a:buNone/>
            </a:pPr>
            <a:r>
              <a:rPr lang="en-US" sz="2000" dirty="0">
                <a:solidFill>
                  <a:srgbClr val="EAF1FA"/>
                </a:solidFill>
                <a:latin typeface="Calibri" pitchFamily="34" charset="0"/>
                <a:ea typeface="Calibri" pitchFamily="34" charset="-122"/>
                <a:cs typeface="Calibri" pitchFamily="34" charset="-120"/>
              </a:rPr>
              <a:t>Patient Registration, Demographics &amp; Caregiver Contacts</a:t>
            </a:r>
            <a:endParaRPr lang="en-US" sz="2000" dirty="0"/>
          </a:p>
        </p:txBody>
      </p:sp>
      <p:sp>
        <p:nvSpPr>
          <p:cNvPr id="7" name="Text 4"/>
          <p:cNvSpPr txBox="1"/>
          <p:nvPr/>
        </p:nvSpPr>
        <p:spPr>
          <a:xfrm>
            <a:off x="731520" y="4663440"/>
            <a:ext cx="5486400" cy="320040"/>
          </a:xfrm>
          <a:prstGeom prst="rect">
            <a:avLst/>
          </a:prstGeom>
          <a:noFill/>
          <a:ln/>
        </p:spPr>
        <p:txBody>
          <a:bodyPr wrap="square" lIns="0" tIns="0" rIns="0" bIns="0" rtlCol="0" anchor="ctr"/>
          <a:lstStyle/>
          <a:p>
            <a:pPr indent="0" marL="0">
              <a:buNone/>
            </a:pPr>
            <a:r>
              <a:rPr lang="en-US" sz="1200" b="1" spc="200" kern="0" dirty="0">
                <a:solidFill>
                  <a:srgbClr val="F1C232"/>
                </a:solidFill>
                <a:latin typeface="Calibri" pitchFamily="34" charset="0"/>
                <a:ea typeface="Calibri" pitchFamily="34" charset="-122"/>
                <a:cs typeface="Calibri" pitchFamily="34" charset="-120"/>
              </a:rPr>
              <a:t>UP NEXT</a:t>
            </a:r>
            <a:endParaRPr lang="en-US" sz="1200" dirty="0"/>
          </a:p>
        </p:txBody>
      </p:sp>
      <p:sp>
        <p:nvSpPr>
          <p:cNvPr id="8" name="Text 5"/>
          <p:cNvSpPr txBox="1"/>
          <p:nvPr/>
        </p:nvSpPr>
        <p:spPr>
          <a:xfrm>
            <a:off x="731520" y="4983480"/>
            <a:ext cx="10058400" cy="54864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Module 3: Scheduling &amp; Visit Coordination for In-Home and Telehealth Care</a:t>
            </a:r>
            <a:endParaRPr lang="en-US" sz="1800" dirty="0"/>
          </a:p>
        </p:txBody>
      </p:sp>
      <p:sp>
        <p:nvSpPr>
          <p:cNvPr id="9" name="Text 6"/>
          <p:cNvSpPr txBox="1"/>
          <p:nvPr/>
        </p:nvSpPr>
        <p:spPr>
          <a:xfrm>
            <a:off x="731520" y="5852160"/>
            <a:ext cx="10515600" cy="548640"/>
          </a:xfrm>
          <a:prstGeom prst="rect">
            <a:avLst/>
          </a:prstGeom>
          <a:noFill/>
          <a:ln/>
        </p:spPr>
        <p:txBody>
          <a:bodyPr wrap="square" lIns="0" tIns="0" rIns="0" bIns="0" rtlCol="0" anchor="ctr"/>
          <a:lstStyle/>
          <a:p>
            <a:pPr indent="0" marL="0">
              <a:buNone/>
            </a:pPr>
            <a:r>
              <a:rPr lang="en-US" sz="1000" i="1" dirty="0">
                <a:solidFill>
                  <a:srgbClr val="84ACDF"/>
                </a:solidFill>
                <a:latin typeface="Calibri" pitchFamily="34" charset="0"/>
                <a:ea typeface="Calibri" pitchFamily="34" charset="-122"/>
                <a:cs typeface="Calibri" pitchFamily="34" charset="-120"/>
              </a:rPr>
              <a:t>Screens shown are illustrative representations of athenaOne workflows (terminology verified against athenahealth O-help and published workflow guides, Sept 2026). Follow AbleLiving policies and athenahealth O-help where they differ.</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2: Patient Registration, Demographics &amp; Caregiver Contacts</dc:title>
  <dc:subject>PptxGenJS Presentation</dc:subject>
  <dc:creator>AbleLiving Memory Support</dc:creator>
  <cp:lastModifiedBy>AbleLiving Memory Support</cp:lastModifiedBy>
  <cp:revision>1</cp:revision>
  <dcterms:created xsi:type="dcterms:W3CDTF">2026-09-24T23:01:55Z</dcterms:created>
  <dcterms:modified xsi:type="dcterms:W3CDTF">2026-09-24T23:01:55Z</dcterms:modified>
</cp:coreProperties>
</file>