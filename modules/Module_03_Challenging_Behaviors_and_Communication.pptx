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 min
Module 3 covers two Appendix B topics: Challenging Behaviors and Communication. These are the skills families ask for most often. Take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 min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 min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
Behavioral and psychological symptoms of dementia (often abbreviated BPSD) are nearly universal over the course of the disease. Stress that the person is not "being difficult" on purpose — the disease affects the parts of the brain that manage emotion, impulse control, and understanding. Helping caregivers make this shift in thinking is one of the most valuable things a navigator can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
Other changes to mention: resistance to care (especially bathing), disinhibition (inappropriate comments or undressing), shadowing (following the caregiver everywhere), hoarding or rummaging, and changes in eating. Ask participants which behavior families call about most often in their experience. Typically: sundowning, repetitive questions, accusations of theft, and refusing to bathe.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
Encourage navigators to teach caregivers to be detectives. The first question for any new or worsening behavior should be: "Could something physical be going on?" Pain, infection, and constipation are among the most common and most treatable causes. Any new behavior warrants consideration of a medical cause and a call to the clinician.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
Sundowning is one of the most common reasons families call. It is exhausting for caregivers because it happens when they are also tired. Suggest that caregivers keep a brief log. If sundowning is new or suddenly worse, consider delirium, pain, or infection and notify the clinician.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 min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
The DICE approach was developed by Drs. Helen Kales, Laura Gitlin, and Constantine Lyketsos and is widely used in dementia care programs. It gives navigators and caregivers a shared, structured process. The Describe step is where navigators add the most value: a detailed description often reveals the cause. For example: "He gets agitated every day at 4 p.m. when the TV news comes on and I start cooking" points to overstimulation and a changing routine.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
The ABC method supports the "Describe" step of DICE. Teach caregivers to jot down ABCs in a notebook or on their phone. Patterns often appear after a few entries — for example, agitation that always follows a particular visitor, activity, or time of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
National guidelines recommend non-pharmacological approaches as the first line of treatment for most behavioral symptoms. Medications may be necessary when a person is at risk of harming themselves or others, or is severely distressed, but they carry real risks, including falls, sedation, and stroke. Our job is to support the caregiver in using non-drug strategies and to give the clinician a clear description of what is happening.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
Walk through each row. Emphasize that these are starting points; the DICE process identifies the approach that fits the individual. Share a practical tip: when a person says "I want to go home," they often mean a feeling of safety and belonging rather than a place. Responding to the emotion ("Tell me about your home") is usually more effective than explaining that they are already home.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
Hallucinations and delusions can come from the dementia itself (especially Lewy body dementia), from medications, from delirium, or from vision and hearing loss. If the experience is not distressing — for example, a person talks happily to "visitors" — it may not need intervention. Distressing or new symptoms should always be reported. Remember that people with Lewy body dementia can be very sensitive to some antipsychotic medications.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
Boredom and lack of purpose are major drivers of behavioral symptoms. Activities should be matched to abilities and interests — failure-free and adult, not childish. The goal is engagement and enjoyment, not accomplishment. Encourage caregivers to use the person's life story to choose activities.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
Review the AbleLiving/MPS escalation and after-hours pathway, including the 24/7 access required under GUIDE. Make sure every navigator knows the phone numbers without looking them up. Role-play the phrase: "I'm concerned about your safety right now, and I want to get the right help to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15 min
Give 10 minutes for group work and 5 for report-outs. Strong answers include: checking for pain (arthritis), a full bladder, fatigue, being undressed by her son (modesty), cold bathroom, dim lighting, rushing, and the evening timing (sundowning). Plans might include moving the bedtime routine earlier, having a female aide or respite worker help with undressing, warming the room, playing calming music, and asking the clinician to assess pain.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 min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
As verbal skills decline, people rely more on tone of voice and body language. A caregiver who says the right words in a frustrated tone will still be perceived as frustrated. Encourage navigators to model calm, warm communication during every visit — caregivers learn by watching.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
These strategies are consistent with guidance from the Alzheimer's Association and widely used approaches such as Teepa Snow's Positive Approach to Care. Demonstrate the approach: stand at a distance, move into the person's line of sight, offer a hand, say "Hi, Mr. Jones, it's Maria," then move to their side at eye level. Ask a volunteer to practice with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
Demonstrate the difference between the same sentence said with a rushed, tense tone and a calm, warm tone. Ask participants how each felt to hear. Touch preferences vary by person and culture; watch the person's reaction and ask the caregiver what they are comfortable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
The example about a deceased spouse is one of the most painful situations families face. Repeatedly telling someone their spouse has died forces them to relive the grief each time. Responding to the feeling and redirecting gently is kinder and more effective. This is not lying — it is meeting the person where they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
Caregivers are part of the GUIDE dyad and are our partners. Teach-back is not a test of the caregiver; it is a check on how well we explained. Reinforce privacy: not every family member who calls is authorized to receive health information. Follow AbleLiving/MPS policies for verifying identity and authorization.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
These approaches are low-cost, low-risk, and often very effective. Encourage caregivers to build a personalized playlist and a "comfort box" of meaningful items. Reminiscence works best when it is an invitation ("Tell me about this picture") rather than a quiz ("Who is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
Much navigation happens by phone. People with dementia and hearing loss may struggle on the phone even when they do well in person. When possible, include the caregiver on the call and use video so the person can see your 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15 min
Circulate and coach. Encourage validating responses: "You miss your mom. Tell me about her." Debrief with the whole group: collect the best phrases on a flip chart and share them as a tip sheet after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
Draw out: sundowning plus a lifelong routine of picking children up from school at that time; the accusation reflects memory loss and loss of control; arguing and proving her wrong damaged trust and led to refusal of care. Strategies: a structured late-afternoon activity (folding laundry, preparing a snack "for the children"), increased lighting, validation ("You're a good mother; the children are safe"), and offering to look for the jewelry together. Involve the clinician to rule out pain, infection, or depression, and because the pattern is new in the past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
ANSWER: B. Safety first, then describe and investigate. A sudden new behavior may have a medical cause; the clinician must be informed.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
ANSWER: C. Respond to the emotion and invite reminiscence; this avoids forcing her to relive grief and avoids arguing.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
ANSWER: B. Antecedent: the events, setting, and interactions immediately before the behavior.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 min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
Open the floor for questions. Collect any parking-lot items and follow up before the next session. Confirm the knowledge check results are recorded in each participant's training file. Preview the next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1.png"/><Relationship Id="rId3" Type="http://schemas.openxmlformats.org/officeDocument/2006/relationships/image" Target="../media/image-5-1.png"/><Relationship Id="rId4" Type="http://schemas.openxmlformats.org/officeDocument/2006/relationships/image" Target="../media/image-5-1.png"/><Relationship Id="rId5" Type="http://schemas.openxmlformats.org/officeDocument/2006/relationships/image" Target="../media/image-5-1.png"/><Relationship Id="rId6" Type="http://schemas.openxmlformats.org/officeDocument/2006/relationships/image" Target="../media/image-5-1.png"/><Relationship Id="rId7" Type="http://schemas.openxmlformats.org/officeDocument/2006/relationships/image" Target="../media/image-1-2.png"/><Relationship Id="rId8" Type="http://schemas.openxmlformats.org/officeDocument/2006/relationships/slideLayout" Target="../slideLayouts/slideLayout1.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1.png"/><Relationship Id="rId3" Type="http://schemas.openxmlformats.org/officeDocument/2006/relationships/image" Target="../media/image-5-1.png"/><Relationship Id="rId4" Type="http://schemas.openxmlformats.org/officeDocument/2006/relationships/image" Target="../media/image-5-1.png"/><Relationship Id="rId5" Type="http://schemas.openxmlformats.org/officeDocument/2006/relationships/image" Target="../media/image-1-2.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1.png"/><Relationship Id="rId3" Type="http://schemas.openxmlformats.org/officeDocument/2006/relationships/image" Target="../media/image-5-1.png"/><Relationship Id="rId4" Type="http://schemas.openxmlformats.org/officeDocument/2006/relationships/image" Target="../media/image-1-2.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1.png"/><Relationship Id="rId3" Type="http://schemas.openxmlformats.org/officeDocument/2006/relationships/image" Target="../media/image-5-1.png"/><Relationship Id="rId4" Type="http://schemas.openxmlformats.org/officeDocument/2006/relationships/image" Target="../media/image-5-1.png"/><Relationship Id="rId5" Type="http://schemas.openxmlformats.org/officeDocument/2006/relationships/image" Target="../media/image-5-1.png"/><Relationship Id="rId6" Type="http://schemas.openxmlformats.org/officeDocument/2006/relationships/image" Target="../media/image-5-1.png"/><Relationship Id="rId7" Type="http://schemas.openxmlformats.org/officeDocument/2006/relationships/image" Target="../media/image-1-2.png"/><Relationship Id="rId8" Type="http://schemas.openxmlformats.org/officeDocument/2006/relationships/slideLayout" Target="../slideLayouts/slideLayout1.xml"/><Relationship Id="rId9"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1.png"/><Relationship Id="rId3" Type="http://schemas.openxmlformats.org/officeDocument/2006/relationships/image" Target="../media/image-5-1.png"/><Relationship Id="rId4" Type="http://schemas.openxmlformats.org/officeDocument/2006/relationships/image" Target="../media/image-5-1.png"/><Relationship Id="rId5" Type="http://schemas.openxmlformats.org/officeDocument/2006/relationships/image" Target="../media/image-1-2.png"/><Relationship Id="rId6" Type="http://schemas.openxmlformats.org/officeDocument/2006/relationships/slideLayout" Target="../slideLayouts/slideLayout1.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1.png"/><Relationship Id="rId3" Type="http://schemas.openxmlformats.org/officeDocument/2006/relationships/image" Target="../media/image-5-1.png"/><Relationship Id="rId4" Type="http://schemas.openxmlformats.org/officeDocument/2006/relationships/image" Target="../media/image-5-1.png"/><Relationship Id="rId5" Type="http://schemas.openxmlformats.org/officeDocument/2006/relationships/image" Target="../media/image-1-2.png"/><Relationship Id="rId6" Type="http://schemas.openxmlformats.org/officeDocument/2006/relationships/slideLayout" Target="../slideLayouts/slideLayout1.xml"/><Relationship Id="rId7"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1.png"/><Relationship Id="rId3" Type="http://schemas.openxmlformats.org/officeDocument/2006/relationships/image" Target="../media/image-5-1.png"/><Relationship Id="rId4" Type="http://schemas.openxmlformats.org/officeDocument/2006/relationships/image" Target="../media/image-5-1.png"/><Relationship Id="rId5" Type="http://schemas.openxmlformats.org/officeDocument/2006/relationships/image" Target="../media/image-1-2.png"/><Relationship Id="rId6" Type="http://schemas.openxmlformats.org/officeDocument/2006/relationships/slideLayout" Target="../slideLayouts/slideLayout1.xml"/><Relationship Id="rId7"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1.png"/><Relationship Id="rId3" Type="http://schemas.openxmlformats.org/officeDocument/2006/relationships/image" Target="../media/image-31-1.png"/><Relationship Id="rId4" Type="http://schemas.openxmlformats.org/officeDocument/2006/relationships/image" Target="../media/image-31-1.png"/><Relationship Id="rId5" Type="http://schemas.openxmlformats.org/officeDocument/2006/relationships/image" Target="../media/image-31-1.png"/><Relationship Id="rId6" Type="http://schemas.openxmlformats.org/officeDocument/2006/relationships/image" Target="../media/image-31-1.png"/><Relationship Id="rId7" Type="http://schemas.openxmlformats.org/officeDocument/2006/relationships/image" Target="../media/image-4-2.png"/><Relationship Id="rId8" Type="http://schemas.openxmlformats.org/officeDocument/2006/relationships/slideLayout" Target="../slideLayouts/slideLayout1.xml"/><Relationship Id="rId9"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8695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90000"/>
          </a:blip>
          <a:stretch>
            <a:fillRect/>
          </a:stretch>
        </p:blipFill>
        <p:spPr>
          <a:xfrm>
            <a:off x="7680960" y="320040"/>
            <a:ext cx="4754880" cy="6025896"/>
          </a:xfrm>
          <a:prstGeom prst="rect">
            <a:avLst/>
          </a:prstGeom>
        </p:spPr>
      </p:pic>
      <p:sp>
        <p:nvSpPr>
          <p:cNvPr id="3" name="Shape 0"/>
          <p:cNvSpPr/>
          <p:nvPr/>
        </p:nvSpPr>
        <p:spPr>
          <a:xfrm>
            <a:off x="548640" y="365760"/>
            <a:ext cx="2661628" cy="1261872"/>
          </a:xfrm>
          <a:prstGeom prst="roundRect">
            <a:avLst>
              <a:gd name="adj" fmla="val 7246"/>
            </a:avLst>
          </a:prstGeom>
          <a:solidFill>
            <a:srgbClr val="FFFFFF"/>
          </a:solidFill>
          <a:ln w="12700">
            <a:solidFill>
              <a:srgbClr val="FFFFFF"/>
            </a:solidFill>
            <a:prstDash val="solid"/>
          </a:ln>
        </p:spPr>
      </p:sp>
      <p:pic>
        <p:nvPicPr>
          <p:cNvPr id="4" name="Image 1" descr="preencoded.png">    </p:cNvPr>
          <p:cNvPicPr>
            <a:picLocks noChangeAspect="1"/>
          </p:cNvPicPr>
          <p:nvPr/>
        </p:nvPicPr>
        <p:blipFill>
          <a:blip r:embed="rId2"/>
          <a:stretch>
            <a:fillRect/>
          </a:stretch>
        </p:blipFill>
        <p:spPr>
          <a:xfrm>
            <a:off x="676656" y="493776"/>
            <a:ext cx="2405596" cy="1005840"/>
          </a:xfrm>
          <a:prstGeom prst="rect">
            <a:avLst/>
          </a:prstGeom>
        </p:spPr>
      </p:pic>
      <p:sp>
        <p:nvSpPr>
          <p:cNvPr id="5" name="Text 1"/>
          <p:cNvSpPr txBox="1"/>
          <p:nvPr/>
        </p:nvSpPr>
        <p:spPr>
          <a:xfrm>
            <a:off x="548640" y="1874520"/>
            <a:ext cx="6858000" cy="320040"/>
          </a:xfrm>
          <a:prstGeom prst="rect">
            <a:avLst/>
          </a:prstGeom>
          <a:noFill/>
          <a:ln/>
        </p:spPr>
        <p:txBody>
          <a:bodyPr wrap="square" lIns="0" tIns="0" rIns="0" bIns="0" rtlCol="0" anchor="t"/>
          <a:lstStyle/>
          <a:p>
            <a:pPr indent="0" marL="0">
              <a:buNone/>
            </a:pPr>
            <a:r>
              <a:rPr lang="en-US" sz="1300" b="1" spc="300" kern="0" dirty="0">
                <a:solidFill>
                  <a:srgbClr val="F8CB27"/>
                </a:solidFill>
                <a:latin typeface="Calibri" pitchFamily="34" charset="0"/>
                <a:ea typeface="Calibri" pitchFamily="34" charset="-122"/>
                <a:cs typeface="Calibri" pitchFamily="34" charset="-120"/>
              </a:rPr>
              <a:t>GUIDE CARE NAVIGATOR TRAINING</a:t>
            </a:r>
            <a:endParaRPr lang="en-US" sz="1300" dirty="0"/>
          </a:p>
        </p:txBody>
      </p:sp>
      <p:sp>
        <p:nvSpPr>
          <p:cNvPr id="6" name="Text 2"/>
          <p:cNvSpPr txBox="1"/>
          <p:nvPr/>
        </p:nvSpPr>
        <p:spPr>
          <a:xfrm>
            <a:off x="548640" y="2240280"/>
            <a:ext cx="6858000" cy="457200"/>
          </a:xfrm>
          <a:prstGeom prst="rect">
            <a:avLst/>
          </a:prstGeom>
          <a:noFill/>
          <a:ln/>
        </p:spPr>
        <p:txBody>
          <a:bodyPr wrap="square" lIns="0" tIns="0" rIns="0" bIns="0" rtlCol="0" anchor="t"/>
          <a:lstStyle/>
          <a:p>
            <a:pPr indent="0" marL="0">
              <a:buNone/>
            </a:pPr>
            <a:r>
              <a:rPr lang="en-US" sz="2200" i="1" dirty="0">
                <a:solidFill>
                  <a:srgbClr val="C9DEDA"/>
                </a:solidFill>
                <a:latin typeface="Cambria" pitchFamily="34" charset="0"/>
                <a:ea typeface="Cambria" pitchFamily="34" charset="-122"/>
                <a:cs typeface="Cambria" pitchFamily="34" charset="-120"/>
              </a:rPr>
              <a:t>Module 3</a:t>
            </a:r>
            <a:endParaRPr lang="en-US" sz="2200" dirty="0"/>
          </a:p>
        </p:txBody>
      </p:sp>
      <p:sp>
        <p:nvSpPr>
          <p:cNvPr id="7" name="Text 3"/>
          <p:cNvSpPr txBox="1"/>
          <p:nvPr/>
        </p:nvSpPr>
        <p:spPr>
          <a:xfrm>
            <a:off x="548640" y="2697480"/>
            <a:ext cx="6949440" cy="155448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Challenging Behaviors &amp; Communication</a:t>
            </a:r>
            <a:endParaRPr lang="en-US" sz="3800" dirty="0"/>
          </a:p>
        </p:txBody>
      </p:sp>
      <p:sp>
        <p:nvSpPr>
          <p:cNvPr id="8" name="Text 4"/>
          <p:cNvSpPr txBox="1"/>
          <p:nvPr/>
        </p:nvSpPr>
        <p:spPr>
          <a:xfrm>
            <a:off x="548640" y="4297680"/>
            <a:ext cx="6766560" cy="731520"/>
          </a:xfrm>
          <a:prstGeom prst="rect">
            <a:avLst/>
          </a:prstGeom>
          <a:noFill/>
          <a:ln/>
        </p:spPr>
        <p:txBody>
          <a:bodyPr wrap="square" lIns="0" tIns="0" rIns="0" bIns="0" rtlCol="0" anchor="t"/>
          <a:lstStyle/>
          <a:p>
            <a:pPr indent="0" marL="0">
              <a:buNone/>
            </a:pPr>
            <a:r>
              <a:rPr lang="en-US" sz="1600" dirty="0">
                <a:solidFill>
                  <a:srgbClr val="C9DEDA"/>
                </a:solidFill>
                <a:latin typeface="Calibri" pitchFamily="34" charset="0"/>
                <a:ea typeface="Calibri" pitchFamily="34" charset="-122"/>
                <a:cs typeface="Calibri" pitchFamily="34" charset="-120"/>
              </a:rPr>
              <a:t>Understanding behavior as communication, managing behavioral symptoms, and communicating effectively with people living with dementia and their caregivers</a:t>
            </a:r>
            <a:endParaRPr lang="en-US" sz="1600" dirty="0"/>
          </a:p>
        </p:txBody>
      </p:sp>
      <p:sp>
        <p:nvSpPr>
          <p:cNvPr id="9" name="Shape 5"/>
          <p:cNvSpPr/>
          <p:nvPr/>
        </p:nvSpPr>
        <p:spPr>
          <a:xfrm>
            <a:off x="548640" y="5303520"/>
            <a:ext cx="3017520" cy="502920"/>
          </a:xfrm>
          <a:prstGeom prst="roundRect">
            <a:avLst>
              <a:gd name="adj" fmla="val 49091"/>
            </a:avLst>
          </a:prstGeom>
          <a:solidFill>
            <a:srgbClr val="1D4F47"/>
          </a:solidFill>
          <a:ln w="12700">
            <a:solidFill>
              <a:srgbClr val="1D4F47"/>
            </a:solidFill>
            <a:prstDash val="solid"/>
          </a:ln>
        </p:spPr>
      </p:sp>
      <p:sp>
        <p:nvSpPr>
          <p:cNvPr id="10" name="Text 6"/>
          <p:cNvSpPr txBox="1"/>
          <p:nvPr/>
        </p:nvSpPr>
        <p:spPr>
          <a:xfrm>
            <a:off x="548640" y="5303520"/>
            <a:ext cx="30175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Approx. 166 minutes</a:t>
            </a:r>
            <a:endParaRPr lang="en-US" sz="1400" dirty="0"/>
          </a:p>
        </p:txBody>
      </p:sp>
      <p:sp>
        <p:nvSpPr>
          <p:cNvPr id="11" name="Text 7"/>
          <p:cNvSpPr txBox="1"/>
          <p:nvPr/>
        </p:nvSpPr>
        <p:spPr>
          <a:xfrm>
            <a:off x="3749040" y="5303520"/>
            <a:ext cx="4206240" cy="502920"/>
          </a:xfrm>
          <a:prstGeom prst="rect">
            <a:avLst/>
          </a:prstGeom>
          <a:noFill/>
          <a:ln/>
        </p:spPr>
        <p:txBody>
          <a:bodyPr wrap="square" lIns="0" tIns="0" rIns="0" bIns="0" rtlCol="0" anchor="ctr"/>
          <a:lstStyle/>
          <a:p>
            <a:pPr indent="0" marL="0">
              <a:buNone/>
            </a:pPr>
            <a:r>
              <a:rPr lang="en-US" sz="1200" dirty="0">
                <a:solidFill>
                  <a:srgbClr val="C9DEDA"/>
                </a:solidFill>
                <a:latin typeface="Calibri" pitchFamily="34" charset="0"/>
                <a:ea typeface="Calibri" pitchFamily="34" charset="-122"/>
                <a:cs typeface="Calibri" pitchFamily="34" charset="-120"/>
              </a:rPr>
              <a:t>Appendix B: Challenging Behaviors; Communication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Learning Objectives</a:t>
            </a:r>
            <a:endParaRPr lang="en-US" sz="3000" dirty="0"/>
          </a:p>
        </p:txBody>
      </p:sp>
      <p:sp>
        <p:nvSpPr>
          <p:cNvPr id="3" name="Text 1"/>
          <p:cNvSpPr txBox="1"/>
          <p:nvPr/>
        </p:nvSpPr>
        <p:spPr>
          <a:xfrm>
            <a:off x="548640" y="1188720"/>
            <a:ext cx="11094415" cy="457200"/>
          </a:xfrm>
          <a:prstGeom prst="rect">
            <a:avLst/>
          </a:prstGeom>
          <a:noFill/>
          <a:ln/>
        </p:spPr>
        <p:txBody>
          <a:bodyPr wrap="square" lIns="0" tIns="0" rIns="0" bIns="0" rtlCol="0" anchor="ctr"/>
          <a:lstStyle/>
          <a:p>
            <a:pPr indent="0" marL="0">
              <a:buNone/>
            </a:pPr>
            <a:r>
              <a:rPr lang="en-US" sz="1600" i="1" dirty="0">
                <a:solidFill>
                  <a:srgbClr val="5E6B68"/>
                </a:solidFill>
                <a:latin typeface="Calibri" pitchFamily="34" charset="0"/>
                <a:ea typeface="Calibri" pitchFamily="34" charset="-122"/>
                <a:cs typeface="Calibri" pitchFamily="34" charset="-120"/>
              </a:rPr>
              <a:t>By the end of this module, you will be able to:</a:t>
            </a:r>
            <a:endParaRPr lang="en-US" sz="1600" dirty="0"/>
          </a:p>
        </p:txBody>
      </p:sp>
      <p:sp>
        <p:nvSpPr>
          <p:cNvPr id="4" name="Shape 2"/>
          <p:cNvSpPr/>
          <p:nvPr/>
        </p:nvSpPr>
        <p:spPr>
          <a:xfrm>
            <a:off x="548640" y="1965960"/>
            <a:ext cx="457200" cy="457200"/>
          </a:xfrm>
          <a:prstGeom prst="ellipse">
            <a:avLst/>
          </a:prstGeom>
          <a:solidFill>
            <a:srgbClr val="C78F2E"/>
          </a:solidFill>
          <a:ln w="12700">
            <a:solidFill>
              <a:srgbClr val="C78F2E"/>
            </a:solidFill>
            <a:prstDash val="solid"/>
          </a:ln>
        </p:spPr>
      </p:sp>
      <p:sp>
        <p:nvSpPr>
          <p:cNvPr id="5" name="Text 3"/>
          <p:cNvSpPr txBox="1"/>
          <p:nvPr/>
        </p:nvSpPr>
        <p:spPr>
          <a:xfrm>
            <a:off x="548640" y="19659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6" name="Text 4"/>
          <p:cNvSpPr txBox="1"/>
          <p:nvPr/>
        </p:nvSpPr>
        <p:spPr>
          <a:xfrm>
            <a:off x="1234440" y="1828800"/>
            <a:ext cx="10362895" cy="73152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Describe common behavioral changes caused by dementia</a:t>
            </a:r>
            <a:endParaRPr lang="en-US" sz="1700" dirty="0"/>
          </a:p>
        </p:txBody>
      </p:sp>
      <p:sp>
        <p:nvSpPr>
          <p:cNvPr id="7" name="Shape 5"/>
          <p:cNvSpPr/>
          <p:nvPr/>
        </p:nvSpPr>
        <p:spPr>
          <a:xfrm>
            <a:off x="548640" y="2697480"/>
            <a:ext cx="457200" cy="457200"/>
          </a:xfrm>
          <a:prstGeom prst="ellipse">
            <a:avLst/>
          </a:prstGeom>
          <a:solidFill>
            <a:srgbClr val="C78F2E"/>
          </a:solidFill>
          <a:ln w="12700">
            <a:solidFill>
              <a:srgbClr val="C78F2E"/>
            </a:solidFill>
            <a:prstDash val="solid"/>
          </a:ln>
        </p:spPr>
      </p:sp>
      <p:sp>
        <p:nvSpPr>
          <p:cNvPr id="8" name="Text 6"/>
          <p:cNvSpPr txBox="1"/>
          <p:nvPr/>
        </p:nvSpPr>
        <p:spPr>
          <a:xfrm>
            <a:off x="548640" y="26974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9" name="Text 7"/>
          <p:cNvSpPr txBox="1"/>
          <p:nvPr/>
        </p:nvSpPr>
        <p:spPr>
          <a:xfrm>
            <a:off x="1234440" y="2560320"/>
            <a:ext cx="10362895" cy="73152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Identify physical, environmental, and emotional triggers for behavior</a:t>
            </a:r>
            <a:endParaRPr lang="en-US" sz="1700" dirty="0"/>
          </a:p>
        </p:txBody>
      </p:sp>
      <p:sp>
        <p:nvSpPr>
          <p:cNvPr id="10" name="Shape 8"/>
          <p:cNvSpPr/>
          <p:nvPr/>
        </p:nvSpPr>
        <p:spPr>
          <a:xfrm>
            <a:off x="548640" y="3429000"/>
            <a:ext cx="457200" cy="457200"/>
          </a:xfrm>
          <a:prstGeom prst="ellipse">
            <a:avLst/>
          </a:prstGeom>
          <a:solidFill>
            <a:srgbClr val="C78F2E"/>
          </a:solidFill>
          <a:ln w="12700">
            <a:solidFill>
              <a:srgbClr val="C78F2E"/>
            </a:solidFill>
            <a:prstDash val="solid"/>
          </a:ln>
        </p:spPr>
      </p:sp>
      <p:sp>
        <p:nvSpPr>
          <p:cNvPr id="11" name="Text 9"/>
          <p:cNvSpPr txBox="1"/>
          <p:nvPr/>
        </p:nvSpPr>
        <p:spPr>
          <a:xfrm>
            <a:off x="548640" y="34290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2" name="Text 10"/>
          <p:cNvSpPr txBox="1"/>
          <p:nvPr/>
        </p:nvSpPr>
        <p:spPr>
          <a:xfrm>
            <a:off x="1234440" y="3291840"/>
            <a:ext cx="10362895" cy="73152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Use the DICE approach to understand and address behavioral symptoms</a:t>
            </a:r>
            <a:endParaRPr lang="en-US" sz="1700" dirty="0"/>
          </a:p>
        </p:txBody>
      </p:sp>
      <p:sp>
        <p:nvSpPr>
          <p:cNvPr id="13" name="Shape 11"/>
          <p:cNvSpPr/>
          <p:nvPr/>
        </p:nvSpPr>
        <p:spPr>
          <a:xfrm>
            <a:off x="548640" y="4160520"/>
            <a:ext cx="457200" cy="457200"/>
          </a:xfrm>
          <a:prstGeom prst="ellipse">
            <a:avLst/>
          </a:prstGeom>
          <a:solidFill>
            <a:srgbClr val="C78F2E"/>
          </a:solidFill>
          <a:ln w="12700">
            <a:solidFill>
              <a:srgbClr val="C78F2E"/>
            </a:solidFill>
            <a:prstDash val="solid"/>
          </a:ln>
        </p:spPr>
      </p:sp>
      <p:sp>
        <p:nvSpPr>
          <p:cNvPr id="14" name="Text 12"/>
          <p:cNvSpPr txBox="1"/>
          <p:nvPr/>
        </p:nvSpPr>
        <p:spPr>
          <a:xfrm>
            <a:off x="548640" y="41605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15" name="Text 13"/>
          <p:cNvSpPr txBox="1"/>
          <p:nvPr/>
        </p:nvSpPr>
        <p:spPr>
          <a:xfrm>
            <a:off x="1234440" y="4023360"/>
            <a:ext cx="10362895" cy="73152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Recognize when a behavior requires urgent clinical escalation</a:t>
            </a:r>
            <a:endParaRPr lang="en-US" sz="1700" dirty="0"/>
          </a:p>
        </p:txBody>
      </p:sp>
      <p:sp>
        <p:nvSpPr>
          <p:cNvPr id="16" name="Shape 14"/>
          <p:cNvSpPr/>
          <p:nvPr/>
        </p:nvSpPr>
        <p:spPr>
          <a:xfrm>
            <a:off x="548640" y="4892040"/>
            <a:ext cx="457200" cy="457200"/>
          </a:xfrm>
          <a:prstGeom prst="ellipse">
            <a:avLst/>
          </a:prstGeom>
          <a:solidFill>
            <a:srgbClr val="C78F2E"/>
          </a:solidFill>
          <a:ln w="12700">
            <a:solidFill>
              <a:srgbClr val="C78F2E"/>
            </a:solidFill>
            <a:prstDash val="solid"/>
          </a:ln>
        </p:spPr>
      </p:sp>
      <p:sp>
        <p:nvSpPr>
          <p:cNvPr id="17" name="Text 15"/>
          <p:cNvSpPr txBox="1"/>
          <p:nvPr/>
        </p:nvSpPr>
        <p:spPr>
          <a:xfrm>
            <a:off x="548640" y="48920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18" name="Text 16"/>
          <p:cNvSpPr txBox="1"/>
          <p:nvPr/>
        </p:nvSpPr>
        <p:spPr>
          <a:xfrm>
            <a:off x="1234440" y="4754880"/>
            <a:ext cx="10362895" cy="73152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Apply communication strategies for persons living with dementia</a:t>
            </a:r>
            <a:endParaRPr lang="en-US" sz="1700" dirty="0"/>
          </a:p>
        </p:txBody>
      </p:sp>
      <p:sp>
        <p:nvSpPr>
          <p:cNvPr id="19" name="Shape 17"/>
          <p:cNvSpPr/>
          <p:nvPr/>
        </p:nvSpPr>
        <p:spPr>
          <a:xfrm>
            <a:off x="548640" y="5623560"/>
            <a:ext cx="457200" cy="457200"/>
          </a:xfrm>
          <a:prstGeom prst="ellipse">
            <a:avLst/>
          </a:prstGeom>
          <a:solidFill>
            <a:srgbClr val="C78F2E"/>
          </a:solidFill>
          <a:ln w="12700">
            <a:solidFill>
              <a:srgbClr val="C78F2E"/>
            </a:solidFill>
            <a:prstDash val="solid"/>
          </a:ln>
        </p:spPr>
      </p:sp>
      <p:sp>
        <p:nvSpPr>
          <p:cNvPr id="20" name="Text 18"/>
          <p:cNvSpPr txBox="1"/>
          <p:nvPr/>
        </p:nvSpPr>
        <p:spPr>
          <a:xfrm>
            <a:off x="548640" y="56235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6</a:t>
            </a:r>
            <a:endParaRPr lang="en-US" sz="1500" dirty="0"/>
          </a:p>
        </p:txBody>
      </p:sp>
      <p:sp>
        <p:nvSpPr>
          <p:cNvPr id="21" name="Text 19"/>
          <p:cNvSpPr txBox="1"/>
          <p:nvPr/>
        </p:nvSpPr>
        <p:spPr>
          <a:xfrm>
            <a:off x="1234440" y="5486400"/>
            <a:ext cx="10362895" cy="73152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Communicate clearly and supportively with caregivers</a:t>
            </a:r>
            <a:endParaRPr lang="en-US" sz="1700" dirty="0"/>
          </a:p>
        </p:txBody>
      </p:sp>
      <p:pic>
        <p:nvPicPr>
          <p:cNvPr id="22" name="Image 0" descr="preencoded.png">    </p:cNvPr>
          <p:cNvPicPr>
            <a:picLocks noChangeAspect="1"/>
          </p:cNvPicPr>
          <p:nvPr/>
        </p:nvPicPr>
        <p:blipFill>
          <a:blip r:embed="rId1"/>
          <a:stretch>
            <a:fillRect/>
          </a:stretch>
        </p:blipFill>
        <p:spPr>
          <a:xfrm>
            <a:off x="548640" y="6309360"/>
            <a:ext cx="874762" cy="365760"/>
          </a:xfrm>
          <a:prstGeom prst="rect">
            <a:avLst/>
          </a:prstGeom>
        </p:spPr>
      </p:pic>
      <p:sp>
        <p:nvSpPr>
          <p:cNvPr id="23" name="Text 20"/>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3</a:t>
            </a:r>
            <a:endParaRPr lang="en-US" sz="900" dirty="0"/>
          </a:p>
        </p:txBody>
      </p:sp>
      <p:sp>
        <p:nvSpPr>
          <p:cNvPr id="24" name="Text 21"/>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Module Agenda</a:t>
            </a:r>
            <a:endParaRPr lang="en-US" sz="3000" dirty="0"/>
          </a:p>
        </p:txBody>
      </p:sp>
      <p:sp>
        <p:nvSpPr>
          <p:cNvPr id="3" name="Shape 1"/>
          <p:cNvSpPr/>
          <p:nvPr/>
        </p:nvSpPr>
        <p:spPr>
          <a:xfrm>
            <a:off x="548640" y="1417320"/>
            <a:ext cx="8076895" cy="777240"/>
          </a:xfrm>
          <a:prstGeom prst="rect">
            <a:avLst/>
          </a:prstGeom>
          <a:solidFill>
            <a:srgbClr val="E8F1EF"/>
          </a:solidFill>
          <a:ln w="12700">
            <a:solidFill>
              <a:srgbClr val="E8F1EF"/>
            </a:solidFill>
            <a:prstDash val="solid"/>
          </a:ln>
        </p:spPr>
      </p:sp>
      <p:sp>
        <p:nvSpPr>
          <p:cNvPr id="4" name="Text 2"/>
          <p:cNvSpPr txBox="1"/>
          <p:nvPr/>
        </p:nvSpPr>
        <p:spPr>
          <a:xfrm>
            <a:off x="822960" y="1417320"/>
            <a:ext cx="6065215" cy="77724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Welcome, objectives &amp; agenda</a:t>
            </a:r>
            <a:endParaRPr lang="en-US" sz="1700" dirty="0"/>
          </a:p>
        </p:txBody>
      </p:sp>
      <p:sp>
        <p:nvSpPr>
          <p:cNvPr id="5" name="Text 3"/>
          <p:cNvSpPr txBox="1"/>
          <p:nvPr/>
        </p:nvSpPr>
        <p:spPr>
          <a:xfrm>
            <a:off x="6888175" y="1417320"/>
            <a:ext cx="1508760" cy="777240"/>
          </a:xfrm>
          <a:prstGeom prst="rect">
            <a:avLst/>
          </a:prstGeom>
          <a:noFill/>
          <a:ln/>
        </p:spPr>
        <p:txBody>
          <a:bodyPr wrap="square" lIns="0" tIns="0" rIns="0" bIns="0" rtlCol="0" anchor="ctr"/>
          <a:lstStyle/>
          <a:p>
            <a:pPr algn="r" indent="0" marL="0">
              <a:buNone/>
            </a:pPr>
            <a:r>
              <a:rPr lang="en-US" sz="1600" b="1" dirty="0">
                <a:solidFill>
                  <a:srgbClr val="C78F2E"/>
                </a:solidFill>
                <a:latin typeface="Calibri" pitchFamily="34" charset="0"/>
                <a:ea typeface="Calibri" pitchFamily="34" charset="-122"/>
                <a:cs typeface="Calibri" pitchFamily="34" charset="-120"/>
              </a:rPr>
              <a:t>7 min</a:t>
            </a:r>
            <a:endParaRPr lang="en-US" sz="1600" dirty="0"/>
          </a:p>
        </p:txBody>
      </p:sp>
      <p:sp>
        <p:nvSpPr>
          <p:cNvPr id="6" name="Text 4"/>
          <p:cNvSpPr txBox="1"/>
          <p:nvPr/>
        </p:nvSpPr>
        <p:spPr>
          <a:xfrm>
            <a:off x="822960" y="2194560"/>
            <a:ext cx="6065215" cy="77724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Behavior Is Communication</a:t>
            </a:r>
            <a:endParaRPr lang="en-US" sz="1700" dirty="0"/>
          </a:p>
        </p:txBody>
      </p:sp>
      <p:sp>
        <p:nvSpPr>
          <p:cNvPr id="7" name="Text 5"/>
          <p:cNvSpPr txBox="1"/>
          <p:nvPr/>
        </p:nvSpPr>
        <p:spPr>
          <a:xfrm>
            <a:off x="6888175" y="2194560"/>
            <a:ext cx="1508760" cy="777240"/>
          </a:xfrm>
          <a:prstGeom prst="rect">
            <a:avLst/>
          </a:prstGeom>
          <a:noFill/>
          <a:ln/>
        </p:spPr>
        <p:txBody>
          <a:bodyPr wrap="square" lIns="0" tIns="0" rIns="0" bIns="0" rtlCol="0" anchor="ctr"/>
          <a:lstStyle/>
          <a:p>
            <a:pPr algn="r" indent="0" marL="0">
              <a:buNone/>
            </a:pPr>
            <a:r>
              <a:rPr lang="en-US" sz="1600" b="1" dirty="0">
                <a:solidFill>
                  <a:srgbClr val="C78F2E"/>
                </a:solidFill>
                <a:latin typeface="Calibri" pitchFamily="34" charset="0"/>
                <a:ea typeface="Calibri" pitchFamily="34" charset="-122"/>
                <a:cs typeface="Calibri" pitchFamily="34" charset="-120"/>
              </a:rPr>
              <a:t>22 min</a:t>
            </a:r>
            <a:endParaRPr lang="en-US" sz="1600" dirty="0"/>
          </a:p>
        </p:txBody>
      </p:sp>
      <p:sp>
        <p:nvSpPr>
          <p:cNvPr id="8" name="Shape 6"/>
          <p:cNvSpPr/>
          <p:nvPr/>
        </p:nvSpPr>
        <p:spPr>
          <a:xfrm>
            <a:off x="548640" y="2971800"/>
            <a:ext cx="8076895" cy="777240"/>
          </a:xfrm>
          <a:prstGeom prst="rect">
            <a:avLst/>
          </a:prstGeom>
          <a:solidFill>
            <a:srgbClr val="E8F1EF"/>
          </a:solidFill>
          <a:ln w="12700">
            <a:solidFill>
              <a:srgbClr val="E8F1EF"/>
            </a:solidFill>
            <a:prstDash val="solid"/>
          </a:ln>
        </p:spPr>
      </p:sp>
      <p:sp>
        <p:nvSpPr>
          <p:cNvPr id="9" name="Text 7"/>
          <p:cNvSpPr txBox="1"/>
          <p:nvPr/>
        </p:nvSpPr>
        <p:spPr>
          <a:xfrm>
            <a:off x="822960" y="2971800"/>
            <a:ext cx="6065215" cy="77724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The DICE Approach</a:t>
            </a:r>
            <a:endParaRPr lang="en-US" sz="1700" dirty="0"/>
          </a:p>
        </p:txBody>
      </p:sp>
      <p:sp>
        <p:nvSpPr>
          <p:cNvPr id="10" name="Text 8"/>
          <p:cNvSpPr txBox="1"/>
          <p:nvPr/>
        </p:nvSpPr>
        <p:spPr>
          <a:xfrm>
            <a:off x="6888175" y="2971800"/>
            <a:ext cx="1508760" cy="777240"/>
          </a:xfrm>
          <a:prstGeom prst="rect">
            <a:avLst/>
          </a:prstGeom>
          <a:noFill/>
          <a:ln/>
        </p:spPr>
        <p:txBody>
          <a:bodyPr wrap="square" lIns="0" tIns="0" rIns="0" bIns="0" rtlCol="0" anchor="ctr"/>
          <a:lstStyle/>
          <a:p>
            <a:pPr algn="r" indent="0" marL="0">
              <a:buNone/>
            </a:pPr>
            <a:r>
              <a:rPr lang="en-US" sz="1600" b="1" dirty="0">
                <a:solidFill>
                  <a:srgbClr val="C78F2E"/>
                </a:solidFill>
                <a:latin typeface="Calibri" pitchFamily="34" charset="0"/>
                <a:ea typeface="Calibri" pitchFamily="34" charset="-122"/>
                <a:cs typeface="Calibri" pitchFamily="34" charset="-120"/>
              </a:rPr>
              <a:t>58 min</a:t>
            </a:r>
            <a:endParaRPr lang="en-US" sz="1600" dirty="0"/>
          </a:p>
        </p:txBody>
      </p:sp>
      <p:sp>
        <p:nvSpPr>
          <p:cNvPr id="11" name="Text 9"/>
          <p:cNvSpPr txBox="1"/>
          <p:nvPr/>
        </p:nvSpPr>
        <p:spPr>
          <a:xfrm>
            <a:off x="822960" y="3749040"/>
            <a:ext cx="6065215" cy="77724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Communication</a:t>
            </a:r>
            <a:endParaRPr lang="en-US" sz="1700" dirty="0"/>
          </a:p>
        </p:txBody>
      </p:sp>
      <p:sp>
        <p:nvSpPr>
          <p:cNvPr id="12" name="Text 10"/>
          <p:cNvSpPr txBox="1"/>
          <p:nvPr/>
        </p:nvSpPr>
        <p:spPr>
          <a:xfrm>
            <a:off x="6888175" y="3749040"/>
            <a:ext cx="1508760" cy="777240"/>
          </a:xfrm>
          <a:prstGeom prst="rect">
            <a:avLst/>
          </a:prstGeom>
          <a:noFill/>
          <a:ln/>
        </p:spPr>
        <p:txBody>
          <a:bodyPr wrap="square" lIns="0" tIns="0" rIns="0" bIns="0" rtlCol="0" anchor="ctr"/>
          <a:lstStyle/>
          <a:p>
            <a:pPr algn="r" indent="0" marL="0">
              <a:buNone/>
            </a:pPr>
            <a:r>
              <a:rPr lang="en-US" sz="1600" b="1" dirty="0">
                <a:solidFill>
                  <a:srgbClr val="C78F2E"/>
                </a:solidFill>
                <a:latin typeface="Calibri" pitchFamily="34" charset="0"/>
                <a:ea typeface="Calibri" pitchFamily="34" charset="-122"/>
                <a:cs typeface="Calibri" pitchFamily="34" charset="-120"/>
              </a:rPr>
              <a:t>62 min</a:t>
            </a:r>
            <a:endParaRPr lang="en-US" sz="1600" dirty="0"/>
          </a:p>
        </p:txBody>
      </p:sp>
      <p:sp>
        <p:nvSpPr>
          <p:cNvPr id="13" name="Shape 11"/>
          <p:cNvSpPr/>
          <p:nvPr/>
        </p:nvSpPr>
        <p:spPr>
          <a:xfrm>
            <a:off x="548640" y="4526280"/>
            <a:ext cx="8076895" cy="777240"/>
          </a:xfrm>
          <a:prstGeom prst="rect">
            <a:avLst/>
          </a:prstGeom>
          <a:solidFill>
            <a:srgbClr val="E8F1EF"/>
          </a:solidFill>
          <a:ln w="12700">
            <a:solidFill>
              <a:srgbClr val="E8F1EF"/>
            </a:solidFill>
            <a:prstDash val="solid"/>
          </a:ln>
        </p:spPr>
      </p:sp>
      <p:sp>
        <p:nvSpPr>
          <p:cNvPr id="14" name="Text 12"/>
          <p:cNvSpPr txBox="1"/>
          <p:nvPr/>
        </p:nvSpPr>
        <p:spPr>
          <a:xfrm>
            <a:off x="822960" y="4526280"/>
            <a:ext cx="6065215" cy="77724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Knowledge check, takeaways &amp; resources</a:t>
            </a:r>
            <a:endParaRPr lang="en-US" sz="1700" dirty="0"/>
          </a:p>
        </p:txBody>
      </p:sp>
      <p:sp>
        <p:nvSpPr>
          <p:cNvPr id="15" name="Text 13"/>
          <p:cNvSpPr txBox="1"/>
          <p:nvPr/>
        </p:nvSpPr>
        <p:spPr>
          <a:xfrm>
            <a:off x="6888175" y="4526280"/>
            <a:ext cx="1508760" cy="777240"/>
          </a:xfrm>
          <a:prstGeom prst="rect">
            <a:avLst/>
          </a:prstGeom>
          <a:noFill/>
          <a:ln/>
        </p:spPr>
        <p:txBody>
          <a:bodyPr wrap="square" lIns="0" tIns="0" rIns="0" bIns="0" rtlCol="0" anchor="ctr"/>
          <a:lstStyle/>
          <a:p>
            <a:pPr algn="r" indent="0" marL="0">
              <a:buNone/>
            </a:pPr>
            <a:r>
              <a:rPr lang="en-US" sz="1600" b="1" dirty="0">
                <a:solidFill>
                  <a:srgbClr val="C78F2E"/>
                </a:solidFill>
                <a:latin typeface="Calibri" pitchFamily="34" charset="0"/>
                <a:ea typeface="Calibri" pitchFamily="34" charset="-122"/>
                <a:cs typeface="Calibri" pitchFamily="34" charset="-120"/>
              </a:rPr>
              <a:t>17 min</a:t>
            </a:r>
            <a:endParaRPr lang="en-US" sz="1600" dirty="0"/>
          </a:p>
        </p:txBody>
      </p:sp>
      <p:sp>
        <p:nvSpPr>
          <p:cNvPr id="16" name="Text 14"/>
          <p:cNvSpPr txBox="1"/>
          <p:nvPr/>
        </p:nvSpPr>
        <p:spPr>
          <a:xfrm>
            <a:off x="822960" y="5440680"/>
            <a:ext cx="7802575" cy="411480"/>
          </a:xfrm>
          <a:prstGeom prst="rect">
            <a:avLst/>
          </a:prstGeom>
          <a:noFill/>
          <a:ln/>
        </p:spPr>
        <p:txBody>
          <a:bodyPr wrap="square" lIns="0" tIns="0" rIns="0" bIns="0" rtlCol="0" anchor="ctr"/>
          <a:lstStyle/>
          <a:p>
            <a:pPr indent="0" marL="0">
              <a:buNone/>
            </a:pPr>
            <a:r>
              <a:rPr lang="en-US" sz="1500" i="1" dirty="0">
                <a:solidFill>
                  <a:srgbClr val="5E6B68"/>
                </a:solidFill>
                <a:latin typeface="Calibri" pitchFamily="34" charset="0"/>
                <a:ea typeface="Calibri" pitchFamily="34" charset="-122"/>
                <a:cs typeface="Calibri" pitchFamily="34" charset="-120"/>
              </a:rPr>
              <a:t>Total: 166 minutes (about 2.8 hours)</a:t>
            </a:r>
            <a:endParaRPr lang="en-US" sz="1500" dirty="0"/>
          </a:p>
        </p:txBody>
      </p:sp>
      <p:pic>
        <p:nvPicPr>
          <p:cNvPr id="17" name="Image 0" descr="preencoded.png">    </p:cNvPr>
          <p:cNvPicPr>
            <a:picLocks noChangeAspect="1"/>
          </p:cNvPicPr>
          <p:nvPr/>
        </p:nvPicPr>
        <p:blipFill>
          <a:blip r:embed="rId1"/>
          <a:stretch>
            <a:fillRect/>
          </a:stretch>
        </p:blipFill>
        <p:spPr>
          <a:xfrm>
            <a:off x="9128455" y="1371600"/>
            <a:ext cx="2514600" cy="3182112"/>
          </a:xfrm>
          <a:prstGeom prst="rect">
            <a:avLst/>
          </a:prstGeom>
        </p:spPr>
      </p:pic>
      <p:pic>
        <p:nvPicPr>
          <p:cNvPr id="18" name="Image 1" descr="preencoded.png">    </p:cNvPr>
          <p:cNvPicPr>
            <a:picLocks noChangeAspect="1"/>
          </p:cNvPicPr>
          <p:nvPr/>
        </p:nvPicPr>
        <p:blipFill>
          <a:blip r:embed="rId2"/>
          <a:stretch>
            <a:fillRect/>
          </a:stretch>
        </p:blipFill>
        <p:spPr>
          <a:xfrm>
            <a:off x="548640" y="6309360"/>
            <a:ext cx="874762" cy="365760"/>
          </a:xfrm>
          <a:prstGeom prst="rect">
            <a:avLst/>
          </a:prstGeom>
        </p:spPr>
      </p:pic>
      <p:sp>
        <p:nvSpPr>
          <p:cNvPr id="19" name="Text 15"/>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3</a:t>
            </a:r>
            <a:endParaRPr lang="en-US" sz="900" dirty="0"/>
          </a:p>
        </p:txBody>
      </p:sp>
      <p:sp>
        <p:nvSpPr>
          <p:cNvPr id="20" name="Text 16"/>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8695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75000"/>
          </a:blip>
          <a:stretch>
            <a:fillRect/>
          </a:stretch>
        </p:blipFill>
        <p:spPr>
          <a:xfrm>
            <a:off x="8138160" y="548640"/>
            <a:ext cx="4206240" cy="5330952"/>
          </a:xfrm>
          <a:prstGeom prst="rect">
            <a:avLst/>
          </a:prstGeom>
        </p:spPr>
      </p:pic>
      <p:sp>
        <p:nvSpPr>
          <p:cNvPr id="3" name="Text 0"/>
          <p:cNvSpPr txBox="1"/>
          <p:nvPr/>
        </p:nvSpPr>
        <p:spPr>
          <a:xfrm>
            <a:off x="731520" y="1188720"/>
            <a:ext cx="2743200" cy="1371600"/>
          </a:xfrm>
          <a:prstGeom prst="rect">
            <a:avLst/>
          </a:prstGeom>
          <a:noFill/>
          <a:ln/>
        </p:spPr>
        <p:txBody>
          <a:bodyPr wrap="square" lIns="0" tIns="0" rIns="0" bIns="0" rtlCol="0" anchor="t"/>
          <a:lstStyle/>
          <a:p>
            <a:pPr indent="0" marL="0">
              <a:buNone/>
            </a:pPr>
            <a:r>
              <a:rPr lang="en-US" sz="8800" b="1" dirty="0">
                <a:solidFill>
                  <a:srgbClr val="F8CB27"/>
                </a:solidFill>
                <a:latin typeface="Cambria" pitchFamily="34" charset="0"/>
                <a:ea typeface="Cambria" pitchFamily="34" charset="-122"/>
                <a:cs typeface="Cambria" pitchFamily="34" charset="-120"/>
              </a:rPr>
              <a:t>01</a:t>
            </a:r>
            <a:endParaRPr lang="en-US" sz="8800" dirty="0"/>
          </a:p>
        </p:txBody>
      </p:sp>
      <p:sp>
        <p:nvSpPr>
          <p:cNvPr id="4" name="Text 1"/>
          <p:cNvSpPr txBox="1"/>
          <p:nvPr/>
        </p:nvSpPr>
        <p:spPr>
          <a:xfrm>
            <a:off x="731520" y="2103120"/>
            <a:ext cx="7132320" cy="1783080"/>
          </a:xfrm>
          <a:prstGeom prst="rect">
            <a:avLst/>
          </a:prstGeom>
          <a:noFill/>
          <a:ln/>
        </p:spPr>
        <p:txBody>
          <a:bodyPr wrap="square" lIns="0" tIns="0" rIns="0" bIns="0" rtlCol="0" anchor="b"/>
          <a:lstStyle/>
          <a:p>
            <a:pPr indent="0" marL="0">
              <a:buNone/>
            </a:pPr>
            <a:r>
              <a:rPr lang="en-US" sz="3800" b="1" dirty="0">
                <a:solidFill>
                  <a:srgbClr val="FFFFFF"/>
                </a:solidFill>
                <a:latin typeface="Cambria" pitchFamily="34" charset="0"/>
                <a:ea typeface="Cambria" pitchFamily="34" charset="-122"/>
                <a:cs typeface="Cambria" pitchFamily="34" charset="-120"/>
              </a:rPr>
              <a:t>Behavior Is Communication</a:t>
            </a:r>
            <a:endParaRPr lang="en-US" sz="3800" dirty="0"/>
          </a:p>
        </p:txBody>
      </p:sp>
      <p:sp>
        <p:nvSpPr>
          <p:cNvPr id="5" name="Text 2"/>
          <p:cNvSpPr txBox="1"/>
          <p:nvPr/>
        </p:nvSpPr>
        <p:spPr>
          <a:xfrm>
            <a:off x="731520" y="3977640"/>
            <a:ext cx="6949440" cy="914400"/>
          </a:xfrm>
          <a:prstGeom prst="rect">
            <a:avLst/>
          </a:prstGeom>
          <a:noFill/>
          <a:ln/>
        </p:spPr>
        <p:txBody>
          <a:bodyPr wrap="square" lIns="0" tIns="0" rIns="0" bIns="0" rtlCol="0" anchor="t"/>
          <a:lstStyle/>
          <a:p>
            <a:pPr indent="0" marL="0">
              <a:buNone/>
            </a:pPr>
            <a:r>
              <a:rPr lang="en-US" sz="1800" dirty="0">
                <a:solidFill>
                  <a:srgbClr val="C9DEDA"/>
                </a:solidFill>
                <a:latin typeface="Calibri" pitchFamily="34" charset="0"/>
                <a:ea typeface="Calibri" pitchFamily="34" charset="-122"/>
                <a:cs typeface="Calibri" pitchFamily="34" charset="-120"/>
              </a:rPr>
              <a:t>Common behavioral changes and why they happen</a:t>
            </a:r>
            <a:endParaRPr lang="en-US" sz="1800" dirty="0"/>
          </a:p>
        </p:txBody>
      </p:sp>
      <p:pic>
        <p:nvPicPr>
          <p:cNvPr id="6" name="Image 1" descr="preencoded.png">    </p:cNvPr>
          <p:cNvPicPr>
            <a:picLocks noChangeAspect="1"/>
          </p:cNvPicPr>
          <p:nvPr/>
        </p:nvPicPr>
        <p:blipFill>
          <a:blip r:embed="rId2"/>
          <a:stretch>
            <a:fillRect/>
          </a:stretch>
        </p:blipFill>
        <p:spPr>
          <a:xfrm>
            <a:off x="548640" y="6382512"/>
            <a:ext cx="219456" cy="219456"/>
          </a:xfrm>
          <a:prstGeom prst="rect">
            <a:avLst/>
          </a:prstGeom>
        </p:spPr>
      </p:pic>
      <p:sp>
        <p:nvSpPr>
          <p:cNvPr id="7" name="Text 3"/>
          <p:cNvSpPr txBox="1"/>
          <p:nvPr/>
        </p:nvSpPr>
        <p:spPr>
          <a:xfrm>
            <a:off x="859536" y="6364224"/>
            <a:ext cx="7772400" cy="256032"/>
          </a:xfrm>
          <a:prstGeom prst="rect">
            <a:avLst/>
          </a:prstGeom>
          <a:noFill/>
          <a:ln/>
        </p:spPr>
        <p:txBody>
          <a:bodyPr wrap="square" lIns="0" tIns="0" rIns="0" bIns="0" rtlCol="0" anchor="ctr"/>
          <a:lstStyle/>
          <a:p>
            <a:pPr indent="0" marL="0">
              <a:buNone/>
            </a:pPr>
            <a:r>
              <a:rPr lang="en-US" sz="900" dirty="0">
                <a:solidFill>
                  <a:srgbClr val="C9DEDA"/>
                </a:solidFill>
                <a:latin typeface="Calibri" pitchFamily="34" charset="0"/>
                <a:ea typeface="Calibri" pitchFamily="34" charset="-122"/>
                <a:cs typeface="Calibri" pitchFamily="34" charset="-120"/>
              </a:rPr>
              <a:t>AbleLiving Memory Support  |  GUIDE Care Navigator Training  |  Module 3</a:t>
            </a:r>
            <a:endParaRPr lang="en-US" sz="900" dirty="0"/>
          </a:p>
        </p:txBody>
      </p:sp>
      <p:sp>
        <p:nvSpPr>
          <p:cNvPr id="8" name="Text 4"/>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C9DEDA"/>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Reframing "Challenging Behaviors"</a:t>
            </a:r>
            <a:endParaRPr lang="en-US" sz="3000" dirty="0"/>
          </a:p>
        </p:txBody>
      </p:sp>
      <p:sp>
        <p:nvSpPr>
          <p:cNvPr id="3" name="Text 1"/>
          <p:cNvSpPr txBox="1"/>
          <p:nvPr/>
        </p:nvSpPr>
        <p:spPr>
          <a:xfrm>
            <a:off x="548640" y="1417320"/>
            <a:ext cx="6675120" cy="4709160"/>
          </a:xfrm>
          <a:prstGeom prst="rect">
            <a:avLst/>
          </a:prstGeom>
          <a:noFill/>
          <a:ln/>
        </p:spPr>
        <p:txBody>
          <a:bodyPr wrap="square" lIns="0" tIns="0" rIns="0" bIns="0" rtlCol="0" anchor="t"/>
          <a:lstStyle/>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Most people with dementia </a:t>
            </a:r>
            <a:r>
              <a:rPr lang="en-US" sz="1800" dirty="0">
                <a:solidFill>
                  <a:srgbClr val="24302D"/>
                </a:solidFill>
                <a:latin typeface="Calibri" pitchFamily="34" charset="0"/>
                <a:ea typeface="Calibri" pitchFamily="34" charset="-122"/>
                <a:cs typeface="Calibri" pitchFamily="34" charset="-120"/>
              </a:rPr>
              <a:t>experience behavioral or psychological symptoms at some point in the illness</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Behavior is a message: </a:t>
            </a:r>
            <a:r>
              <a:rPr lang="en-US" sz="1800" dirty="0">
                <a:solidFill>
                  <a:srgbClr val="24302D"/>
                </a:solidFill>
                <a:latin typeface="Calibri" pitchFamily="34" charset="0"/>
                <a:ea typeface="Calibri" pitchFamily="34" charset="-122"/>
                <a:cs typeface="Calibri" pitchFamily="34" charset="-120"/>
              </a:rPr>
              <a:t>often an unmet need the person can no longer put into words</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Many clinicians use the term </a:t>
            </a:r>
            <a:r>
              <a:rPr lang="en-US" sz="1800" dirty="0">
                <a:solidFill>
                  <a:srgbClr val="24302D"/>
                </a:solidFill>
                <a:latin typeface="Calibri" pitchFamily="34" charset="0"/>
                <a:ea typeface="Calibri" pitchFamily="34" charset="-122"/>
                <a:cs typeface="Calibri" pitchFamily="34" charset="-120"/>
              </a:rPr>
              <a:t>"responsive behaviors" — responses to something in the person's body, environment, or interactions</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Behavioral symptoms </a:t>
            </a:r>
            <a:r>
              <a:rPr lang="en-US" sz="1800" dirty="0">
                <a:solidFill>
                  <a:srgbClr val="24302D"/>
                </a:solidFill>
                <a:latin typeface="Calibri" pitchFamily="34" charset="0"/>
                <a:ea typeface="Calibri" pitchFamily="34" charset="-122"/>
                <a:cs typeface="Calibri" pitchFamily="34" charset="-120"/>
              </a:rPr>
              <a:t>are a leading source of caregiver distress, emergency visits, and moves to nursing homes</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Our goal: </a:t>
            </a:r>
            <a:r>
              <a:rPr lang="en-US" sz="1800" dirty="0">
                <a:solidFill>
                  <a:srgbClr val="24302D"/>
                </a:solidFill>
                <a:latin typeface="Calibri" pitchFamily="34" charset="0"/>
                <a:ea typeface="Calibri" pitchFamily="34" charset="-122"/>
                <a:cs typeface="Calibri" pitchFamily="34" charset="-120"/>
              </a:rPr>
              <a:t>understand the cause, not just stop the behavior</a:t>
            </a:r>
            <a:endParaRPr lang="en-US" sz="1800" dirty="0"/>
          </a:p>
        </p:txBody>
      </p:sp>
      <p:sp>
        <p:nvSpPr>
          <p:cNvPr id="4" name="Shape 2"/>
          <p:cNvSpPr/>
          <p:nvPr/>
        </p:nvSpPr>
        <p:spPr>
          <a:xfrm>
            <a:off x="7589520" y="1417320"/>
            <a:ext cx="4053535" cy="3149600"/>
          </a:xfrm>
          <a:prstGeom prst="roundRect">
            <a:avLst>
              <a:gd name="adj" fmla="val 3484"/>
            </a:avLst>
          </a:prstGeom>
          <a:solidFill>
            <a:srgbClr val="E8F1EF"/>
          </a:solidFill>
          <a:ln w="12700">
            <a:solidFill>
              <a:srgbClr val="E8F1EF"/>
            </a:solidFill>
            <a:prstDash val="solid"/>
          </a:ln>
        </p:spPr>
      </p:sp>
      <p:pic>
        <p:nvPicPr>
          <p:cNvPr id="5" name="Image 0" descr="preencoded.png">    </p:cNvPr>
          <p:cNvPicPr>
            <a:picLocks noChangeAspect="1"/>
          </p:cNvPicPr>
          <p:nvPr/>
        </p:nvPicPr>
        <p:blipFill>
          <a:blip r:embed="rId1"/>
          <a:stretch>
            <a:fillRect/>
          </a:stretch>
        </p:blipFill>
        <p:spPr>
          <a:xfrm>
            <a:off x="7863840" y="1691640"/>
            <a:ext cx="502920" cy="502920"/>
          </a:xfrm>
          <a:prstGeom prst="rect">
            <a:avLst/>
          </a:prstGeom>
        </p:spPr>
      </p:pic>
      <p:sp>
        <p:nvSpPr>
          <p:cNvPr id="6" name="Text 3"/>
          <p:cNvSpPr txBox="1"/>
          <p:nvPr/>
        </p:nvSpPr>
        <p:spPr>
          <a:xfrm>
            <a:off x="8503920" y="1645920"/>
            <a:ext cx="2910535" cy="594360"/>
          </a:xfrm>
          <a:prstGeom prst="rect">
            <a:avLst/>
          </a:prstGeom>
          <a:noFill/>
          <a:ln/>
        </p:spPr>
        <p:txBody>
          <a:bodyPr wrap="square" lIns="0" tIns="0" rIns="0" bIns="0" rtlCol="0" anchor="ctr"/>
          <a:lstStyle/>
          <a:p>
            <a:pPr indent="0" marL="0">
              <a:buNone/>
            </a:pPr>
            <a:r>
              <a:rPr lang="en-US" sz="1800" b="1" dirty="0">
                <a:solidFill>
                  <a:srgbClr val="28695F"/>
                </a:solidFill>
                <a:latin typeface="Cambria" pitchFamily="34" charset="0"/>
                <a:ea typeface="Cambria" pitchFamily="34" charset="-122"/>
                <a:cs typeface="Cambria" pitchFamily="34" charset="-120"/>
              </a:rPr>
              <a:t>Ask "Why?" before "How do we stop it?"</a:t>
            </a:r>
            <a:endParaRPr lang="en-US" sz="1800" dirty="0"/>
          </a:p>
        </p:txBody>
      </p:sp>
      <p:sp>
        <p:nvSpPr>
          <p:cNvPr id="7" name="Text 4"/>
          <p:cNvSpPr txBox="1"/>
          <p:nvPr/>
        </p:nvSpPr>
        <p:spPr>
          <a:xfrm>
            <a:off x="7863840" y="2423160"/>
            <a:ext cx="3504895" cy="2052320"/>
          </a:xfrm>
          <a:prstGeom prst="rect">
            <a:avLst/>
          </a:prstGeom>
          <a:noFill/>
          <a:ln/>
        </p:spPr>
        <p:txBody>
          <a:bodyPr wrap="square" lIns="0" tIns="0" rIns="0" bIns="0" rtlCol="0" anchor="t"/>
          <a:lstStyle/>
          <a:p>
            <a:pPr indent="0" marL="0">
              <a:buNone/>
            </a:pPr>
            <a:r>
              <a:rPr lang="en-US" sz="1600" dirty="0">
                <a:solidFill>
                  <a:srgbClr val="24302D"/>
                </a:solidFill>
                <a:latin typeface="Calibri" pitchFamily="34" charset="0"/>
                <a:ea typeface="Calibri" pitchFamily="34" charset="-122"/>
                <a:cs typeface="Calibri" pitchFamily="34" charset="-120"/>
              </a:rPr>
              <a:t>A person who strikes out during bathing may be cold, in pain, frightened, or embarrassed. Addressing the reason is safer and more effective than medication.</a:t>
            </a:r>
            <a:endParaRPr lang="en-US" sz="1600" dirty="0"/>
          </a:p>
        </p:txBody>
      </p:sp>
      <p:pic>
        <p:nvPicPr>
          <p:cNvPr id="8" name="Image 1" descr="preencoded.png">    </p:cNvPr>
          <p:cNvPicPr>
            <a:picLocks noChangeAspect="1"/>
          </p:cNvPicPr>
          <p:nvPr/>
        </p:nvPicPr>
        <p:blipFill>
          <a:blip r:embed="rId2"/>
          <a:stretch>
            <a:fillRect/>
          </a:stretch>
        </p:blipFill>
        <p:spPr>
          <a:xfrm>
            <a:off x="548640" y="6309360"/>
            <a:ext cx="874762" cy="365760"/>
          </a:xfrm>
          <a:prstGeom prst="rect">
            <a:avLst/>
          </a:prstGeom>
        </p:spPr>
      </p:pic>
      <p:sp>
        <p:nvSpPr>
          <p:cNvPr id="9" name="Text 5"/>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3</a:t>
            </a:r>
            <a:endParaRPr lang="en-US" sz="900" dirty="0"/>
          </a:p>
        </p:txBody>
      </p:sp>
      <p:sp>
        <p:nvSpPr>
          <p:cNvPr id="10" name="Text 6"/>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Common Behavioral Changes Due to Dementia</a:t>
            </a:r>
            <a:endParaRPr lang="en-US" sz="3000" dirty="0"/>
          </a:p>
        </p:txBody>
      </p:sp>
      <p:sp>
        <p:nvSpPr>
          <p:cNvPr id="3" name="Shape 1"/>
          <p:cNvSpPr/>
          <p:nvPr/>
        </p:nvSpPr>
        <p:spPr>
          <a:xfrm>
            <a:off x="548640" y="1417320"/>
            <a:ext cx="3515258" cy="2217420"/>
          </a:xfrm>
          <a:prstGeom prst="roundRect">
            <a:avLst>
              <a:gd name="adj" fmla="val 4948"/>
            </a:avLst>
          </a:prstGeom>
          <a:solidFill>
            <a:srgbClr val="E8F1EF"/>
          </a:solidFill>
          <a:ln w="12700">
            <a:solidFill>
              <a:srgbClr val="E8F1EF"/>
            </a:solidFill>
            <a:prstDash val="solid"/>
          </a:ln>
        </p:spPr>
      </p:sp>
      <p:pic>
        <p:nvPicPr>
          <p:cNvPr id="4" name="Image 0" descr="preencoded.png">    </p:cNvPr>
          <p:cNvPicPr>
            <a:picLocks noChangeAspect="1"/>
          </p:cNvPicPr>
          <p:nvPr/>
        </p:nvPicPr>
        <p:blipFill>
          <a:blip r:embed="rId1"/>
          <a:stretch>
            <a:fillRect/>
          </a:stretch>
        </p:blipFill>
        <p:spPr>
          <a:xfrm>
            <a:off x="749808" y="1618488"/>
            <a:ext cx="420624" cy="420624"/>
          </a:xfrm>
          <a:prstGeom prst="rect">
            <a:avLst/>
          </a:prstGeom>
        </p:spPr>
      </p:pic>
      <p:sp>
        <p:nvSpPr>
          <p:cNvPr id="5" name="Text 2"/>
          <p:cNvSpPr txBox="1"/>
          <p:nvPr/>
        </p:nvSpPr>
        <p:spPr>
          <a:xfrm>
            <a:off x="1298448" y="157276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Agitation &amp; Aggression</a:t>
            </a:r>
            <a:endParaRPr lang="en-US" sz="1700" dirty="0"/>
          </a:p>
        </p:txBody>
      </p:sp>
      <p:sp>
        <p:nvSpPr>
          <p:cNvPr id="6" name="Text 3"/>
          <p:cNvSpPr txBox="1"/>
          <p:nvPr/>
        </p:nvSpPr>
        <p:spPr>
          <a:xfrm>
            <a:off x="768096" y="219456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Restlessness, pacing, yelling, hitting or pushing — often during personal care.</a:t>
            </a:r>
            <a:endParaRPr lang="en-US" sz="1650" dirty="0"/>
          </a:p>
        </p:txBody>
      </p:sp>
      <p:sp>
        <p:nvSpPr>
          <p:cNvPr id="7" name="Shape 4"/>
          <p:cNvSpPr/>
          <p:nvPr/>
        </p:nvSpPr>
        <p:spPr>
          <a:xfrm>
            <a:off x="4338218" y="1417320"/>
            <a:ext cx="3515258" cy="2217420"/>
          </a:xfrm>
          <a:prstGeom prst="roundRect">
            <a:avLst>
              <a:gd name="adj" fmla="val 4948"/>
            </a:avLst>
          </a:prstGeom>
          <a:solidFill>
            <a:srgbClr val="E8F1EF"/>
          </a:solidFill>
          <a:ln w="12700">
            <a:solidFill>
              <a:srgbClr val="E8F1EF"/>
            </a:solidFill>
            <a:prstDash val="solid"/>
          </a:ln>
        </p:spPr>
      </p:sp>
      <p:pic>
        <p:nvPicPr>
          <p:cNvPr id="8" name="Image 1" descr="preencoded.png">    </p:cNvPr>
          <p:cNvPicPr>
            <a:picLocks noChangeAspect="1"/>
          </p:cNvPicPr>
          <p:nvPr/>
        </p:nvPicPr>
        <p:blipFill>
          <a:blip r:embed="rId2"/>
          <a:stretch>
            <a:fillRect/>
          </a:stretch>
        </p:blipFill>
        <p:spPr>
          <a:xfrm>
            <a:off x="4539386" y="1618488"/>
            <a:ext cx="420624" cy="420624"/>
          </a:xfrm>
          <a:prstGeom prst="rect">
            <a:avLst/>
          </a:prstGeom>
        </p:spPr>
      </p:pic>
      <p:sp>
        <p:nvSpPr>
          <p:cNvPr id="9" name="Text 5"/>
          <p:cNvSpPr txBox="1"/>
          <p:nvPr/>
        </p:nvSpPr>
        <p:spPr>
          <a:xfrm>
            <a:off x="5088026" y="157276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Wandering &amp; Exit-Seeking</a:t>
            </a:r>
            <a:endParaRPr lang="en-US" sz="1700" dirty="0"/>
          </a:p>
        </p:txBody>
      </p:sp>
      <p:sp>
        <p:nvSpPr>
          <p:cNvPr id="10" name="Text 6"/>
          <p:cNvSpPr txBox="1"/>
          <p:nvPr/>
        </p:nvSpPr>
        <p:spPr>
          <a:xfrm>
            <a:off x="4557674" y="219456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Trying to leave, "going home," or walking without a clear destination.</a:t>
            </a:r>
            <a:endParaRPr lang="en-US" sz="1650" dirty="0"/>
          </a:p>
        </p:txBody>
      </p:sp>
      <p:sp>
        <p:nvSpPr>
          <p:cNvPr id="11" name="Shape 7"/>
          <p:cNvSpPr/>
          <p:nvPr/>
        </p:nvSpPr>
        <p:spPr>
          <a:xfrm>
            <a:off x="8127797" y="1417320"/>
            <a:ext cx="3515258" cy="2217420"/>
          </a:xfrm>
          <a:prstGeom prst="roundRect">
            <a:avLst>
              <a:gd name="adj" fmla="val 4948"/>
            </a:avLst>
          </a:prstGeom>
          <a:solidFill>
            <a:srgbClr val="E8F1EF"/>
          </a:solidFill>
          <a:ln w="12700">
            <a:solidFill>
              <a:srgbClr val="E8F1EF"/>
            </a:solidFill>
            <a:prstDash val="solid"/>
          </a:ln>
        </p:spPr>
      </p:sp>
      <p:pic>
        <p:nvPicPr>
          <p:cNvPr id="12" name="Image 2" descr="preencoded.png">    </p:cNvPr>
          <p:cNvPicPr>
            <a:picLocks noChangeAspect="1"/>
          </p:cNvPicPr>
          <p:nvPr/>
        </p:nvPicPr>
        <p:blipFill>
          <a:blip r:embed="rId3"/>
          <a:stretch>
            <a:fillRect/>
          </a:stretch>
        </p:blipFill>
        <p:spPr>
          <a:xfrm>
            <a:off x="8328965" y="1618488"/>
            <a:ext cx="420624" cy="420624"/>
          </a:xfrm>
          <a:prstGeom prst="rect">
            <a:avLst/>
          </a:prstGeom>
        </p:spPr>
      </p:pic>
      <p:sp>
        <p:nvSpPr>
          <p:cNvPr id="13" name="Text 8"/>
          <p:cNvSpPr txBox="1"/>
          <p:nvPr/>
        </p:nvSpPr>
        <p:spPr>
          <a:xfrm>
            <a:off x="8877605" y="157276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Sundowning</a:t>
            </a:r>
            <a:endParaRPr lang="en-US" sz="1700" dirty="0"/>
          </a:p>
        </p:txBody>
      </p:sp>
      <p:sp>
        <p:nvSpPr>
          <p:cNvPr id="14" name="Text 9"/>
          <p:cNvSpPr txBox="1"/>
          <p:nvPr/>
        </p:nvSpPr>
        <p:spPr>
          <a:xfrm>
            <a:off x="8347253" y="219456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Increased confusion, anxiety, or agitation in the late afternoon and evening.</a:t>
            </a:r>
            <a:endParaRPr lang="en-US" sz="1650" dirty="0"/>
          </a:p>
        </p:txBody>
      </p:sp>
      <p:sp>
        <p:nvSpPr>
          <p:cNvPr id="15" name="Shape 10"/>
          <p:cNvSpPr/>
          <p:nvPr/>
        </p:nvSpPr>
        <p:spPr>
          <a:xfrm>
            <a:off x="548640" y="3909060"/>
            <a:ext cx="3515258" cy="2217420"/>
          </a:xfrm>
          <a:prstGeom prst="roundRect">
            <a:avLst>
              <a:gd name="adj" fmla="val 4948"/>
            </a:avLst>
          </a:prstGeom>
          <a:solidFill>
            <a:srgbClr val="E8F1EF"/>
          </a:solidFill>
          <a:ln w="12700">
            <a:solidFill>
              <a:srgbClr val="E8F1EF"/>
            </a:solidFill>
            <a:prstDash val="solid"/>
          </a:ln>
        </p:spPr>
      </p:sp>
      <p:pic>
        <p:nvPicPr>
          <p:cNvPr id="16" name="Image 3" descr="preencoded.png">    </p:cNvPr>
          <p:cNvPicPr>
            <a:picLocks noChangeAspect="1"/>
          </p:cNvPicPr>
          <p:nvPr/>
        </p:nvPicPr>
        <p:blipFill>
          <a:blip r:embed="rId4"/>
          <a:stretch>
            <a:fillRect/>
          </a:stretch>
        </p:blipFill>
        <p:spPr>
          <a:xfrm>
            <a:off x="749808" y="4110228"/>
            <a:ext cx="420624" cy="420624"/>
          </a:xfrm>
          <a:prstGeom prst="rect">
            <a:avLst/>
          </a:prstGeom>
        </p:spPr>
      </p:pic>
      <p:sp>
        <p:nvSpPr>
          <p:cNvPr id="17" name="Text 11"/>
          <p:cNvSpPr txBox="1"/>
          <p:nvPr/>
        </p:nvSpPr>
        <p:spPr>
          <a:xfrm>
            <a:off x="1298448" y="406450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Repetition</a:t>
            </a:r>
            <a:endParaRPr lang="en-US" sz="1700" dirty="0"/>
          </a:p>
        </p:txBody>
      </p:sp>
      <p:sp>
        <p:nvSpPr>
          <p:cNvPr id="18" name="Text 12"/>
          <p:cNvSpPr txBox="1"/>
          <p:nvPr/>
        </p:nvSpPr>
        <p:spPr>
          <a:xfrm>
            <a:off x="768096" y="468630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Asking the same question, repeating stories or actions over and over.</a:t>
            </a:r>
            <a:endParaRPr lang="en-US" sz="1650" dirty="0"/>
          </a:p>
        </p:txBody>
      </p:sp>
      <p:sp>
        <p:nvSpPr>
          <p:cNvPr id="19" name="Shape 13"/>
          <p:cNvSpPr/>
          <p:nvPr/>
        </p:nvSpPr>
        <p:spPr>
          <a:xfrm>
            <a:off x="4338218" y="3909060"/>
            <a:ext cx="3515258" cy="2217420"/>
          </a:xfrm>
          <a:prstGeom prst="roundRect">
            <a:avLst>
              <a:gd name="adj" fmla="val 4948"/>
            </a:avLst>
          </a:prstGeom>
          <a:solidFill>
            <a:srgbClr val="E8F1EF"/>
          </a:solidFill>
          <a:ln w="12700">
            <a:solidFill>
              <a:srgbClr val="E8F1EF"/>
            </a:solidFill>
            <a:prstDash val="solid"/>
          </a:ln>
        </p:spPr>
      </p:sp>
      <p:pic>
        <p:nvPicPr>
          <p:cNvPr id="20" name="Image 4" descr="preencoded.png">    </p:cNvPr>
          <p:cNvPicPr>
            <a:picLocks noChangeAspect="1"/>
          </p:cNvPicPr>
          <p:nvPr/>
        </p:nvPicPr>
        <p:blipFill>
          <a:blip r:embed="rId5"/>
          <a:stretch>
            <a:fillRect/>
          </a:stretch>
        </p:blipFill>
        <p:spPr>
          <a:xfrm>
            <a:off x="4539386" y="4110228"/>
            <a:ext cx="420624" cy="420624"/>
          </a:xfrm>
          <a:prstGeom prst="rect">
            <a:avLst/>
          </a:prstGeom>
        </p:spPr>
      </p:pic>
      <p:sp>
        <p:nvSpPr>
          <p:cNvPr id="21" name="Text 14"/>
          <p:cNvSpPr txBox="1"/>
          <p:nvPr/>
        </p:nvSpPr>
        <p:spPr>
          <a:xfrm>
            <a:off x="5088026" y="406450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Suspicion &amp; Hallucinations</a:t>
            </a:r>
            <a:endParaRPr lang="en-US" sz="1700" dirty="0"/>
          </a:p>
        </p:txBody>
      </p:sp>
      <p:sp>
        <p:nvSpPr>
          <p:cNvPr id="22" name="Text 15"/>
          <p:cNvSpPr txBox="1"/>
          <p:nvPr/>
        </p:nvSpPr>
        <p:spPr>
          <a:xfrm>
            <a:off x="4557674" y="468630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Accusing others of stealing; seeing or hearing things that are not there.</a:t>
            </a:r>
            <a:endParaRPr lang="en-US" sz="1650" dirty="0"/>
          </a:p>
        </p:txBody>
      </p:sp>
      <p:sp>
        <p:nvSpPr>
          <p:cNvPr id="23" name="Shape 16"/>
          <p:cNvSpPr/>
          <p:nvPr/>
        </p:nvSpPr>
        <p:spPr>
          <a:xfrm>
            <a:off x="8127797" y="3909060"/>
            <a:ext cx="3515258" cy="2217420"/>
          </a:xfrm>
          <a:prstGeom prst="roundRect">
            <a:avLst>
              <a:gd name="adj" fmla="val 4948"/>
            </a:avLst>
          </a:prstGeom>
          <a:solidFill>
            <a:srgbClr val="E8F1EF"/>
          </a:solidFill>
          <a:ln w="12700">
            <a:solidFill>
              <a:srgbClr val="E8F1EF"/>
            </a:solidFill>
            <a:prstDash val="solid"/>
          </a:ln>
        </p:spPr>
      </p:sp>
      <p:pic>
        <p:nvPicPr>
          <p:cNvPr id="24" name="Image 5" descr="preencoded.png">    </p:cNvPr>
          <p:cNvPicPr>
            <a:picLocks noChangeAspect="1"/>
          </p:cNvPicPr>
          <p:nvPr/>
        </p:nvPicPr>
        <p:blipFill>
          <a:blip r:embed="rId6"/>
          <a:stretch>
            <a:fillRect/>
          </a:stretch>
        </p:blipFill>
        <p:spPr>
          <a:xfrm>
            <a:off x="8328965" y="4110228"/>
            <a:ext cx="420624" cy="420624"/>
          </a:xfrm>
          <a:prstGeom prst="rect">
            <a:avLst/>
          </a:prstGeom>
        </p:spPr>
      </p:pic>
      <p:sp>
        <p:nvSpPr>
          <p:cNvPr id="25" name="Text 17"/>
          <p:cNvSpPr txBox="1"/>
          <p:nvPr/>
        </p:nvSpPr>
        <p:spPr>
          <a:xfrm>
            <a:off x="8877605" y="406450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Apathy, Depression &amp; Sleep</a:t>
            </a:r>
            <a:endParaRPr lang="en-US" sz="1700" dirty="0"/>
          </a:p>
        </p:txBody>
      </p:sp>
      <p:sp>
        <p:nvSpPr>
          <p:cNvPr id="26" name="Text 18"/>
          <p:cNvSpPr txBox="1"/>
          <p:nvPr/>
        </p:nvSpPr>
        <p:spPr>
          <a:xfrm>
            <a:off x="8347253" y="468630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Withdrawal, low mood, day-night reversal, and disrupted sleep.</a:t>
            </a:r>
            <a:endParaRPr lang="en-US" sz="1650" dirty="0"/>
          </a:p>
        </p:txBody>
      </p:sp>
      <p:pic>
        <p:nvPicPr>
          <p:cNvPr id="27" name="Image 6" descr="preencoded.png">    </p:cNvPr>
          <p:cNvPicPr>
            <a:picLocks noChangeAspect="1"/>
          </p:cNvPicPr>
          <p:nvPr/>
        </p:nvPicPr>
        <p:blipFill>
          <a:blip r:embed="rId7"/>
          <a:stretch>
            <a:fillRect/>
          </a:stretch>
        </p:blipFill>
        <p:spPr>
          <a:xfrm>
            <a:off x="548640" y="6309360"/>
            <a:ext cx="874762" cy="365760"/>
          </a:xfrm>
          <a:prstGeom prst="rect">
            <a:avLst/>
          </a:prstGeom>
        </p:spPr>
      </p:pic>
      <p:sp>
        <p:nvSpPr>
          <p:cNvPr id="28" name="Text 19"/>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3</a:t>
            </a:r>
            <a:endParaRPr lang="en-US" sz="900" dirty="0"/>
          </a:p>
        </p:txBody>
      </p:sp>
      <p:sp>
        <p:nvSpPr>
          <p:cNvPr id="29" name="Text 20"/>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What Triggers Behavior?</a:t>
            </a:r>
            <a:endParaRPr lang="en-US" sz="3000" dirty="0"/>
          </a:p>
        </p:txBody>
      </p:sp>
      <p:sp>
        <p:nvSpPr>
          <p:cNvPr id="3" name="Shape 1"/>
          <p:cNvSpPr/>
          <p:nvPr/>
        </p:nvSpPr>
        <p:spPr>
          <a:xfrm>
            <a:off x="548640" y="1417320"/>
            <a:ext cx="5410048" cy="2217420"/>
          </a:xfrm>
          <a:prstGeom prst="roundRect">
            <a:avLst>
              <a:gd name="adj" fmla="val 4948"/>
            </a:avLst>
          </a:prstGeom>
          <a:solidFill>
            <a:srgbClr val="E8F1EF"/>
          </a:solidFill>
          <a:ln w="12700">
            <a:solidFill>
              <a:srgbClr val="E8F1EF"/>
            </a:solidFill>
            <a:prstDash val="solid"/>
          </a:ln>
        </p:spPr>
      </p:sp>
      <p:pic>
        <p:nvPicPr>
          <p:cNvPr id="4" name="Image 0" descr="preencoded.png">    </p:cNvPr>
          <p:cNvPicPr>
            <a:picLocks noChangeAspect="1"/>
          </p:cNvPicPr>
          <p:nvPr/>
        </p:nvPicPr>
        <p:blipFill>
          <a:blip r:embed="rId1"/>
          <a:stretch>
            <a:fillRect/>
          </a:stretch>
        </p:blipFill>
        <p:spPr>
          <a:xfrm>
            <a:off x="749808" y="1618488"/>
            <a:ext cx="420624" cy="420624"/>
          </a:xfrm>
          <a:prstGeom prst="rect">
            <a:avLst/>
          </a:prstGeom>
        </p:spPr>
      </p:pic>
      <p:sp>
        <p:nvSpPr>
          <p:cNvPr id="5" name="Text 2"/>
          <p:cNvSpPr txBox="1"/>
          <p:nvPr/>
        </p:nvSpPr>
        <p:spPr>
          <a:xfrm>
            <a:off x="1298448" y="1572768"/>
            <a:ext cx="449564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Physical</a:t>
            </a:r>
            <a:endParaRPr lang="en-US" sz="1700" dirty="0"/>
          </a:p>
        </p:txBody>
      </p:sp>
      <p:sp>
        <p:nvSpPr>
          <p:cNvPr id="6" name="Text 3"/>
          <p:cNvSpPr txBox="1"/>
          <p:nvPr/>
        </p:nvSpPr>
        <p:spPr>
          <a:xfrm>
            <a:off x="768096" y="2194560"/>
            <a:ext cx="4989424" cy="1303020"/>
          </a:xfrm>
          <a:prstGeom prst="rect">
            <a:avLst/>
          </a:prstGeom>
          <a:noFill/>
          <a:ln/>
        </p:spPr>
        <p:txBody>
          <a:bodyPr wrap="square" lIns="0" tIns="0" rIns="0" bIns="0" rtlCol="0" anchor="t"/>
          <a:lstStyle/>
          <a:p>
            <a:pPr indent="0" marL="0">
              <a:buNone/>
            </a:pPr>
            <a:r>
              <a:rPr lang="en-US" sz="1700" dirty="0">
                <a:solidFill>
                  <a:srgbClr val="24302D"/>
                </a:solidFill>
                <a:latin typeface="Calibri" pitchFamily="34" charset="0"/>
                <a:ea typeface="Calibri" pitchFamily="34" charset="-122"/>
                <a:cs typeface="Calibri" pitchFamily="34" charset="-120"/>
              </a:rPr>
              <a:t>Pain, urinary tract infection, constipation, hunger, thirst, fatigue, needing the bathroom, medication side effects, poor hearing or vision.</a:t>
            </a:r>
            <a:endParaRPr lang="en-US" sz="1700" dirty="0"/>
          </a:p>
        </p:txBody>
      </p:sp>
      <p:sp>
        <p:nvSpPr>
          <p:cNvPr id="7" name="Shape 4"/>
          <p:cNvSpPr/>
          <p:nvPr/>
        </p:nvSpPr>
        <p:spPr>
          <a:xfrm>
            <a:off x="6233008" y="1417320"/>
            <a:ext cx="5410048" cy="2217420"/>
          </a:xfrm>
          <a:prstGeom prst="roundRect">
            <a:avLst>
              <a:gd name="adj" fmla="val 4948"/>
            </a:avLst>
          </a:prstGeom>
          <a:solidFill>
            <a:srgbClr val="E8F1EF"/>
          </a:solidFill>
          <a:ln w="12700">
            <a:solidFill>
              <a:srgbClr val="E8F1EF"/>
            </a:solidFill>
            <a:prstDash val="solid"/>
          </a:ln>
        </p:spPr>
      </p:sp>
      <p:pic>
        <p:nvPicPr>
          <p:cNvPr id="8" name="Image 1" descr="preencoded.png">    </p:cNvPr>
          <p:cNvPicPr>
            <a:picLocks noChangeAspect="1"/>
          </p:cNvPicPr>
          <p:nvPr/>
        </p:nvPicPr>
        <p:blipFill>
          <a:blip r:embed="rId2"/>
          <a:stretch>
            <a:fillRect/>
          </a:stretch>
        </p:blipFill>
        <p:spPr>
          <a:xfrm>
            <a:off x="6434176" y="1618488"/>
            <a:ext cx="420624" cy="420624"/>
          </a:xfrm>
          <a:prstGeom prst="rect">
            <a:avLst/>
          </a:prstGeom>
        </p:spPr>
      </p:pic>
      <p:sp>
        <p:nvSpPr>
          <p:cNvPr id="9" name="Text 5"/>
          <p:cNvSpPr txBox="1"/>
          <p:nvPr/>
        </p:nvSpPr>
        <p:spPr>
          <a:xfrm>
            <a:off x="6982816" y="1572768"/>
            <a:ext cx="449564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Environmental</a:t>
            </a:r>
            <a:endParaRPr lang="en-US" sz="1700" dirty="0"/>
          </a:p>
        </p:txBody>
      </p:sp>
      <p:sp>
        <p:nvSpPr>
          <p:cNvPr id="10" name="Text 6"/>
          <p:cNvSpPr txBox="1"/>
          <p:nvPr/>
        </p:nvSpPr>
        <p:spPr>
          <a:xfrm>
            <a:off x="6452464" y="2194560"/>
            <a:ext cx="4989424" cy="1303020"/>
          </a:xfrm>
          <a:prstGeom prst="rect">
            <a:avLst/>
          </a:prstGeom>
          <a:noFill/>
          <a:ln/>
        </p:spPr>
        <p:txBody>
          <a:bodyPr wrap="square" lIns="0" tIns="0" rIns="0" bIns="0" rtlCol="0" anchor="t"/>
          <a:lstStyle/>
          <a:p>
            <a:pPr indent="0" marL="0">
              <a:buNone/>
            </a:pPr>
            <a:r>
              <a:rPr lang="en-US" sz="1700" dirty="0">
                <a:solidFill>
                  <a:srgbClr val="24302D"/>
                </a:solidFill>
                <a:latin typeface="Calibri" pitchFamily="34" charset="0"/>
                <a:ea typeface="Calibri" pitchFamily="34" charset="-122"/>
                <a:cs typeface="Calibri" pitchFamily="34" charset="-120"/>
              </a:rPr>
              <a:t>Noise, clutter, poor lighting, shadows, television, too many people, being too hot or cold, changes in routine or surroundings.</a:t>
            </a:r>
            <a:endParaRPr lang="en-US" sz="1700" dirty="0"/>
          </a:p>
        </p:txBody>
      </p:sp>
      <p:sp>
        <p:nvSpPr>
          <p:cNvPr id="11" name="Shape 7"/>
          <p:cNvSpPr/>
          <p:nvPr/>
        </p:nvSpPr>
        <p:spPr>
          <a:xfrm>
            <a:off x="548640" y="3909060"/>
            <a:ext cx="5410048" cy="2217420"/>
          </a:xfrm>
          <a:prstGeom prst="roundRect">
            <a:avLst>
              <a:gd name="adj" fmla="val 4948"/>
            </a:avLst>
          </a:prstGeom>
          <a:solidFill>
            <a:srgbClr val="E8F1EF"/>
          </a:solidFill>
          <a:ln w="12700">
            <a:solidFill>
              <a:srgbClr val="E8F1EF"/>
            </a:solidFill>
            <a:prstDash val="solid"/>
          </a:ln>
        </p:spPr>
      </p:sp>
      <p:pic>
        <p:nvPicPr>
          <p:cNvPr id="12" name="Image 2" descr="preencoded.png">    </p:cNvPr>
          <p:cNvPicPr>
            <a:picLocks noChangeAspect="1"/>
          </p:cNvPicPr>
          <p:nvPr/>
        </p:nvPicPr>
        <p:blipFill>
          <a:blip r:embed="rId3"/>
          <a:stretch>
            <a:fillRect/>
          </a:stretch>
        </p:blipFill>
        <p:spPr>
          <a:xfrm>
            <a:off x="749808" y="4110228"/>
            <a:ext cx="420624" cy="420624"/>
          </a:xfrm>
          <a:prstGeom prst="rect">
            <a:avLst/>
          </a:prstGeom>
        </p:spPr>
      </p:pic>
      <p:sp>
        <p:nvSpPr>
          <p:cNvPr id="13" name="Text 8"/>
          <p:cNvSpPr txBox="1"/>
          <p:nvPr/>
        </p:nvSpPr>
        <p:spPr>
          <a:xfrm>
            <a:off x="1298448" y="4064508"/>
            <a:ext cx="449564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Task-Related</a:t>
            </a:r>
            <a:endParaRPr lang="en-US" sz="1700" dirty="0"/>
          </a:p>
        </p:txBody>
      </p:sp>
      <p:sp>
        <p:nvSpPr>
          <p:cNvPr id="14" name="Text 9"/>
          <p:cNvSpPr txBox="1"/>
          <p:nvPr/>
        </p:nvSpPr>
        <p:spPr>
          <a:xfrm>
            <a:off x="768096" y="4686300"/>
            <a:ext cx="4989424" cy="1303020"/>
          </a:xfrm>
          <a:prstGeom prst="rect">
            <a:avLst/>
          </a:prstGeom>
          <a:noFill/>
          <a:ln/>
        </p:spPr>
        <p:txBody>
          <a:bodyPr wrap="square" lIns="0" tIns="0" rIns="0" bIns="0" rtlCol="0" anchor="t"/>
          <a:lstStyle/>
          <a:p>
            <a:pPr indent="0" marL="0">
              <a:buNone/>
            </a:pPr>
            <a:r>
              <a:rPr lang="en-US" sz="1700" dirty="0">
                <a:solidFill>
                  <a:srgbClr val="24302D"/>
                </a:solidFill>
                <a:latin typeface="Calibri" pitchFamily="34" charset="0"/>
                <a:ea typeface="Calibri" pitchFamily="34" charset="-122"/>
                <a:cs typeface="Calibri" pitchFamily="34" charset="-120"/>
              </a:rPr>
              <a:t>Tasks that are too complex, too many steps at once, being rushed, or being asked to do something that feels unsafe or embarrassing.</a:t>
            </a:r>
            <a:endParaRPr lang="en-US" sz="1700" dirty="0"/>
          </a:p>
        </p:txBody>
      </p:sp>
      <p:sp>
        <p:nvSpPr>
          <p:cNvPr id="15" name="Shape 10"/>
          <p:cNvSpPr/>
          <p:nvPr/>
        </p:nvSpPr>
        <p:spPr>
          <a:xfrm>
            <a:off x="6233008" y="3909060"/>
            <a:ext cx="5410048" cy="2217420"/>
          </a:xfrm>
          <a:prstGeom prst="roundRect">
            <a:avLst>
              <a:gd name="adj" fmla="val 4948"/>
            </a:avLst>
          </a:prstGeom>
          <a:solidFill>
            <a:srgbClr val="E8F1EF"/>
          </a:solidFill>
          <a:ln w="12700">
            <a:solidFill>
              <a:srgbClr val="E8F1EF"/>
            </a:solidFill>
            <a:prstDash val="solid"/>
          </a:ln>
        </p:spPr>
      </p:sp>
      <p:pic>
        <p:nvPicPr>
          <p:cNvPr id="16" name="Image 3" descr="preencoded.png">    </p:cNvPr>
          <p:cNvPicPr>
            <a:picLocks noChangeAspect="1"/>
          </p:cNvPicPr>
          <p:nvPr/>
        </p:nvPicPr>
        <p:blipFill>
          <a:blip r:embed="rId4"/>
          <a:stretch>
            <a:fillRect/>
          </a:stretch>
        </p:blipFill>
        <p:spPr>
          <a:xfrm>
            <a:off x="6434176" y="4110228"/>
            <a:ext cx="420624" cy="420624"/>
          </a:xfrm>
          <a:prstGeom prst="rect">
            <a:avLst/>
          </a:prstGeom>
        </p:spPr>
      </p:pic>
      <p:sp>
        <p:nvSpPr>
          <p:cNvPr id="17" name="Text 11"/>
          <p:cNvSpPr txBox="1"/>
          <p:nvPr/>
        </p:nvSpPr>
        <p:spPr>
          <a:xfrm>
            <a:off x="6982816" y="4064508"/>
            <a:ext cx="449564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Emotional &amp; Interpersonal</a:t>
            </a:r>
            <a:endParaRPr lang="en-US" sz="1700" dirty="0"/>
          </a:p>
        </p:txBody>
      </p:sp>
      <p:sp>
        <p:nvSpPr>
          <p:cNvPr id="18" name="Text 12"/>
          <p:cNvSpPr txBox="1"/>
          <p:nvPr/>
        </p:nvSpPr>
        <p:spPr>
          <a:xfrm>
            <a:off x="6452464" y="4686300"/>
            <a:ext cx="4989424" cy="1303020"/>
          </a:xfrm>
          <a:prstGeom prst="rect">
            <a:avLst/>
          </a:prstGeom>
          <a:noFill/>
          <a:ln/>
        </p:spPr>
        <p:txBody>
          <a:bodyPr wrap="square" lIns="0" tIns="0" rIns="0" bIns="0" rtlCol="0" anchor="t"/>
          <a:lstStyle/>
          <a:p>
            <a:pPr indent="0" marL="0">
              <a:buNone/>
            </a:pPr>
            <a:r>
              <a:rPr lang="en-US" sz="1700" dirty="0">
                <a:solidFill>
                  <a:srgbClr val="24302D"/>
                </a:solidFill>
                <a:latin typeface="Calibri" pitchFamily="34" charset="0"/>
                <a:ea typeface="Calibri" pitchFamily="34" charset="-122"/>
                <a:cs typeface="Calibri" pitchFamily="34" charset="-120"/>
              </a:rPr>
              <a:t>Fear, boredom, loneliness, feeling a loss of control, being corrected or argued with, sensing the caregiver's stress.</a:t>
            </a:r>
            <a:endParaRPr lang="en-US" sz="1700" dirty="0"/>
          </a:p>
        </p:txBody>
      </p:sp>
      <p:pic>
        <p:nvPicPr>
          <p:cNvPr id="19" name="Image 4" descr="preencoded.png">    </p:cNvPr>
          <p:cNvPicPr>
            <a:picLocks noChangeAspect="1"/>
          </p:cNvPicPr>
          <p:nvPr/>
        </p:nvPicPr>
        <p:blipFill>
          <a:blip r:embed="rId5"/>
          <a:stretch>
            <a:fillRect/>
          </a:stretch>
        </p:blipFill>
        <p:spPr>
          <a:xfrm>
            <a:off x="548640" y="6309360"/>
            <a:ext cx="874762" cy="365760"/>
          </a:xfrm>
          <a:prstGeom prst="rect">
            <a:avLst/>
          </a:prstGeom>
        </p:spPr>
      </p:pic>
      <p:sp>
        <p:nvSpPr>
          <p:cNvPr id="20" name="Text 13"/>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3</a:t>
            </a:r>
            <a:endParaRPr lang="en-US" sz="900" dirty="0"/>
          </a:p>
        </p:txBody>
      </p:sp>
      <p:sp>
        <p:nvSpPr>
          <p:cNvPr id="21" name="Text 14"/>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Sundowning: A Closer Look</a:t>
            </a:r>
            <a:endParaRPr lang="en-US" sz="3000" dirty="0"/>
          </a:p>
        </p:txBody>
      </p:sp>
      <p:sp>
        <p:nvSpPr>
          <p:cNvPr id="3" name="Text 1"/>
          <p:cNvSpPr txBox="1"/>
          <p:nvPr/>
        </p:nvSpPr>
        <p:spPr>
          <a:xfrm>
            <a:off x="548640" y="1417320"/>
            <a:ext cx="6675120" cy="4709160"/>
          </a:xfrm>
          <a:prstGeom prst="rect">
            <a:avLst/>
          </a:prstGeom>
          <a:noFill/>
          <a:ln/>
        </p:spPr>
        <p:txBody>
          <a:bodyPr wrap="square" lIns="0" tIns="0" rIns="0" bIns="0" rtlCol="0" anchor="t"/>
          <a:lstStyle/>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What it is: </a:t>
            </a:r>
            <a:r>
              <a:rPr lang="en-US" sz="1800" dirty="0">
                <a:solidFill>
                  <a:srgbClr val="24302D"/>
                </a:solidFill>
                <a:latin typeface="Calibri" pitchFamily="34" charset="0"/>
                <a:ea typeface="Calibri" pitchFamily="34" charset="-122"/>
                <a:cs typeface="Calibri" pitchFamily="34" charset="-120"/>
              </a:rPr>
              <a:t>increased confusion, restlessness, or agitation in the late afternoon and evening</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Possible contributors: </a:t>
            </a:r>
            <a:r>
              <a:rPr lang="en-US" sz="1800" dirty="0">
                <a:solidFill>
                  <a:srgbClr val="24302D"/>
                </a:solidFill>
                <a:latin typeface="Calibri" pitchFamily="34" charset="0"/>
                <a:ea typeface="Calibri" pitchFamily="34" charset="-122"/>
                <a:cs typeface="Calibri" pitchFamily="34" charset="-120"/>
              </a:rPr>
              <a:t>fatigue, fading light and shadows, disrupted body clock, hunger, pain, overstimulation</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Daytime strategies: </a:t>
            </a:r>
            <a:r>
              <a:rPr lang="en-US" sz="1800" dirty="0">
                <a:solidFill>
                  <a:srgbClr val="24302D"/>
                </a:solidFill>
                <a:latin typeface="Calibri" pitchFamily="34" charset="0"/>
                <a:ea typeface="Calibri" pitchFamily="34" charset="-122"/>
                <a:cs typeface="Calibri" pitchFamily="34" charset="-120"/>
              </a:rPr>
              <a:t>morning light, physical activity, limit long naps and afternoon caffeine</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Late-afternoon strategies: </a:t>
            </a:r>
            <a:r>
              <a:rPr lang="en-US" sz="1800" dirty="0">
                <a:solidFill>
                  <a:srgbClr val="24302D"/>
                </a:solidFill>
                <a:latin typeface="Calibri" pitchFamily="34" charset="0"/>
                <a:ea typeface="Calibri" pitchFamily="34" charset="-122"/>
                <a:cs typeface="Calibri" pitchFamily="34" charset="-120"/>
              </a:rPr>
              <a:t>lights on before dusk, close blinds, quiet music, calm activity, a snack</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Caregiver timing: </a:t>
            </a:r>
            <a:r>
              <a:rPr lang="en-US" sz="1800" dirty="0">
                <a:solidFill>
                  <a:srgbClr val="24302D"/>
                </a:solidFill>
                <a:latin typeface="Calibri" pitchFamily="34" charset="0"/>
                <a:ea typeface="Calibri" pitchFamily="34" charset="-122"/>
                <a:cs typeface="Calibri" pitchFamily="34" charset="-120"/>
              </a:rPr>
              <a:t>plan demanding tasks for mornings; sundowning often coincides with caregiver fatigue</a:t>
            </a:r>
            <a:endParaRPr lang="en-US" sz="1800" dirty="0"/>
          </a:p>
        </p:txBody>
      </p:sp>
      <p:sp>
        <p:nvSpPr>
          <p:cNvPr id="4" name="Shape 2"/>
          <p:cNvSpPr/>
          <p:nvPr/>
        </p:nvSpPr>
        <p:spPr>
          <a:xfrm>
            <a:off x="7589520" y="1417320"/>
            <a:ext cx="4053535" cy="3149600"/>
          </a:xfrm>
          <a:prstGeom prst="roundRect">
            <a:avLst>
              <a:gd name="adj" fmla="val 3484"/>
            </a:avLst>
          </a:prstGeom>
          <a:solidFill>
            <a:srgbClr val="E8F1EF"/>
          </a:solidFill>
          <a:ln w="12700">
            <a:solidFill>
              <a:srgbClr val="E8F1EF"/>
            </a:solidFill>
            <a:prstDash val="solid"/>
          </a:ln>
        </p:spPr>
      </p:sp>
      <p:pic>
        <p:nvPicPr>
          <p:cNvPr id="5" name="Image 0" descr="preencoded.png">    </p:cNvPr>
          <p:cNvPicPr>
            <a:picLocks noChangeAspect="1"/>
          </p:cNvPicPr>
          <p:nvPr/>
        </p:nvPicPr>
        <p:blipFill>
          <a:blip r:embed="rId1"/>
          <a:stretch>
            <a:fillRect/>
          </a:stretch>
        </p:blipFill>
        <p:spPr>
          <a:xfrm>
            <a:off x="7863840" y="1691640"/>
            <a:ext cx="502920" cy="502920"/>
          </a:xfrm>
          <a:prstGeom prst="rect">
            <a:avLst/>
          </a:prstGeom>
        </p:spPr>
      </p:pic>
      <p:sp>
        <p:nvSpPr>
          <p:cNvPr id="6" name="Text 3"/>
          <p:cNvSpPr txBox="1"/>
          <p:nvPr/>
        </p:nvSpPr>
        <p:spPr>
          <a:xfrm>
            <a:off x="8503920" y="1645920"/>
            <a:ext cx="2910535" cy="594360"/>
          </a:xfrm>
          <a:prstGeom prst="rect">
            <a:avLst/>
          </a:prstGeom>
          <a:noFill/>
          <a:ln/>
        </p:spPr>
        <p:txBody>
          <a:bodyPr wrap="square" lIns="0" tIns="0" rIns="0" bIns="0" rtlCol="0" anchor="ctr"/>
          <a:lstStyle/>
          <a:p>
            <a:pPr indent="0" marL="0">
              <a:buNone/>
            </a:pPr>
            <a:r>
              <a:rPr lang="en-US" sz="1800" b="1" dirty="0">
                <a:solidFill>
                  <a:srgbClr val="28695F"/>
                </a:solidFill>
                <a:latin typeface="Cambria" pitchFamily="34" charset="0"/>
                <a:ea typeface="Cambria" pitchFamily="34" charset="-122"/>
                <a:cs typeface="Cambria" pitchFamily="34" charset="-120"/>
              </a:rPr>
              <a:t>Track the pattern</a:t>
            </a:r>
            <a:endParaRPr lang="en-US" sz="1800" dirty="0"/>
          </a:p>
        </p:txBody>
      </p:sp>
      <p:sp>
        <p:nvSpPr>
          <p:cNvPr id="7" name="Text 4"/>
          <p:cNvSpPr txBox="1"/>
          <p:nvPr/>
        </p:nvSpPr>
        <p:spPr>
          <a:xfrm>
            <a:off x="7863840" y="2423160"/>
            <a:ext cx="3504895" cy="2052320"/>
          </a:xfrm>
          <a:prstGeom prst="rect">
            <a:avLst/>
          </a:prstGeom>
          <a:noFill/>
          <a:ln/>
        </p:spPr>
        <p:txBody>
          <a:bodyPr wrap="square" lIns="0" tIns="0" rIns="0" bIns="0" rtlCol="0" anchor="t"/>
          <a:lstStyle/>
          <a:p>
            <a:pPr indent="0" marL="0">
              <a:buNone/>
            </a:pPr>
            <a:r>
              <a:rPr lang="en-US" sz="1600" dirty="0">
                <a:solidFill>
                  <a:srgbClr val="24302D"/>
                </a:solidFill>
                <a:latin typeface="Calibri" pitchFamily="34" charset="0"/>
                <a:ea typeface="Calibri" pitchFamily="34" charset="-122"/>
                <a:cs typeface="Calibri" pitchFamily="34" charset="-120"/>
              </a:rPr>
              <a:t>A simple log of time, activity, and behavior for one to two weeks often reveals the trigger — and gives the clinician useful information.</a:t>
            </a:r>
            <a:endParaRPr lang="en-US" sz="1600" dirty="0"/>
          </a:p>
        </p:txBody>
      </p:sp>
      <p:pic>
        <p:nvPicPr>
          <p:cNvPr id="8" name="Image 1" descr="preencoded.png">    </p:cNvPr>
          <p:cNvPicPr>
            <a:picLocks noChangeAspect="1"/>
          </p:cNvPicPr>
          <p:nvPr/>
        </p:nvPicPr>
        <p:blipFill>
          <a:blip r:embed="rId2"/>
          <a:stretch>
            <a:fillRect/>
          </a:stretch>
        </p:blipFill>
        <p:spPr>
          <a:xfrm>
            <a:off x="548640" y="6309360"/>
            <a:ext cx="874762" cy="365760"/>
          </a:xfrm>
          <a:prstGeom prst="rect">
            <a:avLst/>
          </a:prstGeom>
        </p:spPr>
      </p:pic>
      <p:sp>
        <p:nvSpPr>
          <p:cNvPr id="9" name="Text 5"/>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3</a:t>
            </a:r>
            <a:endParaRPr lang="en-US" sz="900" dirty="0"/>
          </a:p>
        </p:txBody>
      </p:sp>
      <p:sp>
        <p:nvSpPr>
          <p:cNvPr id="10" name="Text 6"/>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8695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75000"/>
          </a:blip>
          <a:stretch>
            <a:fillRect/>
          </a:stretch>
        </p:blipFill>
        <p:spPr>
          <a:xfrm>
            <a:off x="8138160" y="548640"/>
            <a:ext cx="4206240" cy="5330952"/>
          </a:xfrm>
          <a:prstGeom prst="rect">
            <a:avLst/>
          </a:prstGeom>
        </p:spPr>
      </p:pic>
      <p:sp>
        <p:nvSpPr>
          <p:cNvPr id="3" name="Text 0"/>
          <p:cNvSpPr txBox="1"/>
          <p:nvPr/>
        </p:nvSpPr>
        <p:spPr>
          <a:xfrm>
            <a:off x="731520" y="1188720"/>
            <a:ext cx="2743200" cy="1371600"/>
          </a:xfrm>
          <a:prstGeom prst="rect">
            <a:avLst/>
          </a:prstGeom>
          <a:noFill/>
          <a:ln/>
        </p:spPr>
        <p:txBody>
          <a:bodyPr wrap="square" lIns="0" tIns="0" rIns="0" bIns="0" rtlCol="0" anchor="t"/>
          <a:lstStyle/>
          <a:p>
            <a:pPr indent="0" marL="0">
              <a:buNone/>
            </a:pPr>
            <a:r>
              <a:rPr lang="en-US" sz="8800" b="1" dirty="0">
                <a:solidFill>
                  <a:srgbClr val="F8CB27"/>
                </a:solidFill>
                <a:latin typeface="Cambria" pitchFamily="34" charset="0"/>
                <a:ea typeface="Cambria" pitchFamily="34" charset="-122"/>
                <a:cs typeface="Cambria" pitchFamily="34" charset="-120"/>
              </a:rPr>
              <a:t>02</a:t>
            </a:r>
            <a:endParaRPr lang="en-US" sz="8800" dirty="0"/>
          </a:p>
        </p:txBody>
      </p:sp>
      <p:sp>
        <p:nvSpPr>
          <p:cNvPr id="4" name="Text 1"/>
          <p:cNvSpPr txBox="1"/>
          <p:nvPr/>
        </p:nvSpPr>
        <p:spPr>
          <a:xfrm>
            <a:off x="731520" y="2103120"/>
            <a:ext cx="7132320" cy="1783080"/>
          </a:xfrm>
          <a:prstGeom prst="rect">
            <a:avLst/>
          </a:prstGeom>
          <a:noFill/>
          <a:ln/>
        </p:spPr>
        <p:txBody>
          <a:bodyPr wrap="square" lIns="0" tIns="0" rIns="0" bIns="0" rtlCol="0" anchor="b"/>
          <a:lstStyle/>
          <a:p>
            <a:pPr indent="0" marL="0">
              <a:buNone/>
            </a:pPr>
            <a:r>
              <a:rPr lang="en-US" sz="3800" b="1" dirty="0">
                <a:solidFill>
                  <a:srgbClr val="FFFFFF"/>
                </a:solidFill>
                <a:latin typeface="Cambria" pitchFamily="34" charset="0"/>
                <a:ea typeface="Cambria" pitchFamily="34" charset="-122"/>
                <a:cs typeface="Cambria" pitchFamily="34" charset="-120"/>
              </a:rPr>
              <a:t>The DICE Approach</a:t>
            </a:r>
            <a:endParaRPr lang="en-US" sz="3800" dirty="0"/>
          </a:p>
        </p:txBody>
      </p:sp>
      <p:sp>
        <p:nvSpPr>
          <p:cNvPr id="5" name="Text 2"/>
          <p:cNvSpPr txBox="1"/>
          <p:nvPr/>
        </p:nvSpPr>
        <p:spPr>
          <a:xfrm>
            <a:off x="731520" y="3977640"/>
            <a:ext cx="6949440" cy="914400"/>
          </a:xfrm>
          <a:prstGeom prst="rect">
            <a:avLst/>
          </a:prstGeom>
          <a:noFill/>
          <a:ln/>
        </p:spPr>
        <p:txBody>
          <a:bodyPr wrap="square" lIns="0" tIns="0" rIns="0" bIns="0" rtlCol="0" anchor="t"/>
          <a:lstStyle/>
          <a:p>
            <a:pPr indent="0" marL="0">
              <a:buNone/>
            </a:pPr>
            <a:r>
              <a:rPr lang="en-US" sz="1800" dirty="0">
                <a:solidFill>
                  <a:srgbClr val="C9DEDA"/>
                </a:solidFill>
                <a:latin typeface="Calibri" pitchFamily="34" charset="0"/>
                <a:ea typeface="Calibri" pitchFamily="34" charset="-122"/>
                <a:cs typeface="Calibri" pitchFamily="34" charset="-120"/>
              </a:rPr>
              <a:t>A structured way to understand and respond to behavioral symptoms</a:t>
            </a:r>
            <a:endParaRPr lang="en-US" sz="1800" dirty="0"/>
          </a:p>
        </p:txBody>
      </p:sp>
      <p:pic>
        <p:nvPicPr>
          <p:cNvPr id="6" name="Image 1" descr="preencoded.png">    </p:cNvPr>
          <p:cNvPicPr>
            <a:picLocks noChangeAspect="1"/>
          </p:cNvPicPr>
          <p:nvPr/>
        </p:nvPicPr>
        <p:blipFill>
          <a:blip r:embed="rId2"/>
          <a:stretch>
            <a:fillRect/>
          </a:stretch>
        </p:blipFill>
        <p:spPr>
          <a:xfrm>
            <a:off x="548640" y="6382512"/>
            <a:ext cx="219456" cy="219456"/>
          </a:xfrm>
          <a:prstGeom prst="rect">
            <a:avLst/>
          </a:prstGeom>
        </p:spPr>
      </p:pic>
      <p:sp>
        <p:nvSpPr>
          <p:cNvPr id="7" name="Text 3"/>
          <p:cNvSpPr txBox="1"/>
          <p:nvPr/>
        </p:nvSpPr>
        <p:spPr>
          <a:xfrm>
            <a:off x="859536" y="6364224"/>
            <a:ext cx="7772400" cy="256032"/>
          </a:xfrm>
          <a:prstGeom prst="rect">
            <a:avLst/>
          </a:prstGeom>
          <a:noFill/>
          <a:ln/>
        </p:spPr>
        <p:txBody>
          <a:bodyPr wrap="square" lIns="0" tIns="0" rIns="0" bIns="0" rtlCol="0" anchor="ctr"/>
          <a:lstStyle/>
          <a:p>
            <a:pPr indent="0" marL="0">
              <a:buNone/>
            </a:pPr>
            <a:r>
              <a:rPr lang="en-US" sz="900" dirty="0">
                <a:solidFill>
                  <a:srgbClr val="C9DEDA"/>
                </a:solidFill>
                <a:latin typeface="Calibri" pitchFamily="34" charset="0"/>
                <a:ea typeface="Calibri" pitchFamily="34" charset="-122"/>
                <a:cs typeface="Calibri" pitchFamily="34" charset="-120"/>
              </a:rPr>
              <a:t>AbleLiving Memory Support  |  GUIDE Care Navigator Training  |  Module 3</a:t>
            </a:r>
            <a:endParaRPr lang="en-US" sz="900" dirty="0"/>
          </a:p>
        </p:txBody>
      </p:sp>
      <p:sp>
        <p:nvSpPr>
          <p:cNvPr id="8" name="Text 4"/>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C9DEDA"/>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DICE: Describe, Investigate, Create, Evaluate</a:t>
            </a:r>
            <a:endParaRPr lang="en-US" sz="3000" dirty="0"/>
          </a:p>
        </p:txBody>
      </p:sp>
      <p:sp>
        <p:nvSpPr>
          <p:cNvPr id="3" name="Shape 1"/>
          <p:cNvSpPr/>
          <p:nvPr/>
        </p:nvSpPr>
        <p:spPr>
          <a:xfrm>
            <a:off x="1849717" y="1874520"/>
            <a:ext cx="8492261" cy="0"/>
          </a:xfrm>
          <a:prstGeom prst="line">
            <a:avLst/>
          </a:prstGeom>
          <a:noFill/>
          <a:ln w="38100">
            <a:solidFill>
              <a:srgbClr val="C9DEDA"/>
            </a:solidFill>
            <a:prstDash val="solid"/>
          </a:ln>
        </p:spPr>
      </p:sp>
      <p:sp>
        <p:nvSpPr>
          <p:cNvPr id="4" name="Shape 2"/>
          <p:cNvSpPr/>
          <p:nvPr/>
        </p:nvSpPr>
        <p:spPr>
          <a:xfrm>
            <a:off x="1483957" y="1508760"/>
            <a:ext cx="731520" cy="731520"/>
          </a:xfrm>
          <a:prstGeom prst="ellipse">
            <a:avLst/>
          </a:prstGeom>
          <a:solidFill>
            <a:srgbClr val="28695F"/>
          </a:solidFill>
          <a:ln w="12700">
            <a:solidFill>
              <a:srgbClr val="28695F"/>
            </a:solidFill>
            <a:prstDash val="solid"/>
          </a:ln>
        </p:spPr>
      </p:sp>
      <p:sp>
        <p:nvSpPr>
          <p:cNvPr id="5" name="Text 3"/>
          <p:cNvSpPr txBox="1"/>
          <p:nvPr/>
        </p:nvSpPr>
        <p:spPr>
          <a:xfrm>
            <a:off x="1483957" y="15087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D</a:t>
            </a:r>
            <a:endParaRPr lang="en-US" sz="2200" dirty="0"/>
          </a:p>
        </p:txBody>
      </p:sp>
      <p:sp>
        <p:nvSpPr>
          <p:cNvPr id="6" name="Shape 4"/>
          <p:cNvSpPr/>
          <p:nvPr/>
        </p:nvSpPr>
        <p:spPr>
          <a:xfrm>
            <a:off x="548640" y="2468880"/>
            <a:ext cx="2602154" cy="3633216"/>
          </a:xfrm>
          <a:prstGeom prst="roundRect">
            <a:avLst>
              <a:gd name="adj" fmla="val 4217"/>
            </a:avLst>
          </a:prstGeom>
          <a:solidFill>
            <a:srgbClr val="E8F1EF"/>
          </a:solidFill>
          <a:ln w="12700">
            <a:solidFill>
              <a:srgbClr val="E8F1EF"/>
            </a:solidFill>
            <a:prstDash val="solid"/>
          </a:ln>
        </p:spPr>
      </p:sp>
      <p:sp>
        <p:nvSpPr>
          <p:cNvPr id="7" name="Text 5"/>
          <p:cNvSpPr txBox="1"/>
          <p:nvPr/>
        </p:nvSpPr>
        <p:spPr>
          <a:xfrm>
            <a:off x="731520" y="2606040"/>
            <a:ext cx="2236394" cy="594360"/>
          </a:xfrm>
          <a:prstGeom prst="rect">
            <a:avLst/>
          </a:prstGeom>
          <a:noFill/>
          <a:ln/>
        </p:spPr>
        <p:txBody>
          <a:bodyPr wrap="square" lIns="0" tIns="0" rIns="0" bIns="0" rtlCol="0" anchor="ctr"/>
          <a:lstStyle/>
          <a:p>
            <a:pPr indent="0" marL="0">
              <a:buNone/>
            </a:pPr>
            <a:r>
              <a:rPr lang="en-US" sz="1800" b="1" dirty="0">
                <a:solidFill>
                  <a:srgbClr val="28695F"/>
                </a:solidFill>
                <a:latin typeface="Cambria" pitchFamily="34" charset="0"/>
                <a:ea typeface="Cambria" pitchFamily="34" charset="-122"/>
                <a:cs typeface="Cambria" pitchFamily="34" charset="-120"/>
              </a:rPr>
              <a:t>Describe</a:t>
            </a:r>
            <a:endParaRPr lang="en-US" sz="1800" dirty="0"/>
          </a:p>
        </p:txBody>
      </p:sp>
      <p:sp>
        <p:nvSpPr>
          <p:cNvPr id="8" name="Text 6"/>
          <p:cNvSpPr txBox="1"/>
          <p:nvPr/>
        </p:nvSpPr>
        <p:spPr>
          <a:xfrm>
            <a:off x="731520" y="3291840"/>
            <a:ext cx="2236394" cy="265176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24302D"/>
                </a:solidFill>
                <a:latin typeface="Calibri" pitchFamily="34" charset="0"/>
                <a:ea typeface="Calibri" pitchFamily="34" charset="-122"/>
                <a:cs typeface="Calibri" pitchFamily="34" charset="-120"/>
              </a:rPr>
              <a:t>What happened, when, where, and with whom?</a:t>
            </a:r>
            <a:endParaRPr lang="en-US" sz="1500" dirty="0"/>
          </a:p>
          <a:p>
            <a:pPr marL="203200" indent="-203200">
              <a:spcAft>
                <a:spcPts val="600"/>
              </a:spcAft>
              <a:buSzPct val="100000"/>
              <a:buChar char="•"/>
            </a:pPr>
            <a:r>
              <a:rPr lang="en-US" sz="1500" dirty="0">
                <a:solidFill>
                  <a:srgbClr val="24302D"/>
                </a:solidFill>
                <a:latin typeface="Calibri" pitchFamily="34" charset="0"/>
                <a:ea typeface="Calibri" pitchFamily="34" charset="-122"/>
                <a:cs typeface="Calibri" pitchFamily="34" charset="-120"/>
              </a:rPr>
              <a:t>What came right before and after?</a:t>
            </a:r>
            <a:endParaRPr lang="en-US" sz="1500" dirty="0"/>
          </a:p>
          <a:p>
            <a:pPr marL="203200" indent="-203200">
              <a:spcAft>
                <a:spcPts val="600"/>
              </a:spcAft>
              <a:buSzPct val="100000"/>
              <a:buChar char="•"/>
            </a:pPr>
            <a:r>
              <a:rPr lang="en-US" sz="1500" dirty="0">
                <a:solidFill>
                  <a:srgbClr val="24302D"/>
                </a:solidFill>
                <a:latin typeface="Calibri" pitchFamily="34" charset="0"/>
                <a:ea typeface="Calibri" pitchFamily="34" charset="-122"/>
                <a:cs typeface="Calibri" pitchFamily="34" charset="-120"/>
              </a:rPr>
              <a:t>Ask the caregiver to "replay it like a movie"</a:t>
            </a:r>
            <a:endParaRPr lang="en-US" sz="1500" dirty="0"/>
          </a:p>
        </p:txBody>
      </p:sp>
      <p:sp>
        <p:nvSpPr>
          <p:cNvPr id="9" name="Shape 7"/>
          <p:cNvSpPr/>
          <p:nvPr/>
        </p:nvSpPr>
        <p:spPr>
          <a:xfrm>
            <a:off x="4314711" y="1508760"/>
            <a:ext cx="731520" cy="731520"/>
          </a:xfrm>
          <a:prstGeom prst="ellipse">
            <a:avLst/>
          </a:prstGeom>
          <a:solidFill>
            <a:srgbClr val="C78F2E"/>
          </a:solidFill>
          <a:ln w="12700">
            <a:solidFill>
              <a:srgbClr val="C78F2E"/>
            </a:solidFill>
            <a:prstDash val="solid"/>
          </a:ln>
        </p:spPr>
      </p:sp>
      <p:sp>
        <p:nvSpPr>
          <p:cNvPr id="10" name="Text 8"/>
          <p:cNvSpPr txBox="1"/>
          <p:nvPr/>
        </p:nvSpPr>
        <p:spPr>
          <a:xfrm>
            <a:off x="4314711" y="15087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I</a:t>
            </a:r>
            <a:endParaRPr lang="en-US" sz="2200" dirty="0"/>
          </a:p>
        </p:txBody>
      </p:sp>
      <p:sp>
        <p:nvSpPr>
          <p:cNvPr id="11" name="Shape 9"/>
          <p:cNvSpPr/>
          <p:nvPr/>
        </p:nvSpPr>
        <p:spPr>
          <a:xfrm>
            <a:off x="3379394" y="2468880"/>
            <a:ext cx="2602154" cy="3633216"/>
          </a:xfrm>
          <a:prstGeom prst="roundRect">
            <a:avLst>
              <a:gd name="adj" fmla="val 4217"/>
            </a:avLst>
          </a:prstGeom>
          <a:solidFill>
            <a:srgbClr val="E8F1EF"/>
          </a:solidFill>
          <a:ln w="12700">
            <a:solidFill>
              <a:srgbClr val="E8F1EF"/>
            </a:solidFill>
            <a:prstDash val="solid"/>
          </a:ln>
        </p:spPr>
      </p:sp>
      <p:sp>
        <p:nvSpPr>
          <p:cNvPr id="12" name="Text 10"/>
          <p:cNvSpPr txBox="1"/>
          <p:nvPr/>
        </p:nvSpPr>
        <p:spPr>
          <a:xfrm>
            <a:off x="3562274" y="2606040"/>
            <a:ext cx="2236394" cy="594360"/>
          </a:xfrm>
          <a:prstGeom prst="rect">
            <a:avLst/>
          </a:prstGeom>
          <a:noFill/>
          <a:ln/>
        </p:spPr>
        <p:txBody>
          <a:bodyPr wrap="square" lIns="0" tIns="0" rIns="0" bIns="0" rtlCol="0" anchor="ctr"/>
          <a:lstStyle/>
          <a:p>
            <a:pPr indent="0" marL="0">
              <a:buNone/>
            </a:pPr>
            <a:r>
              <a:rPr lang="en-US" sz="1800" b="1" dirty="0">
                <a:solidFill>
                  <a:srgbClr val="28695F"/>
                </a:solidFill>
                <a:latin typeface="Cambria" pitchFamily="34" charset="0"/>
                <a:ea typeface="Cambria" pitchFamily="34" charset="-122"/>
                <a:cs typeface="Cambria" pitchFamily="34" charset="-120"/>
              </a:rPr>
              <a:t>Investigate</a:t>
            </a:r>
            <a:endParaRPr lang="en-US" sz="1800" dirty="0"/>
          </a:p>
        </p:txBody>
      </p:sp>
      <p:sp>
        <p:nvSpPr>
          <p:cNvPr id="13" name="Text 11"/>
          <p:cNvSpPr txBox="1"/>
          <p:nvPr/>
        </p:nvSpPr>
        <p:spPr>
          <a:xfrm>
            <a:off x="3562274" y="3291840"/>
            <a:ext cx="2236394" cy="265176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24302D"/>
                </a:solidFill>
                <a:latin typeface="Calibri" pitchFamily="34" charset="0"/>
                <a:ea typeface="Calibri" pitchFamily="34" charset="-122"/>
                <a:cs typeface="Calibri" pitchFamily="34" charset="-120"/>
              </a:rPr>
              <a:t>Look for causes: pain, infection, meds, sleep, environment, task, communication</a:t>
            </a:r>
            <a:endParaRPr lang="en-US" sz="1500" dirty="0"/>
          </a:p>
          <a:p>
            <a:pPr marL="203200" indent="-203200">
              <a:spcAft>
                <a:spcPts val="600"/>
              </a:spcAft>
              <a:buSzPct val="100000"/>
              <a:buChar char="•"/>
            </a:pPr>
            <a:r>
              <a:rPr lang="en-US" sz="1500" dirty="0">
                <a:solidFill>
                  <a:srgbClr val="24302D"/>
                </a:solidFill>
                <a:latin typeface="Calibri" pitchFamily="34" charset="0"/>
                <a:ea typeface="Calibri" pitchFamily="34" charset="-122"/>
                <a:cs typeface="Calibri" pitchFamily="34" charset="-120"/>
              </a:rPr>
              <a:t>Clinician reviews medical causes</a:t>
            </a:r>
            <a:endParaRPr lang="en-US" sz="1500" dirty="0"/>
          </a:p>
        </p:txBody>
      </p:sp>
      <p:sp>
        <p:nvSpPr>
          <p:cNvPr id="14" name="Shape 12"/>
          <p:cNvSpPr/>
          <p:nvPr/>
        </p:nvSpPr>
        <p:spPr>
          <a:xfrm>
            <a:off x="7145465" y="1508760"/>
            <a:ext cx="731520" cy="731520"/>
          </a:xfrm>
          <a:prstGeom prst="ellipse">
            <a:avLst/>
          </a:prstGeom>
          <a:solidFill>
            <a:srgbClr val="28695F"/>
          </a:solidFill>
          <a:ln w="12700">
            <a:solidFill>
              <a:srgbClr val="28695F"/>
            </a:solidFill>
            <a:prstDash val="solid"/>
          </a:ln>
        </p:spPr>
      </p:sp>
      <p:sp>
        <p:nvSpPr>
          <p:cNvPr id="15" name="Text 13"/>
          <p:cNvSpPr txBox="1"/>
          <p:nvPr/>
        </p:nvSpPr>
        <p:spPr>
          <a:xfrm>
            <a:off x="7145465" y="15087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C</a:t>
            </a:r>
            <a:endParaRPr lang="en-US" sz="2200" dirty="0"/>
          </a:p>
        </p:txBody>
      </p:sp>
      <p:sp>
        <p:nvSpPr>
          <p:cNvPr id="16" name="Shape 14"/>
          <p:cNvSpPr/>
          <p:nvPr/>
        </p:nvSpPr>
        <p:spPr>
          <a:xfrm>
            <a:off x="6210148" y="2468880"/>
            <a:ext cx="2602154" cy="3633216"/>
          </a:xfrm>
          <a:prstGeom prst="roundRect">
            <a:avLst>
              <a:gd name="adj" fmla="val 4217"/>
            </a:avLst>
          </a:prstGeom>
          <a:solidFill>
            <a:srgbClr val="E8F1EF"/>
          </a:solidFill>
          <a:ln w="12700">
            <a:solidFill>
              <a:srgbClr val="E8F1EF"/>
            </a:solidFill>
            <a:prstDash val="solid"/>
          </a:ln>
        </p:spPr>
      </p:sp>
      <p:sp>
        <p:nvSpPr>
          <p:cNvPr id="17" name="Text 15"/>
          <p:cNvSpPr txBox="1"/>
          <p:nvPr/>
        </p:nvSpPr>
        <p:spPr>
          <a:xfrm>
            <a:off x="6393028" y="2606040"/>
            <a:ext cx="2236394" cy="594360"/>
          </a:xfrm>
          <a:prstGeom prst="rect">
            <a:avLst/>
          </a:prstGeom>
          <a:noFill/>
          <a:ln/>
        </p:spPr>
        <p:txBody>
          <a:bodyPr wrap="square" lIns="0" tIns="0" rIns="0" bIns="0" rtlCol="0" anchor="ctr"/>
          <a:lstStyle/>
          <a:p>
            <a:pPr indent="0" marL="0">
              <a:buNone/>
            </a:pPr>
            <a:r>
              <a:rPr lang="en-US" sz="1800" b="1" dirty="0">
                <a:solidFill>
                  <a:srgbClr val="28695F"/>
                </a:solidFill>
                <a:latin typeface="Cambria" pitchFamily="34" charset="0"/>
                <a:ea typeface="Cambria" pitchFamily="34" charset="-122"/>
                <a:cs typeface="Cambria" pitchFamily="34" charset="-120"/>
              </a:rPr>
              <a:t>Create</a:t>
            </a:r>
            <a:endParaRPr lang="en-US" sz="1800" dirty="0"/>
          </a:p>
        </p:txBody>
      </p:sp>
      <p:sp>
        <p:nvSpPr>
          <p:cNvPr id="18" name="Text 16"/>
          <p:cNvSpPr txBox="1"/>
          <p:nvPr/>
        </p:nvSpPr>
        <p:spPr>
          <a:xfrm>
            <a:off x="6393028" y="3291840"/>
            <a:ext cx="2236394" cy="265176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24302D"/>
                </a:solidFill>
                <a:latin typeface="Calibri" pitchFamily="34" charset="0"/>
                <a:ea typeface="Calibri" pitchFamily="34" charset="-122"/>
                <a:cs typeface="Calibri" pitchFamily="34" charset="-120"/>
              </a:rPr>
              <a:t>Develop a plan together with the caregiver</a:t>
            </a:r>
            <a:endParaRPr lang="en-US" sz="1500" dirty="0"/>
          </a:p>
          <a:p>
            <a:pPr marL="203200" indent="-203200">
              <a:spcAft>
                <a:spcPts val="600"/>
              </a:spcAft>
              <a:buSzPct val="100000"/>
              <a:buChar char="•"/>
            </a:pPr>
            <a:r>
              <a:rPr lang="en-US" sz="1500" dirty="0">
                <a:solidFill>
                  <a:srgbClr val="24302D"/>
                </a:solidFill>
                <a:latin typeface="Calibri" pitchFamily="34" charset="0"/>
                <a:ea typeface="Calibri" pitchFamily="34" charset="-122"/>
                <a:cs typeface="Calibri" pitchFamily="34" charset="-120"/>
              </a:rPr>
              <a:t>Start with non-drug strategies</a:t>
            </a:r>
            <a:endParaRPr lang="en-US" sz="1500" dirty="0"/>
          </a:p>
          <a:p>
            <a:pPr marL="203200" indent="-203200">
              <a:spcAft>
                <a:spcPts val="600"/>
              </a:spcAft>
              <a:buSzPct val="100000"/>
              <a:buChar char="•"/>
            </a:pPr>
            <a:r>
              <a:rPr lang="en-US" sz="1500" dirty="0">
                <a:solidFill>
                  <a:srgbClr val="24302D"/>
                </a:solidFill>
                <a:latin typeface="Calibri" pitchFamily="34" charset="0"/>
                <a:ea typeface="Calibri" pitchFamily="34" charset="-122"/>
                <a:cs typeface="Calibri" pitchFamily="34" charset="-120"/>
              </a:rPr>
              <a:t>Adjust environment, routine, and approach</a:t>
            </a:r>
            <a:endParaRPr lang="en-US" sz="1500" dirty="0"/>
          </a:p>
        </p:txBody>
      </p:sp>
      <p:sp>
        <p:nvSpPr>
          <p:cNvPr id="19" name="Shape 17"/>
          <p:cNvSpPr/>
          <p:nvPr/>
        </p:nvSpPr>
        <p:spPr>
          <a:xfrm>
            <a:off x="9976218" y="1508760"/>
            <a:ext cx="731520" cy="731520"/>
          </a:xfrm>
          <a:prstGeom prst="ellipse">
            <a:avLst/>
          </a:prstGeom>
          <a:solidFill>
            <a:srgbClr val="C78F2E"/>
          </a:solidFill>
          <a:ln w="12700">
            <a:solidFill>
              <a:srgbClr val="C78F2E"/>
            </a:solidFill>
            <a:prstDash val="solid"/>
          </a:ln>
        </p:spPr>
      </p:sp>
      <p:sp>
        <p:nvSpPr>
          <p:cNvPr id="20" name="Text 18"/>
          <p:cNvSpPr txBox="1"/>
          <p:nvPr/>
        </p:nvSpPr>
        <p:spPr>
          <a:xfrm>
            <a:off x="9976218" y="15087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E</a:t>
            </a:r>
            <a:endParaRPr lang="en-US" sz="2200" dirty="0"/>
          </a:p>
        </p:txBody>
      </p:sp>
      <p:sp>
        <p:nvSpPr>
          <p:cNvPr id="21" name="Shape 19"/>
          <p:cNvSpPr/>
          <p:nvPr/>
        </p:nvSpPr>
        <p:spPr>
          <a:xfrm>
            <a:off x="9040901" y="2468880"/>
            <a:ext cx="2602154" cy="3633216"/>
          </a:xfrm>
          <a:prstGeom prst="roundRect">
            <a:avLst>
              <a:gd name="adj" fmla="val 4217"/>
            </a:avLst>
          </a:prstGeom>
          <a:solidFill>
            <a:srgbClr val="E8F1EF"/>
          </a:solidFill>
          <a:ln w="12700">
            <a:solidFill>
              <a:srgbClr val="E8F1EF"/>
            </a:solidFill>
            <a:prstDash val="solid"/>
          </a:ln>
        </p:spPr>
      </p:sp>
      <p:sp>
        <p:nvSpPr>
          <p:cNvPr id="22" name="Text 20"/>
          <p:cNvSpPr txBox="1"/>
          <p:nvPr/>
        </p:nvSpPr>
        <p:spPr>
          <a:xfrm>
            <a:off x="9223781" y="2606040"/>
            <a:ext cx="2236394" cy="594360"/>
          </a:xfrm>
          <a:prstGeom prst="rect">
            <a:avLst/>
          </a:prstGeom>
          <a:noFill/>
          <a:ln/>
        </p:spPr>
        <p:txBody>
          <a:bodyPr wrap="square" lIns="0" tIns="0" rIns="0" bIns="0" rtlCol="0" anchor="ctr"/>
          <a:lstStyle/>
          <a:p>
            <a:pPr indent="0" marL="0">
              <a:buNone/>
            </a:pPr>
            <a:r>
              <a:rPr lang="en-US" sz="1800" b="1" dirty="0">
                <a:solidFill>
                  <a:srgbClr val="28695F"/>
                </a:solidFill>
                <a:latin typeface="Cambria" pitchFamily="34" charset="0"/>
                <a:ea typeface="Cambria" pitchFamily="34" charset="-122"/>
                <a:cs typeface="Cambria" pitchFamily="34" charset="-120"/>
              </a:rPr>
              <a:t>Evaluate</a:t>
            </a:r>
            <a:endParaRPr lang="en-US" sz="1800" dirty="0"/>
          </a:p>
        </p:txBody>
      </p:sp>
      <p:sp>
        <p:nvSpPr>
          <p:cNvPr id="23" name="Text 21"/>
          <p:cNvSpPr txBox="1"/>
          <p:nvPr/>
        </p:nvSpPr>
        <p:spPr>
          <a:xfrm>
            <a:off x="9223781" y="3291840"/>
            <a:ext cx="2236394" cy="265176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24302D"/>
                </a:solidFill>
                <a:latin typeface="Calibri" pitchFamily="34" charset="0"/>
                <a:ea typeface="Calibri" pitchFamily="34" charset="-122"/>
                <a:cs typeface="Calibri" pitchFamily="34" charset="-120"/>
              </a:rPr>
              <a:t>Did it work? Is the caregiver able to do it?</a:t>
            </a:r>
            <a:endParaRPr lang="en-US" sz="1500" dirty="0"/>
          </a:p>
          <a:p>
            <a:pPr marL="203200" indent="-203200">
              <a:spcAft>
                <a:spcPts val="600"/>
              </a:spcAft>
              <a:buSzPct val="100000"/>
              <a:buChar char="•"/>
            </a:pPr>
            <a:r>
              <a:rPr lang="en-US" sz="1500" dirty="0">
                <a:solidFill>
                  <a:srgbClr val="24302D"/>
                </a:solidFill>
                <a:latin typeface="Calibri" pitchFamily="34" charset="0"/>
                <a:ea typeface="Calibri" pitchFamily="34" charset="-122"/>
                <a:cs typeface="Calibri" pitchFamily="34" charset="-120"/>
              </a:rPr>
              <a:t>What unexpected effects occurred?</a:t>
            </a:r>
            <a:endParaRPr lang="en-US" sz="1500" dirty="0"/>
          </a:p>
          <a:p>
            <a:pPr marL="203200" indent="-203200">
              <a:spcAft>
                <a:spcPts val="600"/>
              </a:spcAft>
              <a:buSzPct val="100000"/>
              <a:buChar char="•"/>
            </a:pPr>
            <a:r>
              <a:rPr lang="en-US" sz="1500" dirty="0">
                <a:solidFill>
                  <a:srgbClr val="24302D"/>
                </a:solidFill>
                <a:latin typeface="Calibri" pitchFamily="34" charset="0"/>
                <a:ea typeface="Calibri" pitchFamily="34" charset="-122"/>
                <a:cs typeface="Calibri" pitchFamily="34" charset="-120"/>
              </a:rPr>
              <a:t>Adjust and try again</a:t>
            </a:r>
            <a:endParaRPr lang="en-US" sz="1500" dirty="0"/>
          </a:p>
        </p:txBody>
      </p:sp>
      <p:pic>
        <p:nvPicPr>
          <p:cNvPr id="24" name="Image 0" descr="preencoded.png">    </p:cNvPr>
          <p:cNvPicPr>
            <a:picLocks noChangeAspect="1"/>
          </p:cNvPicPr>
          <p:nvPr/>
        </p:nvPicPr>
        <p:blipFill>
          <a:blip r:embed="rId1"/>
          <a:stretch>
            <a:fillRect/>
          </a:stretch>
        </p:blipFill>
        <p:spPr>
          <a:xfrm>
            <a:off x="548640" y="6309360"/>
            <a:ext cx="874762" cy="365760"/>
          </a:xfrm>
          <a:prstGeom prst="rect">
            <a:avLst/>
          </a:prstGeom>
        </p:spPr>
      </p:pic>
      <p:sp>
        <p:nvSpPr>
          <p:cNvPr id="25" name="Text 22"/>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3</a:t>
            </a:r>
            <a:endParaRPr lang="en-US" sz="900" dirty="0"/>
          </a:p>
        </p:txBody>
      </p:sp>
      <p:sp>
        <p:nvSpPr>
          <p:cNvPr id="26" name="Text 23"/>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Documenting Behavior: The ABC Method</a:t>
            </a:r>
            <a:endParaRPr lang="en-US" sz="3000" dirty="0"/>
          </a:p>
        </p:txBody>
      </p:sp>
      <p:sp>
        <p:nvSpPr>
          <p:cNvPr id="3" name="Text 1"/>
          <p:cNvSpPr txBox="1"/>
          <p:nvPr/>
        </p:nvSpPr>
        <p:spPr>
          <a:xfrm>
            <a:off x="548640" y="1188720"/>
            <a:ext cx="11094415" cy="457200"/>
          </a:xfrm>
          <a:prstGeom prst="rect">
            <a:avLst/>
          </a:prstGeom>
          <a:noFill/>
          <a:ln/>
        </p:spPr>
        <p:txBody>
          <a:bodyPr wrap="square" lIns="0" tIns="0" rIns="0" bIns="0" rtlCol="0" anchor="ctr"/>
          <a:lstStyle/>
          <a:p>
            <a:pPr indent="0" marL="0">
              <a:buNone/>
            </a:pPr>
            <a:r>
              <a:rPr lang="en-US" sz="1600" i="1" dirty="0">
                <a:solidFill>
                  <a:srgbClr val="5E6B68"/>
                </a:solidFill>
                <a:latin typeface="Calibri" pitchFamily="34" charset="0"/>
                <a:ea typeface="Calibri" pitchFamily="34" charset="-122"/>
                <a:cs typeface="Calibri" pitchFamily="34" charset="-120"/>
              </a:rPr>
              <a:t>A simple structure caregivers and navigators can use to describe what happened.</a:t>
            </a:r>
            <a:endParaRPr lang="en-US" sz="1600" dirty="0"/>
          </a:p>
        </p:txBody>
      </p:sp>
      <p:sp>
        <p:nvSpPr>
          <p:cNvPr id="4" name="Shape 2"/>
          <p:cNvSpPr/>
          <p:nvPr/>
        </p:nvSpPr>
        <p:spPr>
          <a:xfrm>
            <a:off x="2321509" y="2240280"/>
            <a:ext cx="7548677" cy="0"/>
          </a:xfrm>
          <a:prstGeom prst="line">
            <a:avLst/>
          </a:prstGeom>
          <a:noFill/>
          <a:ln w="38100">
            <a:solidFill>
              <a:srgbClr val="C9DEDA"/>
            </a:solidFill>
            <a:prstDash val="solid"/>
          </a:ln>
        </p:spPr>
      </p:sp>
      <p:sp>
        <p:nvSpPr>
          <p:cNvPr id="5" name="Shape 3"/>
          <p:cNvSpPr/>
          <p:nvPr/>
        </p:nvSpPr>
        <p:spPr>
          <a:xfrm>
            <a:off x="1955749" y="1874520"/>
            <a:ext cx="731520" cy="731520"/>
          </a:xfrm>
          <a:prstGeom prst="ellipse">
            <a:avLst/>
          </a:prstGeom>
          <a:solidFill>
            <a:srgbClr val="28695F"/>
          </a:solidFill>
          <a:ln w="12700">
            <a:solidFill>
              <a:srgbClr val="28695F"/>
            </a:solidFill>
            <a:prstDash val="solid"/>
          </a:ln>
        </p:spPr>
      </p:sp>
      <p:sp>
        <p:nvSpPr>
          <p:cNvPr id="6" name="Text 4"/>
          <p:cNvSpPr txBox="1"/>
          <p:nvPr/>
        </p:nvSpPr>
        <p:spPr>
          <a:xfrm>
            <a:off x="1955749" y="187452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a:t>
            </a:r>
            <a:endParaRPr lang="en-US" sz="2200" dirty="0"/>
          </a:p>
        </p:txBody>
      </p:sp>
      <p:sp>
        <p:nvSpPr>
          <p:cNvPr id="7" name="Shape 5"/>
          <p:cNvSpPr/>
          <p:nvPr/>
        </p:nvSpPr>
        <p:spPr>
          <a:xfrm>
            <a:off x="548640" y="2834640"/>
            <a:ext cx="3545738" cy="2926080"/>
          </a:xfrm>
          <a:prstGeom prst="roundRect">
            <a:avLst>
              <a:gd name="adj" fmla="val 3750"/>
            </a:avLst>
          </a:prstGeom>
          <a:solidFill>
            <a:srgbClr val="E8F1EF"/>
          </a:solidFill>
          <a:ln w="12700">
            <a:solidFill>
              <a:srgbClr val="E8F1EF"/>
            </a:solidFill>
            <a:prstDash val="solid"/>
          </a:ln>
        </p:spPr>
      </p:sp>
      <p:sp>
        <p:nvSpPr>
          <p:cNvPr id="8" name="Text 6"/>
          <p:cNvSpPr txBox="1"/>
          <p:nvPr/>
        </p:nvSpPr>
        <p:spPr>
          <a:xfrm>
            <a:off x="731520" y="2971800"/>
            <a:ext cx="3179978" cy="594360"/>
          </a:xfrm>
          <a:prstGeom prst="rect">
            <a:avLst/>
          </a:prstGeom>
          <a:noFill/>
          <a:ln/>
        </p:spPr>
        <p:txBody>
          <a:bodyPr wrap="square" lIns="0" tIns="0" rIns="0" bIns="0" rtlCol="0" anchor="ctr"/>
          <a:lstStyle/>
          <a:p>
            <a:pPr indent="0" marL="0">
              <a:buNone/>
            </a:pPr>
            <a:r>
              <a:rPr lang="en-US" sz="1800" b="1" dirty="0">
                <a:solidFill>
                  <a:srgbClr val="28695F"/>
                </a:solidFill>
                <a:latin typeface="Cambria" pitchFamily="34" charset="0"/>
                <a:ea typeface="Cambria" pitchFamily="34" charset="-122"/>
                <a:cs typeface="Cambria" pitchFamily="34" charset="-120"/>
              </a:rPr>
              <a:t>Antecedent</a:t>
            </a:r>
            <a:endParaRPr lang="en-US" sz="1800" dirty="0"/>
          </a:p>
        </p:txBody>
      </p:sp>
      <p:sp>
        <p:nvSpPr>
          <p:cNvPr id="9" name="Text 7"/>
          <p:cNvSpPr txBox="1"/>
          <p:nvPr/>
        </p:nvSpPr>
        <p:spPr>
          <a:xfrm>
            <a:off x="731520" y="3657600"/>
            <a:ext cx="3179978" cy="2286000"/>
          </a:xfrm>
          <a:prstGeom prst="rect">
            <a:avLst/>
          </a:prstGeom>
          <a:noFill/>
          <a:ln/>
        </p:spPr>
        <p:txBody>
          <a:bodyPr wrap="square" lIns="0" tIns="0" rIns="0" bIns="0" rtlCol="0" anchor="t"/>
          <a:lstStyle/>
          <a:p>
            <a:pPr indent="0" marL="0">
              <a:buNone/>
            </a:pPr>
            <a:r>
              <a:rPr lang="en-US" sz="1700" dirty="0">
                <a:solidFill>
                  <a:srgbClr val="24302D"/>
                </a:solidFill>
                <a:latin typeface="Calibri" pitchFamily="34" charset="0"/>
                <a:ea typeface="Calibri" pitchFamily="34" charset="-122"/>
                <a:cs typeface="Calibri" pitchFamily="34" charset="-120"/>
              </a:rPr>
              <a:t>What happened right before? Time, place, people, activity, noise, and what was said.</a:t>
            </a:r>
            <a:endParaRPr lang="en-US" sz="1700" dirty="0"/>
          </a:p>
        </p:txBody>
      </p:sp>
      <p:sp>
        <p:nvSpPr>
          <p:cNvPr id="10" name="Shape 8"/>
          <p:cNvSpPr/>
          <p:nvPr/>
        </p:nvSpPr>
        <p:spPr>
          <a:xfrm>
            <a:off x="5730088" y="1874520"/>
            <a:ext cx="731520" cy="731520"/>
          </a:xfrm>
          <a:prstGeom prst="ellipse">
            <a:avLst/>
          </a:prstGeom>
          <a:solidFill>
            <a:srgbClr val="C78F2E"/>
          </a:solidFill>
          <a:ln w="12700">
            <a:solidFill>
              <a:srgbClr val="C78F2E"/>
            </a:solidFill>
            <a:prstDash val="solid"/>
          </a:ln>
        </p:spPr>
      </p:sp>
      <p:sp>
        <p:nvSpPr>
          <p:cNvPr id="11" name="Text 9"/>
          <p:cNvSpPr txBox="1"/>
          <p:nvPr/>
        </p:nvSpPr>
        <p:spPr>
          <a:xfrm>
            <a:off x="5730088" y="187452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B</a:t>
            </a:r>
            <a:endParaRPr lang="en-US" sz="2200" dirty="0"/>
          </a:p>
        </p:txBody>
      </p:sp>
      <p:sp>
        <p:nvSpPr>
          <p:cNvPr id="12" name="Shape 10"/>
          <p:cNvSpPr/>
          <p:nvPr/>
        </p:nvSpPr>
        <p:spPr>
          <a:xfrm>
            <a:off x="4322978" y="2834640"/>
            <a:ext cx="3545738" cy="2926080"/>
          </a:xfrm>
          <a:prstGeom prst="roundRect">
            <a:avLst>
              <a:gd name="adj" fmla="val 3750"/>
            </a:avLst>
          </a:prstGeom>
          <a:solidFill>
            <a:srgbClr val="E8F1EF"/>
          </a:solidFill>
          <a:ln w="12700">
            <a:solidFill>
              <a:srgbClr val="E8F1EF"/>
            </a:solidFill>
            <a:prstDash val="solid"/>
          </a:ln>
        </p:spPr>
      </p:sp>
      <p:sp>
        <p:nvSpPr>
          <p:cNvPr id="13" name="Text 11"/>
          <p:cNvSpPr txBox="1"/>
          <p:nvPr/>
        </p:nvSpPr>
        <p:spPr>
          <a:xfrm>
            <a:off x="4505858" y="2971800"/>
            <a:ext cx="3179978" cy="594360"/>
          </a:xfrm>
          <a:prstGeom prst="rect">
            <a:avLst/>
          </a:prstGeom>
          <a:noFill/>
          <a:ln/>
        </p:spPr>
        <p:txBody>
          <a:bodyPr wrap="square" lIns="0" tIns="0" rIns="0" bIns="0" rtlCol="0" anchor="ctr"/>
          <a:lstStyle/>
          <a:p>
            <a:pPr indent="0" marL="0">
              <a:buNone/>
            </a:pPr>
            <a:r>
              <a:rPr lang="en-US" sz="1800" b="1" dirty="0">
                <a:solidFill>
                  <a:srgbClr val="28695F"/>
                </a:solidFill>
                <a:latin typeface="Cambria" pitchFamily="34" charset="0"/>
                <a:ea typeface="Cambria" pitchFamily="34" charset="-122"/>
                <a:cs typeface="Cambria" pitchFamily="34" charset="-120"/>
              </a:rPr>
              <a:t>Behavior</a:t>
            </a:r>
            <a:endParaRPr lang="en-US" sz="1800" dirty="0"/>
          </a:p>
        </p:txBody>
      </p:sp>
      <p:sp>
        <p:nvSpPr>
          <p:cNvPr id="14" name="Text 12"/>
          <p:cNvSpPr txBox="1"/>
          <p:nvPr/>
        </p:nvSpPr>
        <p:spPr>
          <a:xfrm>
            <a:off x="4505858" y="3657600"/>
            <a:ext cx="3179978" cy="2286000"/>
          </a:xfrm>
          <a:prstGeom prst="rect">
            <a:avLst/>
          </a:prstGeom>
          <a:noFill/>
          <a:ln/>
        </p:spPr>
        <p:txBody>
          <a:bodyPr wrap="square" lIns="0" tIns="0" rIns="0" bIns="0" rtlCol="0" anchor="t"/>
          <a:lstStyle/>
          <a:p>
            <a:pPr indent="0" marL="0">
              <a:buNone/>
            </a:pPr>
            <a:r>
              <a:rPr lang="en-US" sz="1700" dirty="0">
                <a:solidFill>
                  <a:srgbClr val="24302D"/>
                </a:solidFill>
                <a:latin typeface="Calibri" pitchFamily="34" charset="0"/>
                <a:ea typeface="Calibri" pitchFamily="34" charset="-122"/>
                <a:cs typeface="Calibri" pitchFamily="34" charset="-120"/>
              </a:rPr>
              <a:t>Exactly what the person did or said, in objective terms, and how long it lasted.</a:t>
            </a:r>
            <a:endParaRPr lang="en-US" sz="1700" dirty="0"/>
          </a:p>
        </p:txBody>
      </p:sp>
      <p:sp>
        <p:nvSpPr>
          <p:cNvPr id="15" name="Shape 13"/>
          <p:cNvSpPr/>
          <p:nvPr/>
        </p:nvSpPr>
        <p:spPr>
          <a:xfrm>
            <a:off x="9504426" y="1874520"/>
            <a:ext cx="731520" cy="731520"/>
          </a:xfrm>
          <a:prstGeom prst="ellipse">
            <a:avLst/>
          </a:prstGeom>
          <a:solidFill>
            <a:srgbClr val="28695F"/>
          </a:solidFill>
          <a:ln w="12700">
            <a:solidFill>
              <a:srgbClr val="28695F"/>
            </a:solidFill>
            <a:prstDash val="solid"/>
          </a:ln>
        </p:spPr>
      </p:sp>
      <p:sp>
        <p:nvSpPr>
          <p:cNvPr id="16" name="Text 14"/>
          <p:cNvSpPr txBox="1"/>
          <p:nvPr/>
        </p:nvSpPr>
        <p:spPr>
          <a:xfrm>
            <a:off x="9504426" y="187452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C</a:t>
            </a:r>
            <a:endParaRPr lang="en-US" sz="2200" dirty="0"/>
          </a:p>
        </p:txBody>
      </p:sp>
      <p:sp>
        <p:nvSpPr>
          <p:cNvPr id="17" name="Shape 15"/>
          <p:cNvSpPr/>
          <p:nvPr/>
        </p:nvSpPr>
        <p:spPr>
          <a:xfrm>
            <a:off x="8097317" y="2834640"/>
            <a:ext cx="3545738" cy="2926080"/>
          </a:xfrm>
          <a:prstGeom prst="roundRect">
            <a:avLst>
              <a:gd name="adj" fmla="val 3750"/>
            </a:avLst>
          </a:prstGeom>
          <a:solidFill>
            <a:srgbClr val="E8F1EF"/>
          </a:solidFill>
          <a:ln w="12700">
            <a:solidFill>
              <a:srgbClr val="E8F1EF"/>
            </a:solidFill>
            <a:prstDash val="solid"/>
          </a:ln>
        </p:spPr>
      </p:sp>
      <p:sp>
        <p:nvSpPr>
          <p:cNvPr id="18" name="Text 16"/>
          <p:cNvSpPr txBox="1"/>
          <p:nvPr/>
        </p:nvSpPr>
        <p:spPr>
          <a:xfrm>
            <a:off x="8280197" y="2971800"/>
            <a:ext cx="3179978" cy="594360"/>
          </a:xfrm>
          <a:prstGeom prst="rect">
            <a:avLst/>
          </a:prstGeom>
          <a:noFill/>
          <a:ln/>
        </p:spPr>
        <p:txBody>
          <a:bodyPr wrap="square" lIns="0" tIns="0" rIns="0" bIns="0" rtlCol="0" anchor="ctr"/>
          <a:lstStyle/>
          <a:p>
            <a:pPr indent="0" marL="0">
              <a:buNone/>
            </a:pPr>
            <a:r>
              <a:rPr lang="en-US" sz="1800" b="1" dirty="0">
                <a:solidFill>
                  <a:srgbClr val="28695F"/>
                </a:solidFill>
                <a:latin typeface="Cambria" pitchFamily="34" charset="0"/>
                <a:ea typeface="Cambria" pitchFamily="34" charset="-122"/>
                <a:cs typeface="Cambria" pitchFamily="34" charset="-120"/>
              </a:rPr>
              <a:t>Consequence</a:t>
            </a:r>
            <a:endParaRPr lang="en-US" sz="1800" dirty="0"/>
          </a:p>
        </p:txBody>
      </p:sp>
      <p:sp>
        <p:nvSpPr>
          <p:cNvPr id="19" name="Text 17"/>
          <p:cNvSpPr txBox="1"/>
          <p:nvPr/>
        </p:nvSpPr>
        <p:spPr>
          <a:xfrm>
            <a:off x="8280197" y="3657600"/>
            <a:ext cx="3179978" cy="2286000"/>
          </a:xfrm>
          <a:prstGeom prst="rect">
            <a:avLst/>
          </a:prstGeom>
          <a:noFill/>
          <a:ln/>
        </p:spPr>
        <p:txBody>
          <a:bodyPr wrap="square" lIns="0" tIns="0" rIns="0" bIns="0" rtlCol="0" anchor="t"/>
          <a:lstStyle/>
          <a:p>
            <a:pPr indent="0" marL="0">
              <a:buNone/>
            </a:pPr>
            <a:r>
              <a:rPr lang="en-US" sz="1700" dirty="0">
                <a:solidFill>
                  <a:srgbClr val="24302D"/>
                </a:solidFill>
                <a:latin typeface="Calibri" pitchFamily="34" charset="0"/>
                <a:ea typeface="Calibri" pitchFamily="34" charset="-122"/>
                <a:cs typeface="Calibri" pitchFamily="34" charset="-120"/>
              </a:rPr>
              <a:t>What happened after? How others responded and whether the behavior eased or escalated.</a:t>
            </a:r>
            <a:endParaRPr lang="en-US" sz="1700" dirty="0"/>
          </a:p>
        </p:txBody>
      </p:sp>
      <p:pic>
        <p:nvPicPr>
          <p:cNvPr id="20" name="Image 0" descr="preencoded.png">    </p:cNvPr>
          <p:cNvPicPr>
            <a:picLocks noChangeAspect="1"/>
          </p:cNvPicPr>
          <p:nvPr/>
        </p:nvPicPr>
        <p:blipFill>
          <a:blip r:embed="rId1"/>
          <a:stretch>
            <a:fillRect/>
          </a:stretch>
        </p:blipFill>
        <p:spPr>
          <a:xfrm>
            <a:off x="548640" y="6309360"/>
            <a:ext cx="874762" cy="365760"/>
          </a:xfrm>
          <a:prstGeom prst="rect">
            <a:avLst/>
          </a:prstGeom>
        </p:spPr>
      </p:pic>
      <p:sp>
        <p:nvSpPr>
          <p:cNvPr id="21" name="Text 18"/>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3</a:t>
            </a:r>
            <a:endParaRPr lang="en-US" sz="900" dirty="0"/>
          </a:p>
        </p:txBody>
      </p:sp>
      <p:sp>
        <p:nvSpPr>
          <p:cNvPr id="22" name="Text 19"/>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Non-Drug Strategies First</a:t>
            </a:r>
            <a:endParaRPr lang="en-US" sz="3000" dirty="0"/>
          </a:p>
        </p:txBody>
      </p:sp>
      <p:sp>
        <p:nvSpPr>
          <p:cNvPr id="3" name="Text 1"/>
          <p:cNvSpPr txBox="1"/>
          <p:nvPr/>
        </p:nvSpPr>
        <p:spPr>
          <a:xfrm>
            <a:off x="548640" y="1417320"/>
            <a:ext cx="6675120" cy="4709160"/>
          </a:xfrm>
          <a:prstGeom prst="rect">
            <a:avLst/>
          </a:prstGeom>
          <a:noFill/>
          <a:ln/>
        </p:spPr>
        <p:txBody>
          <a:bodyPr wrap="square" lIns="0" tIns="0" rIns="0" bIns="0" rtlCol="0" anchor="t"/>
          <a:lstStyle/>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Keep a predictable routine </a:t>
            </a:r>
            <a:r>
              <a:rPr lang="en-US" sz="1800" dirty="0">
                <a:solidFill>
                  <a:srgbClr val="24302D"/>
                </a:solidFill>
                <a:latin typeface="Calibri" pitchFamily="34" charset="0"/>
                <a:ea typeface="Calibri" pitchFamily="34" charset="-122"/>
                <a:cs typeface="Calibri" pitchFamily="34" charset="-120"/>
              </a:rPr>
              <a:t>for meals, bathing, activity, and sleep</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Simplify: </a:t>
            </a:r>
            <a:r>
              <a:rPr lang="en-US" sz="1800" dirty="0">
                <a:solidFill>
                  <a:srgbClr val="24302D"/>
                </a:solidFill>
                <a:latin typeface="Calibri" pitchFamily="34" charset="0"/>
                <a:ea typeface="Calibri" pitchFamily="34" charset="-122"/>
                <a:cs typeface="Calibri" pitchFamily="34" charset="-120"/>
              </a:rPr>
              <a:t>one step at a time, with clear and calm cues</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Redirect and distract </a:t>
            </a:r>
            <a:r>
              <a:rPr lang="en-US" sz="1800" dirty="0">
                <a:solidFill>
                  <a:srgbClr val="24302D"/>
                </a:solidFill>
                <a:latin typeface="Calibri" pitchFamily="34" charset="0"/>
                <a:ea typeface="Calibri" pitchFamily="34" charset="-122"/>
                <a:cs typeface="Calibri" pitchFamily="34" charset="-120"/>
              </a:rPr>
              <a:t>with a favorite activity, snack, music, or a walk</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Adjust the environment: </a:t>
            </a:r>
            <a:r>
              <a:rPr lang="en-US" sz="1800" dirty="0">
                <a:solidFill>
                  <a:srgbClr val="24302D"/>
                </a:solidFill>
                <a:latin typeface="Calibri" pitchFamily="34" charset="0"/>
                <a:ea typeface="Calibri" pitchFamily="34" charset="-122"/>
                <a:cs typeface="Calibri" pitchFamily="34" charset="-120"/>
              </a:rPr>
              <a:t>reduce noise and clutter, improve lighting, close blinds at dusk</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Provide meaningful activity </a:t>
            </a:r>
            <a:r>
              <a:rPr lang="en-US" sz="1800" dirty="0">
                <a:solidFill>
                  <a:srgbClr val="24302D"/>
                </a:solidFill>
                <a:latin typeface="Calibri" pitchFamily="34" charset="0"/>
                <a:ea typeface="Calibri" pitchFamily="34" charset="-122"/>
                <a:cs typeface="Calibri" pitchFamily="34" charset="-120"/>
              </a:rPr>
              <a:t>matched to the person's interests and abilities</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Validate feelings </a:t>
            </a:r>
            <a:r>
              <a:rPr lang="en-US" sz="1800" dirty="0">
                <a:solidFill>
                  <a:srgbClr val="24302D"/>
                </a:solidFill>
                <a:latin typeface="Calibri" pitchFamily="34" charset="0"/>
                <a:ea typeface="Calibri" pitchFamily="34" charset="-122"/>
                <a:cs typeface="Calibri" pitchFamily="34" charset="-120"/>
              </a:rPr>
              <a:t>rather than correcting facts</a:t>
            </a:r>
            <a:endParaRPr lang="en-US" sz="1800" dirty="0"/>
          </a:p>
        </p:txBody>
      </p:sp>
      <p:sp>
        <p:nvSpPr>
          <p:cNvPr id="4" name="Shape 2"/>
          <p:cNvSpPr/>
          <p:nvPr/>
        </p:nvSpPr>
        <p:spPr>
          <a:xfrm>
            <a:off x="7589520" y="1417320"/>
            <a:ext cx="4053535" cy="3942080"/>
          </a:xfrm>
          <a:prstGeom prst="roundRect">
            <a:avLst>
              <a:gd name="adj" fmla="val 2784"/>
            </a:avLst>
          </a:prstGeom>
          <a:solidFill>
            <a:srgbClr val="F8EFDF"/>
          </a:solidFill>
          <a:ln w="12700">
            <a:solidFill>
              <a:srgbClr val="F8EFDF"/>
            </a:solidFill>
            <a:prstDash val="solid"/>
          </a:ln>
        </p:spPr>
      </p:sp>
      <p:pic>
        <p:nvPicPr>
          <p:cNvPr id="5" name="Image 0" descr="preencoded.png">    </p:cNvPr>
          <p:cNvPicPr>
            <a:picLocks noChangeAspect="1"/>
          </p:cNvPicPr>
          <p:nvPr/>
        </p:nvPicPr>
        <p:blipFill>
          <a:blip r:embed="rId1"/>
          <a:stretch>
            <a:fillRect/>
          </a:stretch>
        </p:blipFill>
        <p:spPr>
          <a:xfrm>
            <a:off x="7863840" y="1691640"/>
            <a:ext cx="502920" cy="502920"/>
          </a:xfrm>
          <a:prstGeom prst="rect">
            <a:avLst/>
          </a:prstGeom>
        </p:spPr>
      </p:pic>
      <p:sp>
        <p:nvSpPr>
          <p:cNvPr id="6" name="Text 3"/>
          <p:cNvSpPr txBox="1"/>
          <p:nvPr/>
        </p:nvSpPr>
        <p:spPr>
          <a:xfrm>
            <a:off x="8503920" y="1645920"/>
            <a:ext cx="2910535" cy="594360"/>
          </a:xfrm>
          <a:prstGeom prst="rect">
            <a:avLst/>
          </a:prstGeom>
          <a:noFill/>
          <a:ln/>
        </p:spPr>
        <p:txBody>
          <a:bodyPr wrap="square" lIns="0" tIns="0" rIns="0" bIns="0" rtlCol="0" anchor="ctr"/>
          <a:lstStyle/>
          <a:p>
            <a:pPr indent="0" marL="0">
              <a:buNone/>
            </a:pPr>
            <a:r>
              <a:rPr lang="en-US" sz="1800" b="1" dirty="0">
                <a:solidFill>
                  <a:srgbClr val="C78F2E"/>
                </a:solidFill>
                <a:latin typeface="Cambria" pitchFamily="34" charset="0"/>
                <a:ea typeface="Cambria" pitchFamily="34" charset="-122"/>
                <a:cs typeface="Cambria" pitchFamily="34" charset="-120"/>
              </a:rPr>
              <a:t>About medications</a:t>
            </a:r>
            <a:endParaRPr lang="en-US" sz="1800" dirty="0"/>
          </a:p>
        </p:txBody>
      </p:sp>
      <p:sp>
        <p:nvSpPr>
          <p:cNvPr id="7" name="Text 4"/>
          <p:cNvSpPr txBox="1"/>
          <p:nvPr/>
        </p:nvSpPr>
        <p:spPr>
          <a:xfrm>
            <a:off x="7863840" y="2423160"/>
            <a:ext cx="3504895" cy="2844800"/>
          </a:xfrm>
          <a:prstGeom prst="rect">
            <a:avLst/>
          </a:prstGeom>
          <a:noFill/>
          <a:ln/>
        </p:spPr>
        <p:txBody>
          <a:bodyPr wrap="square" lIns="0" tIns="0" rIns="0" bIns="0" rtlCol="0" anchor="t"/>
          <a:lstStyle/>
          <a:p>
            <a:pPr indent="0" marL="0">
              <a:buNone/>
            </a:pPr>
            <a:r>
              <a:rPr lang="en-US" sz="1600" dirty="0">
                <a:solidFill>
                  <a:srgbClr val="24302D"/>
                </a:solidFill>
                <a:latin typeface="Calibri" pitchFamily="34" charset="0"/>
                <a:ea typeface="Calibri" pitchFamily="34" charset="-122"/>
                <a:cs typeface="Calibri" pitchFamily="34" charset="-120"/>
              </a:rPr>
              <a:t>Antipsychotic medications carry an FDA boxed warning for increased risk of death in older adults with dementia. Navigators never recommend, start, or stop medications. Report behaviors to the clinician, who decides whether medication is appropriate.</a:t>
            </a:r>
            <a:endParaRPr lang="en-US" sz="1600" dirty="0"/>
          </a:p>
        </p:txBody>
      </p:sp>
      <p:pic>
        <p:nvPicPr>
          <p:cNvPr id="8" name="Image 1" descr="preencoded.png">    </p:cNvPr>
          <p:cNvPicPr>
            <a:picLocks noChangeAspect="1"/>
          </p:cNvPicPr>
          <p:nvPr/>
        </p:nvPicPr>
        <p:blipFill>
          <a:blip r:embed="rId2"/>
          <a:stretch>
            <a:fillRect/>
          </a:stretch>
        </p:blipFill>
        <p:spPr>
          <a:xfrm>
            <a:off x="548640" y="6309360"/>
            <a:ext cx="874762" cy="365760"/>
          </a:xfrm>
          <a:prstGeom prst="rect">
            <a:avLst/>
          </a:prstGeom>
        </p:spPr>
      </p:pic>
      <p:sp>
        <p:nvSpPr>
          <p:cNvPr id="9" name="Text 5"/>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3</a:t>
            </a:r>
            <a:endParaRPr lang="en-US" sz="900" dirty="0"/>
          </a:p>
        </p:txBody>
      </p:sp>
      <p:sp>
        <p:nvSpPr>
          <p:cNvPr id="10" name="Text 6"/>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Common Behaviors: Possible Causes and Responses</a:t>
            </a:r>
            <a:endParaRPr lang="en-US" sz="3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068450"/>
                <a:gridCol w="3948860"/>
                <a:gridCol w="5077105"/>
              </a:tblGrid>
              <a:tr h="0">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Behavior</a:t>
                      </a:r>
                      <a:endParaRPr lang="en-US" sz="17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28695F"/>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Possible Causes</a:t>
                      </a:r>
                      <a:endParaRPr lang="en-US" sz="17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28695F"/>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Try This</a:t>
                      </a:r>
                      <a:endParaRPr lang="en-US" sz="17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28695F"/>
                    </a:solidFill>
                  </a:tcPr>
                </a:tc>
              </a:tr>
              <a:tr h="0">
                <a:tc>
                  <a:txBody>
                    <a:bodyPr/>
                    <a:lstStyle/>
                    <a:p>
                      <a:pPr indent="0" marL="0">
                        <a:buNone/>
                      </a:pPr>
                      <a:r>
                        <a:rPr lang="en-US" sz="1600" b="1" dirty="0">
                          <a:solidFill>
                            <a:srgbClr val="28695F"/>
                          </a:solidFill>
                          <a:latin typeface="Calibri" pitchFamily="34" charset="0"/>
                          <a:ea typeface="Calibri" pitchFamily="34" charset="-122"/>
                          <a:cs typeface="Calibri" pitchFamily="34" charset="-120"/>
                        </a:rPr>
                        <a:t>Sundowning</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FFFFFF"/>
                    </a:solidFill>
                  </a:tcPr>
                </a:tc>
                <a:tc>
                  <a:txBody>
                    <a:bodyPr/>
                    <a:lstStyle/>
                    <a:p>
                      <a:pPr indent="0" marL="0">
                        <a:buNone/>
                      </a:pPr>
                      <a:r>
                        <a:rPr lang="en-US" sz="1600" dirty="0">
                          <a:solidFill>
                            <a:srgbClr val="24302D"/>
                          </a:solidFill>
                          <a:latin typeface="Calibri" pitchFamily="34" charset="0"/>
                          <a:ea typeface="Calibri" pitchFamily="34" charset="-122"/>
                          <a:cs typeface="Calibri" pitchFamily="34" charset="-120"/>
                        </a:rPr>
                        <a:t>Fatigue, low light, shadows, hunger, end-of-day noise and activity</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FFFFFF"/>
                    </a:solidFill>
                  </a:tcPr>
                </a:tc>
                <a:tc>
                  <a:txBody>
                    <a:bodyPr/>
                    <a:lstStyle/>
                    <a:p>
                      <a:pPr indent="0" marL="0">
                        <a:buNone/>
                      </a:pPr>
                      <a:r>
                        <a:rPr lang="en-US" sz="1600" dirty="0">
                          <a:solidFill>
                            <a:srgbClr val="24302D"/>
                          </a:solidFill>
                          <a:latin typeface="Calibri" pitchFamily="34" charset="0"/>
                          <a:ea typeface="Calibri" pitchFamily="34" charset="-122"/>
                          <a:cs typeface="Calibri" pitchFamily="34" charset="-120"/>
                        </a:rPr>
                        <a:t>Open blinds by day, close at dusk; turn lights on early; calm activity and snack in late afternoon</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28695F"/>
                          </a:solidFill>
                          <a:latin typeface="Calibri" pitchFamily="34" charset="0"/>
                          <a:ea typeface="Calibri" pitchFamily="34" charset="-122"/>
                          <a:cs typeface="Calibri" pitchFamily="34" charset="-120"/>
                        </a:rPr>
                        <a:t>Repeated questions</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E8F1EF"/>
                    </a:solidFill>
                  </a:tcPr>
                </a:tc>
                <a:tc>
                  <a:txBody>
                    <a:bodyPr/>
                    <a:lstStyle/>
                    <a:p>
                      <a:pPr indent="0" marL="0">
                        <a:buNone/>
                      </a:pPr>
                      <a:r>
                        <a:rPr lang="en-US" sz="1600" dirty="0">
                          <a:solidFill>
                            <a:srgbClr val="24302D"/>
                          </a:solidFill>
                          <a:latin typeface="Calibri" pitchFamily="34" charset="0"/>
                          <a:ea typeface="Calibri" pitchFamily="34" charset="-122"/>
                          <a:cs typeface="Calibri" pitchFamily="34" charset="-120"/>
                        </a:rPr>
                        <a:t>Memory loss, anxiety, boredom, wanting reassurance</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E8F1EF"/>
                    </a:solidFill>
                  </a:tcPr>
                </a:tc>
                <a:tc>
                  <a:txBody>
                    <a:bodyPr/>
                    <a:lstStyle/>
                    <a:p>
                      <a:pPr indent="0" marL="0">
                        <a:buNone/>
                      </a:pPr>
                      <a:r>
                        <a:rPr lang="en-US" sz="1600" dirty="0">
                          <a:solidFill>
                            <a:srgbClr val="24302D"/>
                          </a:solidFill>
                          <a:latin typeface="Calibri" pitchFamily="34" charset="0"/>
                          <a:ea typeface="Calibri" pitchFamily="34" charset="-122"/>
                          <a:cs typeface="Calibri" pitchFamily="34" charset="-120"/>
                        </a:rPr>
                        <a:t>Answer calmly, respond to the feeling ("You're worried about…"); use a written note or calendar</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E8F1EF"/>
                    </a:solidFill>
                  </a:tcPr>
                </a:tc>
              </a:tr>
              <a:tr h="0">
                <a:tc>
                  <a:txBody>
                    <a:bodyPr/>
                    <a:lstStyle/>
                    <a:p>
                      <a:pPr indent="0" marL="0">
                        <a:buNone/>
                      </a:pPr>
                      <a:r>
                        <a:rPr lang="en-US" sz="1600" b="1" dirty="0">
                          <a:solidFill>
                            <a:srgbClr val="28695F"/>
                          </a:solidFill>
                          <a:latin typeface="Calibri" pitchFamily="34" charset="0"/>
                          <a:ea typeface="Calibri" pitchFamily="34" charset="-122"/>
                          <a:cs typeface="Calibri" pitchFamily="34" charset="-120"/>
                        </a:rPr>
                        <a:t>Refusing to bathe</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FFFFFF"/>
                    </a:solidFill>
                  </a:tcPr>
                </a:tc>
                <a:tc>
                  <a:txBody>
                    <a:bodyPr/>
                    <a:lstStyle/>
                    <a:p>
                      <a:pPr indent="0" marL="0">
                        <a:buNone/>
                      </a:pPr>
                      <a:r>
                        <a:rPr lang="en-US" sz="1600" dirty="0">
                          <a:solidFill>
                            <a:srgbClr val="24302D"/>
                          </a:solidFill>
                          <a:latin typeface="Calibri" pitchFamily="34" charset="0"/>
                          <a:ea typeface="Calibri" pitchFamily="34" charset="-122"/>
                          <a:cs typeface="Calibri" pitchFamily="34" charset="-120"/>
                        </a:rPr>
                        <a:t>Cold, fear of water, modesty, loss of control, too many steps</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FFFFFF"/>
                    </a:solidFill>
                  </a:tcPr>
                </a:tc>
                <a:tc>
                  <a:txBody>
                    <a:bodyPr/>
                    <a:lstStyle/>
                    <a:p>
                      <a:pPr indent="0" marL="0">
                        <a:buNone/>
                      </a:pPr>
                      <a:r>
                        <a:rPr lang="en-US" sz="1600" dirty="0">
                          <a:solidFill>
                            <a:srgbClr val="24302D"/>
                          </a:solidFill>
                          <a:latin typeface="Calibri" pitchFamily="34" charset="0"/>
                          <a:ea typeface="Calibri" pitchFamily="34" charset="-122"/>
                          <a:cs typeface="Calibri" pitchFamily="34" charset="-120"/>
                        </a:rPr>
                        <a:t>Warm the room, use a towel for privacy, offer choices, try a sponge bath or different time</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28695F"/>
                          </a:solidFill>
                          <a:latin typeface="Calibri" pitchFamily="34" charset="0"/>
                          <a:ea typeface="Calibri" pitchFamily="34" charset="-122"/>
                          <a:cs typeface="Calibri" pitchFamily="34" charset="-120"/>
                        </a:rPr>
                        <a:t>"Someone stole my purse"</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E8F1EF"/>
                    </a:solidFill>
                  </a:tcPr>
                </a:tc>
                <a:tc>
                  <a:txBody>
                    <a:bodyPr/>
                    <a:lstStyle/>
                    <a:p>
                      <a:pPr indent="0" marL="0">
                        <a:buNone/>
                      </a:pPr>
                      <a:r>
                        <a:rPr lang="en-US" sz="1600" dirty="0">
                          <a:solidFill>
                            <a:srgbClr val="24302D"/>
                          </a:solidFill>
                          <a:latin typeface="Calibri" pitchFamily="34" charset="0"/>
                          <a:ea typeface="Calibri" pitchFamily="34" charset="-122"/>
                          <a:cs typeface="Calibri" pitchFamily="34" charset="-120"/>
                        </a:rPr>
                        <a:t>Misplaced item, memory loss, feeling a loss of control</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E8F1EF"/>
                    </a:solidFill>
                  </a:tcPr>
                </a:tc>
                <a:tc>
                  <a:txBody>
                    <a:bodyPr/>
                    <a:lstStyle/>
                    <a:p>
                      <a:pPr indent="0" marL="0">
                        <a:buNone/>
                      </a:pPr>
                      <a:r>
                        <a:rPr lang="en-US" sz="1600" dirty="0">
                          <a:solidFill>
                            <a:srgbClr val="24302D"/>
                          </a:solidFill>
                          <a:latin typeface="Calibri" pitchFamily="34" charset="0"/>
                          <a:ea typeface="Calibri" pitchFamily="34" charset="-122"/>
                          <a:cs typeface="Calibri" pitchFamily="34" charset="-120"/>
                        </a:rPr>
                        <a:t>Don't argue; offer to help look; keep duplicates of frequently lost items</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E8F1EF"/>
                    </a:solidFill>
                  </a:tcPr>
                </a:tc>
              </a:tr>
              <a:tr h="0">
                <a:tc>
                  <a:txBody>
                    <a:bodyPr/>
                    <a:lstStyle/>
                    <a:p>
                      <a:pPr indent="0" marL="0">
                        <a:buNone/>
                      </a:pPr>
                      <a:r>
                        <a:rPr lang="en-US" sz="1600" b="1" dirty="0">
                          <a:solidFill>
                            <a:srgbClr val="28695F"/>
                          </a:solidFill>
                          <a:latin typeface="Calibri" pitchFamily="34" charset="0"/>
                          <a:ea typeface="Calibri" pitchFamily="34" charset="-122"/>
                          <a:cs typeface="Calibri" pitchFamily="34" charset="-120"/>
                        </a:rPr>
                        <a:t>Exit-seeking ("I want to go home")</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FFFFFF"/>
                    </a:solidFill>
                  </a:tcPr>
                </a:tc>
                <a:tc>
                  <a:txBody>
                    <a:bodyPr/>
                    <a:lstStyle/>
                    <a:p>
                      <a:pPr indent="0" marL="0">
                        <a:buNone/>
                      </a:pPr>
                      <a:r>
                        <a:rPr lang="en-US" sz="1600" dirty="0">
                          <a:solidFill>
                            <a:srgbClr val="24302D"/>
                          </a:solidFill>
                          <a:latin typeface="Calibri" pitchFamily="34" charset="0"/>
                          <a:ea typeface="Calibri" pitchFamily="34" charset="-122"/>
                          <a:cs typeface="Calibri" pitchFamily="34" charset="-120"/>
                        </a:rPr>
                        <a:t>Seeking comfort, security, or a familiar past</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FFFFFF"/>
                    </a:solidFill>
                  </a:tcPr>
                </a:tc>
                <a:tc>
                  <a:txBody>
                    <a:bodyPr/>
                    <a:lstStyle/>
                    <a:p>
                      <a:pPr indent="0" marL="0">
                        <a:buNone/>
                      </a:pPr>
                      <a:r>
                        <a:rPr lang="en-US" sz="1600" dirty="0">
                          <a:solidFill>
                            <a:srgbClr val="24302D"/>
                          </a:solidFill>
                          <a:latin typeface="Calibri" pitchFamily="34" charset="0"/>
                          <a:ea typeface="Calibri" pitchFamily="34" charset="-122"/>
                          <a:cs typeface="Calibri" pitchFamily="34" charset="-120"/>
                        </a:rPr>
                        <a:t>Talk about "home"; reassure; offer a walk together; engage in a familiar task</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28695F"/>
                          </a:solidFill>
                          <a:latin typeface="Calibri" pitchFamily="34" charset="0"/>
                          <a:ea typeface="Calibri" pitchFamily="34" charset="-122"/>
                          <a:cs typeface="Calibri" pitchFamily="34" charset="-120"/>
                        </a:rPr>
                        <a:t>Striking out during care</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E8F1EF"/>
                    </a:solidFill>
                  </a:tcPr>
                </a:tc>
                <a:tc>
                  <a:txBody>
                    <a:bodyPr/>
                    <a:lstStyle/>
                    <a:p>
                      <a:pPr indent="0" marL="0">
                        <a:buNone/>
                      </a:pPr>
                      <a:r>
                        <a:rPr lang="en-US" sz="1600" dirty="0">
                          <a:solidFill>
                            <a:srgbClr val="24302D"/>
                          </a:solidFill>
                          <a:latin typeface="Calibri" pitchFamily="34" charset="0"/>
                          <a:ea typeface="Calibri" pitchFamily="34" charset="-122"/>
                          <a:cs typeface="Calibri" pitchFamily="34" charset="-120"/>
                        </a:rPr>
                        <a:t>Pain, fear, feeling rushed, being approached from behind</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E8F1EF"/>
                    </a:solidFill>
                  </a:tcPr>
                </a:tc>
                <a:tc>
                  <a:txBody>
                    <a:bodyPr/>
                    <a:lstStyle/>
                    <a:p>
                      <a:pPr indent="0" marL="0">
                        <a:buNone/>
                      </a:pPr>
                      <a:r>
                        <a:rPr lang="en-US" sz="1600" dirty="0">
                          <a:solidFill>
                            <a:srgbClr val="24302D"/>
                          </a:solidFill>
                          <a:latin typeface="Calibri" pitchFamily="34" charset="0"/>
                          <a:ea typeface="Calibri" pitchFamily="34" charset="-122"/>
                          <a:cs typeface="Calibri" pitchFamily="34" charset="-120"/>
                        </a:rPr>
                        <a:t>Approach from the front, explain each step, slow down, stop and return later</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E8F1EF"/>
                    </a:solidFill>
                  </a:tcPr>
                </a:tc>
              </a:tr>
            </a:tbl>
          </a:graphicData>
        </a:graphic>
      </p:graphicFrame>
      <p:pic>
        <p:nvPicPr>
          <p:cNvPr id="4" name="Image 0" descr="preencoded.png">    </p:cNvPr>
          <p:cNvPicPr>
            <a:picLocks noChangeAspect="1"/>
          </p:cNvPicPr>
          <p:nvPr/>
        </p:nvPicPr>
        <p:blipFill>
          <a:blip r:embed="rId1"/>
          <a:stretch>
            <a:fillRect/>
          </a:stretch>
        </p:blipFill>
        <p:spPr>
          <a:xfrm>
            <a:off x="548640" y="6309360"/>
            <a:ext cx="874762" cy="365760"/>
          </a:xfrm>
          <a:prstGeom prst="rect">
            <a:avLst/>
          </a:prstGeom>
        </p:spPr>
      </p:pic>
      <p:sp>
        <p:nvSpPr>
          <p:cNvPr id="5" name="Text 1"/>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3</a:t>
            </a:r>
            <a:endParaRPr lang="en-US" sz="900" dirty="0"/>
          </a:p>
        </p:txBody>
      </p:sp>
      <p:sp>
        <p:nvSpPr>
          <p:cNvPr id="6" name="Text 2"/>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Responding to Hallucinations and Delusions</a:t>
            </a:r>
            <a:endParaRPr lang="en-US" sz="3000" dirty="0"/>
          </a:p>
        </p:txBody>
      </p:sp>
      <p:sp>
        <p:nvSpPr>
          <p:cNvPr id="3" name="Shape 1"/>
          <p:cNvSpPr/>
          <p:nvPr/>
        </p:nvSpPr>
        <p:spPr>
          <a:xfrm>
            <a:off x="548640" y="1417320"/>
            <a:ext cx="5364328" cy="4709160"/>
          </a:xfrm>
          <a:prstGeom prst="roundRect">
            <a:avLst>
              <a:gd name="adj" fmla="val 2330"/>
            </a:avLst>
          </a:prstGeom>
          <a:solidFill>
            <a:srgbClr val="E8F1EF"/>
          </a:solidFill>
          <a:ln w="12700">
            <a:solidFill>
              <a:srgbClr val="E8F1EF"/>
            </a:solidFill>
            <a:prstDash val="solid"/>
          </a:ln>
        </p:spPr>
      </p:sp>
      <p:sp>
        <p:nvSpPr>
          <p:cNvPr id="4" name="Shape 2"/>
          <p:cNvSpPr/>
          <p:nvPr/>
        </p:nvSpPr>
        <p:spPr>
          <a:xfrm>
            <a:off x="548640" y="1417320"/>
            <a:ext cx="5364328" cy="640080"/>
          </a:xfrm>
          <a:prstGeom prst="roundRect">
            <a:avLst>
              <a:gd name="adj" fmla="val 17143"/>
            </a:avLst>
          </a:prstGeom>
          <a:solidFill>
            <a:srgbClr val="28695F"/>
          </a:solidFill>
          <a:ln w="12700">
            <a:solidFill>
              <a:srgbClr val="28695F"/>
            </a:solidFill>
            <a:prstDash val="solid"/>
          </a:ln>
        </p:spPr>
      </p:sp>
      <p:sp>
        <p:nvSpPr>
          <p:cNvPr id="5" name="Shape 3"/>
          <p:cNvSpPr/>
          <p:nvPr/>
        </p:nvSpPr>
        <p:spPr>
          <a:xfrm>
            <a:off x="548640" y="1783080"/>
            <a:ext cx="5364328" cy="274320"/>
          </a:xfrm>
          <a:prstGeom prst="rect">
            <a:avLst/>
          </a:prstGeom>
          <a:solidFill>
            <a:srgbClr val="28695F"/>
          </a:solidFill>
          <a:ln w="12700">
            <a:solidFill>
              <a:srgbClr val="28695F"/>
            </a:solidFill>
            <a:prstDash val="solid"/>
          </a:ln>
        </p:spPr>
      </p:sp>
      <p:sp>
        <p:nvSpPr>
          <p:cNvPr id="6" name="Text 4"/>
          <p:cNvSpPr txBox="1"/>
          <p:nvPr/>
        </p:nvSpPr>
        <p:spPr>
          <a:xfrm>
            <a:off x="822960" y="1417320"/>
            <a:ext cx="4815688" cy="64008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Helpful Responses</a:t>
            </a:r>
            <a:endParaRPr lang="en-US" sz="1900" dirty="0"/>
          </a:p>
        </p:txBody>
      </p:sp>
      <p:sp>
        <p:nvSpPr>
          <p:cNvPr id="7" name="Text 5"/>
          <p:cNvSpPr txBox="1"/>
          <p:nvPr/>
        </p:nvSpPr>
        <p:spPr>
          <a:xfrm>
            <a:off x="822960" y="2286000"/>
            <a:ext cx="4815688" cy="3657600"/>
          </a:xfrm>
          <a:prstGeom prst="rect">
            <a:avLst/>
          </a:prstGeom>
          <a:noFill/>
          <a:ln/>
        </p:spPr>
        <p:txBody>
          <a:bodyPr wrap="square" lIns="0" tIns="0" rIns="0" bIns="0" rtlCol="0" anchor="t"/>
          <a:lstStyle/>
          <a:p>
            <a:pPr marL="203200" indent="-203200">
              <a:spcAft>
                <a:spcPts val="1000"/>
              </a:spcAft>
              <a:buSzPct val="100000"/>
              <a:buChar char="•"/>
            </a:pPr>
            <a:r>
              <a:rPr lang="en-US" sz="1700" dirty="0">
                <a:solidFill>
                  <a:srgbClr val="24302D"/>
                </a:solidFill>
                <a:latin typeface="Calibri" pitchFamily="34" charset="0"/>
                <a:ea typeface="Calibri" pitchFamily="34" charset="-122"/>
                <a:cs typeface="Calibri" pitchFamily="34" charset="-120"/>
              </a:rPr>
              <a:t>Stay calm and speak reassuringly</a:t>
            </a:r>
            <a:endParaRPr lang="en-US" sz="1700" dirty="0"/>
          </a:p>
          <a:p>
            <a:pPr marL="203200" indent="-203200">
              <a:spcAft>
                <a:spcPts val="1000"/>
              </a:spcAft>
              <a:buSzPct val="100000"/>
              <a:buChar char="•"/>
            </a:pPr>
            <a:r>
              <a:rPr lang="en-US" sz="1700" dirty="0">
                <a:solidFill>
                  <a:srgbClr val="24302D"/>
                </a:solidFill>
                <a:latin typeface="Calibri" pitchFamily="34" charset="0"/>
                <a:ea typeface="Calibri" pitchFamily="34" charset="-122"/>
                <a:cs typeface="Calibri" pitchFamily="34" charset="-120"/>
              </a:rPr>
              <a:t>Respond to the feeling: "That sounds frightening."</a:t>
            </a:r>
            <a:endParaRPr lang="en-US" sz="1700" dirty="0"/>
          </a:p>
          <a:p>
            <a:pPr marL="203200" indent="-203200">
              <a:spcAft>
                <a:spcPts val="1000"/>
              </a:spcAft>
              <a:buSzPct val="100000"/>
              <a:buChar char="•"/>
            </a:pPr>
            <a:r>
              <a:rPr lang="en-US" sz="1700" dirty="0">
                <a:solidFill>
                  <a:srgbClr val="24302D"/>
                </a:solidFill>
                <a:latin typeface="Calibri" pitchFamily="34" charset="0"/>
                <a:ea typeface="Calibri" pitchFamily="34" charset="-122"/>
                <a:cs typeface="Calibri" pitchFamily="34" charset="-120"/>
              </a:rPr>
              <a:t>Check the environment: shadows, mirrors, TV, reflections</a:t>
            </a:r>
            <a:endParaRPr lang="en-US" sz="1700" dirty="0"/>
          </a:p>
          <a:p>
            <a:pPr marL="203200" indent="-203200">
              <a:spcAft>
                <a:spcPts val="1000"/>
              </a:spcAft>
              <a:buSzPct val="100000"/>
              <a:buChar char="•"/>
            </a:pPr>
            <a:r>
              <a:rPr lang="en-US" sz="1700" dirty="0">
                <a:solidFill>
                  <a:srgbClr val="24302D"/>
                </a:solidFill>
                <a:latin typeface="Calibri" pitchFamily="34" charset="0"/>
                <a:ea typeface="Calibri" pitchFamily="34" charset="-122"/>
                <a:cs typeface="Calibri" pitchFamily="34" charset="-120"/>
              </a:rPr>
              <a:t>Offer comfort, a distraction, or a change of room</a:t>
            </a:r>
            <a:endParaRPr lang="en-US" sz="1700" dirty="0"/>
          </a:p>
          <a:p>
            <a:pPr marL="203200" indent="-203200">
              <a:spcAft>
                <a:spcPts val="1000"/>
              </a:spcAft>
              <a:buSzPct val="100000"/>
              <a:buChar char="•"/>
            </a:pPr>
            <a:r>
              <a:rPr lang="en-US" sz="1700" dirty="0">
                <a:solidFill>
                  <a:srgbClr val="24302D"/>
                </a:solidFill>
                <a:latin typeface="Calibri" pitchFamily="34" charset="0"/>
                <a:ea typeface="Calibri" pitchFamily="34" charset="-122"/>
                <a:cs typeface="Calibri" pitchFamily="34" charset="-120"/>
              </a:rPr>
              <a:t>Report new or distressing symptoms to the clinician</a:t>
            </a:r>
            <a:endParaRPr lang="en-US" sz="1700" dirty="0"/>
          </a:p>
        </p:txBody>
      </p:sp>
      <p:sp>
        <p:nvSpPr>
          <p:cNvPr id="8" name="Shape 6"/>
          <p:cNvSpPr/>
          <p:nvPr/>
        </p:nvSpPr>
        <p:spPr>
          <a:xfrm>
            <a:off x="6278728" y="1417320"/>
            <a:ext cx="5364328" cy="4709160"/>
          </a:xfrm>
          <a:prstGeom prst="roundRect">
            <a:avLst>
              <a:gd name="adj" fmla="val 2330"/>
            </a:avLst>
          </a:prstGeom>
          <a:solidFill>
            <a:srgbClr val="F8EFDF"/>
          </a:solidFill>
          <a:ln w="12700">
            <a:solidFill>
              <a:srgbClr val="F8EFDF"/>
            </a:solidFill>
            <a:prstDash val="solid"/>
          </a:ln>
        </p:spPr>
      </p:sp>
      <p:sp>
        <p:nvSpPr>
          <p:cNvPr id="9" name="Shape 7"/>
          <p:cNvSpPr/>
          <p:nvPr/>
        </p:nvSpPr>
        <p:spPr>
          <a:xfrm>
            <a:off x="6278728" y="1417320"/>
            <a:ext cx="5364328" cy="640080"/>
          </a:xfrm>
          <a:prstGeom prst="roundRect">
            <a:avLst>
              <a:gd name="adj" fmla="val 17143"/>
            </a:avLst>
          </a:prstGeom>
          <a:solidFill>
            <a:srgbClr val="C78F2E"/>
          </a:solidFill>
          <a:ln w="12700">
            <a:solidFill>
              <a:srgbClr val="C78F2E"/>
            </a:solidFill>
            <a:prstDash val="solid"/>
          </a:ln>
        </p:spPr>
      </p:sp>
      <p:sp>
        <p:nvSpPr>
          <p:cNvPr id="10" name="Shape 8"/>
          <p:cNvSpPr/>
          <p:nvPr/>
        </p:nvSpPr>
        <p:spPr>
          <a:xfrm>
            <a:off x="6278728" y="1783080"/>
            <a:ext cx="5364328" cy="274320"/>
          </a:xfrm>
          <a:prstGeom prst="rect">
            <a:avLst/>
          </a:prstGeom>
          <a:solidFill>
            <a:srgbClr val="C78F2E"/>
          </a:solidFill>
          <a:ln w="12700">
            <a:solidFill>
              <a:srgbClr val="C78F2E"/>
            </a:solidFill>
            <a:prstDash val="solid"/>
          </a:ln>
        </p:spPr>
      </p:sp>
      <p:sp>
        <p:nvSpPr>
          <p:cNvPr id="11" name="Text 9"/>
          <p:cNvSpPr txBox="1"/>
          <p:nvPr/>
        </p:nvSpPr>
        <p:spPr>
          <a:xfrm>
            <a:off x="6553048" y="1417320"/>
            <a:ext cx="4815688" cy="64008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Responses to Avoid</a:t>
            </a:r>
            <a:endParaRPr lang="en-US" sz="1900" dirty="0"/>
          </a:p>
        </p:txBody>
      </p:sp>
      <p:sp>
        <p:nvSpPr>
          <p:cNvPr id="12" name="Text 10"/>
          <p:cNvSpPr txBox="1"/>
          <p:nvPr/>
        </p:nvSpPr>
        <p:spPr>
          <a:xfrm>
            <a:off x="6553048" y="2286000"/>
            <a:ext cx="4815688" cy="3657600"/>
          </a:xfrm>
          <a:prstGeom prst="rect">
            <a:avLst/>
          </a:prstGeom>
          <a:noFill/>
          <a:ln/>
        </p:spPr>
        <p:txBody>
          <a:bodyPr wrap="square" lIns="0" tIns="0" rIns="0" bIns="0" rtlCol="0" anchor="t"/>
          <a:lstStyle/>
          <a:p>
            <a:pPr marL="203200" indent="-203200">
              <a:spcAft>
                <a:spcPts val="1000"/>
              </a:spcAft>
              <a:buSzPct val="100000"/>
              <a:buChar char="•"/>
            </a:pPr>
            <a:r>
              <a:rPr lang="en-US" sz="1700" dirty="0">
                <a:solidFill>
                  <a:srgbClr val="24302D"/>
                </a:solidFill>
                <a:latin typeface="Calibri" pitchFamily="34" charset="0"/>
                <a:ea typeface="Calibri" pitchFamily="34" charset="-122"/>
                <a:cs typeface="Calibri" pitchFamily="34" charset="-120"/>
              </a:rPr>
              <a:t>Arguing about whether it is real</a:t>
            </a:r>
            <a:endParaRPr lang="en-US" sz="1700" dirty="0"/>
          </a:p>
          <a:p>
            <a:pPr marL="203200" indent="-203200">
              <a:spcAft>
                <a:spcPts val="1000"/>
              </a:spcAft>
              <a:buSzPct val="100000"/>
              <a:buChar char="•"/>
            </a:pPr>
            <a:r>
              <a:rPr lang="en-US" sz="1700" dirty="0">
                <a:solidFill>
                  <a:srgbClr val="24302D"/>
                </a:solidFill>
                <a:latin typeface="Calibri" pitchFamily="34" charset="0"/>
                <a:ea typeface="Calibri" pitchFamily="34" charset="-122"/>
                <a:cs typeface="Calibri" pitchFamily="34" charset="-120"/>
              </a:rPr>
              <a:t>Pretending to see or hear things yourself</a:t>
            </a:r>
            <a:endParaRPr lang="en-US" sz="1700" dirty="0"/>
          </a:p>
          <a:p>
            <a:pPr marL="203200" indent="-203200">
              <a:spcAft>
                <a:spcPts val="1000"/>
              </a:spcAft>
              <a:buSzPct val="100000"/>
              <a:buChar char="•"/>
            </a:pPr>
            <a:r>
              <a:rPr lang="en-US" sz="1700" dirty="0">
                <a:solidFill>
                  <a:srgbClr val="24302D"/>
                </a:solidFill>
                <a:latin typeface="Calibri" pitchFamily="34" charset="0"/>
                <a:ea typeface="Calibri" pitchFamily="34" charset="-122"/>
                <a:cs typeface="Calibri" pitchFamily="34" charset="-120"/>
              </a:rPr>
              <a:t>Dismissing the person's fear</a:t>
            </a:r>
            <a:endParaRPr lang="en-US" sz="1700" dirty="0"/>
          </a:p>
          <a:p>
            <a:pPr marL="203200" indent="-203200">
              <a:spcAft>
                <a:spcPts val="1000"/>
              </a:spcAft>
              <a:buSzPct val="100000"/>
              <a:buChar char="•"/>
            </a:pPr>
            <a:r>
              <a:rPr lang="en-US" sz="1700" dirty="0">
                <a:solidFill>
                  <a:srgbClr val="24302D"/>
                </a:solidFill>
                <a:latin typeface="Calibri" pitchFamily="34" charset="0"/>
                <a:ea typeface="Calibri" pitchFamily="34" charset="-122"/>
                <a:cs typeface="Calibri" pitchFamily="34" charset="-120"/>
              </a:rPr>
              <a:t>Leaving a frightened person alone</a:t>
            </a:r>
            <a:endParaRPr lang="en-US" sz="1700" dirty="0"/>
          </a:p>
          <a:p>
            <a:pPr marL="203200" indent="-203200">
              <a:spcAft>
                <a:spcPts val="1000"/>
              </a:spcAft>
              <a:buSzPct val="100000"/>
              <a:buChar char="•"/>
            </a:pPr>
            <a:r>
              <a:rPr lang="en-US" sz="1700" dirty="0">
                <a:solidFill>
                  <a:srgbClr val="24302D"/>
                </a:solidFill>
                <a:latin typeface="Calibri" pitchFamily="34" charset="0"/>
                <a:ea typeface="Calibri" pitchFamily="34" charset="-122"/>
                <a:cs typeface="Calibri" pitchFamily="34" charset="-120"/>
              </a:rPr>
              <a:t>Assuming it is "just the dementia" without reporting it</a:t>
            </a:r>
            <a:endParaRPr lang="en-US" sz="1700" dirty="0"/>
          </a:p>
        </p:txBody>
      </p:sp>
      <p:pic>
        <p:nvPicPr>
          <p:cNvPr id="13" name="Image 0" descr="preencoded.png">    </p:cNvPr>
          <p:cNvPicPr>
            <a:picLocks noChangeAspect="1"/>
          </p:cNvPicPr>
          <p:nvPr/>
        </p:nvPicPr>
        <p:blipFill>
          <a:blip r:embed="rId1"/>
          <a:stretch>
            <a:fillRect/>
          </a:stretch>
        </p:blipFill>
        <p:spPr>
          <a:xfrm>
            <a:off x="548640" y="6309360"/>
            <a:ext cx="874762" cy="365760"/>
          </a:xfrm>
          <a:prstGeom prst="rect">
            <a:avLst/>
          </a:prstGeom>
        </p:spPr>
      </p:pic>
      <p:sp>
        <p:nvSpPr>
          <p:cNvPr id="14" name="Text 11"/>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3</a:t>
            </a:r>
            <a:endParaRPr lang="en-US" sz="900" dirty="0"/>
          </a:p>
        </p:txBody>
      </p:sp>
      <p:sp>
        <p:nvSpPr>
          <p:cNvPr id="15" name="Text 12"/>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Meaningful Activities by Stage</a:t>
            </a:r>
            <a:endParaRPr lang="en-US" sz="3000" dirty="0"/>
          </a:p>
        </p:txBody>
      </p:sp>
      <p:sp>
        <p:nvSpPr>
          <p:cNvPr id="3" name="Shape 1"/>
          <p:cNvSpPr/>
          <p:nvPr/>
        </p:nvSpPr>
        <p:spPr>
          <a:xfrm>
            <a:off x="548640" y="1417320"/>
            <a:ext cx="3515258" cy="4709160"/>
          </a:xfrm>
          <a:prstGeom prst="roundRect">
            <a:avLst>
              <a:gd name="adj" fmla="val 3121"/>
            </a:avLst>
          </a:prstGeom>
          <a:solidFill>
            <a:srgbClr val="E8F1EF"/>
          </a:solidFill>
          <a:ln w="12700">
            <a:solidFill>
              <a:srgbClr val="E8F1EF"/>
            </a:solidFill>
            <a:prstDash val="solid"/>
          </a:ln>
        </p:spPr>
      </p:sp>
      <p:pic>
        <p:nvPicPr>
          <p:cNvPr id="4" name="Image 0" descr="preencoded.png">    </p:cNvPr>
          <p:cNvPicPr>
            <a:picLocks noChangeAspect="1"/>
          </p:cNvPicPr>
          <p:nvPr/>
        </p:nvPicPr>
        <p:blipFill>
          <a:blip r:embed="rId1"/>
          <a:stretch>
            <a:fillRect/>
          </a:stretch>
        </p:blipFill>
        <p:spPr>
          <a:xfrm>
            <a:off x="749808" y="1618488"/>
            <a:ext cx="420624" cy="420624"/>
          </a:xfrm>
          <a:prstGeom prst="rect">
            <a:avLst/>
          </a:prstGeom>
        </p:spPr>
      </p:pic>
      <p:sp>
        <p:nvSpPr>
          <p:cNvPr id="5" name="Text 2"/>
          <p:cNvSpPr txBox="1"/>
          <p:nvPr/>
        </p:nvSpPr>
        <p:spPr>
          <a:xfrm>
            <a:off x="1298448" y="1572768"/>
            <a:ext cx="2600858" cy="512064"/>
          </a:xfrm>
          <a:prstGeom prst="rect">
            <a:avLst/>
          </a:prstGeom>
          <a:noFill/>
          <a:ln/>
        </p:spPr>
        <p:txBody>
          <a:bodyPr wrap="square" lIns="0" tIns="0" rIns="0" bIns="0" rtlCol="0" anchor="ctr"/>
          <a:lstStyle/>
          <a:p>
            <a:pPr indent="0" marL="0">
              <a:buNone/>
            </a:pPr>
            <a:r>
              <a:rPr lang="en-US" sz="1900" b="1" dirty="0">
                <a:solidFill>
                  <a:srgbClr val="28695F"/>
                </a:solidFill>
                <a:latin typeface="Cambria" pitchFamily="34" charset="0"/>
                <a:ea typeface="Cambria" pitchFamily="34" charset="-122"/>
                <a:cs typeface="Cambria" pitchFamily="34" charset="-120"/>
              </a:rPr>
              <a:t>Early Stage</a:t>
            </a:r>
            <a:endParaRPr lang="en-US" sz="1900" dirty="0"/>
          </a:p>
        </p:txBody>
      </p:sp>
      <p:sp>
        <p:nvSpPr>
          <p:cNvPr id="6" name="Text 3"/>
          <p:cNvSpPr txBox="1"/>
          <p:nvPr/>
        </p:nvSpPr>
        <p:spPr>
          <a:xfrm>
            <a:off x="768096" y="2194560"/>
            <a:ext cx="3094634" cy="3794760"/>
          </a:xfrm>
          <a:prstGeom prst="rect">
            <a:avLst/>
          </a:prstGeom>
          <a:noFill/>
          <a:ln/>
        </p:spPr>
        <p:txBody>
          <a:bodyPr wrap="square" lIns="0" tIns="0" rIns="0" bIns="0" rtlCol="0" anchor="t"/>
          <a:lstStyle/>
          <a:p>
            <a:pPr marL="203200" indent="-203200">
              <a:spcAft>
                <a:spcPts val="600"/>
              </a:spcAft>
              <a:buSzPct val="100000"/>
              <a:buChar char="•"/>
            </a:pPr>
            <a:r>
              <a:rPr lang="en-US" sz="1800" dirty="0">
                <a:solidFill>
                  <a:srgbClr val="24302D"/>
                </a:solidFill>
                <a:latin typeface="Calibri" pitchFamily="34" charset="0"/>
                <a:ea typeface="Calibri" pitchFamily="34" charset="-122"/>
                <a:cs typeface="Calibri" pitchFamily="34" charset="-120"/>
              </a:rPr>
              <a:t>Hobbies and clubs with support</a:t>
            </a:r>
            <a:endParaRPr lang="en-US" sz="1800" dirty="0"/>
          </a:p>
          <a:p>
            <a:pPr marL="203200" indent="-203200">
              <a:spcAft>
                <a:spcPts val="600"/>
              </a:spcAft>
              <a:buSzPct val="100000"/>
              <a:buChar char="•"/>
            </a:pPr>
            <a:r>
              <a:rPr lang="en-US" sz="1800" dirty="0">
                <a:solidFill>
                  <a:srgbClr val="24302D"/>
                </a:solidFill>
                <a:latin typeface="Calibri" pitchFamily="34" charset="0"/>
                <a:ea typeface="Calibri" pitchFamily="34" charset="-122"/>
                <a:cs typeface="Calibri" pitchFamily="34" charset="-120"/>
              </a:rPr>
              <a:t>Volunteering</a:t>
            </a:r>
            <a:endParaRPr lang="en-US" sz="1800" dirty="0"/>
          </a:p>
          <a:p>
            <a:pPr marL="203200" indent="-203200">
              <a:spcAft>
                <a:spcPts val="600"/>
              </a:spcAft>
              <a:buSzPct val="100000"/>
              <a:buChar char="•"/>
            </a:pPr>
            <a:r>
              <a:rPr lang="en-US" sz="1800" dirty="0">
                <a:solidFill>
                  <a:srgbClr val="24302D"/>
                </a:solidFill>
                <a:latin typeface="Calibri" pitchFamily="34" charset="0"/>
                <a:ea typeface="Calibri" pitchFamily="34" charset="-122"/>
                <a:cs typeface="Calibri" pitchFamily="34" charset="-120"/>
              </a:rPr>
              <a:t>Exercise classes and walks</a:t>
            </a:r>
            <a:endParaRPr lang="en-US" sz="1800" dirty="0"/>
          </a:p>
          <a:p>
            <a:pPr marL="203200" indent="-203200">
              <a:spcAft>
                <a:spcPts val="600"/>
              </a:spcAft>
              <a:buSzPct val="100000"/>
              <a:buChar char="•"/>
            </a:pPr>
            <a:r>
              <a:rPr lang="en-US" sz="1800" dirty="0">
                <a:solidFill>
                  <a:srgbClr val="24302D"/>
                </a:solidFill>
                <a:latin typeface="Calibri" pitchFamily="34" charset="0"/>
                <a:ea typeface="Calibri" pitchFamily="34" charset="-122"/>
                <a:cs typeface="Calibri" pitchFamily="34" charset="-120"/>
              </a:rPr>
              <a:t>Cooking together</a:t>
            </a:r>
            <a:endParaRPr lang="en-US" sz="1800" dirty="0"/>
          </a:p>
          <a:p>
            <a:pPr marL="203200" indent="-203200">
              <a:spcAft>
                <a:spcPts val="600"/>
              </a:spcAft>
              <a:buSzPct val="100000"/>
              <a:buChar char="•"/>
            </a:pPr>
            <a:r>
              <a:rPr lang="en-US" sz="1800" dirty="0">
                <a:solidFill>
                  <a:srgbClr val="24302D"/>
                </a:solidFill>
                <a:latin typeface="Calibri" pitchFamily="34" charset="0"/>
                <a:ea typeface="Calibri" pitchFamily="34" charset="-122"/>
                <a:cs typeface="Calibri" pitchFamily="34" charset="-120"/>
              </a:rPr>
              <a:t>Memory books and journaling</a:t>
            </a:r>
            <a:endParaRPr lang="en-US" sz="1800" dirty="0"/>
          </a:p>
        </p:txBody>
      </p:sp>
      <p:sp>
        <p:nvSpPr>
          <p:cNvPr id="7" name="Shape 4"/>
          <p:cNvSpPr/>
          <p:nvPr/>
        </p:nvSpPr>
        <p:spPr>
          <a:xfrm>
            <a:off x="4338218" y="1417320"/>
            <a:ext cx="3515258" cy="4709160"/>
          </a:xfrm>
          <a:prstGeom prst="roundRect">
            <a:avLst>
              <a:gd name="adj" fmla="val 3121"/>
            </a:avLst>
          </a:prstGeom>
          <a:solidFill>
            <a:srgbClr val="E8F1EF"/>
          </a:solidFill>
          <a:ln w="12700">
            <a:solidFill>
              <a:srgbClr val="E8F1EF"/>
            </a:solidFill>
            <a:prstDash val="solid"/>
          </a:ln>
        </p:spPr>
      </p:sp>
      <p:pic>
        <p:nvPicPr>
          <p:cNvPr id="8" name="Image 1" descr="preencoded.png">    </p:cNvPr>
          <p:cNvPicPr>
            <a:picLocks noChangeAspect="1"/>
          </p:cNvPicPr>
          <p:nvPr/>
        </p:nvPicPr>
        <p:blipFill>
          <a:blip r:embed="rId2"/>
          <a:stretch>
            <a:fillRect/>
          </a:stretch>
        </p:blipFill>
        <p:spPr>
          <a:xfrm>
            <a:off x="4539386" y="1618488"/>
            <a:ext cx="420624" cy="420624"/>
          </a:xfrm>
          <a:prstGeom prst="rect">
            <a:avLst/>
          </a:prstGeom>
        </p:spPr>
      </p:pic>
      <p:sp>
        <p:nvSpPr>
          <p:cNvPr id="9" name="Text 5"/>
          <p:cNvSpPr txBox="1"/>
          <p:nvPr/>
        </p:nvSpPr>
        <p:spPr>
          <a:xfrm>
            <a:off x="5088026" y="1572768"/>
            <a:ext cx="2600858" cy="512064"/>
          </a:xfrm>
          <a:prstGeom prst="rect">
            <a:avLst/>
          </a:prstGeom>
          <a:noFill/>
          <a:ln/>
        </p:spPr>
        <p:txBody>
          <a:bodyPr wrap="square" lIns="0" tIns="0" rIns="0" bIns="0" rtlCol="0" anchor="ctr"/>
          <a:lstStyle/>
          <a:p>
            <a:pPr indent="0" marL="0">
              <a:buNone/>
            </a:pPr>
            <a:r>
              <a:rPr lang="en-US" sz="1900" b="1" dirty="0">
                <a:solidFill>
                  <a:srgbClr val="28695F"/>
                </a:solidFill>
                <a:latin typeface="Cambria" pitchFamily="34" charset="0"/>
                <a:ea typeface="Cambria" pitchFamily="34" charset="-122"/>
                <a:cs typeface="Cambria" pitchFamily="34" charset="-120"/>
              </a:rPr>
              <a:t>Middle Stage</a:t>
            </a:r>
            <a:endParaRPr lang="en-US" sz="1900" dirty="0"/>
          </a:p>
        </p:txBody>
      </p:sp>
      <p:sp>
        <p:nvSpPr>
          <p:cNvPr id="10" name="Text 6"/>
          <p:cNvSpPr txBox="1"/>
          <p:nvPr/>
        </p:nvSpPr>
        <p:spPr>
          <a:xfrm>
            <a:off x="4557674" y="2194560"/>
            <a:ext cx="3094634" cy="3794760"/>
          </a:xfrm>
          <a:prstGeom prst="rect">
            <a:avLst/>
          </a:prstGeom>
          <a:noFill/>
          <a:ln/>
        </p:spPr>
        <p:txBody>
          <a:bodyPr wrap="square" lIns="0" tIns="0" rIns="0" bIns="0" rtlCol="0" anchor="t"/>
          <a:lstStyle/>
          <a:p>
            <a:pPr marL="203200" indent="-203200">
              <a:spcAft>
                <a:spcPts val="600"/>
              </a:spcAft>
              <a:buSzPct val="100000"/>
              <a:buChar char="•"/>
            </a:pPr>
            <a:r>
              <a:rPr lang="en-US" sz="1800" dirty="0">
                <a:solidFill>
                  <a:srgbClr val="24302D"/>
                </a:solidFill>
                <a:latin typeface="Calibri" pitchFamily="34" charset="0"/>
                <a:ea typeface="Calibri" pitchFamily="34" charset="-122"/>
                <a:cs typeface="Calibri" pitchFamily="34" charset="-120"/>
              </a:rPr>
              <a:t>Folding laundry, sorting items</a:t>
            </a:r>
            <a:endParaRPr lang="en-US" sz="1800" dirty="0"/>
          </a:p>
          <a:p>
            <a:pPr marL="203200" indent="-203200">
              <a:spcAft>
                <a:spcPts val="600"/>
              </a:spcAft>
              <a:buSzPct val="100000"/>
              <a:buChar char="•"/>
            </a:pPr>
            <a:r>
              <a:rPr lang="en-US" sz="1800" dirty="0">
                <a:solidFill>
                  <a:srgbClr val="24302D"/>
                </a:solidFill>
                <a:latin typeface="Calibri" pitchFamily="34" charset="0"/>
                <a:ea typeface="Calibri" pitchFamily="34" charset="-122"/>
                <a:cs typeface="Calibri" pitchFamily="34" charset="-120"/>
              </a:rPr>
              <a:t>Gardening with guidance</a:t>
            </a:r>
            <a:endParaRPr lang="en-US" sz="1800" dirty="0"/>
          </a:p>
          <a:p>
            <a:pPr marL="203200" indent="-203200">
              <a:spcAft>
                <a:spcPts val="600"/>
              </a:spcAft>
              <a:buSzPct val="100000"/>
              <a:buChar char="•"/>
            </a:pPr>
            <a:r>
              <a:rPr lang="en-US" sz="1800" dirty="0">
                <a:solidFill>
                  <a:srgbClr val="24302D"/>
                </a:solidFill>
                <a:latin typeface="Calibri" pitchFamily="34" charset="0"/>
                <a:ea typeface="Calibri" pitchFamily="34" charset="-122"/>
                <a:cs typeface="Calibri" pitchFamily="34" charset="-120"/>
              </a:rPr>
              <a:t>Music and singing</a:t>
            </a:r>
            <a:endParaRPr lang="en-US" sz="1800" dirty="0"/>
          </a:p>
          <a:p>
            <a:pPr marL="203200" indent="-203200">
              <a:spcAft>
                <a:spcPts val="600"/>
              </a:spcAft>
              <a:buSzPct val="100000"/>
              <a:buChar char="•"/>
            </a:pPr>
            <a:r>
              <a:rPr lang="en-US" sz="1800" dirty="0">
                <a:solidFill>
                  <a:srgbClr val="24302D"/>
                </a:solidFill>
                <a:latin typeface="Calibri" pitchFamily="34" charset="0"/>
                <a:ea typeface="Calibri" pitchFamily="34" charset="-122"/>
                <a:cs typeface="Calibri" pitchFamily="34" charset="-120"/>
              </a:rPr>
              <a:t>Simple crafts and puzzles</a:t>
            </a:r>
            <a:endParaRPr lang="en-US" sz="1800" dirty="0"/>
          </a:p>
          <a:p>
            <a:pPr marL="203200" indent="-203200">
              <a:spcAft>
                <a:spcPts val="600"/>
              </a:spcAft>
              <a:buSzPct val="100000"/>
              <a:buChar char="•"/>
            </a:pPr>
            <a:r>
              <a:rPr lang="en-US" sz="1800" dirty="0">
                <a:solidFill>
                  <a:srgbClr val="24302D"/>
                </a:solidFill>
                <a:latin typeface="Calibri" pitchFamily="34" charset="0"/>
                <a:ea typeface="Calibri" pitchFamily="34" charset="-122"/>
                <a:cs typeface="Calibri" pitchFamily="34" charset="-120"/>
              </a:rPr>
              <a:t>Looking at photo albums</a:t>
            </a:r>
            <a:endParaRPr lang="en-US" sz="1800" dirty="0"/>
          </a:p>
        </p:txBody>
      </p:sp>
      <p:sp>
        <p:nvSpPr>
          <p:cNvPr id="11" name="Shape 7"/>
          <p:cNvSpPr/>
          <p:nvPr/>
        </p:nvSpPr>
        <p:spPr>
          <a:xfrm>
            <a:off x="8127797" y="1417320"/>
            <a:ext cx="3515258" cy="4709160"/>
          </a:xfrm>
          <a:prstGeom prst="roundRect">
            <a:avLst>
              <a:gd name="adj" fmla="val 3121"/>
            </a:avLst>
          </a:prstGeom>
          <a:solidFill>
            <a:srgbClr val="E8F1EF"/>
          </a:solidFill>
          <a:ln w="12700">
            <a:solidFill>
              <a:srgbClr val="E8F1EF"/>
            </a:solidFill>
            <a:prstDash val="solid"/>
          </a:ln>
        </p:spPr>
      </p:sp>
      <p:pic>
        <p:nvPicPr>
          <p:cNvPr id="12" name="Image 2" descr="preencoded.png">    </p:cNvPr>
          <p:cNvPicPr>
            <a:picLocks noChangeAspect="1"/>
          </p:cNvPicPr>
          <p:nvPr/>
        </p:nvPicPr>
        <p:blipFill>
          <a:blip r:embed="rId3"/>
          <a:stretch>
            <a:fillRect/>
          </a:stretch>
        </p:blipFill>
        <p:spPr>
          <a:xfrm>
            <a:off x="8328965" y="1618488"/>
            <a:ext cx="420624" cy="420624"/>
          </a:xfrm>
          <a:prstGeom prst="rect">
            <a:avLst/>
          </a:prstGeom>
        </p:spPr>
      </p:pic>
      <p:sp>
        <p:nvSpPr>
          <p:cNvPr id="13" name="Text 8"/>
          <p:cNvSpPr txBox="1"/>
          <p:nvPr/>
        </p:nvSpPr>
        <p:spPr>
          <a:xfrm>
            <a:off x="8877605" y="1572768"/>
            <a:ext cx="2600858" cy="512064"/>
          </a:xfrm>
          <a:prstGeom prst="rect">
            <a:avLst/>
          </a:prstGeom>
          <a:noFill/>
          <a:ln/>
        </p:spPr>
        <p:txBody>
          <a:bodyPr wrap="square" lIns="0" tIns="0" rIns="0" bIns="0" rtlCol="0" anchor="ctr"/>
          <a:lstStyle/>
          <a:p>
            <a:pPr indent="0" marL="0">
              <a:buNone/>
            </a:pPr>
            <a:r>
              <a:rPr lang="en-US" sz="1900" b="1" dirty="0">
                <a:solidFill>
                  <a:srgbClr val="28695F"/>
                </a:solidFill>
                <a:latin typeface="Cambria" pitchFamily="34" charset="0"/>
                <a:ea typeface="Cambria" pitchFamily="34" charset="-122"/>
                <a:cs typeface="Cambria" pitchFamily="34" charset="-120"/>
              </a:rPr>
              <a:t>Late Stage</a:t>
            </a:r>
            <a:endParaRPr lang="en-US" sz="1900" dirty="0"/>
          </a:p>
        </p:txBody>
      </p:sp>
      <p:sp>
        <p:nvSpPr>
          <p:cNvPr id="14" name="Text 9"/>
          <p:cNvSpPr txBox="1"/>
          <p:nvPr/>
        </p:nvSpPr>
        <p:spPr>
          <a:xfrm>
            <a:off x="8347253" y="2194560"/>
            <a:ext cx="3094634" cy="3794760"/>
          </a:xfrm>
          <a:prstGeom prst="rect">
            <a:avLst/>
          </a:prstGeom>
          <a:noFill/>
          <a:ln/>
        </p:spPr>
        <p:txBody>
          <a:bodyPr wrap="square" lIns="0" tIns="0" rIns="0" bIns="0" rtlCol="0" anchor="t"/>
          <a:lstStyle/>
          <a:p>
            <a:pPr marL="203200" indent="-203200">
              <a:spcAft>
                <a:spcPts val="600"/>
              </a:spcAft>
              <a:buSzPct val="100000"/>
              <a:buChar char="•"/>
            </a:pPr>
            <a:r>
              <a:rPr lang="en-US" sz="1800" dirty="0">
                <a:solidFill>
                  <a:srgbClr val="24302D"/>
                </a:solidFill>
                <a:latin typeface="Calibri" pitchFamily="34" charset="0"/>
                <a:ea typeface="Calibri" pitchFamily="34" charset="-122"/>
                <a:cs typeface="Calibri" pitchFamily="34" charset="-120"/>
              </a:rPr>
              <a:t>Listening to favorite music</a:t>
            </a:r>
            <a:endParaRPr lang="en-US" sz="1800" dirty="0"/>
          </a:p>
          <a:p>
            <a:pPr marL="203200" indent="-203200">
              <a:spcAft>
                <a:spcPts val="600"/>
              </a:spcAft>
              <a:buSzPct val="100000"/>
              <a:buChar char="•"/>
            </a:pPr>
            <a:r>
              <a:rPr lang="en-US" sz="1800" dirty="0">
                <a:solidFill>
                  <a:srgbClr val="24302D"/>
                </a:solidFill>
                <a:latin typeface="Calibri" pitchFamily="34" charset="0"/>
                <a:ea typeface="Calibri" pitchFamily="34" charset="-122"/>
                <a:cs typeface="Calibri" pitchFamily="34" charset="-120"/>
              </a:rPr>
              <a:t>Hand massage and gentle touch</a:t>
            </a:r>
            <a:endParaRPr lang="en-US" sz="1800" dirty="0"/>
          </a:p>
          <a:p>
            <a:pPr marL="203200" indent="-203200">
              <a:spcAft>
                <a:spcPts val="600"/>
              </a:spcAft>
              <a:buSzPct val="100000"/>
              <a:buChar char="•"/>
            </a:pPr>
            <a:r>
              <a:rPr lang="en-US" sz="1800" dirty="0">
                <a:solidFill>
                  <a:srgbClr val="24302D"/>
                </a:solidFill>
                <a:latin typeface="Calibri" pitchFamily="34" charset="0"/>
                <a:ea typeface="Calibri" pitchFamily="34" charset="-122"/>
                <a:cs typeface="Calibri" pitchFamily="34" charset="-120"/>
              </a:rPr>
              <a:t>Sensory items: textures, scents</a:t>
            </a:r>
            <a:endParaRPr lang="en-US" sz="1800" dirty="0"/>
          </a:p>
          <a:p>
            <a:pPr marL="203200" indent="-203200">
              <a:spcAft>
                <a:spcPts val="600"/>
              </a:spcAft>
              <a:buSzPct val="100000"/>
              <a:buChar char="•"/>
            </a:pPr>
            <a:r>
              <a:rPr lang="en-US" sz="1800" dirty="0">
                <a:solidFill>
                  <a:srgbClr val="24302D"/>
                </a:solidFill>
                <a:latin typeface="Calibri" pitchFamily="34" charset="0"/>
                <a:ea typeface="Calibri" pitchFamily="34" charset="-122"/>
                <a:cs typeface="Calibri" pitchFamily="34" charset="-120"/>
              </a:rPr>
              <a:t>Time outdoors</a:t>
            </a:r>
            <a:endParaRPr lang="en-US" sz="1800" dirty="0"/>
          </a:p>
          <a:p>
            <a:pPr marL="203200" indent="-203200">
              <a:spcAft>
                <a:spcPts val="600"/>
              </a:spcAft>
              <a:buSzPct val="100000"/>
              <a:buChar char="•"/>
            </a:pPr>
            <a:r>
              <a:rPr lang="en-US" sz="1800" dirty="0">
                <a:solidFill>
                  <a:srgbClr val="24302D"/>
                </a:solidFill>
                <a:latin typeface="Calibri" pitchFamily="34" charset="0"/>
                <a:ea typeface="Calibri" pitchFamily="34" charset="-122"/>
                <a:cs typeface="Calibri" pitchFamily="34" charset="-120"/>
              </a:rPr>
              <a:t>Being read to</a:t>
            </a:r>
            <a:endParaRPr lang="en-US" sz="1800" dirty="0"/>
          </a:p>
        </p:txBody>
      </p:sp>
      <p:pic>
        <p:nvPicPr>
          <p:cNvPr id="15" name="Image 3" descr="preencoded.png">    </p:cNvPr>
          <p:cNvPicPr>
            <a:picLocks noChangeAspect="1"/>
          </p:cNvPicPr>
          <p:nvPr/>
        </p:nvPicPr>
        <p:blipFill>
          <a:blip r:embed="rId4"/>
          <a:stretch>
            <a:fillRect/>
          </a:stretch>
        </p:blipFill>
        <p:spPr>
          <a:xfrm>
            <a:off x="548640" y="6309360"/>
            <a:ext cx="874762" cy="365760"/>
          </a:xfrm>
          <a:prstGeom prst="rect">
            <a:avLst/>
          </a:prstGeom>
        </p:spPr>
      </p:pic>
      <p:sp>
        <p:nvSpPr>
          <p:cNvPr id="16" name="Text 10"/>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3</a:t>
            </a:r>
            <a:endParaRPr lang="en-US" sz="900" dirty="0"/>
          </a:p>
        </p:txBody>
      </p:sp>
      <p:sp>
        <p:nvSpPr>
          <p:cNvPr id="17" name="Text 11"/>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When a Behavior Is Urgent</a:t>
            </a:r>
            <a:endParaRPr lang="en-US" sz="3000" dirty="0"/>
          </a:p>
        </p:txBody>
      </p:sp>
      <p:sp>
        <p:nvSpPr>
          <p:cNvPr id="3" name="Text 1"/>
          <p:cNvSpPr txBox="1"/>
          <p:nvPr/>
        </p:nvSpPr>
        <p:spPr>
          <a:xfrm>
            <a:off x="548640" y="1417320"/>
            <a:ext cx="6675120" cy="4709160"/>
          </a:xfrm>
          <a:prstGeom prst="rect">
            <a:avLst/>
          </a:prstGeom>
          <a:noFill/>
          <a:ln/>
        </p:spPr>
        <p:txBody>
          <a:bodyPr wrap="square" lIns="0" tIns="0" rIns="0" bIns="0" rtlCol="0" anchor="t"/>
          <a:lstStyle/>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Sudden change </a:t>
            </a:r>
            <a:r>
              <a:rPr lang="en-US" sz="1800" dirty="0">
                <a:solidFill>
                  <a:srgbClr val="24302D"/>
                </a:solidFill>
                <a:latin typeface="Calibri" pitchFamily="34" charset="0"/>
                <a:ea typeface="Calibri" pitchFamily="34" charset="-122"/>
                <a:cs typeface="Calibri" pitchFamily="34" charset="-120"/>
              </a:rPr>
              <a:t>in behavior or confusion (possible delirium) — notify the clinician the same day</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Immediate danger </a:t>
            </a:r>
            <a:r>
              <a:rPr lang="en-US" sz="1800" dirty="0">
                <a:solidFill>
                  <a:srgbClr val="24302D"/>
                </a:solidFill>
                <a:latin typeface="Calibri" pitchFamily="34" charset="0"/>
                <a:ea typeface="Calibri" pitchFamily="34" charset="-122"/>
                <a:cs typeface="Calibri" pitchFamily="34" charset="-120"/>
              </a:rPr>
              <a:t>to the person or others, including a weapon in the home — call 911</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Statements about wanting to die </a:t>
            </a:r>
            <a:r>
              <a:rPr lang="en-US" sz="1800" dirty="0">
                <a:solidFill>
                  <a:srgbClr val="24302D"/>
                </a:solidFill>
                <a:latin typeface="Calibri" pitchFamily="34" charset="0"/>
                <a:ea typeface="Calibri" pitchFamily="34" charset="-122"/>
                <a:cs typeface="Calibri" pitchFamily="34" charset="-120"/>
              </a:rPr>
              <a:t>or harm themselves — follow the crisis protocol; 988 is the Suicide &amp; Crisis Lifeline</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Caregiver at risk </a:t>
            </a:r>
            <a:r>
              <a:rPr lang="en-US" sz="1800" dirty="0">
                <a:solidFill>
                  <a:srgbClr val="24302D"/>
                </a:solidFill>
                <a:latin typeface="Calibri" pitchFamily="34" charset="0"/>
                <a:ea typeface="Calibri" pitchFamily="34" charset="-122"/>
                <a:cs typeface="Calibri" pitchFamily="34" charset="-120"/>
              </a:rPr>
              <a:t>of being hurt, or at the breaking point</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Signs of abuse or neglect </a:t>
            </a:r>
            <a:r>
              <a:rPr lang="en-US" sz="1800" dirty="0">
                <a:solidFill>
                  <a:srgbClr val="24302D"/>
                </a:solidFill>
                <a:latin typeface="Calibri" pitchFamily="34" charset="0"/>
                <a:ea typeface="Calibri" pitchFamily="34" charset="-122"/>
                <a:cs typeface="Calibri" pitchFamily="34" charset="-120"/>
              </a:rPr>
              <a:t>— follow mandatory reporting (Module 4)</a:t>
            </a:r>
            <a:endParaRPr lang="en-US" sz="1800" dirty="0"/>
          </a:p>
        </p:txBody>
      </p:sp>
      <p:sp>
        <p:nvSpPr>
          <p:cNvPr id="4" name="Shape 2"/>
          <p:cNvSpPr/>
          <p:nvPr/>
        </p:nvSpPr>
        <p:spPr>
          <a:xfrm>
            <a:off x="7589520" y="1417320"/>
            <a:ext cx="4053535" cy="3779520"/>
          </a:xfrm>
          <a:prstGeom prst="roundRect">
            <a:avLst>
              <a:gd name="adj" fmla="val 2903"/>
            </a:avLst>
          </a:prstGeom>
          <a:solidFill>
            <a:srgbClr val="E8F1EF"/>
          </a:solidFill>
          <a:ln w="12700">
            <a:solidFill>
              <a:srgbClr val="E8F1EF"/>
            </a:solidFill>
            <a:prstDash val="solid"/>
          </a:ln>
        </p:spPr>
      </p:sp>
      <p:pic>
        <p:nvPicPr>
          <p:cNvPr id="5" name="Image 0" descr="preencoded.png">    </p:cNvPr>
          <p:cNvPicPr>
            <a:picLocks noChangeAspect="1"/>
          </p:cNvPicPr>
          <p:nvPr/>
        </p:nvPicPr>
        <p:blipFill>
          <a:blip r:embed="rId1"/>
          <a:stretch>
            <a:fillRect/>
          </a:stretch>
        </p:blipFill>
        <p:spPr>
          <a:xfrm>
            <a:off x="7863840" y="1691640"/>
            <a:ext cx="502920" cy="502920"/>
          </a:xfrm>
          <a:prstGeom prst="rect">
            <a:avLst/>
          </a:prstGeom>
        </p:spPr>
      </p:pic>
      <p:sp>
        <p:nvSpPr>
          <p:cNvPr id="6" name="Text 3"/>
          <p:cNvSpPr txBox="1"/>
          <p:nvPr/>
        </p:nvSpPr>
        <p:spPr>
          <a:xfrm>
            <a:off x="8503920" y="1645920"/>
            <a:ext cx="2910535" cy="594360"/>
          </a:xfrm>
          <a:prstGeom prst="rect">
            <a:avLst/>
          </a:prstGeom>
          <a:noFill/>
          <a:ln/>
        </p:spPr>
        <p:txBody>
          <a:bodyPr wrap="square" lIns="0" tIns="0" rIns="0" bIns="0" rtlCol="0" anchor="ctr"/>
          <a:lstStyle/>
          <a:p>
            <a:pPr indent="0" marL="0">
              <a:buNone/>
            </a:pPr>
            <a:r>
              <a:rPr lang="en-US" sz="1800" b="1" dirty="0">
                <a:solidFill>
                  <a:srgbClr val="28695F"/>
                </a:solidFill>
                <a:latin typeface="Cambria" pitchFamily="34" charset="0"/>
                <a:ea typeface="Cambria" pitchFamily="34" charset="-122"/>
                <a:cs typeface="Cambria" pitchFamily="34" charset="-120"/>
              </a:rPr>
              <a:t>Know your pathway</a:t>
            </a:r>
            <a:endParaRPr lang="en-US" sz="1800" dirty="0"/>
          </a:p>
        </p:txBody>
      </p:sp>
      <p:sp>
        <p:nvSpPr>
          <p:cNvPr id="7" name="Text 4"/>
          <p:cNvSpPr txBox="1"/>
          <p:nvPr/>
        </p:nvSpPr>
        <p:spPr>
          <a:xfrm>
            <a:off x="7863840" y="2423160"/>
            <a:ext cx="3504895" cy="268224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24302D"/>
                </a:solidFill>
                <a:latin typeface="Calibri" pitchFamily="34" charset="0"/>
                <a:ea typeface="Calibri" pitchFamily="34" charset="-122"/>
                <a:cs typeface="Calibri" pitchFamily="34" charset="-120"/>
              </a:rPr>
              <a:t>AbleLiving 24/7 support line</a:t>
            </a:r>
            <a:endParaRPr lang="en-US" sz="1600" dirty="0"/>
          </a:p>
          <a:p>
            <a:pPr marL="203200" indent="-203200">
              <a:spcAft>
                <a:spcPts val="800"/>
              </a:spcAft>
              <a:buSzPct val="100000"/>
              <a:buChar char="•"/>
            </a:pPr>
            <a:r>
              <a:rPr lang="en-US" sz="1600" dirty="0">
                <a:solidFill>
                  <a:srgbClr val="24302D"/>
                </a:solidFill>
                <a:latin typeface="Calibri" pitchFamily="34" charset="0"/>
                <a:ea typeface="Calibri" pitchFamily="34" charset="-122"/>
                <a:cs typeface="Calibri" pitchFamily="34" charset="-120"/>
              </a:rPr>
              <a:t>On-call clinician for your market</a:t>
            </a:r>
            <a:endParaRPr lang="en-US" sz="1600" dirty="0"/>
          </a:p>
          <a:p>
            <a:pPr marL="203200" indent="-203200">
              <a:spcAft>
                <a:spcPts val="800"/>
              </a:spcAft>
              <a:buSzPct val="100000"/>
              <a:buChar char="•"/>
            </a:pPr>
            <a:r>
              <a:rPr lang="en-US" sz="1600" dirty="0">
                <a:solidFill>
                  <a:srgbClr val="24302D"/>
                </a:solidFill>
                <a:latin typeface="Calibri" pitchFamily="34" charset="0"/>
                <a:ea typeface="Calibri" pitchFamily="34" charset="-122"/>
                <a:cs typeface="Calibri" pitchFamily="34" charset="-120"/>
              </a:rPr>
              <a:t>Emergency: 911</a:t>
            </a:r>
            <a:endParaRPr lang="en-US" sz="1600" dirty="0"/>
          </a:p>
          <a:p>
            <a:pPr marL="203200" indent="-203200">
              <a:spcAft>
                <a:spcPts val="800"/>
              </a:spcAft>
              <a:buSzPct val="100000"/>
              <a:buChar char="•"/>
            </a:pPr>
            <a:r>
              <a:rPr lang="en-US" sz="1600" dirty="0">
                <a:solidFill>
                  <a:srgbClr val="24302D"/>
                </a:solidFill>
                <a:latin typeface="Calibri" pitchFamily="34" charset="0"/>
                <a:ea typeface="Calibri" pitchFamily="34" charset="-122"/>
                <a:cs typeface="Calibri" pitchFamily="34" charset="-120"/>
              </a:rPr>
              <a:t>Crisis: 988</a:t>
            </a:r>
            <a:endParaRPr lang="en-US" sz="1600" dirty="0"/>
          </a:p>
          <a:p>
            <a:pPr marL="203200" indent="-203200">
              <a:spcAft>
                <a:spcPts val="800"/>
              </a:spcAft>
              <a:buSzPct val="100000"/>
              <a:buChar char="•"/>
            </a:pPr>
            <a:r>
              <a:rPr lang="en-US" sz="1600" dirty="0">
                <a:solidFill>
                  <a:srgbClr val="24302D"/>
                </a:solidFill>
                <a:latin typeface="Calibri" pitchFamily="34" charset="0"/>
                <a:ea typeface="Calibri" pitchFamily="34" charset="-122"/>
                <a:cs typeface="Calibri" pitchFamily="34" charset="-120"/>
              </a:rPr>
              <a:t>Document every escalation</a:t>
            </a:r>
            <a:endParaRPr lang="en-US" sz="1600" dirty="0"/>
          </a:p>
        </p:txBody>
      </p:sp>
      <p:pic>
        <p:nvPicPr>
          <p:cNvPr id="8" name="Image 1" descr="preencoded.png">    </p:cNvPr>
          <p:cNvPicPr>
            <a:picLocks noChangeAspect="1"/>
          </p:cNvPicPr>
          <p:nvPr/>
        </p:nvPicPr>
        <p:blipFill>
          <a:blip r:embed="rId2"/>
          <a:stretch>
            <a:fillRect/>
          </a:stretch>
        </p:blipFill>
        <p:spPr>
          <a:xfrm>
            <a:off x="548640" y="6309360"/>
            <a:ext cx="874762" cy="365760"/>
          </a:xfrm>
          <a:prstGeom prst="rect">
            <a:avLst/>
          </a:prstGeom>
        </p:spPr>
      </p:pic>
      <p:sp>
        <p:nvSpPr>
          <p:cNvPr id="9" name="Text 5"/>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3</a:t>
            </a:r>
            <a:endParaRPr lang="en-US" sz="900" dirty="0"/>
          </a:p>
        </p:txBody>
      </p:sp>
      <p:sp>
        <p:nvSpPr>
          <p:cNvPr id="10" name="Text 6"/>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DICE Workshop</a:t>
            </a:r>
            <a:endParaRPr lang="en-US" sz="3000" dirty="0"/>
          </a:p>
        </p:txBody>
      </p:sp>
      <p:sp>
        <p:nvSpPr>
          <p:cNvPr id="3" name="Shape 1"/>
          <p:cNvSpPr/>
          <p:nvPr/>
        </p:nvSpPr>
        <p:spPr>
          <a:xfrm>
            <a:off x="548640" y="1417320"/>
            <a:ext cx="3566160" cy="4709160"/>
          </a:xfrm>
          <a:prstGeom prst="roundRect">
            <a:avLst>
              <a:gd name="adj" fmla="val 3077"/>
            </a:avLst>
          </a:prstGeom>
          <a:solidFill>
            <a:srgbClr val="F8EFDF"/>
          </a:solidFill>
          <a:ln w="12700">
            <a:solidFill>
              <a:srgbClr val="F8EFDF"/>
            </a:solidFill>
            <a:prstDash val="solid"/>
          </a:ln>
        </p:spPr>
      </p:sp>
      <p:sp>
        <p:nvSpPr>
          <p:cNvPr id="4" name="Shape 2"/>
          <p:cNvSpPr/>
          <p:nvPr/>
        </p:nvSpPr>
        <p:spPr>
          <a:xfrm>
            <a:off x="1691640" y="1783080"/>
            <a:ext cx="1280160" cy="1280160"/>
          </a:xfrm>
          <a:prstGeom prst="ellipse">
            <a:avLst/>
          </a:prstGeom>
          <a:solidFill>
            <a:srgbClr val="C78F2E"/>
          </a:solidFill>
          <a:ln w="12700">
            <a:solidFill>
              <a:srgbClr val="C78F2E"/>
            </a:solidFill>
            <a:prstDash val="solid"/>
          </a:ln>
        </p:spPr>
      </p:sp>
      <p:pic>
        <p:nvPicPr>
          <p:cNvPr id="5" name="Image 0" descr="preencoded.png">    </p:cNvPr>
          <p:cNvPicPr>
            <a:picLocks noChangeAspect="1"/>
          </p:cNvPicPr>
          <p:nvPr/>
        </p:nvPicPr>
        <p:blipFill>
          <a:blip r:embed="rId1"/>
          <a:stretch>
            <a:fillRect/>
          </a:stretch>
        </p:blipFill>
        <p:spPr>
          <a:xfrm>
            <a:off x="1965960" y="2057400"/>
            <a:ext cx="731520" cy="731520"/>
          </a:xfrm>
          <a:prstGeom prst="rect">
            <a:avLst/>
          </a:prstGeom>
        </p:spPr>
      </p:pic>
      <p:sp>
        <p:nvSpPr>
          <p:cNvPr id="6" name="Text 3"/>
          <p:cNvSpPr txBox="1"/>
          <p:nvPr/>
        </p:nvSpPr>
        <p:spPr>
          <a:xfrm>
            <a:off x="548640" y="3246120"/>
            <a:ext cx="3566160" cy="320040"/>
          </a:xfrm>
          <a:prstGeom prst="rect">
            <a:avLst/>
          </a:prstGeom>
          <a:noFill/>
          <a:ln/>
        </p:spPr>
        <p:txBody>
          <a:bodyPr wrap="square" lIns="0" tIns="0" rIns="0" bIns="0" rtlCol="0" anchor="t"/>
          <a:lstStyle/>
          <a:p>
            <a:pPr algn="ctr" indent="0" marL="0">
              <a:buNone/>
            </a:pPr>
            <a:r>
              <a:rPr lang="en-US" sz="1200" b="1" spc="300" kern="0" dirty="0">
                <a:solidFill>
                  <a:srgbClr val="C78F2E"/>
                </a:solidFill>
                <a:latin typeface="Calibri" pitchFamily="34" charset="0"/>
                <a:ea typeface="Calibri" pitchFamily="34" charset="-122"/>
                <a:cs typeface="Calibri" pitchFamily="34" charset="-120"/>
              </a:rPr>
              <a:t>ACTIVITY</a:t>
            </a:r>
            <a:endParaRPr lang="en-US" sz="1200" dirty="0"/>
          </a:p>
        </p:txBody>
      </p:sp>
      <p:sp>
        <p:nvSpPr>
          <p:cNvPr id="7" name="Text 4"/>
          <p:cNvSpPr txBox="1"/>
          <p:nvPr/>
        </p:nvSpPr>
        <p:spPr>
          <a:xfrm>
            <a:off x="548640" y="3611880"/>
            <a:ext cx="3566160" cy="548640"/>
          </a:xfrm>
          <a:prstGeom prst="rect">
            <a:avLst/>
          </a:prstGeom>
          <a:noFill/>
          <a:ln/>
        </p:spPr>
        <p:txBody>
          <a:bodyPr wrap="square" lIns="0" tIns="0" rIns="0" bIns="0" rtlCol="0" anchor="ctr"/>
          <a:lstStyle/>
          <a:p>
            <a:pPr algn="ctr" indent="0" marL="0">
              <a:buNone/>
            </a:pPr>
            <a:r>
              <a:rPr lang="en-US" sz="2600" b="1" dirty="0">
                <a:solidFill>
                  <a:srgbClr val="28695F"/>
                </a:solidFill>
                <a:latin typeface="Cambria" pitchFamily="34" charset="0"/>
                <a:ea typeface="Cambria" pitchFamily="34" charset="-122"/>
                <a:cs typeface="Cambria" pitchFamily="34" charset="-120"/>
              </a:rPr>
              <a:t>15 minutes</a:t>
            </a:r>
            <a:endParaRPr lang="en-US" sz="2600" dirty="0"/>
          </a:p>
        </p:txBody>
      </p:sp>
      <p:sp>
        <p:nvSpPr>
          <p:cNvPr id="8" name="Text 5"/>
          <p:cNvSpPr txBox="1"/>
          <p:nvPr/>
        </p:nvSpPr>
        <p:spPr>
          <a:xfrm>
            <a:off x="822960" y="4251960"/>
            <a:ext cx="3017520" cy="1645920"/>
          </a:xfrm>
          <a:prstGeom prst="rect">
            <a:avLst/>
          </a:prstGeom>
          <a:noFill/>
          <a:ln/>
        </p:spPr>
        <p:txBody>
          <a:bodyPr wrap="square" lIns="0" tIns="0" rIns="0" bIns="0" rtlCol="0" anchor="t"/>
          <a:lstStyle/>
          <a:p>
            <a:pPr algn="ctr" indent="0" marL="0">
              <a:buNone/>
            </a:pPr>
            <a:r>
              <a:rPr lang="en-US" sz="1500" dirty="0">
                <a:solidFill>
                  <a:srgbClr val="24302D"/>
                </a:solidFill>
                <a:latin typeface="Calibri" pitchFamily="34" charset="0"/>
                <a:ea typeface="Calibri" pitchFamily="34" charset="-122"/>
                <a:cs typeface="Calibri" pitchFamily="34" charset="-120"/>
              </a:rPr>
              <a:t>Small groups of 3–4 with a scenario card</a:t>
            </a:r>
            <a:endParaRPr lang="en-US" sz="1500" dirty="0"/>
          </a:p>
        </p:txBody>
      </p:sp>
      <p:sp>
        <p:nvSpPr>
          <p:cNvPr id="9" name="Text 6"/>
          <p:cNvSpPr txBox="1"/>
          <p:nvPr/>
        </p:nvSpPr>
        <p:spPr>
          <a:xfrm>
            <a:off x="4526280" y="1417320"/>
            <a:ext cx="7116775" cy="502920"/>
          </a:xfrm>
          <a:prstGeom prst="rect">
            <a:avLst/>
          </a:prstGeom>
          <a:noFill/>
          <a:ln/>
        </p:spPr>
        <p:txBody>
          <a:bodyPr wrap="square" lIns="0" tIns="0" rIns="0" bIns="0" rtlCol="0" anchor="ctr"/>
          <a:lstStyle/>
          <a:p>
            <a:pPr indent="0" marL="0">
              <a:buNone/>
            </a:pPr>
            <a:r>
              <a:rPr lang="en-US" sz="2000" b="1" dirty="0">
                <a:solidFill>
                  <a:srgbClr val="28695F"/>
                </a:solidFill>
                <a:latin typeface="Cambria" pitchFamily="34" charset="0"/>
                <a:ea typeface="Cambria" pitchFamily="34" charset="-122"/>
                <a:cs typeface="Cambria" pitchFamily="34" charset="-120"/>
              </a:rPr>
              <a:t>Instructions</a:t>
            </a:r>
            <a:endParaRPr lang="en-US" sz="2000" dirty="0"/>
          </a:p>
        </p:txBody>
      </p:sp>
      <p:sp>
        <p:nvSpPr>
          <p:cNvPr id="10" name="Text 7"/>
          <p:cNvSpPr txBox="1"/>
          <p:nvPr/>
        </p:nvSpPr>
        <p:spPr>
          <a:xfrm>
            <a:off x="4526280" y="2103120"/>
            <a:ext cx="7116775" cy="4023360"/>
          </a:xfrm>
          <a:prstGeom prst="rect">
            <a:avLst/>
          </a:prstGeom>
          <a:noFill/>
          <a:ln/>
        </p:spPr>
        <p:txBody>
          <a:bodyPr wrap="square" lIns="0" tIns="0" rIns="0" bIns="0" rtlCol="0" anchor="t"/>
          <a:lstStyle/>
          <a:p>
            <a:pPr marL="254000" indent="-254000">
              <a:spcAft>
                <a:spcPts val="1200"/>
              </a:spcAft>
              <a:buSzPct val="100000"/>
              <a:buFont typeface="+mj-lt"/>
              <a:buAutoNum type="arabicPeriod" startAt="1"/>
            </a:pPr>
            <a:r>
              <a:rPr lang="en-US" sz="1600" dirty="0">
                <a:solidFill>
                  <a:srgbClr val="24302D"/>
                </a:solidFill>
                <a:latin typeface="Calibri" pitchFamily="34" charset="0"/>
                <a:ea typeface="Calibri" pitchFamily="34" charset="-122"/>
                <a:cs typeface="Calibri" pitchFamily="34" charset="-120"/>
              </a:rPr>
              <a:t>Read the scenario: Mrs. B, 84, yells and pushes her son away every evening when he helps her get ready for bed</a:t>
            </a:r>
            <a:endParaRPr lang="en-US" sz="1600" dirty="0"/>
          </a:p>
          <a:p>
            <a:pPr marL="254000" indent="-254000">
              <a:spcAft>
                <a:spcPts val="1200"/>
              </a:spcAft>
              <a:buSzPct val="100000"/>
              <a:buFont typeface="+mj-lt"/>
              <a:buAutoNum type="arabicPeriod" startAt="1"/>
            </a:pPr>
            <a:r>
              <a:rPr lang="en-US" sz="1600" dirty="0">
                <a:solidFill>
                  <a:srgbClr val="24302D"/>
                </a:solidFill>
                <a:latin typeface="Calibri" pitchFamily="34" charset="0"/>
                <a:ea typeface="Calibri" pitchFamily="34" charset="-122"/>
                <a:cs typeface="Calibri" pitchFamily="34" charset="-120"/>
              </a:rPr>
              <a:t>Describe: list the questions you would ask the son to get a full picture</a:t>
            </a:r>
            <a:endParaRPr lang="en-US" sz="1600" dirty="0"/>
          </a:p>
          <a:p>
            <a:pPr marL="254000" indent="-254000">
              <a:spcAft>
                <a:spcPts val="1200"/>
              </a:spcAft>
              <a:buSzPct val="100000"/>
              <a:buFont typeface="+mj-lt"/>
              <a:buAutoNum type="arabicPeriod" startAt="1"/>
            </a:pPr>
            <a:r>
              <a:rPr lang="en-US" sz="1600" dirty="0">
                <a:solidFill>
                  <a:srgbClr val="24302D"/>
                </a:solidFill>
                <a:latin typeface="Calibri" pitchFamily="34" charset="0"/>
                <a:ea typeface="Calibri" pitchFamily="34" charset="-122"/>
                <a:cs typeface="Calibri" pitchFamily="34" charset="-120"/>
              </a:rPr>
              <a:t>Investigate: list at least five possible causes (physical, environmental, task, emotional)</a:t>
            </a:r>
            <a:endParaRPr lang="en-US" sz="1600" dirty="0"/>
          </a:p>
          <a:p>
            <a:pPr marL="254000" indent="-254000">
              <a:spcAft>
                <a:spcPts val="1200"/>
              </a:spcAft>
              <a:buSzPct val="100000"/>
              <a:buFont typeface="+mj-lt"/>
              <a:buAutoNum type="arabicPeriod" startAt="1"/>
            </a:pPr>
            <a:r>
              <a:rPr lang="en-US" sz="1600" dirty="0">
                <a:solidFill>
                  <a:srgbClr val="24302D"/>
                </a:solidFill>
                <a:latin typeface="Calibri" pitchFamily="34" charset="0"/>
                <a:ea typeface="Calibri" pitchFamily="34" charset="-122"/>
                <a:cs typeface="Calibri" pitchFamily="34" charset="-120"/>
              </a:rPr>
              <a:t>Create: write a three-part plan the son can realistically carry out</a:t>
            </a:r>
            <a:endParaRPr lang="en-US" sz="1600" dirty="0"/>
          </a:p>
          <a:p>
            <a:pPr marL="254000" indent="-254000">
              <a:spcAft>
                <a:spcPts val="1200"/>
              </a:spcAft>
              <a:buSzPct val="100000"/>
              <a:buFont typeface="+mj-lt"/>
              <a:buAutoNum type="arabicPeriod" startAt="1"/>
            </a:pPr>
            <a:r>
              <a:rPr lang="en-US" sz="1600" dirty="0">
                <a:solidFill>
                  <a:srgbClr val="24302D"/>
                </a:solidFill>
                <a:latin typeface="Calibri" pitchFamily="34" charset="0"/>
                <a:ea typeface="Calibri" pitchFamily="34" charset="-122"/>
                <a:cs typeface="Calibri" pitchFamily="34" charset="-120"/>
              </a:rPr>
              <a:t>Evaluate: how and when will you check whether it worked?</a:t>
            </a:r>
            <a:endParaRPr lang="en-US" sz="1600" dirty="0"/>
          </a:p>
        </p:txBody>
      </p:sp>
      <p:pic>
        <p:nvPicPr>
          <p:cNvPr id="11" name="Image 1" descr="preencoded.png">    </p:cNvPr>
          <p:cNvPicPr>
            <a:picLocks noChangeAspect="1"/>
          </p:cNvPicPr>
          <p:nvPr/>
        </p:nvPicPr>
        <p:blipFill>
          <a:blip r:embed="rId2"/>
          <a:stretch>
            <a:fillRect/>
          </a:stretch>
        </p:blipFill>
        <p:spPr>
          <a:xfrm>
            <a:off x="548640" y="6309360"/>
            <a:ext cx="874762" cy="365760"/>
          </a:xfrm>
          <a:prstGeom prst="rect">
            <a:avLst/>
          </a:prstGeom>
        </p:spPr>
      </p:pic>
      <p:sp>
        <p:nvSpPr>
          <p:cNvPr id="12" name="Text 8"/>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3</a:t>
            </a:r>
            <a:endParaRPr lang="en-US" sz="900" dirty="0"/>
          </a:p>
        </p:txBody>
      </p:sp>
      <p:sp>
        <p:nvSpPr>
          <p:cNvPr id="13" name="Text 9"/>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28695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75000"/>
          </a:blip>
          <a:stretch>
            <a:fillRect/>
          </a:stretch>
        </p:blipFill>
        <p:spPr>
          <a:xfrm>
            <a:off x="8138160" y="548640"/>
            <a:ext cx="4206240" cy="5330952"/>
          </a:xfrm>
          <a:prstGeom prst="rect">
            <a:avLst/>
          </a:prstGeom>
        </p:spPr>
      </p:pic>
      <p:sp>
        <p:nvSpPr>
          <p:cNvPr id="3" name="Text 0"/>
          <p:cNvSpPr txBox="1"/>
          <p:nvPr/>
        </p:nvSpPr>
        <p:spPr>
          <a:xfrm>
            <a:off x="731520" y="1188720"/>
            <a:ext cx="2743200" cy="1371600"/>
          </a:xfrm>
          <a:prstGeom prst="rect">
            <a:avLst/>
          </a:prstGeom>
          <a:noFill/>
          <a:ln/>
        </p:spPr>
        <p:txBody>
          <a:bodyPr wrap="square" lIns="0" tIns="0" rIns="0" bIns="0" rtlCol="0" anchor="t"/>
          <a:lstStyle/>
          <a:p>
            <a:pPr indent="0" marL="0">
              <a:buNone/>
            </a:pPr>
            <a:r>
              <a:rPr lang="en-US" sz="8800" b="1" dirty="0">
                <a:solidFill>
                  <a:srgbClr val="F8CB27"/>
                </a:solidFill>
                <a:latin typeface="Cambria" pitchFamily="34" charset="0"/>
                <a:ea typeface="Cambria" pitchFamily="34" charset="-122"/>
                <a:cs typeface="Cambria" pitchFamily="34" charset="-120"/>
              </a:rPr>
              <a:t>03</a:t>
            </a:r>
            <a:endParaRPr lang="en-US" sz="8800" dirty="0"/>
          </a:p>
        </p:txBody>
      </p:sp>
      <p:sp>
        <p:nvSpPr>
          <p:cNvPr id="4" name="Text 1"/>
          <p:cNvSpPr txBox="1"/>
          <p:nvPr/>
        </p:nvSpPr>
        <p:spPr>
          <a:xfrm>
            <a:off x="731520" y="2103120"/>
            <a:ext cx="7132320" cy="1783080"/>
          </a:xfrm>
          <a:prstGeom prst="rect">
            <a:avLst/>
          </a:prstGeom>
          <a:noFill/>
          <a:ln/>
        </p:spPr>
        <p:txBody>
          <a:bodyPr wrap="square" lIns="0" tIns="0" rIns="0" bIns="0" rtlCol="0" anchor="b"/>
          <a:lstStyle/>
          <a:p>
            <a:pPr indent="0" marL="0">
              <a:buNone/>
            </a:pPr>
            <a:r>
              <a:rPr lang="en-US" sz="3800" b="1" dirty="0">
                <a:solidFill>
                  <a:srgbClr val="FFFFFF"/>
                </a:solidFill>
                <a:latin typeface="Cambria" pitchFamily="34" charset="0"/>
                <a:ea typeface="Cambria" pitchFamily="34" charset="-122"/>
                <a:cs typeface="Cambria" pitchFamily="34" charset="-120"/>
              </a:rPr>
              <a:t>Communication</a:t>
            </a:r>
            <a:endParaRPr lang="en-US" sz="3800" dirty="0"/>
          </a:p>
        </p:txBody>
      </p:sp>
      <p:sp>
        <p:nvSpPr>
          <p:cNvPr id="5" name="Text 2"/>
          <p:cNvSpPr txBox="1"/>
          <p:nvPr/>
        </p:nvSpPr>
        <p:spPr>
          <a:xfrm>
            <a:off x="731520" y="3977640"/>
            <a:ext cx="6949440" cy="914400"/>
          </a:xfrm>
          <a:prstGeom prst="rect">
            <a:avLst/>
          </a:prstGeom>
          <a:noFill/>
          <a:ln/>
        </p:spPr>
        <p:txBody>
          <a:bodyPr wrap="square" lIns="0" tIns="0" rIns="0" bIns="0" rtlCol="0" anchor="t"/>
          <a:lstStyle/>
          <a:p>
            <a:pPr indent="0" marL="0">
              <a:buNone/>
            </a:pPr>
            <a:r>
              <a:rPr lang="en-US" sz="1800" dirty="0">
                <a:solidFill>
                  <a:srgbClr val="C9DEDA"/>
                </a:solidFill>
                <a:latin typeface="Calibri" pitchFamily="34" charset="0"/>
                <a:ea typeface="Calibri" pitchFamily="34" charset="-122"/>
                <a:cs typeface="Calibri" pitchFamily="34" charset="-120"/>
              </a:rPr>
              <a:t>Strategies for persons with dementia and their caregivers</a:t>
            </a:r>
            <a:endParaRPr lang="en-US" sz="1800" dirty="0"/>
          </a:p>
        </p:txBody>
      </p:sp>
      <p:pic>
        <p:nvPicPr>
          <p:cNvPr id="6" name="Image 1" descr="preencoded.png">    </p:cNvPr>
          <p:cNvPicPr>
            <a:picLocks noChangeAspect="1"/>
          </p:cNvPicPr>
          <p:nvPr/>
        </p:nvPicPr>
        <p:blipFill>
          <a:blip r:embed="rId2"/>
          <a:stretch>
            <a:fillRect/>
          </a:stretch>
        </p:blipFill>
        <p:spPr>
          <a:xfrm>
            <a:off x="548640" y="6382512"/>
            <a:ext cx="219456" cy="219456"/>
          </a:xfrm>
          <a:prstGeom prst="rect">
            <a:avLst/>
          </a:prstGeom>
        </p:spPr>
      </p:pic>
      <p:sp>
        <p:nvSpPr>
          <p:cNvPr id="7" name="Text 3"/>
          <p:cNvSpPr txBox="1"/>
          <p:nvPr/>
        </p:nvSpPr>
        <p:spPr>
          <a:xfrm>
            <a:off x="859536" y="6364224"/>
            <a:ext cx="7772400" cy="256032"/>
          </a:xfrm>
          <a:prstGeom prst="rect">
            <a:avLst/>
          </a:prstGeom>
          <a:noFill/>
          <a:ln/>
        </p:spPr>
        <p:txBody>
          <a:bodyPr wrap="square" lIns="0" tIns="0" rIns="0" bIns="0" rtlCol="0" anchor="ctr"/>
          <a:lstStyle/>
          <a:p>
            <a:pPr indent="0" marL="0">
              <a:buNone/>
            </a:pPr>
            <a:r>
              <a:rPr lang="en-US" sz="900" dirty="0">
                <a:solidFill>
                  <a:srgbClr val="C9DEDA"/>
                </a:solidFill>
                <a:latin typeface="Calibri" pitchFamily="34" charset="0"/>
                <a:ea typeface="Calibri" pitchFamily="34" charset="-122"/>
                <a:cs typeface="Calibri" pitchFamily="34" charset="-120"/>
              </a:rPr>
              <a:t>AbleLiving Memory Support  |  GUIDE Care Navigator Training  |  Module 3</a:t>
            </a:r>
            <a:endParaRPr lang="en-US" sz="900" dirty="0"/>
          </a:p>
        </p:txBody>
      </p:sp>
      <p:sp>
        <p:nvSpPr>
          <p:cNvPr id="8" name="Text 4"/>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C9DEDA"/>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How Dementia Changes Communication</a:t>
            </a:r>
            <a:endParaRPr lang="en-US" sz="3000" dirty="0"/>
          </a:p>
        </p:txBody>
      </p:sp>
      <p:sp>
        <p:nvSpPr>
          <p:cNvPr id="3" name="Text 1"/>
          <p:cNvSpPr txBox="1"/>
          <p:nvPr/>
        </p:nvSpPr>
        <p:spPr>
          <a:xfrm>
            <a:off x="548640" y="1417320"/>
            <a:ext cx="6675120" cy="4709160"/>
          </a:xfrm>
          <a:prstGeom prst="rect">
            <a:avLst/>
          </a:prstGeom>
          <a:noFill/>
          <a:ln/>
        </p:spPr>
        <p:txBody>
          <a:bodyPr wrap="square" lIns="0" tIns="0" rIns="0" bIns="0" rtlCol="0" anchor="t"/>
          <a:lstStyle/>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Word-finding problems: </a:t>
            </a:r>
            <a:r>
              <a:rPr lang="en-US" sz="1800" dirty="0">
                <a:solidFill>
                  <a:srgbClr val="24302D"/>
                </a:solidFill>
                <a:latin typeface="Calibri" pitchFamily="34" charset="0"/>
                <a:ea typeface="Calibri" pitchFamily="34" charset="-122"/>
                <a:cs typeface="Calibri" pitchFamily="34" charset="-120"/>
              </a:rPr>
              <a:t>substituting words or describing objects instead of naming them</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Slower processing: </a:t>
            </a:r>
            <a:r>
              <a:rPr lang="en-US" sz="1800" dirty="0">
                <a:solidFill>
                  <a:srgbClr val="24302D"/>
                </a:solidFill>
                <a:latin typeface="Calibri" pitchFamily="34" charset="0"/>
                <a:ea typeface="Calibri" pitchFamily="34" charset="-122"/>
                <a:cs typeface="Calibri" pitchFamily="34" charset="-120"/>
              </a:rPr>
              <a:t>needing more time to understand and respond</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Trouble following </a:t>
            </a:r>
            <a:r>
              <a:rPr lang="en-US" sz="1800" dirty="0">
                <a:solidFill>
                  <a:srgbClr val="24302D"/>
                </a:solidFill>
                <a:latin typeface="Calibri" pitchFamily="34" charset="0"/>
                <a:ea typeface="Calibri" pitchFamily="34" charset="-122"/>
                <a:cs typeface="Calibri" pitchFamily="34" charset="-120"/>
              </a:rPr>
              <a:t>complex sentences, fast speech, or group conversations</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Reading and writing </a:t>
            </a:r>
            <a:r>
              <a:rPr lang="en-US" sz="1800" dirty="0">
                <a:solidFill>
                  <a:srgbClr val="24302D"/>
                </a:solidFill>
                <a:latin typeface="Calibri" pitchFamily="34" charset="0"/>
                <a:ea typeface="Calibri" pitchFamily="34" charset="-122"/>
                <a:cs typeface="Calibri" pitchFamily="34" charset="-120"/>
              </a:rPr>
              <a:t>decline over time</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Emotion stays: </a:t>
            </a:r>
            <a:r>
              <a:rPr lang="en-US" sz="1800" dirty="0">
                <a:solidFill>
                  <a:srgbClr val="24302D"/>
                </a:solidFill>
                <a:latin typeface="Calibri" pitchFamily="34" charset="0"/>
                <a:ea typeface="Calibri" pitchFamily="34" charset="-122"/>
                <a:cs typeface="Calibri" pitchFamily="34" charset="-120"/>
              </a:rPr>
              <a:t>people often remember how you made them feel long after they forget what you said</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Nonverbal cues </a:t>
            </a:r>
            <a:r>
              <a:rPr lang="en-US" sz="1800" dirty="0">
                <a:solidFill>
                  <a:srgbClr val="24302D"/>
                </a:solidFill>
                <a:latin typeface="Calibri" pitchFamily="34" charset="0"/>
                <a:ea typeface="Calibri" pitchFamily="34" charset="-122"/>
                <a:cs typeface="Calibri" pitchFamily="34" charset="-120"/>
              </a:rPr>
              <a:t>— tone, facial expression, and body language — become more important</a:t>
            </a:r>
            <a:endParaRPr lang="en-US" sz="1800" dirty="0"/>
          </a:p>
        </p:txBody>
      </p:sp>
      <p:sp>
        <p:nvSpPr>
          <p:cNvPr id="4" name="Shape 2"/>
          <p:cNvSpPr/>
          <p:nvPr/>
        </p:nvSpPr>
        <p:spPr>
          <a:xfrm>
            <a:off x="7589520" y="1417320"/>
            <a:ext cx="4053535" cy="2885440"/>
          </a:xfrm>
          <a:prstGeom prst="roundRect">
            <a:avLst>
              <a:gd name="adj" fmla="val 3803"/>
            </a:avLst>
          </a:prstGeom>
          <a:solidFill>
            <a:srgbClr val="E8F1EF"/>
          </a:solidFill>
          <a:ln w="12700">
            <a:solidFill>
              <a:srgbClr val="E8F1EF"/>
            </a:solidFill>
            <a:prstDash val="solid"/>
          </a:ln>
        </p:spPr>
      </p:sp>
      <p:pic>
        <p:nvPicPr>
          <p:cNvPr id="5" name="Image 0" descr="preencoded.png">    </p:cNvPr>
          <p:cNvPicPr>
            <a:picLocks noChangeAspect="1"/>
          </p:cNvPicPr>
          <p:nvPr/>
        </p:nvPicPr>
        <p:blipFill>
          <a:blip r:embed="rId1"/>
          <a:stretch>
            <a:fillRect/>
          </a:stretch>
        </p:blipFill>
        <p:spPr>
          <a:xfrm>
            <a:off x="7863840" y="1691640"/>
            <a:ext cx="502920" cy="502920"/>
          </a:xfrm>
          <a:prstGeom prst="rect">
            <a:avLst/>
          </a:prstGeom>
        </p:spPr>
      </p:pic>
      <p:sp>
        <p:nvSpPr>
          <p:cNvPr id="6" name="Text 3"/>
          <p:cNvSpPr txBox="1"/>
          <p:nvPr/>
        </p:nvSpPr>
        <p:spPr>
          <a:xfrm>
            <a:off x="8503920" y="1645920"/>
            <a:ext cx="2910535" cy="594360"/>
          </a:xfrm>
          <a:prstGeom prst="rect">
            <a:avLst/>
          </a:prstGeom>
          <a:noFill/>
          <a:ln/>
        </p:spPr>
        <p:txBody>
          <a:bodyPr wrap="square" lIns="0" tIns="0" rIns="0" bIns="0" rtlCol="0" anchor="ctr"/>
          <a:lstStyle/>
          <a:p>
            <a:pPr indent="0" marL="0">
              <a:buNone/>
            </a:pPr>
            <a:r>
              <a:rPr lang="en-US" sz="1800" b="1" dirty="0">
                <a:solidFill>
                  <a:srgbClr val="28695F"/>
                </a:solidFill>
                <a:latin typeface="Cambria" pitchFamily="34" charset="0"/>
                <a:ea typeface="Cambria" pitchFamily="34" charset="-122"/>
                <a:cs typeface="Cambria" pitchFamily="34" charset="-120"/>
              </a:rPr>
              <a:t>Remember</a:t>
            </a:r>
            <a:endParaRPr lang="en-US" sz="1800" dirty="0"/>
          </a:p>
        </p:txBody>
      </p:sp>
      <p:sp>
        <p:nvSpPr>
          <p:cNvPr id="7" name="Text 4"/>
          <p:cNvSpPr txBox="1"/>
          <p:nvPr/>
        </p:nvSpPr>
        <p:spPr>
          <a:xfrm>
            <a:off x="7863840" y="2423160"/>
            <a:ext cx="3504895" cy="1788160"/>
          </a:xfrm>
          <a:prstGeom prst="rect">
            <a:avLst/>
          </a:prstGeom>
          <a:noFill/>
          <a:ln/>
        </p:spPr>
        <p:txBody>
          <a:bodyPr wrap="square" lIns="0" tIns="0" rIns="0" bIns="0" rtlCol="0" anchor="t"/>
          <a:lstStyle/>
          <a:p>
            <a:pPr indent="0" marL="0">
              <a:buNone/>
            </a:pPr>
            <a:r>
              <a:rPr lang="en-US" sz="1600" dirty="0">
                <a:solidFill>
                  <a:srgbClr val="24302D"/>
                </a:solidFill>
                <a:latin typeface="Calibri" pitchFamily="34" charset="0"/>
                <a:ea typeface="Calibri" pitchFamily="34" charset="-122"/>
                <a:cs typeface="Calibri" pitchFamily="34" charset="-120"/>
              </a:rPr>
              <a:t>The person may not be able to change how they communicate. We must change how we communicate with them.</a:t>
            </a:r>
            <a:endParaRPr lang="en-US" sz="1600" dirty="0"/>
          </a:p>
        </p:txBody>
      </p:sp>
      <p:pic>
        <p:nvPicPr>
          <p:cNvPr id="8" name="Image 1" descr="preencoded.png">    </p:cNvPr>
          <p:cNvPicPr>
            <a:picLocks noChangeAspect="1"/>
          </p:cNvPicPr>
          <p:nvPr/>
        </p:nvPicPr>
        <p:blipFill>
          <a:blip r:embed="rId2"/>
          <a:stretch>
            <a:fillRect/>
          </a:stretch>
        </p:blipFill>
        <p:spPr>
          <a:xfrm>
            <a:off x="548640" y="6309360"/>
            <a:ext cx="874762" cy="365760"/>
          </a:xfrm>
          <a:prstGeom prst="rect">
            <a:avLst/>
          </a:prstGeom>
        </p:spPr>
      </p:pic>
      <p:sp>
        <p:nvSpPr>
          <p:cNvPr id="9" name="Text 5"/>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3</a:t>
            </a:r>
            <a:endParaRPr lang="en-US" sz="900" dirty="0"/>
          </a:p>
        </p:txBody>
      </p:sp>
      <p:sp>
        <p:nvSpPr>
          <p:cNvPr id="10" name="Text 6"/>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Core Communication Strategies</a:t>
            </a:r>
            <a:endParaRPr lang="en-US" sz="3000" dirty="0"/>
          </a:p>
        </p:txBody>
      </p:sp>
      <p:sp>
        <p:nvSpPr>
          <p:cNvPr id="3" name="Shape 1"/>
          <p:cNvSpPr/>
          <p:nvPr/>
        </p:nvSpPr>
        <p:spPr>
          <a:xfrm>
            <a:off x="548640" y="1417320"/>
            <a:ext cx="3515258" cy="2217420"/>
          </a:xfrm>
          <a:prstGeom prst="roundRect">
            <a:avLst>
              <a:gd name="adj" fmla="val 4948"/>
            </a:avLst>
          </a:prstGeom>
          <a:solidFill>
            <a:srgbClr val="E8F1EF"/>
          </a:solidFill>
          <a:ln w="12700">
            <a:solidFill>
              <a:srgbClr val="E8F1EF"/>
            </a:solidFill>
            <a:prstDash val="solid"/>
          </a:ln>
        </p:spPr>
      </p:sp>
      <p:pic>
        <p:nvPicPr>
          <p:cNvPr id="4" name="Image 0" descr="preencoded.png">    </p:cNvPr>
          <p:cNvPicPr>
            <a:picLocks noChangeAspect="1"/>
          </p:cNvPicPr>
          <p:nvPr/>
        </p:nvPicPr>
        <p:blipFill>
          <a:blip r:embed="rId1"/>
          <a:stretch>
            <a:fillRect/>
          </a:stretch>
        </p:blipFill>
        <p:spPr>
          <a:xfrm>
            <a:off x="749808" y="1618488"/>
            <a:ext cx="420624" cy="420624"/>
          </a:xfrm>
          <a:prstGeom prst="rect">
            <a:avLst/>
          </a:prstGeom>
        </p:spPr>
      </p:pic>
      <p:sp>
        <p:nvSpPr>
          <p:cNvPr id="5" name="Text 2"/>
          <p:cNvSpPr txBox="1"/>
          <p:nvPr/>
        </p:nvSpPr>
        <p:spPr>
          <a:xfrm>
            <a:off x="1298448" y="157276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Approach Well</a:t>
            </a:r>
            <a:endParaRPr lang="en-US" sz="1700" dirty="0"/>
          </a:p>
        </p:txBody>
      </p:sp>
      <p:sp>
        <p:nvSpPr>
          <p:cNvPr id="6" name="Text 3"/>
          <p:cNvSpPr txBox="1"/>
          <p:nvPr/>
        </p:nvSpPr>
        <p:spPr>
          <a:xfrm>
            <a:off x="768096" y="219456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From the front, at eye level. Say your name and theirs. Smile and wait to be noticed.</a:t>
            </a:r>
            <a:endParaRPr lang="en-US" sz="1650" dirty="0"/>
          </a:p>
        </p:txBody>
      </p:sp>
      <p:sp>
        <p:nvSpPr>
          <p:cNvPr id="7" name="Shape 4"/>
          <p:cNvSpPr/>
          <p:nvPr/>
        </p:nvSpPr>
        <p:spPr>
          <a:xfrm>
            <a:off x="4338218" y="1417320"/>
            <a:ext cx="3515258" cy="2217420"/>
          </a:xfrm>
          <a:prstGeom prst="roundRect">
            <a:avLst>
              <a:gd name="adj" fmla="val 4948"/>
            </a:avLst>
          </a:prstGeom>
          <a:solidFill>
            <a:srgbClr val="E8F1EF"/>
          </a:solidFill>
          <a:ln w="12700">
            <a:solidFill>
              <a:srgbClr val="E8F1EF"/>
            </a:solidFill>
            <a:prstDash val="solid"/>
          </a:ln>
        </p:spPr>
      </p:sp>
      <p:pic>
        <p:nvPicPr>
          <p:cNvPr id="8" name="Image 1" descr="preencoded.png">    </p:cNvPr>
          <p:cNvPicPr>
            <a:picLocks noChangeAspect="1"/>
          </p:cNvPicPr>
          <p:nvPr/>
        </p:nvPicPr>
        <p:blipFill>
          <a:blip r:embed="rId2"/>
          <a:stretch>
            <a:fillRect/>
          </a:stretch>
        </p:blipFill>
        <p:spPr>
          <a:xfrm>
            <a:off x="4539386" y="1618488"/>
            <a:ext cx="420624" cy="420624"/>
          </a:xfrm>
          <a:prstGeom prst="rect">
            <a:avLst/>
          </a:prstGeom>
        </p:spPr>
      </p:pic>
      <p:sp>
        <p:nvSpPr>
          <p:cNvPr id="9" name="Text 5"/>
          <p:cNvSpPr txBox="1"/>
          <p:nvPr/>
        </p:nvSpPr>
        <p:spPr>
          <a:xfrm>
            <a:off x="5088026" y="157276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Keep It Simple</a:t>
            </a:r>
            <a:endParaRPr lang="en-US" sz="1700" dirty="0"/>
          </a:p>
        </p:txBody>
      </p:sp>
      <p:sp>
        <p:nvSpPr>
          <p:cNvPr id="10" name="Text 6"/>
          <p:cNvSpPr txBox="1"/>
          <p:nvPr/>
        </p:nvSpPr>
        <p:spPr>
          <a:xfrm>
            <a:off x="4557674" y="219456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Short sentences, one idea or step at a time. Use names instead of pronouns.</a:t>
            </a:r>
            <a:endParaRPr lang="en-US" sz="1650" dirty="0"/>
          </a:p>
        </p:txBody>
      </p:sp>
      <p:sp>
        <p:nvSpPr>
          <p:cNvPr id="11" name="Shape 7"/>
          <p:cNvSpPr/>
          <p:nvPr/>
        </p:nvSpPr>
        <p:spPr>
          <a:xfrm>
            <a:off x="8127797" y="1417320"/>
            <a:ext cx="3515258" cy="2217420"/>
          </a:xfrm>
          <a:prstGeom prst="roundRect">
            <a:avLst>
              <a:gd name="adj" fmla="val 4948"/>
            </a:avLst>
          </a:prstGeom>
          <a:solidFill>
            <a:srgbClr val="E8F1EF"/>
          </a:solidFill>
          <a:ln w="12700">
            <a:solidFill>
              <a:srgbClr val="E8F1EF"/>
            </a:solidFill>
            <a:prstDash val="solid"/>
          </a:ln>
        </p:spPr>
      </p:sp>
      <p:pic>
        <p:nvPicPr>
          <p:cNvPr id="12" name="Image 2" descr="preencoded.png">    </p:cNvPr>
          <p:cNvPicPr>
            <a:picLocks noChangeAspect="1"/>
          </p:cNvPicPr>
          <p:nvPr/>
        </p:nvPicPr>
        <p:blipFill>
          <a:blip r:embed="rId3"/>
          <a:stretch>
            <a:fillRect/>
          </a:stretch>
        </p:blipFill>
        <p:spPr>
          <a:xfrm>
            <a:off x="8328965" y="1618488"/>
            <a:ext cx="420624" cy="420624"/>
          </a:xfrm>
          <a:prstGeom prst="rect">
            <a:avLst/>
          </a:prstGeom>
        </p:spPr>
      </p:pic>
      <p:sp>
        <p:nvSpPr>
          <p:cNvPr id="13" name="Text 8"/>
          <p:cNvSpPr txBox="1"/>
          <p:nvPr/>
        </p:nvSpPr>
        <p:spPr>
          <a:xfrm>
            <a:off x="8877605" y="157276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Offer Choices</a:t>
            </a:r>
            <a:endParaRPr lang="en-US" sz="1700" dirty="0"/>
          </a:p>
        </p:txBody>
      </p:sp>
      <p:sp>
        <p:nvSpPr>
          <p:cNvPr id="14" name="Text 9"/>
          <p:cNvSpPr txBox="1"/>
          <p:nvPr/>
        </p:nvSpPr>
        <p:spPr>
          <a:xfrm>
            <a:off x="8347253" y="219456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Two options instead of open questions: "Coffee or tea?" not "What would you like?"</a:t>
            </a:r>
            <a:endParaRPr lang="en-US" sz="1650" dirty="0"/>
          </a:p>
        </p:txBody>
      </p:sp>
      <p:sp>
        <p:nvSpPr>
          <p:cNvPr id="15" name="Shape 10"/>
          <p:cNvSpPr/>
          <p:nvPr/>
        </p:nvSpPr>
        <p:spPr>
          <a:xfrm>
            <a:off x="548640" y="3909060"/>
            <a:ext cx="3515258" cy="2217420"/>
          </a:xfrm>
          <a:prstGeom prst="roundRect">
            <a:avLst>
              <a:gd name="adj" fmla="val 4948"/>
            </a:avLst>
          </a:prstGeom>
          <a:solidFill>
            <a:srgbClr val="E8F1EF"/>
          </a:solidFill>
          <a:ln w="12700">
            <a:solidFill>
              <a:srgbClr val="E8F1EF"/>
            </a:solidFill>
            <a:prstDash val="solid"/>
          </a:ln>
        </p:spPr>
      </p:sp>
      <p:pic>
        <p:nvPicPr>
          <p:cNvPr id="16" name="Image 3" descr="preencoded.png">    </p:cNvPr>
          <p:cNvPicPr>
            <a:picLocks noChangeAspect="1"/>
          </p:cNvPicPr>
          <p:nvPr/>
        </p:nvPicPr>
        <p:blipFill>
          <a:blip r:embed="rId4"/>
          <a:stretch>
            <a:fillRect/>
          </a:stretch>
        </p:blipFill>
        <p:spPr>
          <a:xfrm>
            <a:off x="749808" y="4110228"/>
            <a:ext cx="420624" cy="420624"/>
          </a:xfrm>
          <a:prstGeom prst="rect">
            <a:avLst/>
          </a:prstGeom>
        </p:spPr>
      </p:pic>
      <p:sp>
        <p:nvSpPr>
          <p:cNvPr id="17" name="Text 11"/>
          <p:cNvSpPr txBox="1"/>
          <p:nvPr/>
        </p:nvSpPr>
        <p:spPr>
          <a:xfrm>
            <a:off x="1298448" y="406450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Listen &amp; Wait</a:t>
            </a:r>
            <a:endParaRPr lang="en-US" sz="1700" dirty="0"/>
          </a:p>
        </p:txBody>
      </p:sp>
      <p:sp>
        <p:nvSpPr>
          <p:cNvPr id="18" name="Text 12"/>
          <p:cNvSpPr txBox="1"/>
          <p:nvPr/>
        </p:nvSpPr>
        <p:spPr>
          <a:xfrm>
            <a:off x="768096" y="468630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Allow time to respond. Don't interrupt or finish sentences unless invited.</a:t>
            </a:r>
            <a:endParaRPr lang="en-US" sz="1650" dirty="0"/>
          </a:p>
        </p:txBody>
      </p:sp>
      <p:sp>
        <p:nvSpPr>
          <p:cNvPr id="19" name="Shape 13"/>
          <p:cNvSpPr/>
          <p:nvPr/>
        </p:nvSpPr>
        <p:spPr>
          <a:xfrm>
            <a:off x="4338218" y="3909060"/>
            <a:ext cx="3515258" cy="2217420"/>
          </a:xfrm>
          <a:prstGeom prst="roundRect">
            <a:avLst>
              <a:gd name="adj" fmla="val 4948"/>
            </a:avLst>
          </a:prstGeom>
          <a:solidFill>
            <a:srgbClr val="E8F1EF"/>
          </a:solidFill>
          <a:ln w="12700">
            <a:solidFill>
              <a:srgbClr val="E8F1EF"/>
            </a:solidFill>
            <a:prstDash val="solid"/>
          </a:ln>
        </p:spPr>
      </p:sp>
      <p:pic>
        <p:nvPicPr>
          <p:cNvPr id="20" name="Image 4" descr="preencoded.png">    </p:cNvPr>
          <p:cNvPicPr>
            <a:picLocks noChangeAspect="1"/>
          </p:cNvPicPr>
          <p:nvPr/>
        </p:nvPicPr>
        <p:blipFill>
          <a:blip r:embed="rId5"/>
          <a:stretch>
            <a:fillRect/>
          </a:stretch>
        </p:blipFill>
        <p:spPr>
          <a:xfrm>
            <a:off x="4539386" y="4110228"/>
            <a:ext cx="420624" cy="420624"/>
          </a:xfrm>
          <a:prstGeom prst="rect">
            <a:avLst/>
          </a:prstGeom>
        </p:spPr>
      </p:pic>
      <p:sp>
        <p:nvSpPr>
          <p:cNvPr id="21" name="Text 14"/>
          <p:cNvSpPr txBox="1"/>
          <p:nvPr/>
        </p:nvSpPr>
        <p:spPr>
          <a:xfrm>
            <a:off x="5088026" y="406450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Show, Don't Just Tell</a:t>
            </a:r>
            <a:endParaRPr lang="en-US" sz="1700" dirty="0"/>
          </a:p>
        </p:txBody>
      </p:sp>
      <p:sp>
        <p:nvSpPr>
          <p:cNvPr id="22" name="Text 15"/>
          <p:cNvSpPr txBox="1"/>
          <p:nvPr/>
        </p:nvSpPr>
        <p:spPr>
          <a:xfrm>
            <a:off x="4557674" y="468630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Use gestures, demonstrate, point, and offer objects to help understanding.</a:t>
            </a:r>
            <a:endParaRPr lang="en-US" sz="1650" dirty="0"/>
          </a:p>
        </p:txBody>
      </p:sp>
      <p:sp>
        <p:nvSpPr>
          <p:cNvPr id="23" name="Shape 16"/>
          <p:cNvSpPr/>
          <p:nvPr/>
        </p:nvSpPr>
        <p:spPr>
          <a:xfrm>
            <a:off x="8127797" y="3909060"/>
            <a:ext cx="3515258" cy="2217420"/>
          </a:xfrm>
          <a:prstGeom prst="roundRect">
            <a:avLst>
              <a:gd name="adj" fmla="val 4948"/>
            </a:avLst>
          </a:prstGeom>
          <a:solidFill>
            <a:srgbClr val="E8F1EF"/>
          </a:solidFill>
          <a:ln w="12700">
            <a:solidFill>
              <a:srgbClr val="E8F1EF"/>
            </a:solidFill>
            <a:prstDash val="solid"/>
          </a:ln>
        </p:spPr>
      </p:sp>
      <p:pic>
        <p:nvPicPr>
          <p:cNvPr id="24" name="Image 5" descr="preencoded.png">    </p:cNvPr>
          <p:cNvPicPr>
            <a:picLocks noChangeAspect="1"/>
          </p:cNvPicPr>
          <p:nvPr/>
        </p:nvPicPr>
        <p:blipFill>
          <a:blip r:embed="rId6"/>
          <a:stretch>
            <a:fillRect/>
          </a:stretch>
        </p:blipFill>
        <p:spPr>
          <a:xfrm>
            <a:off x="8328965" y="4110228"/>
            <a:ext cx="420624" cy="420624"/>
          </a:xfrm>
          <a:prstGeom prst="rect">
            <a:avLst/>
          </a:prstGeom>
        </p:spPr>
      </p:pic>
      <p:sp>
        <p:nvSpPr>
          <p:cNvPr id="25" name="Text 17"/>
          <p:cNvSpPr txBox="1"/>
          <p:nvPr/>
        </p:nvSpPr>
        <p:spPr>
          <a:xfrm>
            <a:off x="8877605" y="406450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Join Their Reality</a:t>
            </a:r>
            <a:endParaRPr lang="en-US" sz="1700" dirty="0"/>
          </a:p>
        </p:txBody>
      </p:sp>
      <p:sp>
        <p:nvSpPr>
          <p:cNvPr id="26" name="Text 18"/>
          <p:cNvSpPr txBox="1"/>
          <p:nvPr/>
        </p:nvSpPr>
        <p:spPr>
          <a:xfrm>
            <a:off x="8347253" y="468630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Validate feelings. Avoid arguing, quizzing ("Do you remember?"), or correcting.</a:t>
            </a:r>
            <a:endParaRPr lang="en-US" sz="1650" dirty="0"/>
          </a:p>
        </p:txBody>
      </p:sp>
      <p:pic>
        <p:nvPicPr>
          <p:cNvPr id="27" name="Image 6" descr="preencoded.png">    </p:cNvPr>
          <p:cNvPicPr>
            <a:picLocks noChangeAspect="1"/>
          </p:cNvPicPr>
          <p:nvPr/>
        </p:nvPicPr>
        <p:blipFill>
          <a:blip r:embed="rId7"/>
          <a:stretch>
            <a:fillRect/>
          </a:stretch>
        </p:blipFill>
        <p:spPr>
          <a:xfrm>
            <a:off x="548640" y="6309360"/>
            <a:ext cx="874762" cy="365760"/>
          </a:xfrm>
          <a:prstGeom prst="rect">
            <a:avLst/>
          </a:prstGeom>
        </p:spPr>
      </p:pic>
      <p:sp>
        <p:nvSpPr>
          <p:cNvPr id="28" name="Text 19"/>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3</a:t>
            </a:r>
            <a:endParaRPr lang="en-US" sz="900" dirty="0"/>
          </a:p>
        </p:txBody>
      </p:sp>
      <p:sp>
        <p:nvSpPr>
          <p:cNvPr id="29" name="Text 20"/>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The Power of Nonverbal Communication</a:t>
            </a:r>
            <a:endParaRPr lang="en-US" sz="3000" dirty="0"/>
          </a:p>
        </p:txBody>
      </p:sp>
      <p:sp>
        <p:nvSpPr>
          <p:cNvPr id="3" name="Shape 1"/>
          <p:cNvSpPr/>
          <p:nvPr/>
        </p:nvSpPr>
        <p:spPr>
          <a:xfrm>
            <a:off x="548640" y="1417320"/>
            <a:ext cx="5410048" cy="2217420"/>
          </a:xfrm>
          <a:prstGeom prst="roundRect">
            <a:avLst>
              <a:gd name="adj" fmla="val 4948"/>
            </a:avLst>
          </a:prstGeom>
          <a:solidFill>
            <a:srgbClr val="E8F1EF"/>
          </a:solidFill>
          <a:ln w="12700">
            <a:solidFill>
              <a:srgbClr val="E8F1EF"/>
            </a:solidFill>
            <a:prstDash val="solid"/>
          </a:ln>
        </p:spPr>
      </p:sp>
      <p:pic>
        <p:nvPicPr>
          <p:cNvPr id="4" name="Image 0" descr="preencoded.png">    </p:cNvPr>
          <p:cNvPicPr>
            <a:picLocks noChangeAspect="1"/>
          </p:cNvPicPr>
          <p:nvPr/>
        </p:nvPicPr>
        <p:blipFill>
          <a:blip r:embed="rId1"/>
          <a:stretch>
            <a:fillRect/>
          </a:stretch>
        </p:blipFill>
        <p:spPr>
          <a:xfrm>
            <a:off x="749808" y="1618488"/>
            <a:ext cx="420624" cy="420624"/>
          </a:xfrm>
          <a:prstGeom prst="rect">
            <a:avLst/>
          </a:prstGeom>
        </p:spPr>
      </p:pic>
      <p:sp>
        <p:nvSpPr>
          <p:cNvPr id="5" name="Text 2"/>
          <p:cNvSpPr txBox="1"/>
          <p:nvPr/>
        </p:nvSpPr>
        <p:spPr>
          <a:xfrm>
            <a:off x="1298448" y="1572768"/>
            <a:ext cx="449564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Tone of Voice</a:t>
            </a:r>
            <a:endParaRPr lang="en-US" sz="1700" dirty="0"/>
          </a:p>
        </p:txBody>
      </p:sp>
      <p:sp>
        <p:nvSpPr>
          <p:cNvPr id="6" name="Text 3"/>
          <p:cNvSpPr txBox="1"/>
          <p:nvPr/>
        </p:nvSpPr>
        <p:spPr>
          <a:xfrm>
            <a:off x="768096" y="2194560"/>
            <a:ext cx="4989424" cy="1303020"/>
          </a:xfrm>
          <a:prstGeom prst="rect">
            <a:avLst/>
          </a:prstGeom>
          <a:noFill/>
          <a:ln/>
        </p:spPr>
        <p:txBody>
          <a:bodyPr wrap="square" lIns="0" tIns="0" rIns="0" bIns="0" rtlCol="0" anchor="t"/>
          <a:lstStyle/>
          <a:p>
            <a:pPr indent="0" marL="0">
              <a:buNone/>
            </a:pPr>
            <a:r>
              <a:rPr lang="en-US" sz="1700" dirty="0">
                <a:solidFill>
                  <a:srgbClr val="24302D"/>
                </a:solidFill>
                <a:latin typeface="Calibri" pitchFamily="34" charset="0"/>
                <a:ea typeface="Calibri" pitchFamily="34" charset="-122"/>
                <a:cs typeface="Calibri" pitchFamily="34" charset="-120"/>
              </a:rPr>
              <a:t>Warm, calm, and slightly lower in pitch. People often respond to tone more than words.</a:t>
            </a:r>
            <a:endParaRPr lang="en-US" sz="1700" dirty="0"/>
          </a:p>
        </p:txBody>
      </p:sp>
      <p:sp>
        <p:nvSpPr>
          <p:cNvPr id="7" name="Shape 4"/>
          <p:cNvSpPr/>
          <p:nvPr/>
        </p:nvSpPr>
        <p:spPr>
          <a:xfrm>
            <a:off x="6233008" y="1417320"/>
            <a:ext cx="5410048" cy="2217420"/>
          </a:xfrm>
          <a:prstGeom prst="roundRect">
            <a:avLst>
              <a:gd name="adj" fmla="val 4948"/>
            </a:avLst>
          </a:prstGeom>
          <a:solidFill>
            <a:srgbClr val="E8F1EF"/>
          </a:solidFill>
          <a:ln w="12700">
            <a:solidFill>
              <a:srgbClr val="E8F1EF"/>
            </a:solidFill>
            <a:prstDash val="solid"/>
          </a:ln>
        </p:spPr>
      </p:sp>
      <p:pic>
        <p:nvPicPr>
          <p:cNvPr id="8" name="Image 1" descr="preencoded.png">    </p:cNvPr>
          <p:cNvPicPr>
            <a:picLocks noChangeAspect="1"/>
          </p:cNvPicPr>
          <p:nvPr/>
        </p:nvPicPr>
        <p:blipFill>
          <a:blip r:embed="rId2"/>
          <a:stretch>
            <a:fillRect/>
          </a:stretch>
        </p:blipFill>
        <p:spPr>
          <a:xfrm>
            <a:off x="6434176" y="1618488"/>
            <a:ext cx="420624" cy="420624"/>
          </a:xfrm>
          <a:prstGeom prst="rect">
            <a:avLst/>
          </a:prstGeom>
        </p:spPr>
      </p:pic>
      <p:sp>
        <p:nvSpPr>
          <p:cNvPr id="9" name="Text 5"/>
          <p:cNvSpPr txBox="1"/>
          <p:nvPr/>
        </p:nvSpPr>
        <p:spPr>
          <a:xfrm>
            <a:off x="6982816" y="1572768"/>
            <a:ext cx="449564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Facial Expression</a:t>
            </a:r>
            <a:endParaRPr lang="en-US" sz="1700" dirty="0"/>
          </a:p>
        </p:txBody>
      </p:sp>
      <p:sp>
        <p:nvSpPr>
          <p:cNvPr id="10" name="Text 6"/>
          <p:cNvSpPr txBox="1"/>
          <p:nvPr/>
        </p:nvSpPr>
        <p:spPr>
          <a:xfrm>
            <a:off x="6452464" y="2194560"/>
            <a:ext cx="4989424" cy="1303020"/>
          </a:xfrm>
          <a:prstGeom prst="rect">
            <a:avLst/>
          </a:prstGeom>
          <a:noFill/>
          <a:ln/>
        </p:spPr>
        <p:txBody>
          <a:bodyPr wrap="square" lIns="0" tIns="0" rIns="0" bIns="0" rtlCol="0" anchor="t"/>
          <a:lstStyle/>
          <a:p>
            <a:pPr indent="0" marL="0">
              <a:buNone/>
            </a:pPr>
            <a:r>
              <a:rPr lang="en-US" sz="1700" dirty="0">
                <a:solidFill>
                  <a:srgbClr val="24302D"/>
                </a:solidFill>
                <a:latin typeface="Calibri" pitchFamily="34" charset="0"/>
                <a:ea typeface="Calibri" pitchFamily="34" charset="-122"/>
                <a:cs typeface="Calibri" pitchFamily="34" charset="-120"/>
              </a:rPr>
              <a:t>A relaxed, friendly face and eye contact communicate safety.</a:t>
            </a:r>
            <a:endParaRPr lang="en-US" sz="1700" dirty="0"/>
          </a:p>
        </p:txBody>
      </p:sp>
      <p:sp>
        <p:nvSpPr>
          <p:cNvPr id="11" name="Shape 7"/>
          <p:cNvSpPr/>
          <p:nvPr/>
        </p:nvSpPr>
        <p:spPr>
          <a:xfrm>
            <a:off x="548640" y="3909060"/>
            <a:ext cx="5410048" cy="2217420"/>
          </a:xfrm>
          <a:prstGeom prst="roundRect">
            <a:avLst>
              <a:gd name="adj" fmla="val 4948"/>
            </a:avLst>
          </a:prstGeom>
          <a:solidFill>
            <a:srgbClr val="E8F1EF"/>
          </a:solidFill>
          <a:ln w="12700">
            <a:solidFill>
              <a:srgbClr val="E8F1EF"/>
            </a:solidFill>
            <a:prstDash val="solid"/>
          </a:ln>
        </p:spPr>
      </p:sp>
      <p:pic>
        <p:nvPicPr>
          <p:cNvPr id="12" name="Image 2" descr="preencoded.png">    </p:cNvPr>
          <p:cNvPicPr>
            <a:picLocks noChangeAspect="1"/>
          </p:cNvPicPr>
          <p:nvPr/>
        </p:nvPicPr>
        <p:blipFill>
          <a:blip r:embed="rId3"/>
          <a:stretch>
            <a:fillRect/>
          </a:stretch>
        </p:blipFill>
        <p:spPr>
          <a:xfrm>
            <a:off x="749808" y="4110228"/>
            <a:ext cx="420624" cy="420624"/>
          </a:xfrm>
          <a:prstGeom prst="rect">
            <a:avLst/>
          </a:prstGeom>
        </p:spPr>
      </p:pic>
      <p:sp>
        <p:nvSpPr>
          <p:cNvPr id="13" name="Text 8"/>
          <p:cNvSpPr txBox="1"/>
          <p:nvPr/>
        </p:nvSpPr>
        <p:spPr>
          <a:xfrm>
            <a:off x="1298448" y="4064508"/>
            <a:ext cx="449564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Body Position</a:t>
            </a:r>
            <a:endParaRPr lang="en-US" sz="1700" dirty="0"/>
          </a:p>
        </p:txBody>
      </p:sp>
      <p:sp>
        <p:nvSpPr>
          <p:cNvPr id="14" name="Text 9"/>
          <p:cNvSpPr txBox="1"/>
          <p:nvPr/>
        </p:nvSpPr>
        <p:spPr>
          <a:xfrm>
            <a:off x="768096" y="4686300"/>
            <a:ext cx="4989424" cy="1303020"/>
          </a:xfrm>
          <a:prstGeom prst="rect">
            <a:avLst/>
          </a:prstGeom>
          <a:noFill/>
          <a:ln/>
        </p:spPr>
        <p:txBody>
          <a:bodyPr wrap="square" lIns="0" tIns="0" rIns="0" bIns="0" rtlCol="0" anchor="t"/>
          <a:lstStyle/>
          <a:p>
            <a:pPr indent="0" marL="0">
              <a:buNone/>
            </a:pPr>
            <a:r>
              <a:rPr lang="en-US" sz="1700" dirty="0">
                <a:solidFill>
                  <a:srgbClr val="24302D"/>
                </a:solidFill>
                <a:latin typeface="Calibri" pitchFamily="34" charset="0"/>
                <a:ea typeface="Calibri" pitchFamily="34" charset="-122"/>
                <a:cs typeface="Calibri" pitchFamily="34" charset="-120"/>
              </a:rPr>
              <a:t>Get to eye level, approach from the front, avoid standing over the person or blocking exits.</a:t>
            </a:r>
            <a:endParaRPr lang="en-US" sz="1700" dirty="0"/>
          </a:p>
        </p:txBody>
      </p:sp>
      <p:sp>
        <p:nvSpPr>
          <p:cNvPr id="15" name="Shape 10"/>
          <p:cNvSpPr/>
          <p:nvPr/>
        </p:nvSpPr>
        <p:spPr>
          <a:xfrm>
            <a:off x="6233008" y="3909060"/>
            <a:ext cx="5410048" cy="2217420"/>
          </a:xfrm>
          <a:prstGeom prst="roundRect">
            <a:avLst>
              <a:gd name="adj" fmla="val 4948"/>
            </a:avLst>
          </a:prstGeom>
          <a:solidFill>
            <a:srgbClr val="E8F1EF"/>
          </a:solidFill>
          <a:ln w="12700">
            <a:solidFill>
              <a:srgbClr val="E8F1EF"/>
            </a:solidFill>
            <a:prstDash val="solid"/>
          </a:ln>
        </p:spPr>
      </p:sp>
      <p:pic>
        <p:nvPicPr>
          <p:cNvPr id="16" name="Image 3" descr="preencoded.png">    </p:cNvPr>
          <p:cNvPicPr>
            <a:picLocks noChangeAspect="1"/>
          </p:cNvPicPr>
          <p:nvPr/>
        </p:nvPicPr>
        <p:blipFill>
          <a:blip r:embed="rId4"/>
          <a:stretch>
            <a:fillRect/>
          </a:stretch>
        </p:blipFill>
        <p:spPr>
          <a:xfrm>
            <a:off x="6434176" y="4110228"/>
            <a:ext cx="420624" cy="420624"/>
          </a:xfrm>
          <a:prstGeom prst="rect">
            <a:avLst/>
          </a:prstGeom>
        </p:spPr>
      </p:pic>
      <p:sp>
        <p:nvSpPr>
          <p:cNvPr id="17" name="Text 11"/>
          <p:cNvSpPr txBox="1"/>
          <p:nvPr/>
        </p:nvSpPr>
        <p:spPr>
          <a:xfrm>
            <a:off x="6982816" y="4064508"/>
            <a:ext cx="449564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Touch</a:t>
            </a:r>
            <a:endParaRPr lang="en-US" sz="1700" dirty="0"/>
          </a:p>
        </p:txBody>
      </p:sp>
      <p:sp>
        <p:nvSpPr>
          <p:cNvPr id="18" name="Text 12"/>
          <p:cNvSpPr txBox="1"/>
          <p:nvPr/>
        </p:nvSpPr>
        <p:spPr>
          <a:xfrm>
            <a:off x="6452464" y="4686300"/>
            <a:ext cx="4989424" cy="1303020"/>
          </a:xfrm>
          <a:prstGeom prst="rect">
            <a:avLst/>
          </a:prstGeom>
          <a:noFill/>
          <a:ln/>
        </p:spPr>
        <p:txBody>
          <a:bodyPr wrap="square" lIns="0" tIns="0" rIns="0" bIns="0" rtlCol="0" anchor="t"/>
          <a:lstStyle/>
          <a:p>
            <a:pPr indent="0" marL="0">
              <a:buNone/>
            </a:pPr>
            <a:r>
              <a:rPr lang="en-US" sz="1700" dirty="0">
                <a:solidFill>
                  <a:srgbClr val="24302D"/>
                </a:solidFill>
                <a:latin typeface="Calibri" pitchFamily="34" charset="0"/>
                <a:ea typeface="Calibri" pitchFamily="34" charset="-122"/>
                <a:cs typeface="Calibri" pitchFamily="34" charset="-120"/>
              </a:rPr>
              <a:t>Gentle, respectful touch — such as offering a hand — can reassure, if the person welcomes it.</a:t>
            </a:r>
            <a:endParaRPr lang="en-US" sz="1700" dirty="0"/>
          </a:p>
        </p:txBody>
      </p:sp>
      <p:pic>
        <p:nvPicPr>
          <p:cNvPr id="19" name="Image 4" descr="preencoded.png">    </p:cNvPr>
          <p:cNvPicPr>
            <a:picLocks noChangeAspect="1"/>
          </p:cNvPicPr>
          <p:nvPr/>
        </p:nvPicPr>
        <p:blipFill>
          <a:blip r:embed="rId5"/>
          <a:stretch>
            <a:fillRect/>
          </a:stretch>
        </p:blipFill>
        <p:spPr>
          <a:xfrm>
            <a:off x="548640" y="6309360"/>
            <a:ext cx="874762" cy="365760"/>
          </a:xfrm>
          <a:prstGeom prst="rect">
            <a:avLst/>
          </a:prstGeom>
        </p:spPr>
      </p:pic>
      <p:sp>
        <p:nvSpPr>
          <p:cNvPr id="20" name="Text 13"/>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3</a:t>
            </a:r>
            <a:endParaRPr lang="en-US" sz="900" dirty="0"/>
          </a:p>
        </p:txBody>
      </p:sp>
      <p:sp>
        <p:nvSpPr>
          <p:cNvPr id="21" name="Text 14"/>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Instead of This… Try This</a:t>
            </a:r>
            <a:endParaRPr lang="en-US" sz="3000" dirty="0"/>
          </a:p>
        </p:txBody>
      </p:sp>
      <p:sp>
        <p:nvSpPr>
          <p:cNvPr id="3" name="Shape 1"/>
          <p:cNvSpPr/>
          <p:nvPr/>
        </p:nvSpPr>
        <p:spPr>
          <a:xfrm>
            <a:off x="548640" y="1417320"/>
            <a:ext cx="5166360" cy="502920"/>
          </a:xfrm>
          <a:prstGeom prst="roundRect">
            <a:avLst>
              <a:gd name="adj" fmla="val 18182"/>
            </a:avLst>
          </a:prstGeom>
          <a:solidFill>
            <a:srgbClr val="28695F"/>
          </a:solidFill>
          <a:ln w="12700">
            <a:solidFill>
              <a:srgbClr val="28695F"/>
            </a:solidFill>
            <a:prstDash val="solid"/>
          </a:ln>
        </p:spPr>
      </p:sp>
      <p:sp>
        <p:nvSpPr>
          <p:cNvPr id="4" name="Text 2"/>
          <p:cNvSpPr txBox="1"/>
          <p:nvPr/>
        </p:nvSpPr>
        <p:spPr>
          <a:xfrm>
            <a:off x="777240" y="1417320"/>
            <a:ext cx="4709160" cy="50292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Instead of…</a:t>
            </a:r>
            <a:endParaRPr lang="en-US" sz="1800" dirty="0"/>
          </a:p>
        </p:txBody>
      </p:sp>
      <p:sp>
        <p:nvSpPr>
          <p:cNvPr id="5" name="Shape 3"/>
          <p:cNvSpPr/>
          <p:nvPr/>
        </p:nvSpPr>
        <p:spPr>
          <a:xfrm>
            <a:off x="6464808" y="1417320"/>
            <a:ext cx="5178247" cy="502920"/>
          </a:xfrm>
          <a:prstGeom prst="roundRect">
            <a:avLst>
              <a:gd name="adj" fmla="val 18182"/>
            </a:avLst>
          </a:prstGeom>
          <a:solidFill>
            <a:srgbClr val="C78F2E"/>
          </a:solidFill>
          <a:ln w="12700">
            <a:solidFill>
              <a:srgbClr val="C78F2E"/>
            </a:solidFill>
            <a:prstDash val="solid"/>
          </a:ln>
        </p:spPr>
      </p:sp>
      <p:sp>
        <p:nvSpPr>
          <p:cNvPr id="6" name="Text 4"/>
          <p:cNvSpPr txBox="1"/>
          <p:nvPr/>
        </p:nvSpPr>
        <p:spPr>
          <a:xfrm>
            <a:off x="6693408" y="1417320"/>
            <a:ext cx="4721047" cy="50292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Try…</a:t>
            </a:r>
            <a:endParaRPr lang="en-US" sz="1800" dirty="0"/>
          </a:p>
        </p:txBody>
      </p:sp>
      <p:sp>
        <p:nvSpPr>
          <p:cNvPr id="7" name="Shape 5"/>
          <p:cNvSpPr/>
          <p:nvPr/>
        </p:nvSpPr>
        <p:spPr>
          <a:xfrm>
            <a:off x="548640" y="2075688"/>
            <a:ext cx="5166360" cy="556260"/>
          </a:xfrm>
          <a:prstGeom prst="roundRect">
            <a:avLst>
              <a:gd name="adj" fmla="val 19726"/>
            </a:avLst>
          </a:prstGeom>
          <a:solidFill>
            <a:srgbClr val="E8F1EF"/>
          </a:solidFill>
          <a:ln w="12700">
            <a:solidFill>
              <a:srgbClr val="E8F1EF"/>
            </a:solidFill>
            <a:prstDash val="solid"/>
          </a:ln>
        </p:spPr>
      </p:sp>
      <p:sp>
        <p:nvSpPr>
          <p:cNvPr id="8" name="Shape 6"/>
          <p:cNvSpPr/>
          <p:nvPr/>
        </p:nvSpPr>
        <p:spPr>
          <a:xfrm>
            <a:off x="6464808" y="2075688"/>
            <a:ext cx="5178247" cy="556260"/>
          </a:xfrm>
          <a:prstGeom prst="roundRect">
            <a:avLst>
              <a:gd name="adj" fmla="val 19726"/>
            </a:avLst>
          </a:prstGeom>
          <a:solidFill>
            <a:srgbClr val="F8EFDF"/>
          </a:solidFill>
          <a:ln w="12700">
            <a:solidFill>
              <a:srgbClr val="F8EFDF"/>
            </a:solidFill>
            <a:prstDash val="solid"/>
          </a:ln>
        </p:spPr>
      </p:sp>
      <p:sp>
        <p:nvSpPr>
          <p:cNvPr id="9" name="Text 7"/>
          <p:cNvSpPr txBox="1"/>
          <p:nvPr/>
        </p:nvSpPr>
        <p:spPr>
          <a:xfrm>
            <a:off x="777240" y="2075688"/>
            <a:ext cx="4709160" cy="5562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"Don't you remember? I told you."</a:t>
            </a:r>
            <a:endParaRPr lang="en-US" sz="1700" dirty="0"/>
          </a:p>
        </p:txBody>
      </p:sp>
      <p:sp>
        <p:nvSpPr>
          <p:cNvPr id="10" name="Text 8"/>
          <p:cNvSpPr txBox="1"/>
          <p:nvPr/>
        </p:nvSpPr>
        <p:spPr>
          <a:xfrm>
            <a:off x="6693408" y="2075688"/>
            <a:ext cx="4721047" cy="5562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"Let me tell you again."</a:t>
            </a:r>
            <a:endParaRPr lang="en-US" sz="1700" dirty="0"/>
          </a:p>
        </p:txBody>
      </p:sp>
      <p:sp>
        <p:nvSpPr>
          <p:cNvPr id="11" name="Shape 9"/>
          <p:cNvSpPr/>
          <p:nvPr/>
        </p:nvSpPr>
        <p:spPr>
          <a:xfrm>
            <a:off x="5934456" y="2170938"/>
            <a:ext cx="365760" cy="365760"/>
          </a:xfrm>
          <a:prstGeom prst="ellipse">
            <a:avLst/>
          </a:prstGeom>
          <a:solidFill>
            <a:srgbClr val="FFFFFF"/>
          </a:solidFill>
          <a:ln w="19050">
            <a:solidFill>
              <a:srgbClr val="C9DEDA"/>
            </a:solidFill>
            <a:prstDash val="solid"/>
          </a:ln>
        </p:spPr>
      </p:sp>
      <p:sp>
        <p:nvSpPr>
          <p:cNvPr id="12" name="Text 10"/>
          <p:cNvSpPr txBox="1"/>
          <p:nvPr/>
        </p:nvSpPr>
        <p:spPr>
          <a:xfrm>
            <a:off x="5934456" y="2170938"/>
            <a:ext cx="365760" cy="365760"/>
          </a:xfrm>
          <a:prstGeom prst="rect">
            <a:avLst/>
          </a:prstGeom>
          <a:noFill/>
          <a:ln/>
        </p:spPr>
        <p:txBody>
          <a:bodyPr wrap="square" lIns="0" tIns="0" rIns="0" bIns="0" rtlCol="0" anchor="ctr"/>
          <a:lstStyle/>
          <a:p>
            <a:pPr algn="ctr" indent="0" marL="0">
              <a:buNone/>
            </a:pPr>
            <a:r>
              <a:rPr lang="en-US" sz="1600" b="1" dirty="0">
                <a:solidFill>
                  <a:srgbClr val="28695F"/>
                </a:solidFill>
                <a:latin typeface="Calibri" pitchFamily="34" charset="0"/>
                <a:ea typeface="Calibri" pitchFamily="34" charset="-122"/>
                <a:cs typeface="Calibri" pitchFamily="34" charset="-120"/>
              </a:rPr>
              <a:t>→</a:t>
            </a:r>
            <a:endParaRPr lang="en-US" sz="1600" dirty="0"/>
          </a:p>
        </p:txBody>
      </p:sp>
      <p:sp>
        <p:nvSpPr>
          <p:cNvPr id="13" name="Shape 11"/>
          <p:cNvSpPr/>
          <p:nvPr/>
        </p:nvSpPr>
        <p:spPr>
          <a:xfrm>
            <a:off x="548640" y="2778252"/>
            <a:ext cx="5166360" cy="556260"/>
          </a:xfrm>
          <a:prstGeom prst="roundRect">
            <a:avLst>
              <a:gd name="adj" fmla="val 19726"/>
            </a:avLst>
          </a:prstGeom>
          <a:solidFill>
            <a:srgbClr val="E8F1EF"/>
          </a:solidFill>
          <a:ln w="12700">
            <a:solidFill>
              <a:srgbClr val="E8F1EF"/>
            </a:solidFill>
            <a:prstDash val="solid"/>
          </a:ln>
        </p:spPr>
      </p:sp>
      <p:sp>
        <p:nvSpPr>
          <p:cNvPr id="14" name="Shape 12"/>
          <p:cNvSpPr/>
          <p:nvPr/>
        </p:nvSpPr>
        <p:spPr>
          <a:xfrm>
            <a:off x="6464808" y="2778252"/>
            <a:ext cx="5178247" cy="556260"/>
          </a:xfrm>
          <a:prstGeom prst="roundRect">
            <a:avLst>
              <a:gd name="adj" fmla="val 19726"/>
            </a:avLst>
          </a:prstGeom>
          <a:solidFill>
            <a:srgbClr val="F8EFDF"/>
          </a:solidFill>
          <a:ln w="12700">
            <a:solidFill>
              <a:srgbClr val="F8EFDF"/>
            </a:solidFill>
            <a:prstDash val="solid"/>
          </a:ln>
        </p:spPr>
      </p:sp>
      <p:sp>
        <p:nvSpPr>
          <p:cNvPr id="15" name="Text 13"/>
          <p:cNvSpPr txBox="1"/>
          <p:nvPr/>
        </p:nvSpPr>
        <p:spPr>
          <a:xfrm>
            <a:off x="777240" y="2778252"/>
            <a:ext cx="4709160" cy="5562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"Your wife died ten years ago."</a:t>
            </a:r>
            <a:endParaRPr lang="en-US" sz="1700" dirty="0"/>
          </a:p>
        </p:txBody>
      </p:sp>
      <p:sp>
        <p:nvSpPr>
          <p:cNvPr id="16" name="Text 14"/>
          <p:cNvSpPr txBox="1"/>
          <p:nvPr/>
        </p:nvSpPr>
        <p:spPr>
          <a:xfrm>
            <a:off x="6693408" y="2778252"/>
            <a:ext cx="4721047" cy="5562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"You miss her. Tell me about her."</a:t>
            </a:r>
            <a:endParaRPr lang="en-US" sz="1700" dirty="0"/>
          </a:p>
        </p:txBody>
      </p:sp>
      <p:sp>
        <p:nvSpPr>
          <p:cNvPr id="17" name="Shape 15"/>
          <p:cNvSpPr/>
          <p:nvPr/>
        </p:nvSpPr>
        <p:spPr>
          <a:xfrm>
            <a:off x="5934456" y="2873502"/>
            <a:ext cx="365760" cy="365760"/>
          </a:xfrm>
          <a:prstGeom prst="ellipse">
            <a:avLst/>
          </a:prstGeom>
          <a:solidFill>
            <a:srgbClr val="FFFFFF"/>
          </a:solidFill>
          <a:ln w="19050">
            <a:solidFill>
              <a:srgbClr val="C9DEDA"/>
            </a:solidFill>
            <a:prstDash val="solid"/>
          </a:ln>
        </p:spPr>
      </p:sp>
      <p:sp>
        <p:nvSpPr>
          <p:cNvPr id="18" name="Text 16"/>
          <p:cNvSpPr txBox="1"/>
          <p:nvPr/>
        </p:nvSpPr>
        <p:spPr>
          <a:xfrm>
            <a:off x="5934456" y="2873502"/>
            <a:ext cx="365760" cy="365760"/>
          </a:xfrm>
          <a:prstGeom prst="rect">
            <a:avLst/>
          </a:prstGeom>
          <a:noFill/>
          <a:ln/>
        </p:spPr>
        <p:txBody>
          <a:bodyPr wrap="square" lIns="0" tIns="0" rIns="0" bIns="0" rtlCol="0" anchor="ctr"/>
          <a:lstStyle/>
          <a:p>
            <a:pPr algn="ctr" indent="0" marL="0">
              <a:buNone/>
            </a:pPr>
            <a:r>
              <a:rPr lang="en-US" sz="1600" b="1" dirty="0">
                <a:solidFill>
                  <a:srgbClr val="28695F"/>
                </a:solidFill>
                <a:latin typeface="Calibri" pitchFamily="34" charset="0"/>
                <a:ea typeface="Calibri" pitchFamily="34" charset="-122"/>
                <a:cs typeface="Calibri" pitchFamily="34" charset="-120"/>
              </a:rPr>
              <a:t>→</a:t>
            </a:r>
            <a:endParaRPr lang="en-US" sz="1600" dirty="0"/>
          </a:p>
        </p:txBody>
      </p:sp>
      <p:sp>
        <p:nvSpPr>
          <p:cNvPr id="19" name="Shape 17"/>
          <p:cNvSpPr/>
          <p:nvPr/>
        </p:nvSpPr>
        <p:spPr>
          <a:xfrm>
            <a:off x="548640" y="3480816"/>
            <a:ext cx="5166360" cy="556260"/>
          </a:xfrm>
          <a:prstGeom prst="roundRect">
            <a:avLst>
              <a:gd name="adj" fmla="val 19726"/>
            </a:avLst>
          </a:prstGeom>
          <a:solidFill>
            <a:srgbClr val="E8F1EF"/>
          </a:solidFill>
          <a:ln w="12700">
            <a:solidFill>
              <a:srgbClr val="E8F1EF"/>
            </a:solidFill>
            <a:prstDash val="solid"/>
          </a:ln>
        </p:spPr>
      </p:sp>
      <p:sp>
        <p:nvSpPr>
          <p:cNvPr id="20" name="Shape 18"/>
          <p:cNvSpPr/>
          <p:nvPr/>
        </p:nvSpPr>
        <p:spPr>
          <a:xfrm>
            <a:off x="6464808" y="3480816"/>
            <a:ext cx="5178247" cy="556260"/>
          </a:xfrm>
          <a:prstGeom prst="roundRect">
            <a:avLst>
              <a:gd name="adj" fmla="val 19726"/>
            </a:avLst>
          </a:prstGeom>
          <a:solidFill>
            <a:srgbClr val="F8EFDF"/>
          </a:solidFill>
          <a:ln w="12700">
            <a:solidFill>
              <a:srgbClr val="F8EFDF"/>
            </a:solidFill>
            <a:prstDash val="solid"/>
          </a:ln>
        </p:spPr>
      </p:sp>
      <p:sp>
        <p:nvSpPr>
          <p:cNvPr id="21" name="Text 19"/>
          <p:cNvSpPr txBox="1"/>
          <p:nvPr/>
        </p:nvSpPr>
        <p:spPr>
          <a:xfrm>
            <a:off x="777240" y="3480816"/>
            <a:ext cx="4709160" cy="5562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"What did you have for lunch?"</a:t>
            </a:r>
            <a:endParaRPr lang="en-US" sz="1700" dirty="0"/>
          </a:p>
        </p:txBody>
      </p:sp>
      <p:sp>
        <p:nvSpPr>
          <p:cNvPr id="22" name="Text 20"/>
          <p:cNvSpPr txBox="1"/>
          <p:nvPr/>
        </p:nvSpPr>
        <p:spPr>
          <a:xfrm>
            <a:off x="6693408" y="3480816"/>
            <a:ext cx="4721047" cy="5562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"It looks like you had soup. Was it good?"</a:t>
            </a:r>
            <a:endParaRPr lang="en-US" sz="1700" dirty="0"/>
          </a:p>
        </p:txBody>
      </p:sp>
      <p:sp>
        <p:nvSpPr>
          <p:cNvPr id="23" name="Shape 21"/>
          <p:cNvSpPr/>
          <p:nvPr/>
        </p:nvSpPr>
        <p:spPr>
          <a:xfrm>
            <a:off x="5934456" y="3576066"/>
            <a:ext cx="365760" cy="365760"/>
          </a:xfrm>
          <a:prstGeom prst="ellipse">
            <a:avLst/>
          </a:prstGeom>
          <a:solidFill>
            <a:srgbClr val="FFFFFF"/>
          </a:solidFill>
          <a:ln w="19050">
            <a:solidFill>
              <a:srgbClr val="C9DEDA"/>
            </a:solidFill>
            <a:prstDash val="solid"/>
          </a:ln>
        </p:spPr>
      </p:sp>
      <p:sp>
        <p:nvSpPr>
          <p:cNvPr id="24" name="Text 22"/>
          <p:cNvSpPr txBox="1"/>
          <p:nvPr/>
        </p:nvSpPr>
        <p:spPr>
          <a:xfrm>
            <a:off x="5934456" y="3576066"/>
            <a:ext cx="365760" cy="365760"/>
          </a:xfrm>
          <a:prstGeom prst="rect">
            <a:avLst/>
          </a:prstGeom>
          <a:noFill/>
          <a:ln/>
        </p:spPr>
        <p:txBody>
          <a:bodyPr wrap="square" lIns="0" tIns="0" rIns="0" bIns="0" rtlCol="0" anchor="ctr"/>
          <a:lstStyle/>
          <a:p>
            <a:pPr algn="ctr" indent="0" marL="0">
              <a:buNone/>
            </a:pPr>
            <a:r>
              <a:rPr lang="en-US" sz="1600" b="1" dirty="0">
                <a:solidFill>
                  <a:srgbClr val="28695F"/>
                </a:solidFill>
                <a:latin typeface="Calibri" pitchFamily="34" charset="0"/>
                <a:ea typeface="Calibri" pitchFamily="34" charset="-122"/>
                <a:cs typeface="Calibri" pitchFamily="34" charset="-120"/>
              </a:rPr>
              <a:t>→</a:t>
            </a:r>
            <a:endParaRPr lang="en-US" sz="1600" dirty="0"/>
          </a:p>
        </p:txBody>
      </p:sp>
      <p:sp>
        <p:nvSpPr>
          <p:cNvPr id="25" name="Shape 23"/>
          <p:cNvSpPr/>
          <p:nvPr/>
        </p:nvSpPr>
        <p:spPr>
          <a:xfrm>
            <a:off x="548640" y="4183380"/>
            <a:ext cx="5166360" cy="556260"/>
          </a:xfrm>
          <a:prstGeom prst="roundRect">
            <a:avLst>
              <a:gd name="adj" fmla="val 19726"/>
            </a:avLst>
          </a:prstGeom>
          <a:solidFill>
            <a:srgbClr val="E8F1EF"/>
          </a:solidFill>
          <a:ln w="12700">
            <a:solidFill>
              <a:srgbClr val="E8F1EF"/>
            </a:solidFill>
            <a:prstDash val="solid"/>
          </a:ln>
        </p:spPr>
      </p:sp>
      <p:sp>
        <p:nvSpPr>
          <p:cNvPr id="26" name="Shape 24"/>
          <p:cNvSpPr/>
          <p:nvPr/>
        </p:nvSpPr>
        <p:spPr>
          <a:xfrm>
            <a:off x="6464808" y="4183380"/>
            <a:ext cx="5178247" cy="556260"/>
          </a:xfrm>
          <a:prstGeom prst="roundRect">
            <a:avLst>
              <a:gd name="adj" fmla="val 19726"/>
            </a:avLst>
          </a:prstGeom>
          <a:solidFill>
            <a:srgbClr val="F8EFDF"/>
          </a:solidFill>
          <a:ln w="12700">
            <a:solidFill>
              <a:srgbClr val="F8EFDF"/>
            </a:solidFill>
            <a:prstDash val="solid"/>
          </a:ln>
        </p:spPr>
      </p:sp>
      <p:sp>
        <p:nvSpPr>
          <p:cNvPr id="27" name="Text 25"/>
          <p:cNvSpPr txBox="1"/>
          <p:nvPr/>
        </p:nvSpPr>
        <p:spPr>
          <a:xfrm>
            <a:off x="777240" y="4183380"/>
            <a:ext cx="4709160" cy="5562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"You can't go outside."</a:t>
            </a:r>
            <a:endParaRPr lang="en-US" sz="1700" dirty="0"/>
          </a:p>
        </p:txBody>
      </p:sp>
      <p:sp>
        <p:nvSpPr>
          <p:cNvPr id="28" name="Text 26"/>
          <p:cNvSpPr txBox="1"/>
          <p:nvPr/>
        </p:nvSpPr>
        <p:spPr>
          <a:xfrm>
            <a:off x="6693408" y="4183380"/>
            <a:ext cx="4721047" cy="5562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"Let's go together after we have a snack."</a:t>
            </a:r>
            <a:endParaRPr lang="en-US" sz="1700" dirty="0"/>
          </a:p>
        </p:txBody>
      </p:sp>
      <p:sp>
        <p:nvSpPr>
          <p:cNvPr id="29" name="Shape 27"/>
          <p:cNvSpPr/>
          <p:nvPr/>
        </p:nvSpPr>
        <p:spPr>
          <a:xfrm>
            <a:off x="5934456" y="4278630"/>
            <a:ext cx="365760" cy="365760"/>
          </a:xfrm>
          <a:prstGeom prst="ellipse">
            <a:avLst/>
          </a:prstGeom>
          <a:solidFill>
            <a:srgbClr val="FFFFFF"/>
          </a:solidFill>
          <a:ln w="19050">
            <a:solidFill>
              <a:srgbClr val="C9DEDA"/>
            </a:solidFill>
            <a:prstDash val="solid"/>
          </a:ln>
        </p:spPr>
      </p:sp>
      <p:sp>
        <p:nvSpPr>
          <p:cNvPr id="30" name="Text 28"/>
          <p:cNvSpPr txBox="1"/>
          <p:nvPr/>
        </p:nvSpPr>
        <p:spPr>
          <a:xfrm>
            <a:off x="5934456" y="4278630"/>
            <a:ext cx="365760" cy="365760"/>
          </a:xfrm>
          <a:prstGeom prst="rect">
            <a:avLst/>
          </a:prstGeom>
          <a:noFill/>
          <a:ln/>
        </p:spPr>
        <p:txBody>
          <a:bodyPr wrap="square" lIns="0" tIns="0" rIns="0" bIns="0" rtlCol="0" anchor="ctr"/>
          <a:lstStyle/>
          <a:p>
            <a:pPr algn="ctr" indent="0" marL="0">
              <a:buNone/>
            </a:pPr>
            <a:r>
              <a:rPr lang="en-US" sz="1600" b="1" dirty="0">
                <a:solidFill>
                  <a:srgbClr val="28695F"/>
                </a:solidFill>
                <a:latin typeface="Calibri" pitchFamily="34" charset="0"/>
                <a:ea typeface="Calibri" pitchFamily="34" charset="-122"/>
                <a:cs typeface="Calibri" pitchFamily="34" charset="-120"/>
              </a:rPr>
              <a:t>→</a:t>
            </a:r>
            <a:endParaRPr lang="en-US" sz="1600" dirty="0"/>
          </a:p>
        </p:txBody>
      </p:sp>
      <p:sp>
        <p:nvSpPr>
          <p:cNvPr id="31" name="Shape 29"/>
          <p:cNvSpPr/>
          <p:nvPr/>
        </p:nvSpPr>
        <p:spPr>
          <a:xfrm>
            <a:off x="548640" y="4885944"/>
            <a:ext cx="5166360" cy="556260"/>
          </a:xfrm>
          <a:prstGeom prst="roundRect">
            <a:avLst>
              <a:gd name="adj" fmla="val 19726"/>
            </a:avLst>
          </a:prstGeom>
          <a:solidFill>
            <a:srgbClr val="E8F1EF"/>
          </a:solidFill>
          <a:ln w="12700">
            <a:solidFill>
              <a:srgbClr val="E8F1EF"/>
            </a:solidFill>
            <a:prstDash val="solid"/>
          </a:ln>
        </p:spPr>
      </p:sp>
      <p:sp>
        <p:nvSpPr>
          <p:cNvPr id="32" name="Shape 30"/>
          <p:cNvSpPr/>
          <p:nvPr/>
        </p:nvSpPr>
        <p:spPr>
          <a:xfrm>
            <a:off x="6464808" y="4885944"/>
            <a:ext cx="5178247" cy="556260"/>
          </a:xfrm>
          <a:prstGeom prst="roundRect">
            <a:avLst>
              <a:gd name="adj" fmla="val 19726"/>
            </a:avLst>
          </a:prstGeom>
          <a:solidFill>
            <a:srgbClr val="F8EFDF"/>
          </a:solidFill>
          <a:ln w="12700">
            <a:solidFill>
              <a:srgbClr val="F8EFDF"/>
            </a:solidFill>
            <a:prstDash val="solid"/>
          </a:ln>
        </p:spPr>
      </p:sp>
      <p:sp>
        <p:nvSpPr>
          <p:cNvPr id="33" name="Text 31"/>
          <p:cNvSpPr txBox="1"/>
          <p:nvPr/>
        </p:nvSpPr>
        <p:spPr>
          <a:xfrm>
            <a:off x="777240" y="4885944"/>
            <a:ext cx="4709160" cy="5562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"Let's get you showered, dressed, and fed."</a:t>
            </a:r>
            <a:endParaRPr lang="en-US" sz="1700" dirty="0"/>
          </a:p>
        </p:txBody>
      </p:sp>
      <p:sp>
        <p:nvSpPr>
          <p:cNvPr id="34" name="Text 32"/>
          <p:cNvSpPr txBox="1"/>
          <p:nvPr/>
        </p:nvSpPr>
        <p:spPr>
          <a:xfrm>
            <a:off x="6693408" y="4885944"/>
            <a:ext cx="4721047" cy="5562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"Let's start with a warm shower."</a:t>
            </a:r>
            <a:endParaRPr lang="en-US" sz="1700" dirty="0"/>
          </a:p>
        </p:txBody>
      </p:sp>
      <p:sp>
        <p:nvSpPr>
          <p:cNvPr id="35" name="Shape 33"/>
          <p:cNvSpPr/>
          <p:nvPr/>
        </p:nvSpPr>
        <p:spPr>
          <a:xfrm>
            <a:off x="5934456" y="4981194"/>
            <a:ext cx="365760" cy="365760"/>
          </a:xfrm>
          <a:prstGeom prst="ellipse">
            <a:avLst/>
          </a:prstGeom>
          <a:solidFill>
            <a:srgbClr val="FFFFFF"/>
          </a:solidFill>
          <a:ln w="19050">
            <a:solidFill>
              <a:srgbClr val="C9DEDA"/>
            </a:solidFill>
            <a:prstDash val="solid"/>
          </a:ln>
        </p:spPr>
      </p:sp>
      <p:sp>
        <p:nvSpPr>
          <p:cNvPr id="36" name="Text 34"/>
          <p:cNvSpPr txBox="1"/>
          <p:nvPr/>
        </p:nvSpPr>
        <p:spPr>
          <a:xfrm>
            <a:off x="5934456" y="4981194"/>
            <a:ext cx="365760" cy="365760"/>
          </a:xfrm>
          <a:prstGeom prst="rect">
            <a:avLst/>
          </a:prstGeom>
          <a:noFill/>
          <a:ln/>
        </p:spPr>
        <p:txBody>
          <a:bodyPr wrap="square" lIns="0" tIns="0" rIns="0" bIns="0" rtlCol="0" anchor="ctr"/>
          <a:lstStyle/>
          <a:p>
            <a:pPr algn="ctr" indent="0" marL="0">
              <a:buNone/>
            </a:pPr>
            <a:r>
              <a:rPr lang="en-US" sz="1600" b="1" dirty="0">
                <a:solidFill>
                  <a:srgbClr val="28695F"/>
                </a:solidFill>
                <a:latin typeface="Calibri" pitchFamily="34" charset="0"/>
                <a:ea typeface="Calibri" pitchFamily="34" charset="-122"/>
                <a:cs typeface="Calibri" pitchFamily="34" charset="-120"/>
              </a:rPr>
              <a:t>→</a:t>
            </a:r>
            <a:endParaRPr lang="en-US" sz="1600" dirty="0"/>
          </a:p>
        </p:txBody>
      </p:sp>
      <p:sp>
        <p:nvSpPr>
          <p:cNvPr id="37" name="Shape 35"/>
          <p:cNvSpPr/>
          <p:nvPr/>
        </p:nvSpPr>
        <p:spPr>
          <a:xfrm>
            <a:off x="548640" y="5588508"/>
            <a:ext cx="5166360" cy="556260"/>
          </a:xfrm>
          <a:prstGeom prst="roundRect">
            <a:avLst>
              <a:gd name="adj" fmla="val 19726"/>
            </a:avLst>
          </a:prstGeom>
          <a:solidFill>
            <a:srgbClr val="E8F1EF"/>
          </a:solidFill>
          <a:ln w="12700">
            <a:solidFill>
              <a:srgbClr val="E8F1EF"/>
            </a:solidFill>
            <a:prstDash val="solid"/>
          </a:ln>
        </p:spPr>
      </p:sp>
      <p:sp>
        <p:nvSpPr>
          <p:cNvPr id="38" name="Shape 36"/>
          <p:cNvSpPr/>
          <p:nvPr/>
        </p:nvSpPr>
        <p:spPr>
          <a:xfrm>
            <a:off x="6464808" y="5588508"/>
            <a:ext cx="5178247" cy="556260"/>
          </a:xfrm>
          <a:prstGeom prst="roundRect">
            <a:avLst>
              <a:gd name="adj" fmla="val 19726"/>
            </a:avLst>
          </a:prstGeom>
          <a:solidFill>
            <a:srgbClr val="F8EFDF"/>
          </a:solidFill>
          <a:ln w="12700">
            <a:solidFill>
              <a:srgbClr val="F8EFDF"/>
            </a:solidFill>
            <a:prstDash val="solid"/>
          </a:ln>
        </p:spPr>
      </p:sp>
      <p:sp>
        <p:nvSpPr>
          <p:cNvPr id="39" name="Text 37"/>
          <p:cNvSpPr txBox="1"/>
          <p:nvPr/>
        </p:nvSpPr>
        <p:spPr>
          <a:xfrm>
            <a:off x="777240" y="5588508"/>
            <a:ext cx="4709160" cy="5562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"Calm down!"</a:t>
            </a:r>
            <a:endParaRPr lang="en-US" sz="1700" dirty="0"/>
          </a:p>
        </p:txBody>
      </p:sp>
      <p:sp>
        <p:nvSpPr>
          <p:cNvPr id="40" name="Text 38"/>
          <p:cNvSpPr txBox="1"/>
          <p:nvPr/>
        </p:nvSpPr>
        <p:spPr>
          <a:xfrm>
            <a:off x="6693408" y="5588508"/>
            <a:ext cx="4721047" cy="5562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"I can see you're upset. I'm here to help."</a:t>
            </a:r>
            <a:endParaRPr lang="en-US" sz="1700" dirty="0"/>
          </a:p>
        </p:txBody>
      </p:sp>
      <p:sp>
        <p:nvSpPr>
          <p:cNvPr id="41" name="Shape 39"/>
          <p:cNvSpPr/>
          <p:nvPr/>
        </p:nvSpPr>
        <p:spPr>
          <a:xfrm>
            <a:off x="5934456" y="5683758"/>
            <a:ext cx="365760" cy="365760"/>
          </a:xfrm>
          <a:prstGeom prst="ellipse">
            <a:avLst/>
          </a:prstGeom>
          <a:solidFill>
            <a:srgbClr val="FFFFFF"/>
          </a:solidFill>
          <a:ln w="19050">
            <a:solidFill>
              <a:srgbClr val="C9DEDA"/>
            </a:solidFill>
            <a:prstDash val="solid"/>
          </a:ln>
        </p:spPr>
      </p:sp>
      <p:sp>
        <p:nvSpPr>
          <p:cNvPr id="42" name="Text 40"/>
          <p:cNvSpPr txBox="1"/>
          <p:nvPr/>
        </p:nvSpPr>
        <p:spPr>
          <a:xfrm>
            <a:off x="5934456" y="5683758"/>
            <a:ext cx="365760" cy="365760"/>
          </a:xfrm>
          <a:prstGeom prst="rect">
            <a:avLst/>
          </a:prstGeom>
          <a:noFill/>
          <a:ln/>
        </p:spPr>
        <p:txBody>
          <a:bodyPr wrap="square" lIns="0" tIns="0" rIns="0" bIns="0" rtlCol="0" anchor="ctr"/>
          <a:lstStyle/>
          <a:p>
            <a:pPr algn="ctr" indent="0" marL="0">
              <a:buNone/>
            </a:pPr>
            <a:r>
              <a:rPr lang="en-US" sz="1600" b="1" dirty="0">
                <a:solidFill>
                  <a:srgbClr val="28695F"/>
                </a:solidFill>
                <a:latin typeface="Calibri" pitchFamily="34" charset="0"/>
                <a:ea typeface="Calibri" pitchFamily="34" charset="-122"/>
                <a:cs typeface="Calibri" pitchFamily="34" charset="-120"/>
              </a:rPr>
              <a:t>→</a:t>
            </a:r>
            <a:endParaRPr lang="en-US" sz="1600" dirty="0"/>
          </a:p>
        </p:txBody>
      </p:sp>
      <p:pic>
        <p:nvPicPr>
          <p:cNvPr id="43" name="Image 0" descr="preencoded.png">    </p:cNvPr>
          <p:cNvPicPr>
            <a:picLocks noChangeAspect="1"/>
          </p:cNvPicPr>
          <p:nvPr/>
        </p:nvPicPr>
        <p:blipFill>
          <a:blip r:embed="rId1"/>
          <a:stretch>
            <a:fillRect/>
          </a:stretch>
        </p:blipFill>
        <p:spPr>
          <a:xfrm>
            <a:off x="548640" y="6309360"/>
            <a:ext cx="874762" cy="365760"/>
          </a:xfrm>
          <a:prstGeom prst="rect">
            <a:avLst/>
          </a:prstGeom>
        </p:spPr>
      </p:pic>
      <p:sp>
        <p:nvSpPr>
          <p:cNvPr id="44" name="Text 41"/>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3</a:t>
            </a:r>
            <a:endParaRPr lang="en-US" sz="900" dirty="0"/>
          </a:p>
        </p:txBody>
      </p:sp>
      <p:sp>
        <p:nvSpPr>
          <p:cNvPr id="45" name="Text 42"/>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Communicating with Caregivers</a:t>
            </a:r>
            <a:endParaRPr lang="en-US" sz="3000" dirty="0"/>
          </a:p>
        </p:txBody>
      </p:sp>
      <p:sp>
        <p:nvSpPr>
          <p:cNvPr id="3" name="Text 1"/>
          <p:cNvSpPr txBox="1"/>
          <p:nvPr/>
        </p:nvSpPr>
        <p:spPr>
          <a:xfrm>
            <a:off x="548640" y="1417320"/>
            <a:ext cx="6675120" cy="4709160"/>
          </a:xfrm>
          <a:prstGeom prst="rect">
            <a:avLst/>
          </a:prstGeom>
          <a:noFill/>
          <a:ln/>
        </p:spPr>
        <p:txBody>
          <a:bodyPr wrap="square" lIns="0" tIns="0" rIns="0" bIns="0" rtlCol="0" anchor="t"/>
          <a:lstStyle/>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Acknowledge their expertise: </a:t>
            </a:r>
            <a:r>
              <a:rPr lang="en-US" sz="1800" dirty="0">
                <a:solidFill>
                  <a:srgbClr val="24302D"/>
                </a:solidFill>
                <a:latin typeface="Calibri" pitchFamily="34" charset="0"/>
                <a:ea typeface="Calibri" pitchFamily="34" charset="-122"/>
                <a:cs typeface="Calibri" pitchFamily="34" charset="-120"/>
              </a:rPr>
              <a:t>they know the person best</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Assume stress: </a:t>
            </a:r>
            <a:r>
              <a:rPr lang="en-US" sz="1800" dirty="0">
                <a:solidFill>
                  <a:srgbClr val="24302D"/>
                </a:solidFill>
                <a:latin typeface="Calibri" pitchFamily="34" charset="0"/>
                <a:ea typeface="Calibri" pitchFamily="34" charset="-122"/>
                <a:cs typeface="Calibri" pitchFamily="34" charset="-120"/>
              </a:rPr>
              <a:t>caregivers may be exhausted, grieving, or frustrated — listen first</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Use plain language </a:t>
            </a:r>
            <a:r>
              <a:rPr lang="en-US" sz="1800" dirty="0">
                <a:solidFill>
                  <a:srgbClr val="24302D"/>
                </a:solidFill>
                <a:latin typeface="Calibri" pitchFamily="34" charset="0"/>
                <a:ea typeface="Calibri" pitchFamily="34" charset="-122"/>
                <a:cs typeface="Calibri" pitchFamily="34" charset="-120"/>
              </a:rPr>
              <a:t>and avoid acronyms such as ADL or BPSD</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Use teach-back: </a:t>
            </a:r>
            <a:r>
              <a:rPr lang="en-US" sz="1800" dirty="0">
                <a:solidFill>
                  <a:srgbClr val="24302D"/>
                </a:solidFill>
                <a:latin typeface="Calibri" pitchFamily="34" charset="0"/>
                <a:ea typeface="Calibri" pitchFamily="34" charset="-122"/>
                <a:cs typeface="Calibri" pitchFamily="34" charset="-120"/>
              </a:rPr>
              <a:t>"Just so I know I explained it well, can you tell me how you'll try this tonight?"</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Provide written summaries </a:t>
            </a:r>
            <a:r>
              <a:rPr lang="en-US" sz="1800" dirty="0">
                <a:solidFill>
                  <a:srgbClr val="24302D"/>
                </a:solidFill>
                <a:latin typeface="Calibri" pitchFamily="34" charset="0"/>
                <a:ea typeface="Calibri" pitchFamily="34" charset="-122"/>
                <a:cs typeface="Calibri" pitchFamily="34" charset="-120"/>
              </a:rPr>
              <a:t>and confirm the best way and time to reach them</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Clarify roles </a:t>
            </a:r>
            <a:r>
              <a:rPr lang="en-US" sz="1800" dirty="0">
                <a:solidFill>
                  <a:srgbClr val="24302D"/>
                </a:solidFill>
                <a:latin typeface="Calibri" pitchFamily="34" charset="0"/>
                <a:ea typeface="Calibri" pitchFamily="34" charset="-122"/>
                <a:cs typeface="Calibri" pitchFamily="34" charset="-120"/>
              </a:rPr>
              <a:t>when several family members are involved</a:t>
            </a:r>
            <a:endParaRPr lang="en-US" sz="1800" dirty="0"/>
          </a:p>
        </p:txBody>
      </p:sp>
      <p:sp>
        <p:nvSpPr>
          <p:cNvPr id="4" name="Shape 2"/>
          <p:cNvSpPr/>
          <p:nvPr/>
        </p:nvSpPr>
        <p:spPr>
          <a:xfrm>
            <a:off x="7589520" y="1417320"/>
            <a:ext cx="4053535" cy="3149600"/>
          </a:xfrm>
          <a:prstGeom prst="roundRect">
            <a:avLst>
              <a:gd name="adj" fmla="val 3484"/>
            </a:avLst>
          </a:prstGeom>
          <a:solidFill>
            <a:srgbClr val="F8EFDF"/>
          </a:solidFill>
          <a:ln w="12700">
            <a:solidFill>
              <a:srgbClr val="F8EFDF"/>
            </a:solidFill>
            <a:prstDash val="solid"/>
          </a:ln>
        </p:spPr>
      </p:sp>
      <p:pic>
        <p:nvPicPr>
          <p:cNvPr id="5" name="Image 0" descr="preencoded.png">    </p:cNvPr>
          <p:cNvPicPr>
            <a:picLocks noChangeAspect="1"/>
          </p:cNvPicPr>
          <p:nvPr/>
        </p:nvPicPr>
        <p:blipFill>
          <a:blip r:embed="rId1"/>
          <a:stretch>
            <a:fillRect/>
          </a:stretch>
        </p:blipFill>
        <p:spPr>
          <a:xfrm>
            <a:off x="7863840" y="1691640"/>
            <a:ext cx="502920" cy="502920"/>
          </a:xfrm>
          <a:prstGeom prst="rect">
            <a:avLst/>
          </a:prstGeom>
        </p:spPr>
      </p:pic>
      <p:sp>
        <p:nvSpPr>
          <p:cNvPr id="6" name="Text 3"/>
          <p:cNvSpPr txBox="1"/>
          <p:nvPr/>
        </p:nvSpPr>
        <p:spPr>
          <a:xfrm>
            <a:off x="8503920" y="1645920"/>
            <a:ext cx="2910535" cy="594360"/>
          </a:xfrm>
          <a:prstGeom prst="rect">
            <a:avLst/>
          </a:prstGeom>
          <a:noFill/>
          <a:ln/>
        </p:spPr>
        <p:txBody>
          <a:bodyPr wrap="square" lIns="0" tIns="0" rIns="0" bIns="0" rtlCol="0" anchor="ctr"/>
          <a:lstStyle/>
          <a:p>
            <a:pPr indent="0" marL="0">
              <a:buNone/>
            </a:pPr>
            <a:r>
              <a:rPr lang="en-US" sz="1800" b="1" dirty="0">
                <a:solidFill>
                  <a:srgbClr val="C78F2E"/>
                </a:solidFill>
                <a:latin typeface="Cambria" pitchFamily="34" charset="0"/>
                <a:ea typeface="Cambria" pitchFamily="34" charset="-122"/>
                <a:cs typeface="Cambria" pitchFamily="34" charset="-120"/>
              </a:rPr>
              <a:t>HIPAA reminder</a:t>
            </a:r>
            <a:endParaRPr lang="en-US" sz="1800" dirty="0"/>
          </a:p>
        </p:txBody>
      </p:sp>
      <p:sp>
        <p:nvSpPr>
          <p:cNvPr id="7" name="Text 4"/>
          <p:cNvSpPr txBox="1"/>
          <p:nvPr/>
        </p:nvSpPr>
        <p:spPr>
          <a:xfrm>
            <a:off x="7863840" y="2423160"/>
            <a:ext cx="3504895" cy="2052320"/>
          </a:xfrm>
          <a:prstGeom prst="rect">
            <a:avLst/>
          </a:prstGeom>
          <a:noFill/>
          <a:ln/>
        </p:spPr>
        <p:txBody>
          <a:bodyPr wrap="square" lIns="0" tIns="0" rIns="0" bIns="0" rtlCol="0" anchor="t"/>
          <a:lstStyle/>
          <a:p>
            <a:pPr indent="0" marL="0">
              <a:buNone/>
            </a:pPr>
            <a:r>
              <a:rPr lang="en-US" sz="1600" dirty="0">
                <a:solidFill>
                  <a:srgbClr val="24302D"/>
                </a:solidFill>
                <a:latin typeface="Calibri" pitchFamily="34" charset="0"/>
                <a:ea typeface="Calibri" pitchFamily="34" charset="-122"/>
                <a:cs typeface="Calibri" pitchFamily="34" charset="-120"/>
              </a:rPr>
              <a:t>Confirm who is authorized to receive information before sharing details. Check for a signed release or designated representative in the record.</a:t>
            </a:r>
            <a:endParaRPr lang="en-US" sz="1600" dirty="0"/>
          </a:p>
        </p:txBody>
      </p:sp>
      <p:pic>
        <p:nvPicPr>
          <p:cNvPr id="8" name="Image 1" descr="preencoded.png">    </p:cNvPr>
          <p:cNvPicPr>
            <a:picLocks noChangeAspect="1"/>
          </p:cNvPicPr>
          <p:nvPr/>
        </p:nvPicPr>
        <p:blipFill>
          <a:blip r:embed="rId2"/>
          <a:stretch>
            <a:fillRect/>
          </a:stretch>
        </p:blipFill>
        <p:spPr>
          <a:xfrm>
            <a:off x="548640" y="6309360"/>
            <a:ext cx="874762" cy="365760"/>
          </a:xfrm>
          <a:prstGeom prst="rect">
            <a:avLst/>
          </a:prstGeom>
        </p:spPr>
      </p:pic>
      <p:sp>
        <p:nvSpPr>
          <p:cNvPr id="9" name="Text 5"/>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3</a:t>
            </a:r>
            <a:endParaRPr lang="en-US" sz="900" dirty="0"/>
          </a:p>
        </p:txBody>
      </p:sp>
      <p:sp>
        <p:nvSpPr>
          <p:cNvPr id="10" name="Text 6"/>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Music, Reminiscence, and Sensory Approaches</a:t>
            </a:r>
            <a:endParaRPr lang="en-US" sz="3000" dirty="0"/>
          </a:p>
        </p:txBody>
      </p:sp>
      <p:sp>
        <p:nvSpPr>
          <p:cNvPr id="3" name="Shape 1"/>
          <p:cNvSpPr/>
          <p:nvPr/>
        </p:nvSpPr>
        <p:spPr>
          <a:xfrm>
            <a:off x="548640" y="1417320"/>
            <a:ext cx="5410048" cy="2217420"/>
          </a:xfrm>
          <a:prstGeom prst="roundRect">
            <a:avLst>
              <a:gd name="adj" fmla="val 4948"/>
            </a:avLst>
          </a:prstGeom>
          <a:solidFill>
            <a:srgbClr val="E8F1EF"/>
          </a:solidFill>
          <a:ln w="12700">
            <a:solidFill>
              <a:srgbClr val="E8F1EF"/>
            </a:solidFill>
            <a:prstDash val="solid"/>
          </a:ln>
        </p:spPr>
      </p:sp>
      <p:pic>
        <p:nvPicPr>
          <p:cNvPr id="4" name="Image 0" descr="preencoded.png">    </p:cNvPr>
          <p:cNvPicPr>
            <a:picLocks noChangeAspect="1"/>
          </p:cNvPicPr>
          <p:nvPr/>
        </p:nvPicPr>
        <p:blipFill>
          <a:blip r:embed="rId1"/>
          <a:stretch>
            <a:fillRect/>
          </a:stretch>
        </p:blipFill>
        <p:spPr>
          <a:xfrm>
            <a:off x="749808" y="1618488"/>
            <a:ext cx="420624" cy="420624"/>
          </a:xfrm>
          <a:prstGeom prst="rect">
            <a:avLst/>
          </a:prstGeom>
        </p:spPr>
      </p:pic>
      <p:sp>
        <p:nvSpPr>
          <p:cNvPr id="5" name="Text 2"/>
          <p:cNvSpPr txBox="1"/>
          <p:nvPr/>
        </p:nvSpPr>
        <p:spPr>
          <a:xfrm>
            <a:off x="1298448" y="1572768"/>
            <a:ext cx="449564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Personalized Music</a:t>
            </a:r>
            <a:endParaRPr lang="en-US" sz="1700" dirty="0"/>
          </a:p>
        </p:txBody>
      </p:sp>
      <p:sp>
        <p:nvSpPr>
          <p:cNvPr id="6" name="Text 3"/>
          <p:cNvSpPr txBox="1"/>
          <p:nvPr/>
        </p:nvSpPr>
        <p:spPr>
          <a:xfrm>
            <a:off x="768096" y="2194560"/>
            <a:ext cx="4989424" cy="1303020"/>
          </a:xfrm>
          <a:prstGeom prst="rect">
            <a:avLst/>
          </a:prstGeom>
          <a:noFill/>
          <a:ln/>
        </p:spPr>
        <p:txBody>
          <a:bodyPr wrap="square" lIns="0" tIns="0" rIns="0" bIns="0" rtlCol="0" anchor="t"/>
          <a:lstStyle/>
          <a:p>
            <a:pPr indent="0" marL="0">
              <a:buNone/>
            </a:pPr>
            <a:r>
              <a:rPr lang="en-US" sz="1700" dirty="0">
                <a:solidFill>
                  <a:srgbClr val="24302D"/>
                </a:solidFill>
                <a:latin typeface="Calibri" pitchFamily="34" charset="0"/>
                <a:ea typeface="Calibri" pitchFamily="34" charset="-122"/>
                <a:cs typeface="Calibri" pitchFamily="34" charset="-120"/>
              </a:rPr>
              <a:t>Favorite songs from the person's teens and twenties can calm agitation and spark connection.</a:t>
            </a:r>
            <a:endParaRPr lang="en-US" sz="1700" dirty="0"/>
          </a:p>
        </p:txBody>
      </p:sp>
      <p:sp>
        <p:nvSpPr>
          <p:cNvPr id="7" name="Shape 4"/>
          <p:cNvSpPr/>
          <p:nvPr/>
        </p:nvSpPr>
        <p:spPr>
          <a:xfrm>
            <a:off x="6233008" y="1417320"/>
            <a:ext cx="5410048" cy="2217420"/>
          </a:xfrm>
          <a:prstGeom prst="roundRect">
            <a:avLst>
              <a:gd name="adj" fmla="val 4948"/>
            </a:avLst>
          </a:prstGeom>
          <a:solidFill>
            <a:srgbClr val="E8F1EF"/>
          </a:solidFill>
          <a:ln w="12700">
            <a:solidFill>
              <a:srgbClr val="E8F1EF"/>
            </a:solidFill>
            <a:prstDash val="solid"/>
          </a:ln>
        </p:spPr>
      </p:sp>
      <p:pic>
        <p:nvPicPr>
          <p:cNvPr id="8" name="Image 1" descr="preencoded.png">    </p:cNvPr>
          <p:cNvPicPr>
            <a:picLocks noChangeAspect="1"/>
          </p:cNvPicPr>
          <p:nvPr/>
        </p:nvPicPr>
        <p:blipFill>
          <a:blip r:embed="rId2"/>
          <a:stretch>
            <a:fillRect/>
          </a:stretch>
        </p:blipFill>
        <p:spPr>
          <a:xfrm>
            <a:off x="6434176" y="1618488"/>
            <a:ext cx="420624" cy="420624"/>
          </a:xfrm>
          <a:prstGeom prst="rect">
            <a:avLst/>
          </a:prstGeom>
        </p:spPr>
      </p:pic>
      <p:sp>
        <p:nvSpPr>
          <p:cNvPr id="9" name="Text 5"/>
          <p:cNvSpPr txBox="1"/>
          <p:nvPr/>
        </p:nvSpPr>
        <p:spPr>
          <a:xfrm>
            <a:off x="6982816" y="1572768"/>
            <a:ext cx="449564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Reminiscence</a:t>
            </a:r>
            <a:endParaRPr lang="en-US" sz="1700" dirty="0"/>
          </a:p>
        </p:txBody>
      </p:sp>
      <p:sp>
        <p:nvSpPr>
          <p:cNvPr id="10" name="Text 6"/>
          <p:cNvSpPr txBox="1"/>
          <p:nvPr/>
        </p:nvSpPr>
        <p:spPr>
          <a:xfrm>
            <a:off x="6452464" y="2194560"/>
            <a:ext cx="4989424" cy="1303020"/>
          </a:xfrm>
          <a:prstGeom prst="rect">
            <a:avLst/>
          </a:prstGeom>
          <a:noFill/>
          <a:ln/>
        </p:spPr>
        <p:txBody>
          <a:bodyPr wrap="square" lIns="0" tIns="0" rIns="0" bIns="0" rtlCol="0" anchor="t"/>
          <a:lstStyle/>
          <a:p>
            <a:pPr indent="0" marL="0">
              <a:buNone/>
            </a:pPr>
            <a:r>
              <a:rPr lang="en-US" sz="1700" dirty="0">
                <a:solidFill>
                  <a:srgbClr val="24302D"/>
                </a:solidFill>
                <a:latin typeface="Calibri" pitchFamily="34" charset="0"/>
                <a:ea typeface="Calibri" pitchFamily="34" charset="-122"/>
                <a:cs typeface="Calibri" pitchFamily="34" charset="-120"/>
              </a:rPr>
              <a:t>Photos, objects, and familiar stories invite conversation that relies on long-term memory.</a:t>
            </a:r>
            <a:endParaRPr lang="en-US" sz="1700" dirty="0"/>
          </a:p>
        </p:txBody>
      </p:sp>
      <p:sp>
        <p:nvSpPr>
          <p:cNvPr id="11" name="Shape 7"/>
          <p:cNvSpPr/>
          <p:nvPr/>
        </p:nvSpPr>
        <p:spPr>
          <a:xfrm>
            <a:off x="548640" y="3909060"/>
            <a:ext cx="5410048" cy="2217420"/>
          </a:xfrm>
          <a:prstGeom prst="roundRect">
            <a:avLst>
              <a:gd name="adj" fmla="val 4948"/>
            </a:avLst>
          </a:prstGeom>
          <a:solidFill>
            <a:srgbClr val="E8F1EF"/>
          </a:solidFill>
          <a:ln w="12700">
            <a:solidFill>
              <a:srgbClr val="E8F1EF"/>
            </a:solidFill>
            <a:prstDash val="solid"/>
          </a:ln>
        </p:spPr>
      </p:sp>
      <p:pic>
        <p:nvPicPr>
          <p:cNvPr id="12" name="Image 2" descr="preencoded.png">    </p:cNvPr>
          <p:cNvPicPr>
            <a:picLocks noChangeAspect="1"/>
          </p:cNvPicPr>
          <p:nvPr/>
        </p:nvPicPr>
        <p:blipFill>
          <a:blip r:embed="rId3"/>
          <a:stretch>
            <a:fillRect/>
          </a:stretch>
        </p:blipFill>
        <p:spPr>
          <a:xfrm>
            <a:off x="749808" y="4110228"/>
            <a:ext cx="420624" cy="420624"/>
          </a:xfrm>
          <a:prstGeom prst="rect">
            <a:avLst/>
          </a:prstGeom>
        </p:spPr>
      </p:pic>
      <p:sp>
        <p:nvSpPr>
          <p:cNvPr id="13" name="Text 8"/>
          <p:cNvSpPr txBox="1"/>
          <p:nvPr/>
        </p:nvSpPr>
        <p:spPr>
          <a:xfrm>
            <a:off x="1298448" y="4064508"/>
            <a:ext cx="449564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Sensory Comfort</a:t>
            </a:r>
            <a:endParaRPr lang="en-US" sz="1700" dirty="0"/>
          </a:p>
        </p:txBody>
      </p:sp>
      <p:sp>
        <p:nvSpPr>
          <p:cNvPr id="14" name="Text 9"/>
          <p:cNvSpPr txBox="1"/>
          <p:nvPr/>
        </p:nvSpPr>
        <p:spPr>
          <a:xfrm>
            <a:off x="768096" y="4686300"/>
            <a:ext cx="4989424" cy="1303020"/>
          </a:xfrm>
          <a:prstGeom prst="rect">
            <a:avLst/>
          </a:prstGeom>
          <a:noFill/>
          <a:ln/>
        </p:spPr>
        <p:txBody>
          <a:bodyPr wrap="square" lIns="0" tIns="0" rIns="0" bIns="0" rtlCol="0" anchor="t"/>
          <a:lstStyle/>
          <a:p>
            <a:pPr indent="0" marL="0">
              <a:buNone/>
            </a:pPr>
            <a:r>
              <a:rPr lang="en-US" sz="1700" dirty="0">
                <a:solidFill>
                  <a:srgbClr val="24302D"/>
                </a:solidFill>
                <a:latin typeface="Calibri" pitchFamily="34" charset="0"/>
                <a:ea typeface="Calibri" pitchFamily="34" charset="-122"/>
                <a:cs typeface="Calibri" pitchFamily="34" charset="-120"/>
              </a:rPr>
              <a:t>Soft blankets, lotion, familiar scents, and textured items soothe restlessness.</a:t>
            </a:r>
            <a:endParaRPr lang="en-US" sz="1700" dirty="0"/>
          </a:p>
        </p:txBody>
      </p:sp>
      <p:sp>
        <p:nvSpPr>
          <p:cNvPr id="15" name="Shape 10"/>
          <p:cNvSpPr/>
          <p:nvPr/>
        </p:nvSpPr>
        <p:spPr>
          <a:xfrm>
            <a:off x="6233008" y="3909060"/>
            <a:ext cx="5410048" cy="2217420"/>
          </a:xfrm>
          <a:prstGeom prst="roundRect">
            <a:avLst>
              <a:gd name="adj" fmla="val 4948"/>
            </a:avLst>
          </a:prstGeom>
          <a:solidFill>
            <a:srgbClr val="E8F1EF"/>
          </a:solidFill>
          <a:ln w="12700">
            <a:solidFill>
              <a:srgbClr val="E8F1EF"/>
            </a:solidFill>
            <a:prstDash val="solid"/>
          </a:ln>
        </p:spPr>
      </p:sp>
      <p:pic>
        <p:nvPicPr>
          <p:cNvPr id="16" name="Image 3" descr="preencoded.png">    </p:cNvPr>
          <p:cNvPicPr>
            <a:picLocks noChangeAspect="1"/>
          </p:cNvPicPr>
          <p:nvPr/>
        </p:nvPicPr>
        <p:blipFill>
          <a:blip r:embed="rId4"/>
          <a:stretch>
            <a:fillRect/>
          </a:stretch>
        </p:blipFill>
        <p:spPr>
          <a:xfrm>
            <a:off x="6434176" y="4110228"/>
            <a:ext cx="420624" cy="420624"/>
          </a:xfrm>
          <a:prstGeom prst="rect">
            <a:avLst/>
          </a:prstGeom>
        </p:spPr>
      </p:pic>
      <p:sp>
        <p:nvSpPr>
          <p:cNvPr id="17" name="Text 11"/>
          <p:cNvSpPr txBox="1"/>
          <p:nvPr/>
        </p:nvSpPr>
        <p:spPr>
          <a:xfrm>
            <a:off x="6982816" y="4064508"/>
            <a:ext cx="449564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Nature &amp; Pets</a:t>
            </a:r>
            <a:endParaRPr lang="en-US" sz="1700" dirty="0"/>
          </a:p>
        </p:txBody>
      </p:sp>
      <p:sp>
        <p:nvSpPr>
          <p:cNvPr id="18" name="Text 12"/>
          <p:cNvSpPr txBox="1"/>
          <p:nvPr/>
        </p:nvSpPr>
        <p:spPr>
          <a:xfrm>
            <a:off x="6452464" y="4686300"/>
            <a:ext cx="4989424" cy="1303020"/>
          </a:xfrm>
          <a:prstGeom prst="rect">
            <a:avLst/>
          </a:prstGeom>
          <a:noFill/>
          <a:ln/>
        </p:spPr>
        <p:txBody>
          <a:bodyPr wrap="square" lIns="0" tIns="0" rIns="0" bIns="0" rtlCol="0" anchor="t"/>
          <a:lstStyle/>
          <a:p>
            <a:pPr indent="0" marL="0">
              <a:buNone/>
            </a:pPr>
            <a:r>
              <a:rPr lang="en-US" sz="1700" dirty="0">
                <a:solidFill>
                  <a:srgbClr val="24302D"/>
                </a:solidFill>
                <a:latin typeface="Calibri" pitchFamily="34" charset="0"/>
                <a:ea typeface="Calibri" pitchFamily="34" charset="-122"/>
                <a:cs typeface="Calibri" pitchFamily="34" charset="-120"/>
              </a:rPr>
              <a:t>Time outdoors, a garden, birds at a feeder, or a calm pet can reduce anxiety.</a:t>
            </a:r>
            <a:endParaRPr lang="en-US" sz="1700" dirty="0"/>
          </a:p>
        </p:txBody>
      </p:sp>
      <p:pic>
        <p:nvPicPr>
          <p:cNvPr id="19" name="Image 4" descr="preencoded.png">    </p:cNvPr>
          <p:cNvPicPr>
            <a:picLocks noChangeAspect="1"/>
          </p:cNvPicPr>
          <p:nvPr/>
        </p:nvPicPr>
        <p:blipFill>
          <a:blip r:embed="rId5"/>
          <a:stretch>
            <a:fillRect/>
          </a:stretch>
        </p:blipFill>
        <p:spPr>
          <a:xfrm>
            <a:off x="548640" y="6309360"/>
            <a:ext cx="874762" cy="365760"/>
          </a:xfrm>
          <a:prstGeom prst="rect">
            <a:avLst/>
          </a:prstGeom>
        </p:spPr>
      </p:pic>
      <p:sp>
        <p:nvSpPr>
          <p:cNvPr id="20" name="Text 13"/>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3</a:t>
            </a:r>
            <a:endParaRPr lang="en-US" sz="900" dirty="0"/>
          </a:p>
        </p:txBody>
      </p:sp>
      <p:sp>
        <p:nvSpPr>
          <p:cNvPr id="21" name="Text 14"/>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Phone and Telehealth Tips</a:t>
            </a:r>
            <a:endParaRPr lang="en-US" sz="3000" dirty="0"/>
          </a:p>
        </p:txBody>
      </p:sp>
      <p:sp>
        <p:nvSpPr>
          <p:cNvPr id="3" name="Shape 1"/>
          <p:cNvSpPr/>
          <p:nvPr/>
        </p:nvSpPr>
        <p:spPr>
          <a:xfrm>
            <a:off x="548640" y="1417320"/>
            <a:ext cx="5410048" cy="2217420"/>
          </a:xfrm>
          <a:prstGeom prst="roundRect">
            <a:avLst>
              <a:gd name="adj" fmla="val 4948"/>
            </a:avLst>
          </a:prstGeom>
          <a:solidFill>
            <a:srgbClr val="E8F1EF"/>
          </a:solidFill>
          <a:ln w="12700">
            <a:solidFill>
              <a:srgbClr val="E8F1EF"/>
            </a:solidFill>
            <a:prstDash val="solid"/>
          </a:ln>
        </p:spPr>
      </p:sp>
      <p:pic>
        <p:nvPicPr>
          <p:cNvPr id="4" name="Image 0" descr="preencoded.png">    </p:cNvPr>
          <p:cNvPicPr>
            <a:picLocks noChangeAspect="1"/>
          </p:cNvPicPr>
          <p:nvPr/>
        </p:nvPicPr>
        <p:blipFill>
          <a:blip r:embed="rId1"/>
          <a:stretch>
            <a:fillRect/>
          </a:stretch>
        </p:blipFill>
        <p:spPr>
          <a:xfrm>
            <a:off x="749808" y="1618488"/>
            <a:ext cx="420624" cy="420624"/>
          </a:xfrm>
          <a:prstGeom prst="rect">
            <a:avLst/>
          </a:prstGeom>
        </p:spPr>
      </p:pic>
      <p:sp>
        <p:nvSpPr>
          <p:cNvPr id="5" name="Text 2"/>
          <p:cNvSpPr txBox="1"/>
          <p:nvPr/>
        </p:nvSpPr>
        <p:spPr>
          <a:xfrm>
            <a:off x="1298448" y="1572768"/>
            <a:ext cx="449564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Introduce Clearly</a:t>
            </a:r>
            <a:endParaRPr lang="en-US" sz="1700" dirty="0"/>
          </a:p>
        </p:txBody>
      </p:sp>
      <p:sp>
        <p:nvSpPr>
          <p:cNvPr id="6" name="Text 3"/>
          <p:cNvSpPr txBox="1"/>
          <p:nvPr/>
        </p:nvSpPr>
        <p:spPr>
          <a:xfrm>
            <a:off x="768096" y="2194560"/>
            <a:ext cx="4989424" cy="1303020"/>
          </a:xfrm>
          <a:prstGeom prst="rect">
            <a:avLst/>
          </a:prstGeom>
          <a:noFill/>
          <a:ln/>
        </p:spPr>
        <p:txBody>
          <a:bodyPr wrap="square" lIns="0" tIns="0" rIns="0" bIns="0" rtlCol="0" anchor="t"/>
          <a:lstStyle/>
          <a:p>
            <a:pPr indent="0" marL="0">
              <a:buNone/>
            </a:pPr>
            <a:r>
              <a:rPr lang="en-US" sz="1700" dirty="0">
                <a:solidFill>
                  <a:srgbClr val="24302D"/>
                </a:solidFill>
                <a:latin typeface="Calibri" pitchFamily="34" charset="0"/>
                <a:ea typeface="Calibri" pitchFamily="34" charset="-122"/>
                <a:cs typeface="Calibri" pitchFamily="34" charset="-120"/>
              </a:rPr>
              <a:t>Name, organization, and reason for the call — every time.</a:t>
            </a:r>
            <a:endParaRPr lang="en-US" sz="1700" dirty="0"/>
          </a:p>
        </p:txBody>
      </p:sp>
      <p:sp>
        <p:nvSpPr>
          <p:cNvPr id="7" name="Shape 4"/>
          <p:cNvSpPr/>
          <p:nvPr/>
        </p:nvSpPr>
        <p:spPr>
          <a:xfrm>
            <a:off x="6233008" y="1417320"/>
            <a:ext cx="5410048" cy="2217420"/>
          </a:xfrm>
          <a:prstGeom prst="roundRect">
            <a:avLst>
              <a:gd name="adj" fmla="val 4948"/>
            </a:avLst>
          </a:prstGeom>
          <a:solidFill>
            <a:srgbClr val="E8F1EF"/>
          </a:solidFill>
          <a:ln w="12700">
            <a:solidFill>
              <a:srgbClr val="E8F1EF"/>
            </a:solidFill>
            <a:prstDash val="solid"/>
          </a:ln>
        </p:spPr>
      </p:sp>
      <p:pic>
        <p:nvPicPr>
          <p:cNvPr id="8" name="Image 1" descr="preencoded.png">    </p:cNvPr>
          <p:cNvPicPr>
            <a:picLocks noChangeAspect="1"/>
          </p:cNvPicPr>
          <p:nvPr/>
        </p:nvPicPr>
        <p:blipFill>
          <a:blip r:embed="rId2"/>
          <a:stretch>
            <a:fillRect/>
          </a:stretch>
        </p:blipFill>
        <p:spPr>
          <a:xfrm>
            <a:off x="6434176" y="1618488"/>
            <a:ext cx="420624" cy="420624"/>
          </a:xfrm>
          <a:prstGeom prst="rect">
            <a:avLst/>
          </a:prstGeom>
        </p:spPr>
      </p:pic>
      <p:sp>
        <p:nvSpPr>
          <p:cNvPr id="9" name="Text 5"/>
          <p:cNvSpPr txBox="1"/>
          <p:nvPr/>
        </p:nvSpPr>
        <p:spPr>
          <a:xfrm>
            <a:off x="6982816" y="1572768"/>
            <a:ext cx="449564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Slow Down</a:t>
            </a:r>
            <a:endParaRPr lang="en-US" sz="1700" dirty="0"/>
          </a:p>
        </p:txBody>
      </p:sp>
      <p:sp>
        <p:nvSpPr>
          <p:cNvPr id="10" name="Text 6"/>
          <p:cNvSpPr txBox="1"/>
          <p:nvPr/>
        </p:nvSpPr>
        <p:spPr>
          <a:xfrm>
            <a:off x="6452464" y="2194560"/>
            <a:ext cx="4989424" cy="1303020"/>
          </a:xfrm>
          <a:prstGeom prst="rect">
            <a:avLst/>
          </a:prstGeom>
          <a:noFill/>
          <a:ln/>
        </p:spPr>
        <p:txBody>
          <a:bodyPr wrap="square" lIns="0" tIns="0" rIns="0" bIns="0" rtlCol="0" anchor="t"/>
          <a:lstStyle/>
          <a:p>
            <a:pPr indent="0" marL="0">
              <a:buNone/>
            </a:pPr>
            <a:r>
              <a:rPr lang="en-US" sz="1700" dirty="0">
                <a:solidFill>
                  <a:srgbClr val="24302D"/>
                </a:solidFill>
                <a:latin typeface="Calibri" pitchFamily="34" charset="0"/>
                <a:ea typeface="Calibri" pitchFamily="34" charset="-122"/>
                <a:cs typeface="Calibri" pitchFamily="34" charset="-120"/>
              </a:rPr>
              <a:t>Speak slowly and a little lower in pitch. Pause often.</a:t>
            </a:r>
            <a:endParaRPr lang="en-US" sz="1700" dirty="0"/>
          </a:p>
        </p:txBody>
      </p:sp>
      <p:sp>
        <p:nvSpPr>
          <p:cNvPr id="11" name="Shape 7"/>
          <p:cNvSpPr/>
          <p:nvPr/>
        </p:nvSpPr>
        <p:spPr>
          <a:xfrm>
            <a:off x="548640" y="3909060"/>
            <a:ext cx="5410048" cy="2217420"/>
          </a:xfrm>
          <a:prstGeom prst="roundRect">
            <a:avLst>
              <a:gd name="adj" fmla="val 4948"/>
            </a:avLst>
          </a:prstGeom>
          <a:solidFill>
            <a:srgbClr val="E8F1EF"/>
          </a:solidFill>
          <a:ln w="12700">
            <a:solidFill>
              <a:srgbClr val="E8F1EF"/>
            </a:solidFill>
            <a:prstDash val="solid"/>
          </a:ln>
        </p:spPr>
      </p:sp>
      <p:pic>
        <p:nvPicPr>
          <p:cNvPr id="12" name="Image 2" descr="preencoded.png">    </p:cNvPr>
          <p:cNvPicPr>
            <a:picLocks noChangeAspect="1"/>
          </p:cNvPicPr>
          <p:nvPr/>
        </p:nvPicPr>
        <p:blipFill>
          <a:blip r:embed="rId3"/>
          <a:stretch>
            <a:fillRect/>
          </a:stretch>
        </p:blipFill>
        <p:spPr>
          <a:xfrm>
            <a:off x="749808" y="4110228"/>
            <a:ext cx="420624" cy="420624"/>
          </a:xfrm>
          <a:prstGeom prst="rect">
            <a:avLst/>
          </a:prstGeom>
        </p:spPr>
      </p:pic>
      <p:sp>
        <p:nvSpPr>
          <p:cNvPr id="13" name="Text 8"/>
          <p:cNvSpPr txBox="1"/>
          <p:nvPr/>
        </p:nvSpPr>
        <p:spPr>
          <a:xfrm>
            <a:off x="1298448" y="4064508"/>
            <a:ext cx="449564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Reduce Noise</a:t>
            </a:r>
            <a:endParaRPr lang="en-US" sz="1700" dirty="0"/>
          </a:p>
        </p:txBody>
      </p:sp>
      <p:sp>
        <p:nvSpPr>
          <p:cNvPr id="14" name="Text 9"/>
          <p:cNvSpPr txBox="1"/>
          <p:nvPr/>
        </p:nvSpPr>
        <p:spPr>
          <a:xfrm>
            <a:off x="768096" y="4686300"/>
            <a:ext cx="4989424" cy="1303020"/>
          </a:xfrm>
          <a:prstGeom prst="rect">
            <a:avLst/>
          </a:prstGeom>
          <a:noFill/>
          <a:ln/>
        </p:spPr>
        <p:txBody>
          <a:bodyPr wrap="square" lIns="0" tIns="0" rIns="0" bIns="0" rtlCol="0" anchor="t"/>
          <a:lstStyle/>
          <a:p>
            <a:pPr indent="0" marL="0">
              <a:buNone/>
            </a:pPr>
            <a:r>
              <a:rPr lang="en-US" sz="1700" dirty="0">
                <a:solidFill>
                  <a:srgbClr val="24302D"/>
                </a:solidFill>
                <a:latin typeface="Calibri" pitchFamily="34" charset="0"/>
                <a:ea typeface="Calibri" pitchFamily="34" charset="-122"/>
                <a:cs typeface="Calibri" pitchFamily="34" charset="-120"/>
              </a:rPr>
              <a:t>Ask to turn off the TV; call at a quiet time of day.</a:t>
            </a:r>
            <a:endParaRPr lang="en-US" sz="1700" dirty="0"/>
          </a:p>
        </p:txBody>
      </p:sp>
      <p:sp>
        <p:nvSpPr>
          <p:cNvPr id="15" name="Shape 10"/>
          <p:cNvSpPr/>
          <p:nvPr/>
        </p:nvSpPr>
        <p:spPr>
          <a:xfrm>
            <a:off x="6233008" y="3909060"/>
            <a:ext cx="5410048" cy="2217420"/>
          </a:xfrm>
          <a:prstGeom prst="roundRect">
            <a:avLst>
              <a:gd name="adj" fmla="val 4948"/>
            </a:avLst>
          </a:prstGeom>
          <a:solidFill>
            <a:srgbClr val="E8F1EF"/>
          </a:solidFill>
          <a:ln w="12700">
            <a:solidFill>
              <a:srgbClr val="E8F1EF"/>
            </a:solidFill>
            <a:prstDash val="solid"/>
          </a:ln>
        </p:spPr>
      </p:sp>
      <p:pic>
        <p:nvPicPr>
          <p:cNvPr id="16" name="Image 3" descr="preencoded.png">    </p:cNvPr>
          <p:cNvPicPr>
            <a:picLocks noChangeAspect="1"/>
          </p:cNvPicPr>
          <p:nvPr/>
        </p:nvPicPr>
        <p:blipFill>
          <a:blip r:embed="rId4"/>
          <a:stretch>
            <a:fillRect/>
          </a:stretch>
        </p:blipFill>
        <p:spPr>
          <a:xfrm>
            <a:off x="6434176" y="4110228"/>
            <a:ext cx="420624" cy="420624"/>
          </a:xfrm>
          <a:prstGeom prst="rect">
            <a:avLst/>
          </a:prstGeom>
        </p:spPr>
      </p:pic>
      <p:sp>
        <p:nvSpPr>
          <p:cNvPr id="17" name="Text 11"/>
          <p:cNvSpPr txBox="1"/>
          <p:nvPr/>
        </p:nvSpPr>
        <p:spPr>
          <a:xfrm>
            <a:off x="6982816" y="4064508"/>
            <a:ext cx="449564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Confirm &amp; Close</a:t>
            </a:r>
            <a:endParaRPr lang="en-US" sz="1700" dirty="0"/>
          </a:p>
        </p:txBody>
      </p:sp>
      <p:sp>
        <p:nvSpPr>
          <p:cNvPr id="18" name="Text 12"/>
          <p:cNvSpPr txBox="1"/>
          <p:nvPr/>
        </p:nvSpPr>
        <p:spPr>
          <a:xfrm>
            <a:off x="6452464" y="4686300"/>
            <a:ext cx="4989424" cy="1303020"/>
          </a:xfrm>
          <a:prstGeom prst="rect">
            <a:avLst/>
          </a:prstGeom>
          <a:noFill/>
          <a:ln/>
        </p:spPr>
        <p:txBody>
          <a:bodyPr wrap="square" lIns="0" tIns="0" rIns="0" bIns="0" rtlCol="0" anchor="t"/>
          <a:lstStyle/>
          <a:p>
            <a:pPr indent="0" marL="0">
              <a:buNone/>
            </a:pPr>
            <a:r>
              <a:rPr lang="en-US" sz="1700" dirty="0">
                <a:solidFill>
                  <a:srgbClr val="24302D"/>
                </a:solidFill>
                <a:latin typeface="Calibri" pitchFamily="34" charset="0"/>
                <a:ea typeface="Calibri" pitchFamily="34" charset="-122"/>
                <a:cs typeface="Calibri" pitchFamily="34" charset="-120"/>
              </a:rPr>
              <a:t>Summarize, confirm next steps, and follow up in writing if possible.</a:t>
            </a:r>
            <a:endParaRPr lang="en-US" sz="1700" dirty="0"/>
          </a:p>
        </p:txBody>
      </p:sp>
      <p:pic>
        <p:nvPicPr>
          <p:cNvPr id="19" name="Image 4" descr="preencoded.png">    </p:cNvPr>
          <p:cNvPicPr>
            <a:picLocks noChangeAspect="1"/>
          </p:cNvPicPr>
          <p:nvPr/>
        </p:nvPicPr>
        <p:blipFill>
          <a:blip r:embed="rId5"/>
          <a:stretch>
            <a:fillRect/>
          </a:stretch>
        </p:blipFill>
        <p:spPr>
          <a:xfrm>
            <a:off x="548640" y="6309360"/>
            <a:ext cx="874762" cy="365760"/>
          </a:xfrm>
          <a:prstGeom prst="rect">
            <a:avLst/>
          </a:prstGeom>
        </p:spPr>
      </p:pic>
      <p:sp>
        <p:nvSpPr>
          <p:cNvPr id="20" name="Text 13"/>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3</a:t>
            </a:r>
            <a:endParaRPr lang="en-US" sz="900" dirty="0"/>
          </a:p>
        </p:txBody>
      </p:sp>
      <p:sp>
        <p:nvSpPr>
          <p:cNvPr id="21" name="Text 14"/>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Communication Practice</a:t>
            </a:r>
            <a:endParaRPr lang="en-US" sz="3000" dirty="0"/>
          </a:p>
        </p:txBody>
      </p:sp>
      <p:sp>
        <p:nvSpPr>
          <p:cNvPr id="3" name="Shape 1"/>
          <p:cNvSpPr/>
          <p:nvPr/>
        </p:nvSpPr>
        <p:spPr>
          <a:xfrm>
            <a:off x="548640" y="1417320"/>
            <a:ext cx="3566160" cy="4709160"/>
          </a:xfrm>
          <a:prstGeom prst="roundRect">
            <a:avLst>
              <a:gd name="adj" fmla="val 3077"/>
            </a:avLst>
          </a:prstGeom>
          <a:solidFill>
            <a:srgbClr val="F8EFDF"/>
          </a:solidFill>
          <a:ln w="12700">
            <a:solidFill>
              <a:srgbClr val="F8EFDF"/>
            </a:solidFill>
            <a:prstDash val="solid"/>
          </a:ln>
        </p:spPr>
      </p:sp>
      <p:sp>
        <p:nvSpPr>
          <p:cNvPr id="4" name="Shape 2"/>
          <p:cNvSpPr/>
          <p:nvPr/>
        </p:nvSpPr>
        <p:spPr>
          <a:xfrm>
            <a:off x="1691640" y="1783080"/>
            <a:ext cx="1280160" cy="1280160"/>
          </a:xfrm>
          <a:prstGeom prst="ellipse">
            <a:avLst/>
          </a:prstGeom>
          <a:solidFill>
            <a:srgbClr val="C78F2E"/>
          </a:solidFill>
          <a:ln w="12700">
            <a:solidFill>
              <a:srgbClr val="C78F2E"/>
            </a:solidFill>
            <a:prstDash val="solid"/>
          </a:ln>
        </p:spPr>
      </p:sp>
      <p:pic>
        <p:nvPicPr>
          <p:cNvPr id="5" name="Image 0" descr="preencoded.png">    </p:cNvPr>
          <p:cNvPicPr>
            <a:picLocks noChangeAspect="1"/>
          </p:cNvPicPr>
          <p:nvPr/>
        </p:nvPicPr>
        <p:blipFill>
          <a:blip r:embed="rId1"/>
          <a:stretch>
            <a:fillRect/>
          </a:stretch>
        </p:blipFill>
        <p:spPr>
          <a:xfrm>
            <a:off x="1965960" y="2057400"/>
            <a:ext cx="731520" cy="731520"/>
          </a:xfrm>
          <a:prstGeom prst="rect">
            <a:avLst/>
          </a:prstGeom>
        </p:spPr>
      </p:pic>
      <p:sp>
        <p:nvSpPr>
          <p:cNvPr id="6" name="Text 3"/>
          <p:cNvSpPr txBox="1"/>
          <p:nvPr/>
        </p:nvSpPr>
        <p:spPr>
          <a:xfrm>
            <a:off x="548640" y="3246120"/>
            <a:ext cx="3566160" cy="320040"/>
          </a:xfrm>
          <a:prstGeom prst="rect">
            <a:avLst/>
          </a:prstGeom>
          <a:noFill/>
          <a:ln/>
        </p:spPr>
        <p:txBody>
          <a:bodyPr wrap="square" lIns="0" tIns="0" rIns="0" bIns="0" rtlCol="0" anchor="t"/>
          <a:lstStyle/>
          <a:p>
            <a:pPr algn="ctr" indent="0" marL="0">
              <a:buNone/>
            </a:pPr>
            <a:r>
              <a:rPr lang="en-US" sz="1200" b="1" spc="300" kern="0" dirty="0">
                <a:solidFill>
                  <a:srgbClr val="C78F2E"/>
                </a:solidFill>
                <a:latin typeface="Calibri" pitchFamily="34" charset="0"/>
                <a:ea typeface="Calibri" pitchFamily="34" charset="-122"/>
                <a:cs typeface="Calibri" pitchFamily="34" charset="-120"/>
              </a:rPr>
              <a:t>ACTIVITY</a:t>
            </a:r>
            <a:endParaRPr lang="en-US" sz="1200" dirty="0"/>
          </a:p>
        </p:txBody>
      </p:sp>
      <p:sp>
        <p:nvSpPr>
          <p:cNvPr id="7" name="Text 4"/>
          <p:cNvSpPr txBox="1"/>
          <p:nvPr/>
        </p:nvSpPr>
        <p:spPr>
          <a:xfrm>
            <a:off x="548640" y="3611880"/>
            <a:ext cx="3566160" cy="548640"/>
          </a:xfrm>
          <a:prstGeom prst="rect">
            <a:avLst/>
          </a:prstGeom>
          <a:noFill/>
          <a:ln/>
        </p:spPr>
        <p:txBody>
          <a:bodyPr wrap="square" lIns="0" tIns="0" rIns="0" bIns="0" rtlCol="0" anchor="ctr"/>
          <a:lstStyle/>
          <a:p>
            <a:pPr algn="ctr" indent="0" marL="0">
              <a:buNone/>
            </a:pPr>
            <a:r>
              <a:rPr lang="en-US" sz="2600" b="1" dirty="0">
                <a:solidFill>
                  <a:srgbClr val="28695F"/>
                </a:solidFill>
                <a:latin typeface="Cambria" pitchFamily="34" charset="0"/>
                <a:ea typeface="Cambria" pitchFamily="34" charset="-122"/>
                <a:cs typeface="Cambria" pitchFamily="34" charset="-120"/>
              </a:rPr>
              <a:t>15 minutes</a:t>
            </a:r>
            <a:endParaRPr lang="en-US" sz="2600" dirty="0"/>
          </a:p>
        </p:txBody>
      </p:sp>
      <p:sp>
        <p:nvSpPr>
          <p:cNvPr id="8" name="Text 5"/>
          <p:cNvSpPr txBox="1"/>
          <p:nvPr/>
        </p:nvSpPr>
        <p:spPr>
          <a:xfrm>
            <a:off x="822960" y="4251960"/>
            <a:ext cx="3017520" cy="1645920"/>
          </a:xfrm>
          <a:prstGeom prst="rect">
            <a:avLst/>
          </a:prstGeom>
          <a:noFill/>
          <a:ln/>
        </p:spPr>
        <p:txBody>
          <a:bodyPr wrap="square" lIns="0" tIns="0" rIns="0" bIns="0" rtlCol="0" anchor="t"/>
          <a:lstStyle/>
          <a:p>
            <a:pPr algn="ctr" indent="0" marL="0">
              <a:buNone/>
            </a:pPr>
            <a:r>
              <a:rPr lang="en-US" sz="1500" dirty="0">
                <a:solidFill>
                  <a:srgbClr val="24302D"/>
                </a:solidFill>
                <a:latin typeface="Calibri" pitchFamily="34" charset="0"/>
                <a:ea typeface="Calibri" pitchFamily="34" charset="-122"/>
                <a:cs typeface="Calibri" pitchFamily="34" charset="-120"/>
              </a:rPr>
              <a:t>Pairs; one person plays the beneficiary, one the navigator</a:t>
            </a:r>
            <a:endParaRPr lang="en-US" sz="1500" dirty="0"/>
          </a:p>
        </p:txBody>
      </p:sp>
      <p:sp>
        <p:nvSpPr>
          <p:cNvPr id="9" name="Text 6"/>
          <p:cNvSpPr txBox="1"/>
          <p:nvPr/>
        </p:nvSpPr>
        <p:spPr>
          <a:xfrm>
            <a:off x="4526280" y="1417320"/>
            <a:ext cx="7116775" cy="502920"/>
          </a:xfrm>
          <a:prstGeom prst="rect">
            <a:avLst/>
          </a:prstGeom>
          <a:noFill/>
          <a:ln/>
        </p:spPr>
        <p:txBody>
          <a:bodyPr wrap="square" lIns="0" tIns="0" rIns="0" bIns="0" rtlCol="0" anchor="ctr"/>
          <a:lstStyle/>
          <a:p>
            <a:pPr indent="0" marL="0">
              <a:buNone/>
            </a:pPr>
            <a:r>
              <a:rPr lang="en-US" sz="2000" b="1" dirty="0">
                <a:solidFill>
                  <a:srgbClr val="28695F"/>
                </a:solidFill>
                <a:latin typeface="Cambria" pitchFamily="34" charset="0"/>
                <a:ea typeface="Cambria" pitchFamily="34" charset="-122"/>
                <a:cs typeface="Cambria" pitchFamily="34" charset="-120"/>
              </a:rPr>
              <a:t>Instructions</a:t>
            </a:r>
            <a:endParaRPr lang="en-US" sz="2000" dirty="0"/>
          </a:p>
        </p:txBody>
      </p:sp>
      <p:sp>
        <p:nvSpPr>
          <p:cNvPr id="10" name="Text 7"/>
          <p:cNvSpPr txBox="1"/>
          <p:nvPr/>
        </p:nvSpPr>
        <p:spPr>
          <a:xfrm>
            <a:off x="4526280" y="2103120"/>
            <a:ext cx="7116775" cy="4023360"/>
          </a:xfrm>
          <a:prstGeom prst="rect">
            <a:avLst/>
          </a:prstGeom>
          <a:noFill/>
          <a:ln/>
        </p:spPr>
        <p:txBody>
          <a:bodyPr wrap="square" lIns="0" tIns="0" rIns="0" bIns="0" rtlCol="0" anchor="t"/>
          <a:lstStyle/>
          <a:p>
            <a:pPr marL="254000" indent="-254000">
              <a:spcAft>
                <a:spcPts val="1200"/>
              </a:spcAft>
              <a:buSzPct val="100000"/>
              <a:buFont typeface="+mj-lt"/>
              <a:buAutoNum type="arabicPeriod" startAt="1"/>
            </a:pPr>
            <a:r>
              <a:rPr lang="en-US" sz="1600" dirty="0">
                <a:solidFill>
                  <a:srgbClr val="24302D"/>
                </a:solidFill>
                <a:latin typeface="Calibri" pitchFamily="34" charset="0"/>
                <a:ea typeface="Calibri" pitchFamily="34" charset="-122"/>
                <a:cs typeface="Calibri" pitchFamily="34" charset="-120"/>
              </a:rPr>
              <a:t>Round 1: The beneficiary repeatedly asks, "When is my mother coming to pick me up?"</a:t>
            </a:r>
            <a:endParaRPr lang="en-US" sz="1600" dirty="0"/>
          </a:p>
          <a:p>
            <a:pPr marL="254000" indent="-254000">
              <a:spcAft>
                <a:spcPts val="1200"/>
              </a:spcAft>
              <a:buSzPct val="100000"/>
              <a:buFont typeface="+mj-lt"/>
              <a:buAutoNum type="arabicPeriod" startAt="1"/>
            </a:pPr>
            <a:r>
              <a:rPr lang="en-US" sz="1600" dirty="0">
                <a:solidFill>
                  <a:srgbClr val="24302D"/>
                </a:solidFill>
                <a:latin typeface="Calibri" pitchFamily="34" charset="0"/>
                <a:ea typeface="Calibri" pitchFamily="34" charset="-122"/>
                <a:cs typeface="Calibri" pitchFamily="34" charset="-120"/>
              </a:rPr>
              <a:t>Round 2: The beneficiary insists they need to go to work this morning</a:t>
            </a:r>
            <a:endParaRPr lang="en-US" sz="1600" dirty="0"/>
          </a:p>
          <a:p>
            <a:pPr marL="254000" indent="-254000">
              <a:spcAft>
                <a:spcPts val="1200"/>
              </a:spcAft>
              <a:buSzPct val="100000"/>
              <a:buFont typeface="+mj-lt"/>
              <a:buAutoNum type="arabicPeriod" startAt="1"/>
            </a:pPr>
            <a:r>
              <a:rPr lang="en-US" sz="1600" dirty="0">
                <a:solidFill>
                  <a:srgbClr val="24302D"/>
                </a:solidFill>
                <a:latin typeface="Calibri" pitchFamily="34" charset="0"/>
                <a:ea typeface="Calibri" pitchFamily="34" charset="-122"/>
                <a:cs typeface="Calibri" pitchFamily="34" charset="-120"/>
              </a:rPr>
              <a:t>Round 3: The beneficiary refuses to let the navigator into the kitchen</a:t>
            </a:r>
            <a:endParaRPr lang="en-US" sz="1600" dirty="0"/>
          </a:p>
          <a:p>
            <a:pPr marL="254000" indent="-254000">
              <a:spcAft>
                <a:spcPts val="1200"/>
              </a:spcAft>
              <a:buSzPct val="100000"/>
              <a:buFont typeface="+mj-lt"/>
              <a:buAutoNum type="arabicPeriod" startAt="1"/>
            </a:pPr>
            <a:r>
              <a:rPr lang="en-US" sz="1600" dirty="0">
                <a:solidFill>
                  <a:srgbClr val="24302D"/>
                </a:solidFill>
                <a:latin typeface="Calibri" pitchFamily="34" charset="0"/>
                <a:ea typeface="Calibri" pitchFamily="34" charset="-122"/>
                <a:cs typeface="Calibri" pitchFamily="34" charset="-120"/>
              </a:rPr>
              <a:t>After each round, the "beneficiary" shares how the response made them feel</a:t>
            </a:r>
            <a:endParaRPr lang="en-US" sz="1600" dirty="0"/>
          </a:p>
          <a:p>
            <a:pPr marL="254000" indent="-254000">
              <a:spcAft>
                <a:spcPts val="1200"/>
              </a:spcAft>
              <a:buSzPct val="100000"/>
              <a:buFont typeface="+mj-lt"/>
              <a:buAutoNum type="arabicPeriod" startAt="1"/>
            </a:pPr>
            <a:r>
              <a:rPr lang="en-US" sz="1600" dirty="0">
                <a:solidFill>
                  <a:srgbClr val="24302D"/>
                </a:solidFill>
                <a:latin typeface="Calibri" pitchFamily="34" charset="0"/>
                <a:ea typeface="Calibri" pitchFamily="34" charset="-122"/>
                <a:cs typeface="Calibri" pitchFamily="34" charset="-120"/>
              </a:rPr>
              <a:t>Switch roles and discuss which phrases worked best</a:t>
            </a:r>
            <a:endParaRPr lang="en-US" sz="1600" dirty="0"/>
          </a:p>
        </p:txBody>
      </p:sp>
      <p:pic>
        <p:nvPicPr>
          <p:cNvPr id="11" name="Image 1" descr="preencoded.png">    </p:cNvPr>
          <p:cNvPicPr>
            <a:picLocks noChangeAspect="1"/>
          </p:cNvPicPr>
          <p:nvPr/>
        </p:nvPicPr>
        <p:blipFill>
          <a:blip r:embed="rId2"/>
          <a:stretch>
            <a:fillRect/>
          </a:stretch>
        </p:blipFill>
        <p:spPr>
          <a:xfrm>
            <a:off x="548640" y="6309360"/>
            <a:ext cx="874762" cy="365760"/>
          </a:xfrm>
          <a:prstGeom prst="rect">
            <a:avLst/>
          </a:prstGeom>
        </p:spPr>
      </p:pic>
      <p:sp>
        <p:nvSpPr>
          <p:cNvPr id="12" name="Text 8"/>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3</a:t>
            </a:r>
            <a:endParaRPr lang="en-US" sz="900" dirty="0"/>
          </a:p>
        </p:txBody>
      </p:sp>
      <p:sp>
        <p:nvSpPr>
          <p:cNvPr id="13" name="Text 9"/>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Case Study</a:t>
            </a:r>
            <a:endParaRPr lang="en-US" sz="3000" dirty="0"/>
          </a:p>
        </p:txBody>
      </p:sp>
      <p:sp>
        <p:nvSpPr>
          <p:cNvPr id="3" name="Shape 1"/>
          <p:cNvSpPr/>
          <p:nvPr/>
        </p:nvSpPr>
        <p:spPr>
          <a:xfrm>
            <a:off x="548640" y="1417320"/>
            <a:ext cx="6583680" cy="4709160"/>
          </a:xfrm>
          <a:prstGeom prst="roundRect">
            <a:avLst>
              <a:gd name="adj" fmla="val 2330"/>
            </a:avLst>
          </a:prstGeom>
          <a:solidFill>
            <a:srgbClr val="E8F1EF"/>
          </a:solidFill>
          <a:ln w="12700">
            <a:solidFill>
              <a:srgbClr val="E8F1EF"/>
            </a:solidFill>
            <a:prstDash val="solid"/>
          </a:ln>
        </p:spPr>
      </p:sp>
      <p:sp>
        <p:nvSpPr>
          <p:cNvPr id="4" name="Text 2"/>
          <p:cNvSpPr txBox="1"/>
          <p:nvPr/>
        </p:nvSpPr>
        <p:spPr>
          <a:xfrm>
            <a:off x="868680" y="1645920"/>
            <a:ext cx="2743200" cy="274320"/>
          </a:xfrm>
          <a:prstGeom prst="rect">
            <a:avLst/>
          </a:prstGeom>
          <a:noFill/>
          <a:ln/>
        </p:spPr>
        <p:txBody>
          <a:bodyPr wrap="square" lIns="0" tIns="0" rIns="0" bIns="0" rtlCol="0" anchor="t"/>
          <a:lstStyle/>
          <a:p>
            <a:pPr indent="0" marL="0">
              <a:buNone/>
            </a:pPr>
            <a:r>
              <a:rPr lang="en-US" sz="1100" b="1" spc="300" kern="0" dirty="0">
                <a:solidFill>
                  <a:srgbClr val="C78F2E"/>
                </a:solidFill>
                <a:latin typeface="Calibri" pitchFamily="34" charset="0"/>
                <a:ea typeface="Calibri" pitchFamily="34" charset="-122"/>
                <a:cs typeface="Calibri" pitchFamily="34" charset="-120"/>
              </a:rPr>
              <a:t>CASE STUDY</a:t>
            </a:r>
            <a:endParaRPr lang="en-US" sz="1100" dirty="0"/>
          </a:p>
        </p:txBody>
      </p:sp>
      <p:sp>
        <p:nvSpPr>
          <p:cNvPr id="5" name="Text 3"/>
          <p:cNvSpPr txBox="1"/>
          <p:nvPr/>
        </p:nvSpPr>
        <p:spPr>
          <a:xfrm>
            <a:off x="868680" y="1920240"/>
            <a:ext cx="5943600" cy="548640"/>
          </a:xfrm>
          <a:prstGeom prst="rect">
            <a:avLst/>
          </a:prstGeom>
          <a:noFill/>
          <a:ln/>
        </p:spPr>
        <p:txBody>
          <a:bodyPr wrap="square" lIns="0" tIns="0" rIns="0" bIns="0" rtlCol="0" anchor="ctr"/>
          <a:lstStyle/>
          <a:p>
            <a:pPr indent="0" marL="0">
              <a:buNone/>
            </a:pPr>
            <a:r>
              <a:rPr lang="en-US" sz="2200" b="1" dirty="0">
                <a:solidFill>
                  <a:srgbClr val="28695F"/>
                </a:solidFill>
                <a:latin typeface="Cambria" pitchFamily="34" charset="0"/>
                <a:ea typeface="Cambria" pitchFamily="34" charset="-122"/>
                <a:cs typeface="Cambria" pitchFamily="34" charset="-120"/>
              </a:rPr>
              <a:t>Mrs. Okafor, age 79</a:t>
            </a:r>
            <a:endParaRPr lang="en-US" sz="2200" dirty="0"/>
          </a:p>
        </p:txBody>
      </p:sp>
      <p:sp>
        <p:nvSpPr>
          <p:cNvPr id="6" name="Text 4"/>
          <p:cNvSpPr txBox="1"/>
          <p:nvPr/>
        </p:nvSpPr>
        <p:spPr>
          <a:xfrm>
            <a:off x="868680" y="2560320"/>
            <a:ext cx="5943600" cy="3383280"/>
          </a:xfrm>
          <a:prstGeom prst="rect">
            <a:avLst/>
          </a:prstGeom>
          <a:noFill/>
          <a:ln/>
        </p:spPr>
        <p:txBody>
          <a:bodyPr wrap="square" lIns="0" tIns="0" rIns="0" bIns="0" rtlCol="0" anchor="t"/>
          <a:lstStyle/>
          <a:p>
            <a:pPr indent="0" marL="0">
              <a:spcAft>
                <a:spcPts val="1000"/>
              </a:spcAft>
              <a:buNone/>
            </a:pPr>
            <a:r>
              <a:rPr lang="en-US" sz="1700" dirty="0">
                <a:solidFill>
                  <a:srgbClr val="24302D"/>
                </a:solidFill>
                <a:latin typeface="Calibri" pitchFamily="34" charset="0"/>
                <a:ea typeface="Calibri" pitchFamily="34" charset="-122"/>
                <a:cs typeface="Calibri" pitchFamily="34" charset="-120"/>
              </a:rPr>
              <a:t>Mrs. Okafor has moderate Alzheimer's disease and lives with her daughter, Grace. For the past month she has become anxious and agitated around 5 p.m. every day, pacing, looking out the window, and saying she needs to "get the children from school."</a:t>
            </a:r>
            <a:endParaRPr lang="en-US" sz="1700" dirty="0"/>
          </a:p>
          <a:p>
            <a:pPr indent="0" marL="0">
              <a:spcAft>
                <a:spcPts val="1000"/>
              </a:spcAft>
              <a:buNone/>
            </a:pPr>
            <a:r>
              <a:rPr lang="en-US" sz="1700" dirty="0">
                <a:solidFill>
                  <a:srgbClr val="24302D"/>
                </a:solidFill>
                <a:latin typeface="Calibri" pitchFamily="34" charset="0"/>
                <a:ea typeface="Calibri" pitchFamily="34" charset="-122"/>
                <a:cs typeface="Calibri" pitchFamily="34" charset="-120"/>
              </a:rPr>
              <a:t>She recently accused Grace of stealing her jewelry, and Grace responded by showing her the jewelry box and telling her she is "being ridiculous." The next day, Mrs. Okafor refused to let Grace help her dress.</a:t>
            </a:r>
            <a:endParaRPr lang="en-US" sz="1700" dirty="0"/>
          </a:p>
        </p:txBody>
      </p:sp>
      <p:pic>
        <p:nvPicPr>
          <p:cNvPr id="7" name="Image 0" descr="preencoded.png">    </p:cNvPr>
          <p:cNvPicPr>
            <a:picLocks noChangeAspect="1"/>
          </p:cNvPicPr>
          <p:nvPr/>
        </p:nvPicPr>
        <p:blipFill>
          <a:blip r:embed="rId1"/>
          <a:stretch>
            <a:fillRect/>
          </a:stretch>
        </p:blipFill>
        <p:spPr>
          <a:xfrm>
            <a:off x="7543800" y="1508760"/>
            <a:ext cx="502920" cy="502920"/>
          </a:xfrm>
          <a:prstGeom prst="rect">
            <a:avLst/>
          </a:prstGeom>
        </p:spPr>
      </p:pic>
      <p:sp>
        <p:nvSpPr>
          <p:cNvPr id="8" name="Text 5"/>
          <p:cNvSpPr txBox="1"/>
          <p:nvPr/>
        </p:nvSpPr>
        <p:spPr>
          <a:xfrm>
            <a:off x="8183880" y="1508760"/>
            <a:ext cx="3459175" cy="502920"/>
          </a:xfrm>
          <a:prstGeom prst="rect">
            <a:avLst/>
          </a:prstGeom>
          <a:noFill/>
          <a:ln/>
        </p:spPr>
        <p:txBody>
          <a:bodyPr wrap="square" lIns="0" tIns="0" rIns="0" bIns="0" rtlCol="0" anchor="ctr"/>
          <a:lstStyle/>
          <a:p>
            <a:pPr indent="0" marL="0">
              <a:buNone/>
            </a:pPr>
            <a:r>
              <a:rPr lang="en-US" sz="2000" b="1" dirty="0">
                <a:solidFill>
                  <a:srgbClr val="C78F2E"/>
                </a:solidFill>
                <a:latin typeface="Cambria" pitchFamily="34" charset="0"/>
                <a:ea typeface="Cambria" pitchFamily="34" charset="-122"/>
                <a:cs typeface="Cambria" pitchFamily="34" charset="-120"/>
              </a:rPr>
              <a:t>Discuss</a:t>
            </a:r>
            <a:endParaRPr lang="en-US" sz="2000" dirty="0"/>
          </a:p>
        </p:txBody>
      </p:sp>
      <p:sp>
        <p:nvSpPr>
          <p:cNvPr id="9" name="Text 6"/>
          <p:cNvSpPr txBox="1"/>
          <p:nvPr/>
        </p:nvSpPr>
        <p:spPr>
          <a:xfrm>
            <a:off x="7543800" y="2240280"/>
            <a:ext cx="4099255" cy="3886200"/>
          </a:xfrm>
          <a:prstGeom prst="rect">
            <a:avLst/>
          </a:prstGeom>
          <a:noFill/>
          <a:ln/>
        </p:spPr>
        <p:txBody>
          <a:bodyPr wrap="square" lIns="0" tIns="0" rIns="0" bIns="0" rtlCol="0" anchor="t"/>
          <a:lstStyle/>
          <a:p>
            <a:pPr marL="254000" indent="-254000">
              <a:spcAft>
                <a:spcPts val="1200"/>
              </a:spcAft>
              <a:buSzPct val="100000"/>
              <a:buFont typeface="+mj-lt"/>
              <a:buAutoNum type="arabicPeriod" startAt="1"/>
            </a:pPr>
            <a:r>
              <a:rPr lang="en-US" sz="1600" dirty="0">
                <a:solidFill>
                  <a:srgbClr val="24302D"/>
                </a:solidFill>
                <a:latin typeface="Calibri" pitchFamily="34" charset="0"/>
                <a:ea typeface="Calibri" pitchFamily="34" charset="-122"/>
                <a:cs typeface="Calibri" pitchFamily="34" charset="-120"/>
              </a:rPr>
              <a:t>Use DICE: what would you want to know?</a:t>
            </a:r>
            <a:endParaRPr lang="en-US" sz="1600" dirty="0"/>
          </a:p>
          <a:p>
            <a:pPr marL="254000" indent="-254000">
              <a:spcAft>
                <a:spcPts val="1200"/>
              </a:spcAft>
              <a:buSzPct val="100000"/>
              <a:buFont typeface="+mj-lt"/>
              <a:buAutoNum type="arabicPeriod" startAt="1"/>
            </a:pPr>
            <a:r>
              <a:rPr lang="en-US" sz="1600" dirty="0">
                <a:solidFill>
                  <a:srgbClr val="24302D"/>
                </a:solidFill>
                <a:latin typeface="Calibri" pitchFamily="34" charset="0"/>
                <a:ea typeface="Calibri" pitchFamily="34" charset="-122"/>
                <a:cs typeface="Calibri" pitchFamily="34" charset="-120"/>
              </a:rPr>
              <a:t>What might be behind the 5 p.m. behavior?</a:t>
            </a:r>
            <a:endParaRPr lang="en-US" sz="1600" dirty="0"/>
          </a:p>
          <a:p>
            <a:pPr marL="254000" indent="-254000">
              <a:spcAft>
                <a:spcPts val="1200"/>
              </a:spcAft>
              <a:buSzPct val="100000"/>
              <a:buFont typeface="+mj-lt"/>
              <a:buAutoNum type="arabicPeriod" startAt="1"/>
            </a:pPr>
            <a:r>
              <a:rPr lang="en-US" sz="1600" dirty="0">
                <a:solidFill>
                  <a:srgbClr val="24302D"/>
                </a:solidFill>
                <a:latin typeface="Calibri" pitchFamily="34" charset="0"/>
                <a:ea typeface="Calibri" pitchFamily="34" charset="-122"/>
                <a:cs typeface="Calibri" pitchFamily="34" charset="-120"/>
              </a:rPr>
              <a:t>How could Grace respond differently to the accusation?</a:t>
            </a:r>
            <a:endParaRPr lang="en-US" sz="1600" dirty="0"/>
          </a:p>
          <a:p>
            <a:pPr marL="254000" indent="-254000">
              <a:spcAft>
                <a:spcPts val="1200"/>
              </a:spcAft>
              <a:buSzPct val="100000"/>
              <a:buFont typeface="+mj-lt"/>
              <a:buAutoNum type="arabicPeriod" startAt="1"/>
            </a:pPr>
            <a:r>
              <a:rPr lang="en-US" sz="1600" dirty="0">
                <a:solidFill>
                  <a:srgbClr val="24302D"/>
                </a:solidFill>
                <a:latin typeface="Calibri" pitchFamily="34" charset="0"/>
                <a:ea typeface="Calibri" pitchFamily="34" charset="-122"/>
                <a:cs typeface="Calibri" pitchFamily="34" charset="-120"/>
              </a:rPr>
              <a:t>What would you teach Grace about communication?</a:t>
            </a:r>
            <a:endParaRPr lang="en-US" sz="1600" dirty="0"/>
          </a:p>
          <a:p>
            <a:pPr marL="254000" indent="-254000">
              <a:spcAft>
                <a:spcPts val="1200"/>
              </a:spcAft>
              <a:buSzPct val="100000"/>
              <a:buFont typeface="+mj-lt"/>
              <a:buAutoNum type="arabicPeriod" startAt="1"/>
            </a:pPr>
            <a:r>
              <a:rPr lang="en-US" sz="1600" dirty="0">
                <a:solidFill>
                  <a:srgbClr val="24302D"/>
                </a:solidFill>
                <a:latin typeface="Calibri" pitchFamily="34" charset="0"/>
                <a:ea typeface="Calibri" pitchFamily="34" charset="-122"/>
                <a:cs typeface="Calibri" pitchFamily="34" charset="-120"/>
              </a:rPr>
              <a:t>When would you involve the clinician?</a:t>
            </a:r>
            <a:endParaRPr lang="en-US" sz="1600" dirty="0"/>
          </a:p>
        </p:txBody>
      </p:sp>
      <p:pic>
        <p:nvPicPr>
          <p:cNvPr id="10" name="Image 1" descr="preencoded.png">    </p:cNvPr>
          <p:cNvPicPr>
            <a:picLocks noChangeAspect="1"/>
          </p:cNvPicPr>
          <p:nvPr/>
        </p:nvPicPr>
        <p:blipFill>
          <a:blip r:embed="rId2"/>
          <a:stretch>
            <a:fillRect/>
          </a:stretch>
        </p:blipFill>
        <p:spPr>
          <a:xfrm>
            <a:off x="548640" y="6309360"/>
            <a:ext cx="874762" cy="365760"/>
          </a:xfrm>
          <a:prstGeom prst="rect">
            <a:avLst/>
          </a:prstGeom>
        </p:spPr>
      </p:pic>
      <p:sp>
        <p:nvSpPr>
          <p:cNvPr id="11" name="Text 7"/>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3</a:t>
            </a:r>
            <a:endParaRPr lang="en-US" sz="900" dirty="0"/>
          </a:p>
        </p:txBody>
      </p:sp>
      <p:sp>
        <p:nvSpPr>
          <p:cNvPr id="12" name="Text 8"/>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Knowledge Check</a:t>
            </a:r>
            <a:endParaRPr lang="en-US" sz="3000" dirty="0"/>
          </a:p>
        </p:txBody>
      </p:sp>
      <p:sp>
        <p:nvSpPr>
          <p:cNvPr id="3" name="Text 1"/>
          <p:cNvSpPr txBox="1"/>
          <p:nvPr/>
        </p:nvSpPr>
        <p:spPr>
          <a:xfrm>
            <a:off x="548640" y="1371600"/>
            <a:ext cx="11094415" cy="1097280"/>
          </a:xfrm>
          <a:prstGeom prst="rect">
            <a:avLst/>
          </a:prstGeom>
          <a:noFill/>
          <a:ln/>
        </p:spPr>
        <p:txBody>
          <a:bodyPr wrap="square" lIns="0" tIns="0" rIns="0" bIns="0" rtlCol="0" anchor="ctr"/>
          <a:lstStyle/>
          <a:p>
            <a:pPr indent="0" marL="0">
              <a:buNone/>
            </a:pPr>
            <a:r>
              <a:rPr lang="en-US" sz="2200" dirty="0">
                <a:solidFill>
                  <a:srgbClr val="24302D"/>
                </a:solidFill>
                <a:latin typeface="Cambria" pitchFamily="34" charset="0"/>
                <a:ea typeface="Cambria" pitchFamily="34" charset="-122"/>
                <a:cs typeface="Cambria" pitchFamily="34" charset="-120"/>
              </a:rPr>
              <a:t>A caregiver calls because her husband has suddenly started hitting her during bathing this week. What should you do first?</a:t>
            </a:r>
            <a:endParaRPr lang="en-US" sz="2200" dirty="0"/>
          </a:p>
        </p:txBody>
      </p:sp>
      <p:sp>
        <p:nvSpPr>
          <p:cNvPr id="4" name="Shape 2"/>
          <p:cNvSpPr/>
          <p:nvPr/>
        </p:nvSpPr>
        <p:spPr>
          <a:xfrm>
            <a:off x="548640" y="2743200"/>
            <a:ext cx="5410048" cy="1463040"/>
          </a:xfrm>
          <a:prstGeom prst="roundRect">
            <a:avLst>
              <a:gd name="adj" fmla="val 7500"/>
            </a:avLst>
          </a:prstGeom>
          <a:solidFill>
            <a:srgbClr val="E8F1EF"/>
          </a:solidFill>
          <a:ln w="12700">
            <a:solidFill>
              <a:srgbClr val="E8F1EF"/>
            </a:solidFill>
            <a:prstDash val="solid"/>
          </a:ln>
        </p:spPr>
      </p:sp>
      <p:sp>
        <p:nvSpPr>
          <p:cNvPr id="5" name="Shape 3"/>
          <p:cNvSpPr/>
          <p:nvPr/>
        </p:nvSpPr>
        <p:spPr>
          <a:xfrm>
            <a:off x="822960" y="3200400"/>
            <a:ext cx="548640" cy="548640"/>
          </a:xfrm>
          <a:prstGeom prst="ellipse">
            <a:avLst/>
          </a:prstGeom>
          <a:solidFill>
            <a:srgbClr val="28695F"/>
          </a:solidFill>
          <a:ln w="12700">
            <a:solidFill>
              <a:srgbClr val="28695F"/>
            </a:solidFill>
            <a:prstDash val="solid"/>
          </a:ln>
        </p:spPr>
      </p:sp>
      <p:sp>
        <p:nvSpPr>
          <p:cNvPr id="6" name="Text 4"/>
          <p:cNvSpPr txBox="1"/>
          <p:nvPr/>
        </p:nvSpPr>
        <p:spPr>
          <a:xfrm>
            <a:off x="822960" y="3200400"/>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A</a:t>
            </a:r>
            <a:endParaRPr lang="en-US" sz="1500" dirty="0"/>
          </a:p>
        </p:txBody>
      </p:sp>
      <p:sp>
        <p:nvSpPr>
          <p:cNvPr id="7" name="Text 5"/>
          <p:cNvSpPr txBox="1"/>
          <p:nvPr/>
        </p:nvSpPr>
        <p:spPr>
          <a:xfrm>
            <a:off x="1600200" y="2834640"/>
            <a:ext cx="4129888" cy="12801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Tell her to ask the doctor for a sedative</a:t>
            </a:r>
            <a:endParaRPr lang="en-US" sz="1700" dirty="0"/>
          </a:p>
        </p:txBody>
      </p:sp>
      <p:sp>
        <p:nvSpPr>
          <p:cNvPr id="8" name="Shape 6"/>
          <p:cNvSpPr/>
          <p:nvPr/>
        </p:nvSpPr>
        <p:spPr>
          <a:xfrm>
            <a:off x="6233008" y="2743200"/>
            <a:ext cx="5410048" cy="1463040"/>
          </a:xfrm>
          <a:prstGeom prst="roundRect">
            <a:avLst>
              <a:gd name="adj" fmla="val 7500"/>
            </a:avLst>
          </a:prstGeom>
          <a:solidFill>
            <a:srgbClr val="F8EFDF"/>
          </a:solidFill>
          <a:ln w="12700">
            <a:solidFill>
              <a:srgbClr val="F8EFDF"/>
            </a:solidFill>
            <a:prstDash val="solid"/>
          </a:ln>
        </p:spPr>
      </p:sp>
      <p:sp>
        <p:nvSpPr>
          <p:cNvPr id="9" name="Shape 7"/>
          <p:cNvSpPr/>
          <p:nvPr/>
        </p:nvSpPr>
        <p:spPr>
          <a:xfrm>
            <a:off x="6507328" y="3200400"/>
            <a:ext cx="548640" cy="548640"/>
          </a:xfrm>
          <a:prstGeom prst="ellipse">
            <a:avLst/>
          </a:prstGeom>
          <a:solidFill>
            <a:srgbClr val="C78F2E"/>
          </a:solidFill>
          <a:ln w="12700">
            <a:solidFill>
              <a:srgbClr val="C78F2E"/>
            </a:solidFill>
            <a:prstDash val="solid"/>
          </a:ln>
        </p:spPr>
      </p:sp>
      <p:sp>
        <p:nvSpPr>
          <p:cNvPr id="10" name="Text 8"/>
          <p:cNvSpPr txBox="1"/>
          <p:nvPr/>
        </p:nvSpPr>
        <p:spPr>
          <a:xfrm>
            <a:off x="6507328" y="3200400"/>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B</a:t>
            </a:r>
            <a:endParaRPr lang="en-US" sz="1500" dirty="0"/>
          </a:p>
        </p:txBody>
      </p:sp>
      <p:sp>
        <p:nvSpPr>
          <p:cNvPr id="11" name="Text 9"/>
          <p:cNvSpPr txBox="1"/>
          <p:nvPr/>
        </p:nvSpPr>
        <p:spPr>
          <a:xfrm>
            <a:off x="7284568" y="2834640"/>
            <a:ext cx="4129888" cy="12801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Ensure she is safe, gather a detailed description, and notify the clinician to check for medical causes such as pain or infection</a:t>
            </a:r>
            <a:endParaRPr lang="en-US" sz="1700" dirty="0"/>
          </a:p>
        </p:txBody>
      </p:sp>
      <p:sp>
        <p:nvSpPr>
          <p:cNvPr id="12" name="Shape 10"/>
          <p:cNvSpPr/>
          <p:nvPr/>
        </p:nvSpPr>
        <p:spPr>
          <a:xfrm>
            <a:off x="548640" y="4480560"/>
            <a:ext cx="5410048" cy="1463040"/>
          </a:xfrm>
          <a:prstGeom prst="roundRect">
            <a:avLst>
              <a:gd name="adj" fmla="val 7500"/>
            </a:avLst>
          </a:prstGeom>
          <a:solidFill>
            <a:srgbClr val="E8F1EF"/>
          </a:solidFill>
          <a:ln w="12700">
            <a:solidFill>
              <a:srgbClr val="E8F1EF"/>
            </a:solidFill>
            <a:prstDash val="solid"/>
          </a:ln>
        </p:spPr>
      </p:sp>
      <p:sp>
        <p:nvSpPr>
          <p:cNvPr id="13" name="Shape 11"/>
          <p:cNvSpPr/>
          <p:nvPr/>
        </p:nvSpPr>
        <p:spPr>
          <a:xfrm>
            <a:off x="822960" y="4937760"/>
            <a:ext cx="548640" cy="548640"/>
          </a:xfrm>
          <a:prstGeom prst="ellipse">
            <a:avLst/>
          </a:prstGeom>
          <a:solidFill>
            <a:srgbClr val="28695F"/>
          </a:solidFill>
          <a:ln w="12700">
            <a:solidFill>
              <a:srgbClr val="28695F"/>
            </a:solidFill>
            <a:prstDash val="solid"/>
          </a:ln>
        </p:spPr>
      </p:sp>
      <p:sp>
        <p:nvSpPr>
          <p:cNvPr id="14" name="Text 12"/>
          <p:cNvSpPr txBox="1"/>
          <p:nvPr/>
        </p:nvSpPr>
        <p:spPr>
          <a:xfrm>
            <a:off x="822960" y="4937760"/>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a:t>
            </a:r>
            <a:endParaRPr lang="en-US" sz="1500" dirty="0"/>
          </a:p>
        </p:txBody>
      </p:sp>
      <p:sp>
        <p:nvSpPr>
          <p:cNvPr id="15" name="Text 13"/>
          <p:cNvSpPr txBox="1"/>
          <p:nvPr/>
        </p:nvSpPr>
        <p:spPr>
          <a:xfrm>
            <a:off x="1600200" y="4572000"/>
            <a:ext cx="4129888" cy="12801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Suggest she stop bathing him</a:t>
            </a:r>
            <a:endParaRPr lang="en-US" sz="1700" dirty="0"/>
          </a:p>
        </p:txBody>
      </p:sp>
      <p:sp>
        <p:nvSpPr>
          <p:cNvPr id="16" name="Shape 14"/>
          <p:cNvSpPr/>
          <p:nvPr/>
        </p:nvSpPr>
        <p:spPr>
          <a:xfrm>
            <a:off x="6233008" y="4480560"/>
            <a:ext cx="5410048" cy="1463040"/>
          </a:xfrm>
          <a:prstGeom prst="roundRect">
            <a:avLst>
              <a:gd name="adj" fmla="val 7500"/>
            </a:avLst>
          </a:prstGeom>
          <a:solidFill>
            <a:srgbClr val="F8EFDF"/>
          </a:solidFill>
          <a:ln w="12700">
            <a:solidFill>
              <a:srgbClr val="F8EFDF"/>
            </a:solidFill>
            <a:prstDash val="solid"/>
          </a:ln>
        </p:spPr>
      </p:sp>
      <p:sp>
        <p:nvSpPr>
          <p:cNvPr id="17" name="Shape 15"/>
          <p:cNvSpPr/>
          <p:nvPr/>
        </p:nvSpPr>
        <p:spPr>
          <a:xfrm>
            <a:off x="6507328" y="4937760"/>
            <a:ext cx="548640" cy="548640"/>
          </a:xfrm>
          <a:prstGeom prst="ellipse">
            <a:avLst/>
          </a:prstGeom>
          <a:solidFill>
            <a:srgbClr val="C78F2E"/>
          </a:solidFill>
          <a:ln w="12700">
            <a:solidFill>
              <a:srgbClr val="C78F2E"/>
            </a:solidFill>
            <a:prstDash val="solid"/>
          </a:ln>
        </p:spPr>
      </p:sp>
      <p:sp>
        <p:nvSpPr>
          <p:cNvPr id="18" name="Text 16"/>
          <p:cNvSpPr txBox="1"/>
          <p:nvPr/>
        </p:nvSpPr>
        <p:spPr>
          <a:xfrm>
            <a:off x="6507328" y="4937760"/>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D</a:t>
            </a:r>
            <a:endParaRPr lang="en-US" sz="1500" dirty="0"/>
          </a:p>
        </p:txBody>
      </p:sp>
      <p:sp>
        <p:nvSpPr>
          <p:cNvPr id="19" name="Text 17"/>
          <p:cNvSpPr txBox="1"/>
          <p:nvPr/>
        </p:nvSpPr>
        <p:spPr>
          <a:xfrm>
            <a:off x="7284568" y="4572000"/>
            <a:ext cx="4129888" cy="12801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Recommend a nursing home</a:t>
            </a:r>
            <a:endParaRPr lang="en-US" sz="1700" dirty="0"/>
          </a:p>
        </p:txBody>
      </p:sp>
      <p:pic>
        <p:nvPicPr>
          <p:cNvPr id="20" name="Image 0" descr="preencoded.png">    </p:cNvPr>
          <p:cNvPicPr>
            <a:picLocks noChangeAspect="1"/>
          </p:cNvPicPr>
          <p:nvPr/>
        </p:nvPicPr>
        <p:blipFill>
          <a:blip r:embed="rId1"/>
          <a:stretch>
            <a:fillRect/>
          </a:stretch>
        </p:blipFill>
        <p:spPr>
          <a:xfrm>
            <a:off x="548640" y="6309360"/>
            <a:ext cx="874762" cy="365760"/>
          </a:xfrm>
          <a:prstGeom prst="rect">
            <a:avLst/>
          </a:prstGeom>
        </p:spPr>
      </p:pic>
      <p:sp>
        <p:nvSpPr>
          <p:cNvPr id="21" name="Text 18"/>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3</a:t>
            </a:r>
            <a:endParaRPr lang="en-US" sz="900" dirty="0"/>
          </a:p>
        </p:txBody>
      </p:sp>
      <p:sp>
        <p:nvSpPr>
          <p:cNvPr id="22" name="Text 19"/>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Knowledge Check</a:t>
            </a:r>
            <a:endParaRPr lang="en-US" sz="3000" dirty="0"/>
          </a:p>
        </p:txBody>
      </p:sp>
      <p:sp>
        <p:nvSpPr>
          <p:cNvPr id="3" name="Text 1"/>
          <p:cNvSpPr txBox="1"/>
          <p:nvPr/>
        </p:nvSpPr>
        <p:spPr>
          <a:xfrm>
            <a:off x="548640" y="1371600"/>
            <a:ext cx="11094415" cy="1097280"/>
          </a:xfrm>
          <a:prstGeom prst="rect">
            <a:avLst/>
          </a:prstGeom>
          <a:noFill/>
          <a:ln/>
        </p:spPr>
        <p:txBody>
          <a:bodyPr wrap="square" lIns="0" tIns="0" rIns="0" bIns="0" rtlCol="0" anchor="ctr"/>
          <a:lstStyle/>
          <a:p>
            <a:pPr indent="0" marL="0">
              <a:buNone/>
            </a:pPr>
            <a:r>
              <a:rPr lang="en-US" sz="2200" dirty="0">
                <a:solidFill>
                  <a:srgbClr val="24302D"/>
                </a:solidFill>
                <a:latin typeface="Cambria" pitchFamily="34" charset="0"/>
                <a:ea typeface="Cambria" pitchFamily="34" charset="-122"/>
                <a:cs typeface="Cambria" pitchFamily="34" charset="-120"/>
              </a:rPr>
              <a:t>A woman with dementia repeatedly asks for her husband, who died years ago. What is the most helpful response?</a:t>
            </a:r>
            <a:endParaRPr lang="en-US" sz="2200" dirty="0"/>
          </a:p>
        </p:txBody>
      </p:sp>
      <p:sp>
        <p:nvSpPr>
          <p:cNvPr id="4" name="Shape 2"/>
          <p:cNvSpPr/>
          <p:nvPr/>
        </p:nvSpPr>
        <p:spPr>
          <a:xfrm>
            <a:off x="548640" y="2743200"/>
            <a:ext cx="5410048" cy="1463040"/>
          </a:xfrm>
          <a:prstGeom prst="roundRect">
            <a:avLst>
              <a:gd name="adj" fmla="val 7500"/>
            </a:avLst>
          </a:prstGeom>
          <a:solidFill>
            <a:srgbClr val="E8F1EF"/>
          </a:solidFill>
          <a:ln w="12700">
            <a:solidFill>
              <a:srgbClr val="E8F1EF"/>
            </a:solidFill>
            <a:prstDash val="solid"/>
          </a:ln>
        </p:spPr>
      </p:sp>
      <p:sp>
        <p:nvSpPr>
          <p:cNvPr id="5" name="Shape 3"/>
          <p:cNvSpPr/>
          <p:nvPr/>
        </p:nvSpPr>
        <p:spPr>
          <a:xfrm>
            <a:off x="822960" y="3200400"/>
            <a:ext cx="548640" cy="548640"/>
          </a:xfrm>
          <a:prstGeom prst="ellipse">
            <a:avLst/>
          </a:prstGeom>
          <a:solidFill>
            <a:srgbClr val="28695F"/>
          </a:solidFill>
          <a:ln w="12700">
            <a:solidFill>
              <a:srgbClr val="28695F"/>
            </a:solidFill>
            <a:prstDash val="solid"/>
          </a:ln>
        </p:spPr>
      </p:sp>
      <p:sp>
        <p:nvSpPr>
          <p:cNvPr id="6" name="Text 4"/>
          <p:cNvSpPr txBox="1"/>
          <p:nvPr/>
        </p:nvSpPr>
        <p:spPr>
          <a:xfrm>
            <a:off x="822960" y="3200400"/>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A</a:t>
            </a:r>
            <a:endParaRPr lang="en-US" sz="1500" dirty="0"/>
          </a:p>
        </p:txBody>
      </p:sp>
      <p:sp>
        <p:nvSpPr>
          <p:cNvPr id="7" name="Text 5"/>
          <p:cNvSpPr txBox="1"/>
          <p:nvPr/>
        </p:nvSpPr>
        <p:spPr>
          <a:xfrm>
            <a:off x="1600200" y="2834640"/>
            <a:ext cx="4129888" cy="12801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"He died years ago — you know that."</a:t>
            </a:r>
            <a:endParaRPr lang="en-US" sz="1700" dirty="0"/>
          </a:p>
        </p:txBody>
      </p:sp>
      <p:sp>
        <p:nvSpPr>
          <p:cNvPr id="8" name="Shape 6"/>
          <p:cNvSpPr/>
          <p:nvPr/>
        </p:nvSpPr>
        <p:spPr>
          <a:xfrm>
            <a:off x="6233008" y="2743200"/>
            <a:ext cx="5410048" cy="1463040"/>
          </a:xfrm>
          <a:prstGeom prst="roundRect">
            <a:avLst>
              <a:gd name="adj" fmla="val 7500"/>
            </a:avLst>
          </a:prstGeom>
          <a:solidFill>
            <a:srgbClr val="F8EFDF"/>
          </a:solidFill>
          <a:ln w="12700">
            <a:solidFill>
              <a:srgbClr val="F8EFDF"/>
            </a:solidFill>
            <a:prstDash val="solid"/>
          </a:ln>
        </p:spPr>
      </p:sp>
      <p:sp>
        <p:nvSpPr>
          <p:cNvPr id="9" name="Shape 7"/>
          <p:cNvSpPr/>
          <p:nvPr/>
        </p:nvSpPr>
        <p:spPr>
          <a:xfrm>
            <a:off x="6507328" y="3200400"/>
            <a:ext cx="548640" cy="548640"/>
          </a:xfrm>
          <a:prstGeom prst="ellipse">
            <a:avLst/>
          </a:prstGeom>
          <a:solidFill>
            <a:srgbClr val="C78F2E"/>
          </a:solidFill>
          <a:ln w="12700">
            <a:solidFill>
              <a:srgbClr val="C78F2E"/>
            </a:solidFill>
            <a:prstDash val="solid"/>
          </a:ln>
        </p:spPr>
      </p:sp>
      <p:sp>
        <p:nvSpPr>
          <p:cNvPr id="10" name="Text 8"/>
          <p:cNvSpPr txBox="1"/>
          <p:nvPr/>
        </p:nvSpPr>
        <p:spPr>
          <a:xfrm>
            <a:off x="6507328" y="3200400"/>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B</a:t>
            </a:r>
            <a:endParaRPr lang="en-US" sz="1500" dirty="0"/>
          </a:p>
        </p:txBody>
      </p:sp>
      <p:sp>
        <p:nvSpPr>
          <p:cNvPr id="11" name="Text 9"/>
          <p:cNvSpPr txBox="1"/>
          <p:nvPr/>
        </p:nvSpPr>
        <p:spPr>
          <a:xfrm>
            <a:off x="7284568" y="2834640"/>
            <a:ext cx="4129888" cy="12801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"He's at work and will be home soon."</a:t>
            </a:r>
            <a:endParaRPr lang="en-US" sz="1700" dirty="0"/>
          </a:p>
        </p:txBody>
      </p:sp>
      <p:sp>
        <p:nvSpPr>
          <p:cNvPr id="12" name="Shape 10"/>
          <p:cNvSpPr/>
          <p:nvPr/>
        </p:nvSpPr>
        <p:spPr>
          <a:xfrm>
            <a:off x="548640" y="4480560"/>
            <a:ext cx="5410048" cy="1463040"/>
          </a:xfrm>
          <a:prstGeom prst="roundRect">
            <a:avLst>
              <a:gd name="adj" fmla="val 7500"/>
            </a:avLst>
          </a:prstGeom>
          <a:solidFill>
            <a:srgbClr val="E8F1EF"/>
          </a:solidFill>
          <a:ln w="12700">
            <a:solidFill>
              <a:srgbClr val="E8F1EF"/>
            </a:solidFill>
            <a:prstDash val="solid"/>
          </a:ln>
        </p:spPr>
      </p:sp>
      <p:sp>
        <p:nvSpPr>
          <p:cNvPr id="13" name="Shape 11"/>
          <p:cNvSpPr/>
          <p:nvPr/>
        </p:nvSpPr>
        <p:spPr>
          <a:xfrm>
            <a:off x="822960" y="4937760"/>
            <a:ext cx="548640" cy="548640"/>
          </a:xfrm>
          <a:prstGeom prst="ellipse">
            <a:avLst/>
          </a:prstGeom>
          <a:solidFill>
            <a:srgbClr val="28695F"/>
          </a:solidFill>
          <a:ln w="12700">
            <a:solidFill>
              <a:srgbClr val="28695F"/>
            </a:solidFill>
            <a:prstDash val="solid"/>
          </a:ln>
        </p:spPr>
      </p:sp>
      <p:sp>
        <p:nvSpPr>
          <p:cNvPr id="14" name="Text 12"/>
          <p:cNvSpPr txBox="1"/>
          <p:nvPr/>
        </p:nvSpPr>
        <p:spPr>
          <a:xfrm>
            <a:off x="822960" y="4937760"/>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a:t>
            </a:r>
            <a:endParaRPr lang="en-US" sz="1500" dirty="0"/>
          </a:p>
        </p:txBody>
      </p:sp>
      <p:sp>
        <p:nvSpPr>
          <p:cNvPr id="15" name="Text 13"/>
          <p:cNvSpPr txBox="1"/>
          <p:nvPr/>
        </p:nvSpPr>
        <p:spPr>
          <a:xfrm>
            <a:off x="1600200" y="4572000"/>
            <a:ext cx="4129888" cy="12801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"You miss him. Tell me about him."</a:t>
            </a:r>
            <a:endParaRPr lang="en-US" sz="1700" dirty="0"/>
          </a:p>
        </p:txBody>
      </p:sp>
      <p:sp>
        <p:nvSpPr>
          <p:cNvPr id="16" name="Shape 14"/>
          <p:cNvSpPr/>
          <p:nvPr/>
        </p:nvSpPr>
        <p:spPr>
          <a:xfrm>
            <a:off x="6233008" y="4480560"/>
            <a:ext cx="5410048" cy="1463040"/>
          </a:xfrm>
          <a:prstGeom prst="roundRect">
            <a:avLst>
              <a:gd name="adj" fmla="val 7500"/>
            </a:avLst>
          </a:prstGeom>
          <a:solidFill>
            <a:srgbClr val="F8EFDF"/>
          </a:solidFill>
          <a:ln w="12700">
            <a:solidFill>
              <a:srgbClr val="F8EFDF"/>
            </a:solidFill>
            <a:prstDash val="solid"/>
          </a:ln>
        </p:spPr>
      </p:sp>
      <p:sp>
        <p:nvSpPr>
          <p:cNvPr id="17" name="Shape 15"/>
          <p:cNvSpPr/>
          <p:nvPr/>
        </p:nvSpPr>
        <p:spPr>
          <a:xfrm>
            <a:off x="6507328" y="4937760"/>
            <a:ext cx="548640" cy="548640"/>
          </a:xfrm>
          <a:prstGeom prst="ellipse">
            <a:avLst/>
          </a:prstGeom>
          <a:solidFill>
            <a:srgbClr val="C78F2E"/>
          </a:solidFill>
          <a:ln w="12700">
            <a:solidFill>
              <a:srgbClr val="C78F2E"/>
            </a:solidFill>
            <a:prstDash val="solid"/>
          </a:ln>
        </p:spPr>
      </p:sp>
      <p:sp>
        <p:nvSpPr>
          <p:cNvPr id="18" name="Text 16"/>
          <p:cNvSpPr txBox="1"/>
          <p:nvPr/>
        </p:nvSpPr>
        <p:spPr>
          <a:xfrm>
            <a:off x="6507328" y="4937760"/>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D</a:t>
            </a:r>
            <a:endParaRPr lang="en-US" sz="1500" dirty="0"/>
          </a:p>
        </p:txBody>
      </p:sp>
      <p:sp>
        <p:nvSpPr>
          <p:cNvPr id="19" name="Text 17"/>
          <p:cNvSpPr txBox="1"/>
          <p:nvPr/>
        </p:nvSpPr>
        <p:spPr>
          <a:xfrm>
            <a:off x="7284568" y="4572000"/>
            <a:ext cx="4129888" cy="12801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Ignore the question and change the subject</a:t>
            </a:r>
            <a:endParaRPr lang="en-US" sz="1700" dirty="0"/>
          </a:p>
        </p:txBody>
      </p:sp>
      <p:pic>
        <p:nvPicPr>
          <p:cNvPr id="20" name="Image 0" descr="preencoded.png">    </p:cNvPr>
          <p:cNvPicPr>
            <a:picLocks noChangeAspect="1"/>
          </p:cNvPicPr>
          <p:nvPr/>
        </p:nvPicPr>
        <p:blipFill>
          <a:blip r:embed="rId1"/>
          <a:stretch>
            <a:fillRect/>
          </a:stretch>
        </p:blipFill>
        <p:spPr>
          <a:xfrm>
            <a:off x="548640" y="6309360"/>
            <a:ext cx="874762" cy="365760"/>
          </a:xfrm>
          <a:prstGeom prst="rect">
            <a:avLst/>
          </a:prstGeom>
        </p:spPr>
      </p:pic>
      <p:sp>
        <p:nvSpPr>
          <p:cNvPr id="21" name="Text 18"/>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3</a:t>
            </a:r>
            <a:endParaRPr lang="en-US" sz="900" dirty="0"/>
          </a:p>
        </p:txBody>
      </p:sp>
      <p:sp>
        <p:nvSpPr>
          <p:cNvPr id="22" name="Text 19"/>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Knowledge Check</a:t>
            </a:r>
            <a:endParaRPr lang="en-US" sz="3000" dirty="0"/>
          </a:p>
        </p:txBody>
      </p:sp>
      <p:sp>
        <p:nvSpPr>
          <p:cNvPr id="3" name="Text 1"/>
          <p:cNvSpPr txBox="1"/>
          <p:nvPr/>
        </p:nvSpPr>
        <p:spPr>
          <a:xfrm>
            <a:off x="548640" y="1371600"/>
            <a:ext cx="11094415" cy="1097280"/>
          </a:xfrm>
          <a:prstGeom prst="rect">
            <a:avLst/>
          </a:prstGeom>
          <a:noFill/>
          <a:ln/>
        </p:spPr>
        <p:txBody>
          <a:bodyPr wrap="square" lIns="0" tIns="0" rIns="0" bIns="0" rtlCol="0" anchor="ctr"/>
          <a:lstStyle/>
          <a:p>
            <a:pPr indent="0" marL="0">
              <a:buNone/>
            </a:pPr>
            <a:r>
              <a:rPr lang="en-US" sz="2200" dirty="0">
                <a:solidFill>
                  <a:srgbClr val="24302D"/>
                </a:solidFill>
                <a:latin typeface="Cambria" pitchFamily="34" charset="0"/>
                <a:ea typeface="Cambria" pitchFamily="34" charset="-122"/>
                <a:cs typeface="Cambria" pitchFamily="34" charset="-120"/>
              </a:rPr>
              <a:t>In the ABC method of documenting behavior, what does the "A" stand for?</a:t>
            </a:r>
            <a:endParaRPr lang="en-US" sz="2200" dirty="0"/>
          </a:p>
        </p:txBody>
      </p:sp>
      <p:sp>
        <p:nvSpPr>
          <p:cNvPr id="4" name="Shape 2"/>
          <p:cNvSpPr/>
          <p:nvPr/>
        </p:nvSpPr>
        <p:spPr>
          <a:xfrm>
            <a:off x="548640" y="2743200"/>
            <a:ext cx="5410048" cy="1463040"/>
          </a:xfrm>
          <a:prstGeom prst="roundRect">
            <a:avLst>
              <a:gd name="adj" fmla="val 7500"/>
            </a:avLst>
          </a:prstGeom>
          <a:solidFill>
            <a:srgbClr val="E8F1EF"/>
          </a:solidFill>
          <a:ln w="12700">
            <a:solidFill>
              <a:srgbClr val="E8F1EF"/>
            </a:solidFill>
            <a:prstDash val="solid"/>
          </a:ln>
        </p:spPr>
      </p:sp>
      <p:sp>
        <p:nvSpPr>
          <p:cNvPr id="5" name="Shape 3"/>
          <p:cNvSpPr/>
          <p:nvPr/>
        </p:nvSpPr>
        <p:spPr>
          <a:xfrm>
            <a:off x="822960" y="3200400"/>
            <a:ext cx="548640" cy="548640"/>
          </a:xfrm>
          <a:prstGeom prst="ellipse">
            <a:avLst/>
          </a:prstGeom>
          <a:solidFill>
            <a:srgbClr val="28695F"/>
          </a:solidFill>
          <a:ln w="12700">
            <a:solidFill>
              <a:srgbClr val="28695F"/>
            </a:solidFill>
            <a:prstDash val="solid"/>
          </a:ln>
        </p:spPr>
      </p:sp>
      <p:sp>
        <p:nvSpPr>
          <p:cNvPr id="6" name="Text 4"/>
          <p:cNvSpPr txBox="1"/>
          <p:nvPr/>
        </p:nvSpPr>
        <p:spPr>
          <a:xfrm>
            <a:off x="822960" y="3200400"/>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A</a:t>
            </a:r>
            <a:endParaRPr lang="en-US" sz="1500" dirty="0"/>
          </a:p>
        </p:txBody>
      </p:sp>
      <p:sp>
        <p:nvSpPr>
          <p:cNvPr id="7" name="Text 5"/>
          <p:cNvSpPr txBox="1"/>
          <p:nvPr/>
        </p:nvSpPr>
        <p:spPr>
          <a:xfrm>
            <a:off x="1600200" y="2834640"/>
            <a:ext cx="4129888" cy="12801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Aggression</a:t>
            </a:r>
            <a:endParaRPr lang="en-US" sz="1700" dirty="0"/>
          </a:p>
        </p:txBody>
      </p:sp>
      <p:sp>
        <p:nvSpPr>
          <p:cNvPr id="8" name="Shape 6"/>
          <p:cNvSpPr/>
          <p:nvPr/>
        </p:nvSpPr>
        <p:spPr>
          <a:xfrm>
            <a:off x="6233008" y="2743200"/>
            <a:ext cx="5410048" cy="1463040"/>
          </a:xfrm>
          <a:prstGeom prst="roundRect">
            <a:avLst>
              <a:gd name="adj" fmla="val 7500"/>
            </a:avLst>
          </a:prstGeom>
          <a:solidFill>
            <a:srgbClr val="F8EFDF"/>
          </a:solidFill>
          <a:ln w="12700">
            <a:solidFill>
              <a:srgbClr val="F8EFDF"/>
            </a:solidFill>
            <a:prstDash val="solid"/>
          </a:ln>
        </p:spPr>
      </p:sp>
      <p:sp>
        <p:nvSpPr>
          <p:cNvPr id="9" name="Shape 7"/>
          <p:cNvSpPr/>
          <p:nvPr/>
        </p:nvSpPr>
        <p:spPr>
          <a:xfrm>
            <a:off x="6507328" y="3200400"/>
            <a:ext cx="548640" cy="548640"/>
          </a:xfrm>
          <a:prstGeom prst="ellipse">
            <a:avLst/>
          </a:prstGeom>
          <a:solidFill>
            <a:srgbClr val="C78F2E"/>
          </a:solidFill>
          <a:ln w="12700">
            <a:solidFill>
              <a:srgbClr val="C78F2E"/>
            </a:solidFill>
            <a:prstDash val="solid"/>
          </a:ln>
        </p:spPr>
      </p:sp>
      <p:sp>
        <p:nvSpPr>
          <p:cNvPr id="10" name="Text 8"/>
          <p:cNvSpPr txBox="1"/>
          <p:nvPr/>
        </p:nvSpPr>
        <p:spPr>
          <a:xfrm>
            <a:off x="6507328" y="3200400"/>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B</a:t>
            </a:r>
            <a:endParaRPr lang="en-US" sz="1500" dirty="0"/>
          </a:p>
        </p:txBody>
      </p:sp>
      <p:sp>
        <p:nvSpPr>
          <p:cNvPr id="11" name="Text 9"/>
          <p:cNvSpPr txBox="1"/>
          <p:nvPr/>
        </p:nvSpPr>
        <p:spPr>
          <a:xfrm>
            <a:off x="7284568" y="2834640"/>
            <a:ext cx="4129888" cy="12801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Antecedent — what happened right before the behavior</a:t>
            </a:r>
            <a:endParaRPr lang="en-US" sz="1700" dirty="0"/>
          </a:p>
        </p:txBody>
      </p:sp>
      <p:sp>
        <p:nvSpPr>
          <p:cNvPr id="12" name="Shape 10"/>
          <p:cNvSpPr/>
          <p:nvPr/>
        </p:nvSpPr>
        <p:spPr>
          <a:xfrm>
            <a:off x="548640" y="4480560"/>
            <a:ext cx="5410048" cy="1463040"/>
          </a:xfrm>
          <a:prstGeom prst="roundRect">
            <a:avLst>
              <a:gd name="adj" fmla="val 7500"/>
            </a:avLst>
          </a:prstGeom>
          <a:solidFill>
            <a:srgbClr val="E8F1EF"/>
          </a:solidFill>
          <a:ln w="12700">
            <a:solidFill>
              <a:srgbClr val="E8F1EF"/>
            </a:solidFill>
            <a:prstDash val="solid"/>
          </a:ln>
        </p:spPr>
      </p:sp>
      <p:sp>
        <p:nvSpPr>
          <p:cNvPr id="13" name="Shape 11"/>
          <p:cNvSpPr/>
          <p:nvPr/>
        </p:nvSpPr>
        <p:spPr>
          <a:xfrm>
            <a:off x="822960" y="4937760"/>
            <a:ext cx="548640" cy="548640"/>
          </a:xfrm>
          <a:prstGeom prst="ellipse">
            <a:avLst/>
          </a:prstGeom>
          <a:solidFill>
            <a:srgbClr val="28695F"/>
          </a:solidFill>
          <a:ln w="12700">
            <a:solidFill>
              <a:srgbClr val="28695F"/>
            </a:solidFill>
            <a:prstDash val="solid"/>
          </a:ln>
        </p:spPr>
      </p:sp>
      <p:sp>
        <p:nvSpPr>
          <p:cNvPr id="14" name="Text 12"/>
          <p:cNvSpPr txBox="1"/>
          <p:nvPr/>
        </p:nvSpPr>
        <p:spPr>
          <a:xfrm>
            <a:off x="822960" y="4937760"/>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a:t>
            </a:r>
            <a:endParaRPr lang="en-US" sz="1500" dirty="0"/>
          </a:p>
        </p:txBody>
      </p:sp>
      <p:sp>
        <p:nvSpPr>
          <p:cNvPr id="15" name="Text 13"/>
          <p:cNvSpPr txBox="1"/>
          <p:nvPr/>
        </p:nvSpPr>
        <p:spPr>
          <a:xfrm>
            <a:off x="1600200" y="4572000"/>
            <a:ext cx="4129888" cy="12801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Assessment</a:t>
            </a:r>
            <a:endParaRPr lang="en-US" sz="1700" dirty="0"/>
          </a:p>
        </p:txBody>
      </p:sp>
      <p:sp>
        <p:nvSpPr>
          <p:cNvPr id="16" name="Shape 14"/>
          <p:cNvSpPr/>
          <p:nvPr/>
        </p:nvSpPr>
        <p:spPr>
          <a:xfrm>
            <a:off x="6233008" y="4480560"/>
            <a:ext cx="5410048" cy="1463040"/>
          </a:xfrm>
          <a:prstGeom prst="roundRect">
            <a:avLst>
              <a:gd name="adj" fmla="val 7500"/>
            </a:avLst>
          </a:prstGeom>
          <a:solidFill>
            <a:srgbClr val="F8EFDF"/>
          </a:solidFill>
          <a:ln w="12700">
            <a:solidFill>
              <a:srgbClr val="F8EFDF"/>
            </a:solidFill>
            <a:prstDash val="solid"/>
          </a:ln>
        </p:spPr>
      </p:sp>
      <p:sp>
        <p:nvSpPr>
          <p:cNvPr id="17" name="Shape 15"/>
          <p:cNvSpPr/>
          <p:nvPr/>
        </p:nvSpPr>
        <p:spPr>
          <a:xfrm>
            <a:off x="6507328" y="4937760"/>
            <a:ext cx="548640" cy="548640"/>
          </a:xfrm>
          <a:prstGeom prst="ellipse">
            <a:avLst/>
          </a:prstGeom>
          <a:solidFill>
            <a:srgbClr val="C78F2E"/>
          </a:solidFill>
          <a:ln w="12700">
            <a:solidFill>
              <a:srgbClr val="C78F2E"/>
            </a:solidFill>
            <a:prstDash val="solid"/>
          </a:ln>
        </p:spPr>
      </p:sp>
      <p:sp>
        <p:nvSpPr>
          <p:cNvPr id="18" name="Text 16"/>
          <p:cNvSpPr txBox="1"/>
          <p:nvPr/>
        </p:nvSpPr>
        <p:spPr>
          <a:xfrm>
            <a:off x="6507328" y="4937760"/>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D</a:t>
            </a:r>
            <a:endParaRPr lang="en-US" sz="1500" dirty="0"/>
          </a:p>
        </p:txBody>
      </p:sp>
      <p:sp>
        <p:nvSpPr>
          <p:cNvPr id="19" name="Text 17"/>
          <p:cNvSpPr txBox="1"/>
          <p:nvPr/>
        </p:nvSpPr>
        <p:spPr>
          <a:xfrm>
            <a:off x="7284568" y="4572000"/>
            <a:ext cx="4129888" cy="12801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Action taken by the caregiver</a:t>
            </a:r>
            <a:endParaRPr lang="en-US" sz="1700" dirty="0"/>
          </a:p>
        </p:txBody>
      </p:sp>
      <p:pic>
        <p:nvPicPr>
          <p:cNvPr id="20" name="Image 0" descr="preencoded.png">    </p:cNvPr>
          <p:cNvPicPr>
            <a:picLocks noChangeAspect="1"/>
          </p:cNvPicPr>
          <p:nvPr/>
        </p:nvPicPr>
        <p:blipFill>
          <a:blip r:embed="rId1"/>
          <a:stretch>
            <a:fillRect/>
          </a:stretch>
        </p:blipFill>
        <p:spPr>
          <a:xfrm>
            <a:off x="548640" y="6309360"/>
            <a:ext cx="874762" cy="365760"/>
          </a:xfrm>
          <a:prstGeom prst="rect">
            <a:avLst/>
          </a:prstGeom>
        </p:spPr>
      </p:pic>
      <p:sp>
        <p:nvSpPr>
          <p:cNvPr id="21" name="Text 18"/>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3</a:t>
            </a:r>
            <a:endParaRPr lang="en-US" sz="900" dirty="0"/>
          </a:p>
        </p:txBody>
      </p:sp>
      <p:sp>
        <p:nvSpPr>
          <p:cNvPr id="22" name="Text 19"/>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28695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Key Takeaways</a:t>
            </a:r>
            <a:endParaRPr lang="en-US" sz="3000" dirty="0"/>
          </a:p>
        </p:txBody>
      </p:sp>
      <p:pic>
        <p:nvPicPr>
          <p:cNvPr id="3" name="Image 0" descr="preencoded.png">    </p:cNvPr>
          <p:cNvPicPr>
            <a:picLocks noChangeAspect="1"/>
          </p:cNvPicPr>
          <p:nvPr/>
        </p:nvPicPr>
        <p:blipFill>
          <a:blip r:embed="rId1"/>
          <a:stretch>
            <a:fillRect/>
          </a:stretch>
        </p:blipFill>
        <p:spPr>
          <a:xfrm>
            <a:off x="548640" y="1517904"/>
            <a:ext cx="420624" cy="420624"/>
          </a:xfrm>
          <a:prstGeom prst="rect">
            <a:avLst/>
          </a:prstGeom>
        </p:spPr>
      </p:pic>
      <p:sp>
        <p:nvSpPr>
          <p:cNvPr id="4" name="Text 1"/>
          <p:cNvSpPr txBox="1"/>
          <p:nvPr/>
        </p:nvSpPr>
        <p:spPr>
          <a:xfrm>
            <a:off x="1143000" y="1463040"/>
            <a:ext cx="4754880" cy="132588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Behavior is communication — look for the unmet need</a:t>
            </a:r>
            <a:endParaRPr lang="en-US" sz="2000" dirty="0"/>
          </a:p>
        </p:txBody>
      </p:sp>
      <p:pic>
        <p:nvPicPr>
          <p:cNvPr id="5" name="Image 1" descr="preencoded.png">    </p:cNvPr>
          <p:cNvPicPr>
            <a:picLocks noChangeAspect="1"/>
          </p:cNvPicPr>
          <p:nvPr/>
        </p:nvPicPr>
        <p:blipFill>
          <a:blip r:embed="rId2"/>
          <a:stretch>
            <a:fillRect/>
          </a:stretch>
        </p:blipFill>
        <p:spPr>
          <a:xfrm>
            <a:off x="548640" y="2935224"/>
            <a:ext cx="420624" cy="420624"/>
          </a:xfrm>
          <a:prstGeom prst="rect">
            <a:avLst/>
          </a:prstGeom>
        </p:spPr>
      </p:pic>
      <p:sp>
        <p:nvSpPr>
          <p:cNvPr id="6" name="Text 2"/>
          <p:cNvSpPr txBox="1"/>
          <p:nvPr/>
        </p:nvSpPr>
        <p:spPr>
          <a:xfrm>
            <a:off x="1143000" y="2880360"/>
            <a:ext cx="4754880" cy="132588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Rule out physical causes: pain, infection, constipation, medications</a:t>
            </a:r>
            <a:endParaRPr lang="en-US" sz="2000" dirty="0"/>
          </a:p>
        </p:txBody>
      </p:sp>
      <p:pic>
        <p:nvPicPr>
          <p:cNvPr id="7" name="Image 2" descr="preencoded.png">    </p:cNvPr>
          <p:cNvPicPr>
            <a:picLocks noChangeAspect="1"/>
          </p:cNvPicPr>
          <p:nvPr/>
        </p:nvPicPr>
        <p:blipFill>
          <a:blip r:embed="rId3"/>
          <a:stretch>
            <a:fillRect/>
          </a:stretch>
        </p:blipFill>
        <p:spPr>
          <a:xfrm>
            <a:off x="548640" y="4352544"/>
            <a:ext cx="420624" cy="420624"/>
          </a:xfrm>
          <a:prstGeom prst="rect">
            <a:avLst/>
          </a:prstGeom>
        </p:spPr>
      </p:pic>
      <p:sp>
        <p:nvSpPr>
          <p:cNvPr id="8" name="Text 3"/>
          <p:cNvSpPr txBox="1"/>
          <p:nvPr/>
        </p:nvSpPr>
        <p:spPr>
          <a:xfrm>
            <a:off x="1143000" y="4297680"/>
            <a:ext cx="4754880" cy="132588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Use DICE: Describe, Investigate, Create, Evaluate</a:t>
            </a:r>
            <a:endParaRPr lang="en-US" sz="2000" dirty="0"/>
          </a:p>
        </p:txBody>
      </p:sp>
      <p:pic>
        <p:nvPicPr>
          <p:cNvPr id="9" name="Image 3" descr="preencoded.png">    </p:cNvPr>
          <p:cNvPicPr>
            <a:picLocks noChangeAspect="1"/>
          </p:cNvPicPr>
          <p:nvPr/>
        </p:nvPicPr>
        <p:blipFill>
          <a:blip r:embed="rId4"/>
          <a:stretch>
            <a:fillRect/>
          </a:stretch>
        </p:blipFill>
        <p:spPr>
          <a:xfrm>
            <a:off x="6291072" y="1517904"/>
            <a:ext cx="420624" cy="420624"/>
          </a:xfrm>
          <a:prstGeom prst="rect">
            <a:avLst/>
          </a:prstGeom>
        </p:spPr>
      </p:pic>
      <p:sp>
        <p:nvSpPr>
          <p:cNvPr id="10" name="Text 4"/>
          <p:cNvSpPr txBox="1"/>
          <p:nvPr/>
        </p:nvSpPr>
        <p:spPr>
          <a:xfrm>
            <a:off x="6885432" y="1463040"/>
            <a:ext cx="4754880" cy="132588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Non-drug strategies first; medication decisions belong to the clinician</a:t>
            </a:r>
            <a:endParaRPr lang="en-US" sz="2000" dirty="0"/>
          </a:p>
        </p:txBody>
      </p:sp>
      <p:pic>
        <p:nvPicPr>
          <p:cNvPr id="11" name="Image 4" descr="preencoded.png">    </p:cNvPr>
          <p:cNvPicPr>
            <a:picLocks noChangeAspect="1"/>
          </p:cNvPicPr>
          <p:nvPr/>
        </p:nvPicPr>
        <p:blipFill>
          <a:blip r:embed="rId5"/>
          <a:stretch>
            <a:fillRect/>
          </a:stretch>
        </p:blipFill>
        <p:spPr>
          <a:xfrm>
            <a:off x="6291072" y="2935224"/>
            <a:ext cx="420624" cy="420624"/>
          </a:xfrm>
          <a:prstGeom prst="rect">
            <a:avLst/>
          </a:prstGeom>
        </p:spPr>
      </p:pic>
      <p:sp>
        <p:nvSpPr>
          <p:cNvPr id="12" name="Text 5"/>
          <p:cNvSpPr txBox="1"/>
          <p:nvPr/>
        </p:nvSpPr>
        <p:spPr>
          <a:xfrm>
            <a:off x="6885432" y="2880360"/>
            <a:ext cx="4754880" cy="132588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Approach from the front, keep it simple, offer choices, and wait</a:t>
            </a:r>
            <a:endParaRPr lang="en-US" sz="2000" dirty="0"/>
          </a:p>
        </p:txBody>
      </p:sp>
      <p:pic>
        <p:nvPicPr>
          <p:cNvPr id="13" name="Image 5" descr="preencoded.png">    </p:cNvPr>
          <p:cNvPicPr>
            <a:picLocks noChangeAspect="1"/>
          </p:cNvPicPr>
          <p:nvPr/>
        </p:nvPicPr>
        <p:blipFill>
          <a:blip r:embed="rId6"/>
          <a:stretch>
            <a:fillRect/>
          </a:stretch>
        </p:blipFill>
        <p:spPr>
          <a:xfrm>
            <a:off x="6291072" y="4352544"/>
            <a:ext cx="420624" cy="420624"/>
          </a:xfrm>
          <a:prstGeom prst="rect">
            <a:avLst/>
          </a:prstGeom>
        </p:spPr>
      </p:pic>
      <p:sp>
        <p:nvSpPr>
          <p:cNvPr id="14" name="Text 6"/>
          <p:cNvSpPr txBox="1"/>
          <p:nvPr/>
        </p:nvSpPr>
        <p:spPr>
          <a:xfrm>
            <a:off x="6885432" y="4297680"/>
            <a:ext cx="4754880" cy="132588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Validate feelings instead of correcting facts</a:t>
            </a:r>
            <a:endParaRPr lang="en-US" sz="2000" dirty="0"/>
          </a:p>
        </p:txBody>
      </p:sp>
      <p:pic>
        <p:nvPicPr>
          <p:cNvPr id="15" name="Image 6" descr="preencoded.png">    </p:cNvPr>
          <p:cNvPicPr>
            <a:picLocks noChangeAspect="1"/>
          </p:cNvPicPr>
          <p:nvPr/>
        </p:nvPicPr>
        <p:blipFill>
          <a:blip r:embed="rId7"/>
          <a:stretch>
            <a:fillRect/>
          </a:stretch>
        </p:blipFill>
        <p:spPr>
          <a:xfrm>
            <a:off x="548640" y="6382512"/>
            <a:ext cx="219456" cy="219456"/>
          </a:xfrm>
          <a:prstGeom prst="rect">
            <a:avLst/>
          </a:prstGeom>
        </p:spPr>
      </p:pic>
      <p:sp>
        <p:nvSpPr>
          <p:cNvPr id="16" name="Text 7"/>
          <p:cNvSpPr txBox="1"/>
          <p:nvPr/>
        </p:nvSpPr>
        <p:spPr>
          <a:xfrm>
            <a:off x="859536" y="6364224"/>
            <a:ext cx="7772400" cy="256032"/>
          </a:xfrm>
          <a:prstGeom prst="rect">
            <a:avLst/>
          </a:prstGeom>
          <a:noFill/>
          <a:ln/>
        </p:spPr>
        <p:txBody>
          <a:bodyPr wrap="square" lIns="0" tIns="0" rIns="0" bIns="0" rtlCol="0" anchor="ctr"/>
          <a:lstStyle/>
          <a:p>
            <a:pPr indent="0" marL="0">
              <a:buNone/>
            </a:pPr>
            <a:r>
              <a:rPr lang="en-US" sz="900" dirty="0">
                <a:solidFill>
                  <a:srgbClr val="C9DEDA"/>
                </a:solidFill>
                <a:latin typeface="Calibri" pitchFamily="34" charset="0"/>
                <a:ea typeface="Calibri" pitchFamily="34" charset="-122"/>
                <a:cs typeface="Calibri" pitchFamily="34" charset="-120"/>
              </a:rPr>
              <a:t>AbleLiving Memory Support  |  GUIDE Care Navigator Training  |  Module 3</a:t>
            </a:r>
            <a:endParaRPr lang="en-US" sz="900" dirty="0"/>
          </a:p>
        </p:txBody>
      </p:sp>
      <p:sp>
        <p:nvSpPr>
          <p:cNvPr id="17" name="Text 8"/>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C9DEDA"/>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Resources for This Module</a:t>
            </a:r>
            <a:endParaRPr lang="en-US" sz="3000" dirty="0"/>
          </a:p>
        </p:txBody>
      </p:sp>
      <p:sp>
        <p:nvSpPr>
          <p:cNvPr id="3" name="Text 1"/>
          <p:cNvSpPr txBox="1"/>
          <p:nvPr/>
        </p:nvSpPr>
        <p:spPr>
          <a:xfrm>
            <a:off x="548640" y="1417320"/>
            <a:ext cx="8961120" cy="4709160"/>
          </a:xfrm>
          <a:prstGeom prst="rect">
            <a:avLst/>
          </a:prstGeom>
          <a:noFill/>
          <a:ln/>
        </p:spPr>
        <p:txBody>
          <a:bodyPr wrap="square" lIns="0" tIns="0" rIns="0" bIns="0" rtlCol="0" anchor="t"/>
          <a:lstStyle/>
          <a:p>
            <a:pPr marL="203200" indent="-203200">
              <a:spcAft>
                <a:spcPts val="1200"/>
              </a:spcAft>
              <a:buSzPct val="100000"/>
              <a:buChar char="•"/>
            </a:pPr>
            <a:r>
              <a:rPr lang="en-US" sz="1900" b="1" dirty="0">
                <a:solidFill>
                  <a:srgbClr val="28695F"/>
                </a:solidFill>
                <a:latin typeface="Calibri" pitchFamily="34" charset="0"/>
                <a:ea typeface="Calibri" pitchFamily="34" charset="-122"/>
                <a:cs typeface="Calibri" pitchFamily="34" charset="-120"/>
              </a:rPr>
              <a:t>DICE Approach: </a:t>
            </a:r>
            <a:r>
              <a:rPr lang="en-US" sz="1900" dirty="0">
                <a:solidFill>
                  <a:srgbClr val="24302D"/>
                </a:solidFill>
                <a:latin typeface="Calibri" pitchFamily="34" charset="0"/>
                <a:ea typeface="Calibri" pitchFamily="34" charset="-122"/>
                <a:cs typeface="Calibri" pitchFamily="34" charset="-120"/>
              </a:rPr>
              <a:t>Kales HC, Gitlin LN, Lyketsos CG. Management of neuropsychiatric symptoms of dementia (BMJ, 2015)</a:t>
            </a:r>
            <a:endParaRPr lang="en-US" sz="1900" dirty="0"/>
          </a:p>
          <a:p>
            <a:pPr marL="203200" indent="-203200">
              <a:spcAft>
                <a:spcPts val="1200"/>
              </a:spcAft>
              <a:buSzPct val="100000"/>
              <a:buChar char="•"/>
            </a:pPr>
            <a:r>
              <a:rPr lang="en-US" sz="1900" b="1" dirty="0">
                <a:solidFill>
                  <a:srgbClr val="28695F"/>
                </a:solidFill>
                <a:latin typeface="Calibri" pitchFamily="34" charset="0"/>
                <a:ea typeface="Calibri" pitchFamily="34" charset="-122"/>
                <a:cs typeface="Calibri" pitchFamily="34" charset="-120"/>
              </a:rPr>
              <a:t>Alzheimer's Association: </a:t>
            </a:r>
            <a:r>
              <a:rPr lang="en-US" sz="1900" dirty="0">
                <a:solidFill>
                  <a:srgbClr val="24302D"/>
                </a:solidFill>
                <a:latin typeface="Calibri" pitchFamily="34" charset="0"/>
                <a:ea typeface="Calibri" pitchFamily="34" charset="-122"/>
                <a:cs typeface="Calibri" pitchFamily="34" charset="-120"/>
              </a:rPr>
              <a:t>Behaviors and communication tip sheets for caregivers (alz.org)</a:t>
            </a:r>
            <a:endParaRPr lang="en-US" sz="1900" dirty="0"/>
          </a:p>
          <a:p>
            <a:pPr marL="203200" indent="-203200">
              <a:spcAft>
                <a:spcPts val="1200"/>
              </a:spcAft>
              <a:buSzPct val="100000"/>
              <a:buChar char="•"/>
            </a:pPr>
            <a:r>
              <a:rPr lang="en-US" sz="1900" b="1" dirty="0">
                <a:solidFill>
                  <a:srgbClr val="28695F"/>
                </a:solidFill>
                <a:latin typeface="Calibri" pitchFamily="34" charset="0"/>
                <a:ea typeface="Calibri" pitchFamily="34" charset="-122"/>
                <a:cs typeface="Calibri" pitchFamily="34" charset="-120"/>
              </a:rPr>
              <a:t>National Institute on Aging: </a:t>
            </a:r>
            <a:r>
              <a:rPr lang="en-US" sz="1900" dirty="0">
                <a:solidFill>
                  <a:srgbClr val="24302D"/>
                </a:solidFill>
                <a:latin typeface="Calibri" pitchFamily="34" charset="0"/>
                <a:ea typeface="Calibri" pitchFamily="34" charset="-122"/>
                <a:cs typeface="Calibri" pitchFamily="34" charset="-120"/>
              </a:rPr>
              <a:t>Managing personality and behavior changes (nia.nih.gov)</a:t>
            </a:r>
            <a:endParaRPr lang="en-US" sz="1900" dirty="0"/>
          </a:p>
          <a:p>
            <a:pPr marL="203200" indent="-203200">
              <a:spcAft>
                <a:spcPts val="1200"/>
              </a:spcAft>
              <a:buSzPct val="100000"/>
              <a:buChar char="•"/>
            </a:pPr>
            <a:r>
              <a:rPr lang="en-US" sz="1900" b="1" dirty="0">
                <a:solidFill>
                  <a:srgbClr val="28695F"/>
                </a:solidFill>
                <a:latin typeface="Calibri" pitchFamily="34" charset="0"/>
                <a:ea typeface="Calibri" pitchFamily="34" charset="-122"/>
                <a:cs typeface="Calibri" pitchFamily="34" charset="-120"/>
              </a:rPr>
              <a:t>Positive Approach to Care: </a:t>
            </a:r>
            <a:r>
              <a:rPr lang="en-US" sz="1900" dirty="0">
                <a:solidFill>
                  <a:srgbClr val="24302D"/>
                </a:solidFill>
                <a:latin typeface="Calibri" pitchFamily="34" charset="0"/>
                <a:ea typeface="Calibri" pitchFamily="34" charset="-122"/>
                <a:cs typeface="Calibri" pitchFamily="34" charset="-120"/>
              </a:rPr>
              <a:t>hand-under-hand and positive physical approach techniques (teepasnow.com)</a:t>
            </a:r>
            <a:endParaRPr lang="en-US" sz="1900" dirty="0"/>
          </a:p>
          <a:p>
            <a:pPr marL="203200" indent="-203200">
              <a:spcAft>
                <a:spcPts val="1200"/>
              </a:spcAft>
              <a:buSzPct val="100000"/>
              <a:buChar char="•"/>
            </a:pPr>
            <a:r>
              <a:rPr lang="en-US" sz="1900" b="1" dirty="0">
                <a:solidFill>
                  <a:srgbClr val="28695F"/>
                </a:solidFill>
                <a:latin typeface="Calibri" pitchFamily="34" charset="0"/>
                <a:ea typeface="Calibri" pitchFamily="34" charset="-122"/>
                <a:cs typeface="Calibri" pitchFamily="34" charset="-120"/>
              </a:rPr>
              <a:t>Crisis: </a:t>
            </a:r>
            <a:r>
              <a:rPr lang="en-US" sz="1900" dirty="0">
                <a:solidFill>
                  <a:srgbClr val="24302D"/>
                </a:solidFill>
                <a:latin typeface="Calibri" pitchFamily="34" charset="0"/>
                <a:ea typeface="Calibri" pitchFamily="34" charset="-122"/>
                <a:cs typeface="Calibri" pitchFamily="34" charset="-120"/>
              </a:rPr>
              <a:t>988 Suicide &amp; Crisis Lifeline; 911 for immediate danger</a:t>
            </a:r>
            <a:endParaRPr lang="en-US" sz="1900" dirty="0"/>
          </a:p>
          <a:p>
            <a:pPr marL="203200" indent="-203200">
              <a:spcAft>
                <a:spcPts val="1200"/>
              </a:spcAft>
              <a:buSzPct val="100000"/>
              <a:buChar char="•"/>
            </a:pPr>
            <a:r>
              <a:rPr lang="en-US" sz="1900" b="1" dirty="0">
                <a:solidFill>
                  <a:srgbClr val="28695F"/>
                </a:solidFill>
                <a:latin typeface="Calibri" pitchFamily="34" charset="0"/>
                <a:ea typeface="Calibri" pitchFamily="34" charset="-122"/>
                <a:cs typeface="Calibri" pitchFamily="34" charset="-120"/>
              </a:rPr>
              <a:t>Internal: </a:t>
            </a:r>
            <a:r>
              <a:rPr lang="en-US" sz="1900" dirty="0">
                <a:solidFill>
                  <a:srgbClr val="24302D"/>
                </a:solidFill>
                <a:latin typeface="Calibri" pitchFamily="34" charset="0"/>
                <a:ea typeface="Calibri" pitchFamily="34" charset="-122"/>
                <a:cs typeface="Calibri" pitchFamily="34" charset="-120"/>
              </a:rPr>
              <a:t>AbleLiving 24/7 line and after-hours escalation pathway</a:t>
            </a:r>
            <a:endParaRPr lang="en-US" sz="1900" dirty="0"/>
          </a:p>
        </p:txBody>
      </p:sp>
      <p:pic>
        <p:nvPicPr>
          <p:cNvPr id="4" name="Image 0" descr="preencoded.png">    </p:cNvPr>
          <p:cNvPicPr>
            <a:picLocks noChangeAspect="1"/>
          </p:cNvPicPr>
          <p:nvPr/>
        </p:nvPicPr>
        <p:blipFill>
          <a:blip r:embed="rId1">
            <a:alphaModFix amt="85000"/>
          </a:blip>
          <a:stretch>
            <a:fillRect/>
          </a:stretch>
        </p:blipFill>
        <p:spPr>
          <a:xfrm>
            <a:off x="10012680" y="3291840"/>
            <a:ext cx="1920240" cy="2432304"/>
          </a:xfrm>
          <a:prstGeom prst="rect">
            <a:avLst/>
          </a:prstGeom>
        </p:spPr>
      </p:pic>
      <p:pic>
        <p:nvPicPr>
          <p:cNvPr id="5" name="Image 1" descr="preencoded.png">    </p:cNvPr>
          <p:cNvPicPr>
            <a:picLocks noChangeAspect="1"/>
          </p:cNvPicPr>
          <p:nvPr/>
        </p:nvPicPr>
        <p:blipFill>
          <a:blip r:embed="rId2"/>
          <a:stretch>
            <a:fillRect/>
          </a:stretch>
        </p:blipFill>
        <p:spPr>
          <a:xfrm>
            <a:off x="548640" y="6309360"/>
            <a:ext cx="874762" cy="365760"/>
          </a:xfrm>
          <a:prstGeom prst="rect">
            <a:avLst/>
          </a:prstGeom>
        </p:spPr>
      </p:pic>
      <p:sp>
        <p:nvSpPr>
          <p:cNvPr id="6" name="Text 2"/>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3</a:t>
            </a:r>
            <a:endParaRPr lang="en-US" sz="900" dirty="0"/>
          </a:p>
        </p:txBody>
      </p:sp>
      <p:sp>
        <p:nvSpPr>
          <p:cNvPr id="7" name="Text 3"/>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28695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90000"/>
          </a:blip>
          <a:stretch>
            <a:fillRect/>
          </a:stretch>
        </p:blipFill>
        <p:spPr>
          <a:xfrm>
            <a:off x="7680960" y="320040"/>
            <a:ext cx="4754880" cy="6025896"/>
          </a:xfrm>
          <a:prstGeom prst="rect">
            <a:avLst/>
          </a:prstGeom>
        </p:spPr>
      </p:pic>
      <p:sp>
        <p:nvSpPr>
          <p:cNvPr id="3" name="Shape 0"/>
          <p:cNvSpPr/>
          <p:nvPr/>
        </p:nvSpPr>
        <p:spPr>
          <a:xfrm>
            <a:off x="548640" y="365760"/>
            <a:ext cx="2661628" cy="1261872"/>
          </a:xfrm>
          <a:prstGeom prst="roundRect">
            <a:avLst>
              <a:gd name="adj" fmla="val 7246"/>
            </a:avLst>
          </a:prstGeom>
          <a:solidFill>
            <a:srgbClr val="FFFFFF"/>
          </a:solidFill>
          <a:ln w="12700">
            <a:solidFill>
              <a:srgbClr val="FFFFFF"/>
            </a:solidFill>
            <a:prstDash val="solid"/>
          </a:ln>
        </p:spPr>
      </p:sp>
      <p:pic>
        <p:nvPicPr>
          <p:cNvPr id="4" name="Image 1" descr="preencoded.png">    </p:cNvPr>
          <p:cNvPicPr>
            <a:picLocks noChangeAspect="1"/>
          </p:cNvPicPr>
          <p:nvPr/>
        </p:nvPicPr>
        <p:blipFill>
          <a:blip r:embed="rId2"/>
          <a:stretch>
            <a:fillRect/>
          </a:stretch>
        </p:blipFill>
        <p:spPr>
          <a:xfrm>
            <a:off x="676656" y="493776"/>
            <a:ext cx="2405596" cy="1005840"/>
          </a:xfrm>
          <a:prstGeom prst="rect">
            <a:avLst/>
          </a:prstGeom>
        </p:spPr>
      </p:pic>
      <p:sp>
        <p:nvSpPr>
          <p:cNvPr id="5" name="Text 1"/>
          <p:cNvSpPr txBox="1"/>
          <p:nvPr/>
        </p:nvSpPr>
        <p:spPr>
          <a:xfrm>
            <a:off x="548640" y="2011680"/>
            <a:ext cx="6949440" cy="100584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Questions &amp; Discussion</a:t>
            </a:r>
            <a:endParaRPr lang="en-US" sz="4400" dirty="0"/>
          </a:p>
        </p:txBody>
      </p:sp>
      <p:sp>
        <p:nvSpPr>
          <p:cNvPr id="6" name="Text 2"/>
          <p:cNvSpPr txBox="1"/>
          <p:nvPr/>
        </p:nvSpPr>
        <p:spPr>
          <a:xfrm>
            <a:off x="548640" y="3063240"/>
            <a:ext cx="6766560" cy="822960"/>
          </a:xfrm>
          <a:prstGeom prst="rect">
            <a:avLst/>
          </a:prstGeom>
          <a:noFill/>
          <a:ln/>
        </p:spPr>
        <p:txBody>
          <a:bodyPr wrap="square" lIns="0" tIns="0" rIns="0" bIns="0" rtlCol="0" anchor="t"/>
          <a:lstStyle/>
          <a:p>
            <a:pPr indent="0" marL="0">
              <a:buNone/>
            </a:pPr>
            <a:r>
              <a:rPr lang="en-US" sz="1800" dirty="0">
                <a:solidFill>
                  <a:srgbClr val="C9DEDA"/>
                </a:solidFill>
                <a:latin typeface="Calibri" pitchFamily="34" charset="0"/>
                <a:ea typeface="Calibri" pitchFamily="34" charset="-122"/>
                <a:cs typeface="Calibri" pitchFamily="34" charset="-120"/>
              </a:rPr>
              <a:t>Thank you for completing Module 3: Challenging Behaviors &amp; Communication.</a:t>
            </a:r>
            <a:endParaRPr lang="en-US" sz="1800" dirty="0"/>
          </a:p>
        </p:txBody>
      </p:sp>
      <p:sp>
        <p:nvSpPr>
          <p:cNvPr id="7" name="Shape 3"/>
          <p:cNvSpPr/>
          <p:nvPr/>
        </p:nvSpPr>
        <p:spPr>
          <a:xfrm>
            <a:off x="548640" y="4206240"/>
            <a:ext cx="6675120" cy="1097280"/>
          </a:xfrm>
          <a:prstGeom prst="roundRect">
            <a:avLst>
              <a:gd name="adj" fmla="val 10000"/>
            </a:avLst>
          </a:prstGeom>
          <a:solidFill>
            <a:srgbClr val="1D4F47"/>
          </a:solidFill>
          <a:ln w="12700">
            <a:solidFill>
              <a:srgbClr val="1D4F47"/>
            </a:solidFill>
            <a:prstDash val="solid"/>
          </a:ln>
        </p:spPr>
      </p:sp>
      <p:sp>
        <p:nvSpPr>
          <p:cNvPr id="8" name="Text 4"/>
          <p:cNvSpPr txBox="1"/>
          <p:nvPr/>
        </p:nvSpPr>
        <p:spPr>
          <a:xfrm>
            <a:off x="868680" y="4315968"/>
            <a:ext cx="5943600" cy="320040"/>
          </a:xfrm>
          <a:prstGeom prst="rect">
            <a:avLst/>
          </a:prstGeom>
          <a:noFill/>
          <a:ln/>
        </p:spPr>
        <p:txBody>
          <a:bodyPr wrap="square" lIns="0" tIns="0" rIns="0" bIns="0" rtlCol="0" anchor="t"/>
          <a:lstStyle/>
          <a:p>
            <a:pPr indent="0" marL="0">
              <a:buNone/>
            </a:pPr>
            <a:r>
              <a:rPr lang="en-US" sz="1200" b="1" spc="300" kern="0" dirty="0">
                <a:solidFill>
                  <a:srgbClr val="F8CB27"/>
                </a:solidFill>
                <a:latin typeface="Calibri" pitchFamily="34" charset="0"/>
                <a:ea typeface="Calibri" pitchFamily="34" charset="-122"/>
                <a:cs typeface="Calibri" pitchFamily="34" charset="-120"/>
              </a:rPr>
              <a:t>UP NEXT</a:t>
            </a:r>
            <a:endParaRPr lang="en-US" sz="1200" dirty="0"/>
          </a:p>
        </p:txBody>
      </p:sp>
      <p:sp>
        <p:nvSpPr>
          <p:cNvPr id="9" name="Text 5"/>
          <p:cNvSpPr txBox="1"/>
          <p:nvPr/>
        </p:nvSpPr>
        <p:spPr>
          <a:xfrm>
            <a:off x="868680" y="4617720"/>
            <a:ext cx="6126480" cy="59436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Module 4: Functional Needs, Medication Management &amp; Safety</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AbleLiving Memory Support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GUIDE Care Navigator Training — Module 3: Challenging Behaviors &amp; Communication</dc:title>
  <dc:subject>PptxGenJS Presentation</dc:subject>
  <dc:creator>AbleLiving Memory Support</dc:creator>
  <cp:lastModifiedBy>AbleLiving Memory Support</cp:lastModifiedBy>
  <cp:revision>1</cp:revision>
  <dcterms:created xsi:type="dcterms:W3CDTF">2026-09-24T19:29:15Z</dcterms:created>
  <dcterms:modified xsi:type="dcterms:W3CDTF">2026-09-24T19:29:15Z</dcterms:modified>
</cp:coreProperties>
</file>