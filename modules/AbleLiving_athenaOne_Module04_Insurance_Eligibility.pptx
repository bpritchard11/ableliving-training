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at vocabulary level. The goal is recognition, not expertise.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image" Target="../media/image-2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image" Target="../media/image-28-5.png"/><Relationship Id="rId6" Type="http://schemas.openxmlformats.org/officeDocument/2006/relationships/image" Target="../media/image-2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4A8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011680"/>
            <a:ext cx="5943600" cy="5943600"/>
          </a:xfrm>
          <a:prstGeom prst="ellipse">
            <a:avLst/>
          </a:prstGeom>
          <a:solidFill>
            <a:srgbClr val="84ACDF">
              <a:alpha val="20000"/>
            </a:srgbClr>
          </a:solidFill>
          <a:ln w="12700">
            <a:solidFill>
              <a:srgbClr val="84ACDF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45920" y="4754880"/>
            <a:ext cx="4114800" cy="4114800"/>
          </a:xfrm>
          <a:prstGeom prst="ellipse">
            <a:avLst/>
          </a:prstGeom>
          <a:solidFill>
            <a:srgbClr val="586C47">
              <a:alpha val="30000"/>
            </a:srgbClr>
          </a:solidFill>
          <a:ln w="12700">
            <a:solidFill>
              <a:srgbClr val="586C47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640080"/>
            <a:ext cx="3931920" cy="1691640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731520"/>
            <a:ext cx="3657600" cy="1508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8803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1C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ATHENAONE TRAINING SERIES · MODULE 4 OF 10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24612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Insurance &amp; Eligibility Essentials for Care Navigators</a:t>
            </a:r>
            <a:endParaRPr lang="en-US" sz="44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461772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navigators verify, what billing owns, and how to keep coverage problems from becoming care problems.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5989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4A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Navigator Curriculum  ·  Approximately 60 minutes  ·  View-only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roadmap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Insurance &amp; Eligibility Essentials for Care Navigators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640080" y="1673352"/>
            <a:ext cx="457200" cy="457200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1673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280160" y="1600200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navigator needs to understand coverage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8778240" y="1600200"/>
            <a:ext cx="1097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1280160" y="2258568"/>
            <a:ext cx="8595360" cy="0"/>
          </a:xfrm>
          <a:prstGeom prst="line">
            <a:avLst/>
          </a:prstGeom>
          <a:noFill/>
          <a:ln w="9525">
            <a:solidFill>
              <a:srgbClr val="D6DEE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0080" y="2386584"/>
            <a:ext cx="457200" cy="457200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0080" y="23865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1280160" y="2313432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Medicare, Medicare Advantage, Medicaid, and dual eligibility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8778240" y="2313432"/>
            <a:ext cx="1097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min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1280160" y="2971800"/>
            <a:ext cx="8595360" cy="0"/>
          </a:xfrm>
          <a:prstGeom prst="line">
            <a:avLst/>
          </a:prstGeom>
          <a:noFill/>
          <a:ln w="9525">
            <a:solidFill>
              <a:srgbClr val="D6DEE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40080" y="3099816"/>
            <a:ext cx="457200" cy="457200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0080" y="3099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1280160" y="3026664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insurance section of the chart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8778240" y="3026664"/>
            <a:ext cx="1097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1280160" y="3685032"/>
            <a:ext cx="8595360" cy="0"/>
          </a:xfrm>
          <a:prstGeom prst="line">
            <a:avLst/>
          </a:prstGeom>
          <a:noFill/>
          <a:ln w="9525">
            <a:solidFill>
              <a:srgbClr val="D6DEE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40080" y="3813048"/>
            <a:ext cx="457200" cy="457200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40080" y="3813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1280160" y="3739896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and interpreting eligibility checks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8778240" y="3739896"/>
            <a:ext cx="1097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1280160" y="4398264"/>
            <a:ext cx="8595360" cy="0"/>
          </a:xfrm>
          <a:prstGeom prst="line">
            <a:avLst/>
          </a:prstGeom>
          <a:noFill/>
          <a:ln w="9525">
            <a:solidFill>
              <a:srgbClr val="D6DEE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40080" y="4526280"/>
            <a:ext cx="457200" cy="457200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40080" y="4526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1280160" y="4453128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Handing off to billing and talking with families about coverage</a:t>
            </a:r>
            <a:endParaRPr lang="en-US" sz="1800" dirty="0"/>
          </a:p>
        </p:txBody>
      </p:sp>
      <p:sp>
        <p:nvSpPr>
          <p:cNvPr id="30" name="Text 27"/>
          <p:cNvSpPr txBox="1"/>
          <p:nvPr/>
        </p:nvSpPr>
        <p:spPr>
          <a:xfrm>
            <a:off x="8778240" y="4453128"/>
            <a:ext cx="1097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1280160" y="5111496"/>
            <a:ext cx="8595360" cy="0"/>
          </a:xfrm>
          <a:prstGeom prst="line">
            <a:avLst/>
          </a:prstGeom>
          <a:noFill/>
          <a:ln w="9525">
            <a:solidFill>
              <a:srgbClr val="D6DEE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40080" y="5239512"/>
            <a:ext cx="457200" cy="457200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40080" y="5239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1280160" y="5166360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Scenario, knowledge checks, and takeaways</a:t>
            </a:r>
            <a:endParaRPr lang="en-US" sz="1800" dirty="0"/>
          </a:p>
        </p:txBody>
      </p:sp>
      <p:sp>
        <p:nvSpPr>
          <p:cNvPr id="35" name="Text 32"/>
          <p:cNvSpPr txBox="1"/>
          <p:nvPr/>
        </p:nvSpPr>
        <p:spPr>
          <a:xfrm>
            <a:off x="8778240" y="5166360"/>
            <a:ext cx="1097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10241280" y="2194560"/>
            <a:ext cx="1463040" cy="1280160"/>
          </a:xfrm>
          <a:prstGeom prst="roundRect">
            <a:avLst>
              <a:gd name="adj" fmla="val 7143"/>
            </a:avLst>
          </a:prstGeom>
          <a:solidFill>
            <a:srgbClr val="EEF2E8"/>
          </a:solidFill>
          <a:ln w="12700">
            <a:solidFill>
              <a:srgbClr val="EEF2E8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241280" y="228600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586C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</a:t>
            </a:r>
            <a:endParaRPr lang="en-US" sz="3600" dirty="0"/>
          </a:p>
        </p:txBody>
      </p:sp>
      <p:sp>
        <p:nvSpPr>
          <p:cNvPr id="38" name="Text 35"/>
          <p:cNvSpPr txBox="1"/>
          <p:nvPr/>
        </p:nvSpPr>
        <p:spPr>
          <a:xfrm>
            <a:off x="10241280" y="29260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end of this module, you will be able to…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Insurance &amp; Eligibility Essentials for Care Navigators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5349240" cy="1051560"/>
          </a:xfrm>
          <a:prstGeom prst="roundRect">
            <a:avLst>
              <a:gd name="adj" fmla="val 8696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1520" y="1920240"/>
            <a:ext cx="594360" cy="5943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" y="2048256"/>
            <a:ext cx="338328" cy="33832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508760" y="178308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traditional Medicare, Medicare Advantage, Medicaid, and dual eligibility and why each matters for memory-support services.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6263640" y="1691640"/>
            <a:ext cx="5349240" cy="1051560"/>
          </a:xfrm>
          <a:prstGeom prst="roundRect">
            <a:avLst>
              <a:gd name="adj" fmla="val 8696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446520" y="1920240"/>
            <a:ext cx="594360" cy="5943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4536" y="2048256"/>
            <a:ext cx="338328" cy="33832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223760" y="178308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 and read insurance packages, policy holders, and coverage dates in the chart.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548640" y="3017520"/>
            <a:ext cx="5349240" cy="1051560"/>
          </a:xfrm>
          <a:prstGeom prst="roundRect">
            <a:avLst>
              <a:gd name="adj" fmla="val 8696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731520" y="3246120"/>
            <a:ext cx="594360" cy="5943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3374136"/>
            <a:ext cx="338328" cy="33832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508760" y="310896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an eligibility check and interpret an active, inactive, or mismatched result.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>
            <a:off x="6263640" y="3017520"/>
            <a:ext cx="5349240" cy="1051560"/>
          </a:xfrm>
          <a:prstGeom prst="roundRect">
            <a:avLst>
              <a:gd name="adj" fmla="val 8696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6446520" y="3246120"/>
            <a:ext cx="594360" cy="5943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4536" y="3374136"/>
            <a:ext cx="338328" cy="338328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7223760" y="310896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coverage discrepancies to billing with the information they need.</a:t>
            </a:r>
            <a:endParaRPr lang="en-US" sz="1400" dirty="0"/>
          </a:p>
        </p:txBody>
      </p:sp>
      <p:sp>
        <p:nvSpPr>
          <p:cNvPr id="23" name="Shape 16"/>
          <p:cNvSpPr/>
          <p:nvPr/>
        </p:nvSpPr>
        <p:spPr>
          <a:xfrm>
            <a:off x="548640" y="4343400"/>
            <a:ext cx="5349240" cy="1051560"/>
          </a:xfrm>
          <a:prstGeom prst="roundRect">
            <a:avLst>
              <a:gd name="adj" fmla="val 8696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731520" y="4572000"/>
            <a:ext cx="594360" cy="5943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536" y="4700016"/>
            <a:ext cx="338328" cy="338328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1508760" y="443484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coverage basics to caregivers accurately without giving financial advice.</a:t>
            </a:r>
            <a:endParaRPr lang="en-US" sz="1400" dirty="0"/>
          </a:p>
        </p:txBody>
      </p:sp>
      <p:sp>
        <p:nvSpPr>
          <p:cNvPr id="27" name="Shape 19"/>
          <p:cNvSpPr/>
          <p:nvPr/>
        </p:nvSpPr>
        <p:spPr>
          <a:xfrm>
            <a:off x="6263640" y="4343400"/>
            <a:ext cx="5349240" cy="1051560"/>
          </a:xfrm>
          <a:prstGeom prst="roundRect">
            <a:avLst>
              <a:gd name="adj" fmla="val 8696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6446520" y="4572000"/>
            <a:ext cx="594360" cy="5943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4536" y="4700016"/>
            <a:ext cx="338328" cy="338328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7223760" y="443484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enrollment changes that affect program participation and flag them early.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F1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1097280"/>
            <a:ext cx="4572000" cy="4572000"/>
          </a:xfrm>
          <a:prstGeom prst="ellipse">
            <a:avLst/>
          </a:prstGeom>
          <a:solidFill>
            <a:srgbClr val="84ACDF">
              <a:alpha val="35000"/>
            </a:srgbClr>
          </a:solidFill>
          <a:ln w="12700">
            <a:solidFill>
              <a:srgbClr val="84ACDF">
                <a:alpha val="35000"/>
              </a:srgbClr>
            </a:solidFill>
            <a:prstDash val="solid"/>
          </a:ln>
        </p:spPr>
      </p:sp>
      <p:pic>
        <p:nvPicPr>
          <p:cNvPr id="3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242316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 navigator needs to understand coverage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397764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not the biller. But you are the first person to notice a change, and the person the family asks.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CONNECTION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coverage touches your work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Insurance &amp; Eligibility Essentials for Care Navigators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5408676" cy="2080260"/>
          </a:xfrm>
          <a:prstGeom prst="roundRect">
            <a:avLst>
              <a:gd name="adj" fmla="val 4396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7240" y="192024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2039112"/>
            <a:ext cx="310896" cy="31089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63040" y="1892808"/>
            <a:ext cx="43113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2606040"/>
            <a:ext cx="4951476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participation depends on the patient's coverage type and status. An enrollment that isn't eligible creates work and disappointment for the family.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231636" y="1691640"/>
            <a:ext cx="5408676" cy="2080260"/>
          </a:xfrm>
          <a:prstGeom prst="roundRect">
            <a:avLst>
              <a:gd name="adj" fmla="val 4396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460236" y="192024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9108" y="2039112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146036" y="1892808"/>
            <a:ext cx="43113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6460236" y="2606040"/>
            <a:ext cx="4951476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visit types and services require specific coverage. Verifying before the visit prevents a surprise bill for a stressed family.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548640" y="4046220"/>
            <a:ext cx="5408676" cy="2080260"/>
          </a:xfrm>
          <a:prstGeom prst="roundRect">
            <a:avLst>
              <a:gd name="adj" fmla="val 4396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777240" y="427482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4393692"/>
            <a:ext cx="310896" cy="310896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463040" y="4247388"/>
            <a:ext cx="43113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detection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777240" y="4960620"/>
            <a:ext cx="4951476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change in January and when families move, retire, or enroll in Medicaid. You hear about it first on the phone.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6231636" y="4046220"/>
            <a:ext cx="5408676" cy="2080260"/>
          </a:xfrm>
          <a:prstGeom prst="roundRect">
            <a:avLst>
              <a:gd name="adj" fmla="val 4396"/>
            </a:avLst>
          </a:prstGeom>
          <a:solidFill>
            <a:srgbClr val="EEF2E8"/>
          </a:solidFill>
          <a:ln w="12700">
            <a:solidFill>
              <a:srgbClr val="EEF2E8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6460236" y="427482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9108" y="4393692"/>
            <a:ext cx="310896" cy="310896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7146036" y="4247388"/>
            <a:ext cx="43113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questions</a:t>
            </a:r>
            <a:endParaRPr lang="en-US" sz="1500" dirty="0"/>
          </a:p>
        </p:txBody>
      </p:sp>
      <p:sp>
        <p:nvSpPr>
          <p:cNvPr id="26" name="Text 19"/>
          <p:cNvSpPr txBox="1"/>
          <p:nvPr/>
        </p:nvSpPr>
        <p:spPr>
          <a:xfrm>
            <a:off x="6460236" y="4960620"/>
            <a:ext cx="4951476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'Is this covered?' is a question you'll get weekly. Knowing what you can say — and what to hand off — protects the family and the practice.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F1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1097280"/>
            <a:ext cx="4572000" cy="4572000"/>
          </a:xfrm>
          <a:prstGeom prst="ellipse">
            <a:avLst/>
          </a:prstGeom>
          <a:solidFill>
            <a:srgbClr val="84ACDF">
              <a:alpha val="35000"/>
            </a:srgbClr>
          </a:solidFill>
          <a:ln w="12700">
            <a:solidFill>
              <a:srgbClr val="84ACDF">
                <a:alpha val="35000"/>
              </a:srgbClr>
            </a:solidFill>
            <a:prstDash val="solid"/>
          </a:ln>
        </p:spPr>
      </p:sp>
      <p:pic>
        <p:nvPicPr>
          <p:cNvPr id="3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242316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Medicare, Medicare Advantage, Medicaid, and dual eligibility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397764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vocabulary you need to read a chart and understand a family's situation.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BASICS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Coverage types you'll see most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Insurance &amp; Eligibility Essentials for Care Navigators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3514344" cy="2080260"/>
          </a:xfrm>
          <a:prstGeom prst="roundRect">
            <a:avLst>
              <a:gd name="adj" fmla="val 4396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7240" y="192024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2039112"/>
            <a:ext cx="310896" cy="31089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63040" y="1892808"/>
            <a:ext cx="2417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(Original) Medicare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2606040"/>
            <a:ext cx="3057144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hospital, Part B outpatient/professional services. Claims go to Medicare directly. Most likely to be paired with a supplement (Medigap) and a Part D drug plan.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337304" y="1691640"/>
            <a:ext cx="3514344" cy="2080260"/>
          </a:xfrm>
          <a:prstGeom prst="roundRect">
            <a:avLst>
              <a:gd name="adj" fmla="val 4396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565904" y="192024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4776" y="2039112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251704" y="1892808"/>
            <a:ext cx="2417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Medicare Advantage (Part C)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4565904" y="2606040"/>
            <a:ext cx="3057144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private plan replacing traditional Medicare. May require network participation, referrals, or authorizations. Plan names vary; the card matters.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8125968" y="1691640"/>
            <a:ext cx="3514344" cy="2080260"/>
          </a:xfrm>
          <a:prstGeom prst="roundRect">
            <a:avLst>
              <a:gd name="adj" fmla="val 4396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8354568" y="192024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3440" y="2039112"/>
            <a:ext cx="310896" cy="310896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9040368" y="1892808"/>
            <a:ext cx="2417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Medicaid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8354568" y="2606040"/>
            <a:ext cx="3057144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program based on income and need. Can cover home and community services. State-specific rules — Florida and Ohio differ.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548640" y="4046220"/>
            <a:ext cx="3514344" cy="2080260"/>
          </a:xfrm>
          <a:prstGeom prst="roundRect">
            <a:avLst>
              <a:gd name="adj" fmla="val 4396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777240" y="427482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" y="4393692"/>
            <a:ext cx="310896" cy="310896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463040" y="4247388"/>
            <a:ext cx="2417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eligible</a:t>
            </a:r>
            <a:endParaRPr lang="en-US" sz="1500" dirty="0"/>
          </a:p>
        </p:txBody>
      </p:sp>
      <p:sp>
        <p:nvSpPr>
          <p:cNvPr id="26" name="Text 19"/>
          <p:cNvSpPr txBox="1"/>
          <p:nvPr/>
        </p:nvSpPr>
        <p:spPr>
          <a:xfrm>
            <a:off x="777240" y="4960620"/>
            <a:ext cx="3057144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Medicare plus Medicaid. Medicaid may pick up cost-sharing. Dual Special Needs Plans (D-SNP) combine both under one card.</a:t>
            </a:r>
            <a:endParaRPr lang="en-US" sz="1150" dirty="0"/>
          </a:p>
        </p:txBody>
      </p:sp>
      <p:sp>
        <p:nvSpPr>
          <p:cNvPr id="27" name="Shape 20"/>
          <p:cNvSpPr/>
          <p:nvPr/>
        </p:nvSpPr>
        <p:spPr>
          <a:xfrm>
            <a:off x="4337304" y="4046220"/>
            <a:ext cx="3514344" cy="2080260"/>
          </a:xfrm>
          <a:prstGeom prst="roundRect">
            <a:avLst>
              <a:gd name="adj" fmla="val 4396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4565904" y="427482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4776" y="4393692"/>
            <a:ext cx="310896" cy="310896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5251704" y="4247388"/>
            <a:ext cx="2417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Supplements and secondaries</a:t>
            </a:r>
            <a:endParaRPr lang="en-US" sz="1500" dirty="0"/>
          </a:p>
        </p:txBody>
      </p:sp>
      <p:sp>
        <p:nvSpPr>
          <p:cNvPr id="31" name="Text 23"/>
          <p:cNvSpPr txBox="1"/>
          <p:nvPr/>
        </p:nvSpPr>
        <p:spPr>
          <a:xfrm>
            <a:off x="4565904" y="4960620"/>
            <a:ext cx="3057144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Medigap, retiree plans, or employer coverage that pays after Medicare. Order of billing matters — that's billing's job to set.</a:t>
            </a:r>
            <a:endParaRPr lang="en-US" sz="1150" dirty="0"/>
          </a:p>
        </p:txBody>
      </p:sp>
      <p:sp>
        <p:nvSpPr>
          <p:cNvPr id="32" name="Shape 24"/>
          <p:cNvSpPr/>
          <p:nvPr/>
        </p:nvSpPr>
        <p:spPr>
          <a:xfrm>
            <a:off x="8125968" y="4046220"/>
            <a:ext cx="3514344" cy="2080260"/>
          </a:xfrm>
          <a:prstGeom prst="roundRect">
            <a:avLst>
              <a:gd name="adj" fmla="val 4396"/>
            </a:avLst>
          </a:prstGeom>
          <a:solidFill>
            <a:srgbClr val="EEF2E8"/>
          </a:solidFill>
          <a:ln w="12700">
            <a:solidFill>
              <a:srgbClr val="EEF2E8"/>
            </a:solidFill>
            <a:prstDash val="solid"/>
          </a:ln>
        </p:spPr>
      </p:sp>
      <p:sp>
        <p:nvSpPr>
          <p:cNvPr id="33" name="Shape 25"/>
          <p:cNvSpPr/>
          <p:nvPr/>
        </p:nvSpPr>
        <p:spPr>
          <a:xfrm>
            <a:off x="8354568" y="427482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73440" y="4393692"/>
            <a:ext cx="310896" cy="310896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9040368" y="4247388"/>
            <a:ext cx="2417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Program-specific eligibility</a:t>
            </a:r>
            <a:endParaRPr lang="en-US" sz="1500" dirty="0"/>
          </a:p>
        </p:txBody>
      </p:sp>
      <p:sp>
        <p:nvSpPr>
          <p:cNvPr id="36" name="Text 27"/>
          <p:cNvSpPr txBox="1"/>
          <p:nvPr/>
        </p:nvSpPr>
        <p:spPr>
          <a:xfrm>
            <a:off x="8354568" y="4960620"/>
            <a:ext cx="3057144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Care-management and dementia programs may have participation rules tied to coverage type. Know which apply at AbleLiving and check before enrollment.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DETECTION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Annual and life-event changes to watch for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Insurance &amp; Eligibility Essentials for Care Navigators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691640"/>
            <a:ext cx="62179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Medicare Annual Enrollment (fall) — plan changes take effect January 1; expect many coverage updates in Q1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move between states or counties can change Medicare Advantage and Medicaid coverage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Medicaid approval creates dual eligibility and may change how services are covered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Nursing home or hospice enrollment changes what home-based services can be billed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of employer or spousal coverage after a death or retirement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65 for a younger-onset patient — Medicare begins and prior coverage often ends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223760" y="1691640"/>
            <a:ext cx="4434840" cy="4389120"/>
          </a:xfrm>
          <a:prstGeom prst="roundRect">
            <a:avLst>
              <a:gd name="adj" fmla="val 2500"/>
            </a:avLst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2011680"/>
            <a:ext cx="548640" cy="54864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543800" y="2697480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job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7543800" y="3474720"/>
            <a:ext cx="3794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at every contact in Q1 and after any life change: 'Has anything changed with your insurance?' Then document the answer and route changes to billing the same day.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AF1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1097280"/>
            <a:ext cx="4572000" cy="4572000"/>
          </a:xfrm>
          <a:prstGeom prst="ellipse">
            <a:avLst/>
          </a:prstGeom>
          <a:solidFill>
            <a:srgbClr val="84ACDF">
              <a:alpha val="35000"/>
            </a:srgbClr>
          </a:solidFill>
          <a:ln w="12700">
            <a:solidFill>
              <a:srgbClr val="84ACDF">
                <a:alpha val="35000"/>
              </a:srgbClr>
            </a:solidFill>
            <a:prstDash val="solid"/>
          </a:ln>
        </p:spPr>
      </p:sp>
      <p:pic>
        <p:nvPicPr>
          <p:cNvPr id="3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242316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insurance section of the chart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397764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what you're looking at before you run a check.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INSURANCE SECTION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insurance package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Insurance &amp; Eligibility Essentials for Care Navigators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719072"/>
            <a:ext cx="347472" cy="347472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1719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1005840" y="16916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Quickview → Insurances. </a:t>
            </a:r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the banner first.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2542032"/>
            <a:ext cx="347472" cy="347472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25420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005840" y="251460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primary and secondary packages. </a:t>
            </a:r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matters; note if it looks wrong but don't change it.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48640" y="3364992"/>
            <a:ext cx="347472" cy="347472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3364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1005840" y="333756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policy holder and relationship. </a:t>
            </a:r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Usually the patient. A spouse's employer plan lists the spouse.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48640" y="4187952"/>
            <a:ext cx="347472" cy="347472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48640" y="41879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05840" y="416052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effective and termination dates. </a:t>
            </a:r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terminated primary with no replacement is a red flag.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48640" y="5010912"/>
            <a:ext cx="347472" cy="347472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48640" y="50109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1005840" y="498348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to the card the family has. </a:t>
            </a:r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name, member ID, and group must match exactly.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6309360" y="169164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F7F9FC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309360" y="1691640"/>
            <a:ext cx="5349240" cy="411480"/>
          </a:xfrm>
          <a:prstGeom prst="rect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92240" y="169164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Quickview · Insurances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6492240" y="169164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4A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athenaOne · illustrative screen</a:t>
            </a:r>
            <a:endParaRPr lang="en-US" sz="800" dirty="0"/>
          </a:p>
        </p:txBody>
      </p:sp>
      <p:sp>
        <p:nvSpPr>
          <p:cNvPr id="26" name="Text 23"/>
          <p:cNvSpPr txBox="1"/>
          <p:nvPr/>
        </p:nvSpPr>
        <p:spPr>
          <a:xfrm>
            <a:off x="6537960" y="228600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6537960" y="257860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8275320" y="2596896"/>
            <a:ext cx="310896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8366760" y="2596896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Medicare Part B — Traditional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6537960" y="294436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ID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8275320" y="2962656"/>
            <a:ext cx="310896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366760" y="2962656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1EG4-TE5-MK72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6537960" y="331012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8275320" y="3328416"/>
            <a:ext cx="310896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366760" y="3328416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03/01/2009 — (open)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6537960" y="3675888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</a:t>
            </a:r>
            <a:endParaRPr lang="en-US" sz="900" dirty="0"/>
          </a:p>
        </p:txBody>
      </p:sp>
      <p:sp>
        <p:nvSpPr>
          <p:cNvPr id="37" name="Text 34"/>
          <p:cNvSpPr txBox="1"/>
          <p:nvPr/>
        </p:nvSpPr>
        <p:spPr>
          <a:xfrm>
            <a:off x="6537960" y="396849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8275320" y="3986784"/>
            <a:ext cx="3108960" cy="274320"/>
          </a:xfrm>
          <a:prstGeom prst="rect">
            <a:avLst/>
          </a:prstGeom>
          <a:solidFill>
            <a:srgbClr val="FFF6D6"/>
          </a:solidFill>
          <a:ln w="15875">
            <a:solidFill>
              <a:srgbClr val="F1C232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8366760" y="3986784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Florida Medicaid</a:t>
            </a:r>
            <a:endParaRPr lang="en-US" sz="1000" dirty="0"/>
          </a:p>
        </p:txBody>
      </p:sp>
      <p:sp>
        <p:nvSpPr>
          <p:cNvPr id="40" name="Text 37"/>
          <p:cNvSpPr txBox="1"/>
          <p:nvPr/>
        </p:nvSpPr>
        <p:spPr>
          <a:xfrm>
            <a:off x="6537960" y="433425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8275320" y="4352544"/>
            <a:ext cx="3108960" cy="274320"/>
          </a:xfrm>
          <a:prstGeom prst="rect">
            <a:avLst/>
          </a:prstGeom>
          <a:solidFill>
            <a:srgbClr val="FFF6D6"/>
          </a:solidFill>
          <a:ln w="15875">
            <a:solidFill>
              <a:srgbClr val="F1C232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366760" y="4352544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07/01/2026 — (open)</a:t>
            </a:r>
            <a:endParaRPr lang="en-US" sz="1000" dirty="0"/>
          </a:p>
        </p:txBody>
      </p:sp>
      <p:sp>
        <p:nvSpPr>
          <p:cNvPr id="43" name="Text 40"/>
          <p:cNvSpPr txBox="1"/>
          <p:nvPr/>
        </p:nvSpPr>
        <p:spPr>
          <a:xfrm>
            <a:off x="6537960" y="4700016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secondary added in July — verify it is reflected in the patient's program eligibility.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 &amp; PITFALLS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insurance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Insurance &amp; Eligibility Essentials for Care Navigators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5394960" cy="4434840"/>
          </a:xfrm>
          <a:prstGeom prst="roundRect">
            <a:avLst>
              <a:gd name="adj" fmla="val 2062"/>
            </a:avLst>
          </a:prstGeom>
          <a:solidFill>
            <a:srgbClr val="EEF2E8"/>
          </a:solidFill>
          <a:ln w="12700">
            <a:solidFill>
              <a:srgbClr val="EEF2E8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65960"/>
            <a:ext cx="411480" cy="4114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71600" y="192024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86C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this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2606040"/>
            <a:ext cx="484632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caregiver to read the card to you or photograph it at the visit; enter what is printed, not what they remember.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where the discrepancy is: 'Card says Humana Gold Plus; chart shows Original Medicare.'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effective dates around January and after any move.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Medicaid appears or disappears, tell billing and the program lead — it affects more than claims.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245352" y="1691640"/>
            <a:ext cx="5394960" cy="4434840"/>
          </a:xfrm>
          <a:prstGeom prst="roundRect">
            <a:avLst>
              <a:gd name="adj" fmla="val 2062"/>
            </a:avLst>
          </a:prstGeom>
          <a:solidFill>
            <a:srgbClr val="FBEDEA"/>
          </a:solidFill>
          <a:ln w="12700">
            <a:solidFill>
              <a:srgbClr val="FBEDEA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9672" y="1965960"/>
            <a:ext cx="411480" cy="41148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068312" y="192024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33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 out for</a:t>
            </a:r>
            <a:endParaRPr lang="en-US" sz="2000" dirty="0"/>
          </a:p>
        </p:txBody>
      </p:sp>
      <p:sp>
        <p:nvSpPr>
          <p:cNvPr id="14" name="Text 9"/>
          <p:cNvSpPr txBox="1"/>
          <p:nvPr/>
        </p:nvSpPr>
        <p:spPr>
          <a:xfrm>
            <a:off x="6519672" y="2606040"/>
            <a:ext cx="484632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Editing packages yourself. Adding, sequencing, and terminating coverage is billing's workflow.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Assuming a Medicare Advantage card means 'Medicare' — the plan name matters.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Ignoring a termination date because 'they've always had it'.</a:t>
            </a:r>
            <a:endParaRPr lang="en-US" sz="125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Storing a photo of the card outside athenaOne (e.g., personal phone). Upload to Documents only.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AF1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1097280"/>
            <a:ext cx="4572000" cy="4572000"/>
          </a:xfrm>
          <a:prstGeom prst="ellipse">
            <a:avLst/>
          </a:prstGeom>
          <a:solidFill>
            <a:srgbClr val="84ACDF">
              <a:alpha val="35000"/>
            </a:srgbClr>
          </a:solidFill>
          <a:ln w="12700">
            <a:solidFill>
              <a:srgbClr val="84ACDF">
                <a:alpha val="35000"/>
              </a:srgbClr>
            </a:solidFill>
            <a:prstDash val="solid"/>
          </a:ln>
        </p:spPr>
      </p:sp>
      <p:pic>
        <p:nvPicPr>
          <p:cNvPr id="3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242316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Running and interpreting eligibility checks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397764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eligibility check confirms with the payer that coverage is active today. Run it before visits and whenever something changes.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Running an eligibility check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Insurance &amp; Eligibility Essentials for Care Navigators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737360"/>
            <a:ext cx="2035454" cy="4297680"/>
          </a:xfrm>
          <a:prstGeom prst="roundRect">
            <a:avLst>
              <a:gd name="adj" fmla="val 4492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77240" y="1965960"/>
            <a:ext cx="548640" cy="548640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651760"/>
            <a:ext cx="157825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what runs automatically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3429000"/>
            <a:ext cx="157825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athenaOne checks eligibility three days before every scheduled appointment and whenever insurance is updated. Your on-demand check is for everything else.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2812694" y="1737360"/>
            <a:ext cx="2035454" cy="4297680"/>
          </a:xfrm>
          <a:prstGeom prst="roundRect">
            <a:avLst>
              <a:gd name="adj" fmla="val 4492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041294" y="1965960"/>
            <a:ext cx="548640" cy="548640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041294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3041294" y="2651760"/>
            <a:ext cx="157825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check on demand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3041294" y="3429000"/>
            <a:ext cx="157825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Quickview → Insurances, use Check Eligibility on the package. Results usually return in seconds.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076749" y="1737360"/>
            <a:ext cx="2035454" cy="4297680"/>
          </a:xfrm>
          <a:prstGeom prst="roundRect">
            <a:avLst>
              <a:gd name="adj" fmla="val 4492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305349" y="1965960"/>
            <a:ext cx="548640" cy="548640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305349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5305349" y="2651760"/>
            <a:ext cx="157825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status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5305349" y="3429000"/>
            <a:ext cx="157825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Eligible, Ineligible, or Unverified. Note the service date the check applies to; Unverified or Ineligible also alerts at check-in.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7340803" y="1737360"/>
            <a:ext cx="2035454" cy="4297680"/>
          </a:xfrm>
          <a:prstGeom prst="roundRect">
            <a:avLst>
              <a:gd name="adj" fmla="val 4492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7569403" y="1965960"/>
            <a:ext cx="548640" cy="548640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569403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7569403" y="2651760"/>
            <a:ext cx="157825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details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7569403" y="3429000"/>
            <a:ext cx="157825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DOB, and member ID returned must match the chart. A mismatch is often a typo.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9604858" y="1737360"/>
            <a:ext cx="2035454" cy="4297680"/>
          </a:xfrm>
          <a:prstGeom prst="roundRect">
            <a:avLst>
              <a:gd name="adj" fmla="val 4492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9833458" y="1965960"/>
            <a:ext cx="548640" cy="548640"/>
          </a:xfrm>
          <a:prstGeom prst="ellipse">
            <a:avLst/>
          </a:prstGeom>
          <a:solidFill>
            <a:srgbClr val="586C47"/>
          </a:solidFill>
          <a:ln w="12700">
            <a:solidFill>
              <a:srgbClr val="586C47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833458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9833458" y="2651760"/>
            <a:ext cx="157825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on the result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9833458" y="3429000"/>
            <a:ext cx="157825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Active: proceed. Inactive or mismatch: gather details and route to billing (next section).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RESPONSE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Interpreting the result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Insurance &amp; Eligibility Essentials for Care Navigators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719072"/>
            <a:ext cx="347472" cy="347472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1719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1005840" y="16916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Eligible. </a:t>
            </a:r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confirmed for the date checked. Proceed with scheduling.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2542032"/>
            <a:ext cx="347472" cy="347472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25420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1005840" y="251460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Ineligible. </a:t>
            </a:r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family about changes. Route to billing with the reason.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48640" y="3364992"/>
            <a:ext cx="347472" cy="347472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3364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1005840" y="333756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 not found. </a:t>
            </a:r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Usually a name, DOB, or member ID mismatch. Recheck the card.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48640" y="4187952"/>
            <a:ext cx="347472" cy="347472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48640" y="41879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05840" y="416052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coverage reported. </a:t>
            </a:r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payer knows about a plan the chart doesn't. Route to billing to add it.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548640" y="5010912"/>
            <a:ext cx="347472" cy="347472"/>
          </a:xfrm>
          <a:prstGeom prst="ellipse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48640" y="50109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1005840" y="498348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Unverified. </a:t>
            </a:r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Payer connection unavailable or details didn't match. Recheck details, retry later; note the attempt.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6309360" y="1691640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F7F9FC"/>
          </a:solidFill>
          <a:ln w="12700">
            <a:solidFill>
              <a:srgbClr val="D6DEE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309360" y="1691640"/>
            <a:ext cx="5349240" cy="411480"/>
          </a:xfrm>
          <a:prstGeom prst="rect">
            <a:avLst/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492240" y="169164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· Response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6492240" y="1691640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4A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athenaOne · illustrative screen</a:t>
            </a:r>
            <a:endParaRPr lang="en-US" sz="800" dirty="0"/>
          </a:p>
        </p:txBody>
      </p:sp>
      <p:sp>
        <p:nvSpPr>
          <p:cNvPr id="26" name="Text 23"/>
          <p:cNvSpPr txBox="1"/>
          <p:nvPr/>
        </p:nvSpPr>
        <p:spPr>
          <a:xfrm>
            <a:off x="6537960" y="228600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Payer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8275320" y="2304288"/>
            <a:ext cx="310896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366760" y="230428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Medicare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6537960" y="265176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8275320" y="2670048"/>
            <a:ext cx="310896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366760" y="267004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Eligible as of 09/24/2026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6537960" y="301752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8275320" y="3035808"/>
            <a:ext cx="3108960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366760" y="303580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DOE, JANE M · 03/12/1944</a:t>
            </a:r>
            <a:endParaRPr lang="en-US" sz="1000" dirty="0"/>
          </a:p>
        </p:txBody>
      </p:sp>
      <p:sp>
        <p:nvSpPr>
          <p:cNvPr id="35" name="Text 32"/>
          <p:cNvSpPr txBox="1"/>
          <p:nvPr/>
        </p:nvSpPr>
        <p:spPr>
          <a:xfrm>
            <a:off x="6537960" y="338328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coverage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8275320" y="3401568"/>
            <a:ext cx="3108960" cy="274320"/>
          </a:xfrm>
          <a:prstGeom prst="rect">
            <a:avLst/>
          </a:prstGeom>
          <a:solidFill>
            <a:srgbClr val="FFF6D6"/>
          </a:solidFill>
          <a:ln w="15875">
            <a:solidFill>
              <a:srgbClr val="F1C232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8366760" y="340156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Medicare Advantage — Humana, eff. 01/01/2026</a:t>
            </a:r>
            <a:endParaRPr lang="en-US" sz="1000" dirty="0"/>
          </a:p>
        </p:txBody>
      </p:sp>
      <p:sp>
        <p:nvSpPr>
          <p:cNvPr id="38" name="Text 35"/>
          <p:cNvSpPr txBox="1"/>
          <p:nvPr/>
        </p:nvSpPr>
        <p:spPr>
          <a:xfrm>
            <a:off x="6537960" y="374904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8275320" y="3767328"/>
            <a:ext cx="3108960" cy="274320"/>
          </a:xfrm>
          <a:prstGeom prst="rect">
            <a:avLst/>
          </a:prstGeom>
          <a:solidFill>
            <a:srgbClr val="FFF6D6"/>
          </a:solidFill>
          <a:ln w="15875">
            <a:solidFill>
              <a:srgbClr val="F1C232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366760" y="376732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to billing: MA plan not on chart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6537960" y="4160520"/>
            <a:ext cx="1554480" cy="329184"/>
          </a:xfrm>
          <a:prstGeom prst="roundRect">
            <a:avLst>
              <a:gd name="adj" fmla="val 13889"/>
            </a:avLst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6537960" y="416052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billing task</a:t>
            </a:r>
            <a:endParaRPr lang="en-US" sz="1000" dirty="0"/>
          </a:p>
        </p:txBody>
      </p:sp>
      <p:sp>
        <p:nvSpPr>
          <p:cNvPr id="43" name="Text 40"/>
          <p:cNvSpPr txBox="1"/>
          <p:nvPr/>
        </p:nvSpPr>
        <p:spPr>
          <a:xfrm>
            <a:off x="6537960" y="457200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result means claims to traditional Medicare would deny — the patient moved to a Medicare Advantage plan in January.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VERIFY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Timing your checks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Insurance &amp; Eligibility Essentials for Care Navigators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3514344" cy="3566160"/>
          </a:xfrm>
          <a:prstGeom prst="roundRect">
            <a:avLst>
              <a:gd name="adj" fmla="val 2602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7240" y="192024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2039112"/>
            <a:ext cx="310896" cy="31089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63040" y="1892808"/>
            <a:ext cx="2417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every scheduled visit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2606040"/>
            <a:ext cx="3057144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checks run three days out; review the results (Unverified/Ineligible) in the appointment and fix problems before the provider is at the door.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337304" y="1691640"/>
            <a:ext cx="3514344" cy="3566160"/>
          </a:xfrm>
          <a:prstGeom prst="roundRect">
            <a:avLst>
              <a:gd name="adj" fmla="val 2602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565904" y="192024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4776" y="2039112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251704" y="1892808"/>
            <a:ext cx="2417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enrollment and re-enrollment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4565904" y="2606040"/>
            <a:ext cx="3057144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eligibility depends on coverage type. Verify before promising anything to the family.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8125968" y="1691640"/>
            <a:ext cx="3514344" cy="3566160"/>
          </a:xfrm>
          <a:prstGeom prst="roundRect">
            <a:avLst>
              <a:gd name="adj" fmla="val 2602"/>
            </a:avLst>
          </a:prstGeom>
          <a:solidFill>
            <a:srgbClr val="EEF2E8"/>
          </a:solidFill>
          <a:ln w="12700">
            <a:solidFill>
              <a:srgbClr val="EEF2E8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8354568" y="192024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3440" y="2039112"/>
            <a:ext cx="310896" cy="310896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9040368" y="1892808"/>
            <a:ext cx="2417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any reported change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8354568" y="2606040"/>
            <a:ext cx="3057144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Move, new card, Medicaid approval, hospice, nursing home. Same day.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AF1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1097280"/>
            <a:ext cx="4572000" cy="4572000"/>
          </a:xfrm>
          <a:prstGeom prst="ellipse">
            <a:avLst/>
          </a:prstGeom>
          <a:solidFill>
            <a:srgbClr val="84ACDF">
              <a:alpha val="35000"/>
            </a:srgbClr>
          </a:solidFill>
          <a:ln w="12700">
            <a:solidFill>
              <a:srgbClr val="84ACDF">
                <a:alpha val="35000"/>
              </a:srgbClr>
            </a:solidFill>
            <a:prstDash val="solid"/>
          </a:ln>
        </p:spPr>
      </p:sp>
      <p:pic>
        <p:nvPicPr>
          <p:cNvPr id="3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5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242316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Handing off to billing and talking with families about coverage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397764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billing what they need, and give families accuracy without financial advice.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HANDOFF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 good billing task contains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Insurance &amp; Eligibility Essentials for Care Navigators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691640"/>
            <a:ext cx="621792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name and ID (never a screenshot in an email — use the task in athenaOne)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found: eligibility status, mismatch, or new coverage, with the date checked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family reports: 'Daughter says they switched to Humana in January; card photographed to Documents'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time-sensitive: upcoming visit date or program deadline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name and how to reach you for questions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223760" y="1691640"/>
            <a:ext cx="4434840" cy="4389120"/>
          </a:xfrm>
          <a:prstGeom prst="roundRect">
            <a:avLst>
              <a:gd name="adj" fmla="val 2500"/>
            </a:avLst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2011680"/>
            <a:ext cx="548640" cy="54864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543800" y="2697480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Routing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7543800" y="3474720"/>
            <a:ext cx="3794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task to the billing/insurance queue, not to an individual who may be out. Mark priority based on the next visit date.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note in the patient case that you routed it, so the next navigator doesn't duplicate the work.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BOUNDARIES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can and can't say to families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Insurance &amp; Eligibility Essentials for Care Navigators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3514344" cy="3566160"/>
          </a:xfrm>
          <a:prstGeom prst="roundRect">
            <a:avLst>
              <a:gd name="adj" fmla="val 2602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7240" y="192024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2039112"/>
            <a:ext cx="310896" cy="31089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63040" y="1892808"/>
            <a:ext cx="2417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777240" y="2606040"/>
            <a:ext cx="3057144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what coverage is on file, explain that you're verifying it, describe in general terms that a service is billed to their insurance, and connect them with billing or a benefits counselor.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337304" y="1691640"/>
            <a:ext cx="3514344" cy="3566160"/>
          </a:xfrm>
          <a:prstGeom prst="roundRect">
            <a:avLst>
              <a:gd name="adj" fmla="val 2602"/>
            </a:avLst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565904" y="192024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4776" y="2039112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251704" y="1892808"/>
            <a:ext cx="2417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can't</a:t>
            </a:r>
            <a:endParaRPr lang="en-US" sz="1500" dirty="0"/>
          </a:p>
        </p:txBody>
      </p:sp>
      <p:sp>
        <p:nvSpPr>
          <p:cNvPr id="16" name="Text 11"/>
          <p:cNvSpPr txBox="1"/>
          <p:nvPr/>
        </p:nvSpPr>
        <p:spPr>
          <a:xfrm>
            <a:off x="4565904" y="2606040"/>
            <a:ext cx="3057144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 a copay or out-of-pocket amount, promise that a service is 'fully covered', recommend a plan, or tell a family to change or drop coverage.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8125968" y="1691640"/>
            <a:ext cx="3514344" cy="3566160"/>
          </a:xfrm>
          <a:prstGeom prst="roundRect">
            <a:avLst>
              <a:gd name="adj" fmla="val 2602"/>
            </a:avLst>
          </a:prstGeom>
          <a:solidFill>
            <a:srgbClr val="EEF2E8"/>
          </a:solidFill>
          <a:ln w="12700">
            <a:solidFill>
              <a:srgbClr val="EEF2E8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8354568" y="192024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3440" y="2039112"/>
            <a:ext cx="310896" cy="310896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9040368" y="1892808"/>
            <a:ext cx="24170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send them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8354568" y="2606040"/>
            <a:ext cx="3057144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AbleLiving billing for account questions; SHINE (Florida) or OSHIIP (Ohio) State Health Insurance Assistance Programs for free, unbiased plan counseling; the plan's member services number on the card.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AF1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1097280"/>
            <a:ext cx="4572000" cy="4572000"/>
          </a:xfrm>
          <a:prstGeom prst="ellipse">
            <a:avLst/>
          </a:prstGeom>
          <a:solidFill>
            <a:srgbClr val="84ACDF">
              <a:alpha val="35000"/>
            </a:srgbClr>
          </a:solidFill>
          <a:ln w="12700">
            <a:solidFill>
              <a:srgbClr val="84ACDF">
                <a:alpha val="35000"/>
              </a:srgbClr>
            </a:solidFill>
            <a:prstDash val="solid"/>
          </a:ln>
        </p:spPr>
      </p:sp>
      <p:pic>
        <p:nvPicPr>
          <p:cNvPr id="3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3152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6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242316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Scenario, knowledge checks, and takeaways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397764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module.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SCENARIO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January surprise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Insurance &amp; Eligibility Essentials for Care Navigators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6035040" cy="4434840"/>
          </a:xfrm>
          <a:prstGeom prst="roundRect">
            <a:avLst>
              <a:gd name="adj" fmla="val 2474"/>
            </a:avLst>
          </a:prstGeom>
          <a:solidFill>
            <a:srgbClr val="1E4A87"/>
          </a:solidFill>
          <a:ln w="12700">
            <a:solidFill>
              <a:srgbClr val="1E4A87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011680"/>
            <a:ext cx="502920" cy="5029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554480" y="20116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1C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SITUATION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868680" y="2697480"/>
            <a:ext cx="53949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the second week of January. You call Harold Brooks's daughter, Tanya, to confirm Thursday's follow-up. She mentions, 'Oh, we switched Dad to one of those Medicare Advantage plans — the ad said it covered dental and it's cheaper.' The chart shows traditional Medicare with a Medigap secondary. The eligibility check you ran last week came back active.</a:t>
            </a:r>
            <a:endParaRPr lang="en-US" sz="1350" dirty="0"/>
          </a:p>
        </p:txBody>
      </p:sp>
      <p:sp>
        <p:nvSpPr>
          <p:cNvPr id="11" name="Text 7"/>
          <p:cNvSpPr txBox="1"/>
          <p:nvPr/>
        </p:nvSpPr>
        <p:spPr>
          <a:xfrm>
            <a:off x="6949440" y="17373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86C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Pause and think through: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6949440" y="2377440"/>
            <a:ext cx="365760" cy="365760"/>
          </a:xfrm>
          <a:prstGeom prst="ellipse">
            <a:avLst/>
          </a:prstGeom>
          <a:solidFill>
            <a:srgbClr val="586C47"/>
          </a:solidFill>
          <a:ln w="12700">
            <a:solidFill>
              <a:srgbClr val="586C47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949440" y="2377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7452360" y="233172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might last week's check have shown eligible, and what do you do now?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949440" y="3337560"/>
            <a:ext cx="365760" cy="365760"/>
          </a:xfrm>
          <a:prstGeom prst="ellipse">
            <a:avLst/>
          </a:prstGeom>
          <a:solidFill>
            <a:srgbClr val="586C47"/>
          </a:solidFill>
          <a:ln w="12700">
            <a:solidFill>
              <a:srgbClr val="586C47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6949440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7452360" y="329184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information do you gather from Tanya, and where does it go?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949440" y="4297680"/>
            <a:ext cx="365760" cy="365760"/>
          </a:xfrm>
          <a:prstGeom prst="ellipse">
            <a:avLst/>
          </a:prstGeom>
          <a:solidFill>
            <a:srgbClr val="586C47"/>
          </a:solidFill>
          <a:ln w="12700">
            <a:solidFill>
              <a:srgbClr val="586C47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949440" y="4297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7452360" y="425196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 you tell Tanya about the impact on Harold's visits — and what can't you?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— A STRONG APPROACH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Handling Harold's plan change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Insurance &amp; Eligibility Essentials for Care Navigators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11091672" cy="670560"/>
          </a:xfrm>
          <a:prstGeom prst="roundRect">
            <a:avLst>
              <a:gd name="adj" fmla="val 10909"/>
            </a:avLst>
          </a:prstGeom>
          <a:solidFill>
            <a:srgbClr val="EEF2E8"/>
          </a:solidFill>
          <a:ln w="9525">
            <a:solidFill>
              <a:srgbClr val="EEF2E8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62328"/>
            <a:ext cx="329184" cy="32918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34440" y="1737360"/>
            <a:ext cx="1024128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timing.  </a:t>
            </a:r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before January 1 reflected the old plan; the new plan took effect January 1. Re-run eligibility today for the Thursday date of service.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548640" y="2453640"/>
            <a:ext cx="11091672" cy="67056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624328"/>
            <a:ext cx="329184" cy="32918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234440" y="2499360"/>
            <a:ext cx="1024128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the specifics.  </a:t>
            </a:r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name, member ID, effective date; ask Tanya to photograph both sides of the new card and upload it or have it ready for the visit.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548640" y="3215640"/>
            <a:ext cx="11091672" cy="670560"/>
          </a:xfrm>
          <a:prstGeom prst="roundRect">
            <a:avLst>
              <a:gd name="adj" fmla="val 10909"/>
            </a:avLst>
          </a:prstGeom>
          <a:solidFill>
            <a:srgbClr val="EEF2E8"/>
          </a:solidFill>
          <a:ln w="9525">
            <a:solidFill>
              <a:srgbClr val="EEF2E8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386328"/>
            <a:ext cx="329184" cy="32918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234440" y="3261360"/>
            <a:ext cx="1024128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and route.  </a:t>
            </a:r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the card image to Documents, then create a billing task: 'Patient reports switch to [plan] eff. 1/1; card on file; visit Thursday.'</a:t>
            </a:r>
            <a:endParaRPr lang="en-US" sz="1150" dirty="0"/>
          </a:p>
        </p:txBody>
      </p:sp>
      <p:sp>
        <p:nvSpPr>
          <p:cNvPr id="16" name="Shape 10"/>
          <p:cNvSpPr/>
          <p:nvPr/>
        </p:nvSpPr>
        <p:spPr>
          <a:xfrm>
            <a:off x="548640" y="3977640"/>
            <a:ext cx="11091672" cy="67056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148328"/>
            <a:ext cx="329184" cy="329184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234440" y="4023360"/>
            <a:ext cx="1024128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the program lead.  </a:t>
            </a:r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AbleLiving's program has coverage-based eligibility rules, notify the lead so participation is reviewed before Thursday.</a:t>
            </a:r>
            <a:endParaRPr lang="en-US" sz="1150" dirty="0"/>
          </a:p>
        </p:txBody>
      </p:sp>
      <p:sp>
        <p:nvSpPr>
          <p:cNvPr id="19" name="Shape 12"/>
          <p:cNvSpPr/>
          <p:nvPr/>
        </p:nvSpPr>
        <p:spPr>
          <a:xfrm>
            <a:off x="548640" y="4739640"/>
            <a:ext cx="11091672" cy="670560"/>
          </a:xfrm>
          <a:prstGeom prst="roundRect">
            <a:avLst>
              <a:gd name="adj" fmla="val 10909"/>
            </a:avLst>
          </a:prstGeom>
          <a:solidFill>
            <a:srgbClr val="EEF2E8"/>
          </a:solidFill>
          <a:ln w="9525">
            <a:solidFill>
              <a:srgbClr val="EEF2E8"/>
            </a:solidFill>
            <a:prstDash val="solid"/>
          </a:ln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4910328"/>
            <a:ext cx="329184" cy="329184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1234440" y="4785360"/>
            <a:ext cx="1024128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expectations honestly.  </a:t>
            </a:r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Tanya you're updating the record and billing will confirm what the visit looks like under the new plan. Don't promise coverage or quote costs.</a:t>
            </a:r>
            <a:endParaRPr lang="en-US" sz="1150" dirty="0"/>
          </a:p>
        </p:txBody>
      </p:sp>
      <p:sp>
        <p:nvSpPr>
          <p:cNvPr id="22" name="Shape 14"/>
          <p:cNvSpPr/>
          <p:nvPr/>
        </p:nvSpPr>
        <p:spPr>
          <a:xfrm>
            <a:off x="548640" y="5501640"/>
            <a:ext cx="11091672" cy="67056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5672328"/>
            <a:ext cx="329184" cy="329184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234440" y="5547360"/>
            <a:ext cx="1024128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the call.  </a:t>
            </a:r>
            <a:pPr indent="0" marL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case with WHO/WHY/WHAT/DONE/NEXT; follow-up scheduled before Thursday to confirm billing has responded.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YOURSELF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check 1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Insurance &amp; Eligibility Essentials for Care Navigators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69164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eligibility check returns Unverified with a subscriber-not-found message. The most likely cause is: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8640" y="2880360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31520" y="3026664"/>
            <a:ext cx="365760" cy="365760"/>
          </a:xfrm>
          <a:prstGeom prst="ellipse">
            <a:avLst/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3026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280160" y="2880360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patient has no insurance.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48640" y="3657600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31520" y="3803904"/>
            <a:ext cx="365760" cy="365760"/>
          </a:xfrm>
          <a:prstGeom prst="ellipse">
            <a:avLst/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38039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1280160" y="3657600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mismatch in name, DOB, or member ID between the chart and the payer.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48640" y="4434840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31520" y="4581144"/>
            <a:ext cx="365760" cy="365760"/>
          </a:xfrm>
          <a:prstGeom prst="ellipse">
            <a:avLst/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31520" y="4581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1280160" y="4434840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visit isn't covered.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548640" y="5212080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31520" y="5358384"/>
            <a:ext cx="365760" cy="365760"/>
          </a:xfrm>
          <a:prstGeom prst="ellipse">
            <a:avLst/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31520" y="5358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1280160" y="5212080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provider is out of network.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YOURSELF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check 1 — answer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Insurance &amp; Eligibility Essentials for Care Navigators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6916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eligibility check returns Unverified with a subscriber-not-found message. The most likely cause is: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2606040"/>
            <a:ext cx="63093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2606040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The patient has no insurance.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3172968"/>
            <a:ext cx="6309360" cy="475488"/>
          </a:xfrm>
          <a:prstGeom prst="roundRect">
            <a:avLst>
              <a:gd name="adj" fmla="val 11538"/>
            </a:avLst>
          </a:prstGeom>
          <a:solidFill>
            <a:srgbClr val="EEF2E8"/>
          </a:solidFill>
          <a:ln w="19050">
            <a:solidFill>
              <a:srgbClr val="586C4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3172968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 mismatch in name, DOB, or member ID between the chart and the payer.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" y="3739896"/>
            <a:ext cx="63093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31520" y="3739896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The visit isn't covered.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48640" y="4306824"/>
            <a:ext cx="63093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31520" y="4306824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The provider is out of network.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223760" y="2606040"/>
            <a:ext cx="4434840" cy="3520440"/>
          </a:xfrm>
          <a:prstGeom prst="roundRect">
            <a:avLst>
              <a:gd name="adj" fmla="val 3117"/>
            </a:avLst>
          </a:prstGeom>
          <a:solidFill>
            <a:srgbClr val="586C47"/>
          </a:solidFill>
          <a:ln w="12700">
            <a:solidFill>
              <a:srgbClr val="586C47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2880360"/>
            <a:ext cx="457200" cy="45720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8092440" y="28803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Correct answer: B</a:t>
            </a:r>
            <a:endParaRPr lang="en-US" sz="1800" dirty="0"/>
          </a:p>
        </p:txBody>
      </p:sp>
      <p:sp>
        <p:nvSpPr>
          <p:cNvPr id="19" name="Text 15"/>
          <p:cNvSpPr txBox="1"/>
          <p:nvPr/>
        </p:nvSpPr>
        <p:spPr>
          <a:xfrm>
            <a:off x="7498080" y="3520440"/>
            <a:ext cx="3886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'Subscriber not found' almost always means the identifying details don't match what the payer has. Recheck the card and the chart before assuming coverage is gone.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YOURSELF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check 2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Insurance &amp; Eligibility Essentials for Care Navigators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69164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caregiver asks, 'What will the visit cost us?' The best response is: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8640" y="2880360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31520" y="3026664"/>
            <a:ext cx="365760" cy="365760"/>
          </a:xfrm>
          <a:prstGeom prst="ellipse">
            <a:avLst/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3026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280160" y="2880360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 the standard Medicare 20% coinsurance.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48640" y="3657600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31520" y="3803904"/>
            <a:ext cx="365760" cy="365760"/>
          </a:xfrm>
          <a:prstGeom prst="ellipse">
            <a:avLst/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38039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1280160" y="3657600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them it's fully covered by Medicare.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48640" y="4434840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31520" y="4581144"/>
            <a:ext cx="365760" cy="365760"/>
          </a:xfrm>
          <a:prstGeom prst="ellipse">
            <a:avLst/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31520" y="4581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1280160" y="4434840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you can't quote costs, confirm the coverage on file, and connect them with billing for an accurate answer.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548640" y="5212080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31520" y="5358384"/>
            <a:ext cx="365760" cy="365760"/>
          </a:xfrm>
          <a:prstGeom prst="ellipse">
            <a:avLst/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31520" y="5358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1280160" y="5212080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 they switch to a plan with lower copays.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YOURSELF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check 2 — answer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Insurance &amp; Eligibility Essentials for Care Navigators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6916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caregiver asks, 'What will the visit cost us?' The best response is: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2606040"/>
            <a:ext cx="63093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2606040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Quote the standard Medicare 20% coinsurance.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3172968"/>
            <a:ext cx="63093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3172968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Tell them it's fully covered by Medicare.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" y="3739896"/>
            <a:ext cx="6309360" cy="475488"/>
          </a:xfrm>
          <a:prstGeom prst="roundRect">
            <a:avLst>
              <a:gd name="adj" fmla="val 11538"/>
            </a:avLst>
          </a:prstGeom>
          <a:solidFill>
            <a:srgbClr val="EEF2E8"/>
          </a:solidFill>
          <a:ln w="19050">
            <a:solidFill>
              <a:srgbClr val="586C4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31520" y="3739896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Explain you can't quote costs, confirm the coverage on file, and connect them with billing for an accurate answer.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48640" y="4306824"/>
            <a:ext cx="63093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31520" y="4306824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Suggest they switch to a plan with lower copays.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223760" y="2606040"/>
            <a:ext cx="4434840" cy="3520440"/>
          </a:xfrm>
          <a:prstGeom prst="roundRect">
            <a:avLst>
              <a:gd name="adj" fmla="val 3117"/>
            </a:avLst>
          </a:prstGeom>
          <a:solidFill>
            <a:srgbClr val="586C47"/>
          </a:solidFill>
          <a:ln w="12700">
            <a:solidFill>
              <a:srgbClr val="586C47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2880360"/>
            <a:ext cx="457200" cy="45720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8092440" y="28803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Correct answer: C</a:t>
            </a:r>
            <a:endParaRPr lang="en-US" sz="1800" dirty="0"/>
          </a:p>
        </p:txBody>
      </p:sp>
      <p:sp>
        <p:nvSpPr>
          <p:cNvPr id="19" name="Text 15"/>
          <p:cNvSpPr txBox="1"/>
          <p:nvPr/>
        </p:nvSpPr>
        <p:spPr>
          <a:xfrm>
            <a:off x="7498080" y="3520440"/>
            <a:ext cx="3886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estimates and plan recommendations are outside a navigator's role and can be wrong for that patient's specific plan. Route to billing and, for plan questions, to the state SHIP program.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YOURSELF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check 3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Insurance &amp; Eligibility Essentials for Care Navigators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69164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eligibility response reports 'other coverage' the chart doesn't have. You should: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8640" y="2880360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31520" y="3026664"/>
            <a:ext cx="365760" cy="365760"/>
          </a:xfrm>
          <a:prstGeom prst="ellipse">
            <a:avLst/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3026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280160" y="2880360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new package to the chart yourself.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48640" y="3657600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31520" y="3803904"/>
            <a:ext cx="365760" cy="365760"/>
          </a:xfrm>
          <a:prstGeom prst="ellipse">
            <a:avLst/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38039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1280160" y="3657600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 it if the primary is active.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48640" y="4434840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31520" y="4581144"/>
            <a:ext cx="365760" cy="365760"/>
          </a:xfrm>
          <a:prstGeom prst="ellipse">
            <a:avLst/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31520" y="4581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1280160" y="4434840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family about the coverage, upload the card if available, and route to billing to add and sequence it.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548640" y="5212080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6DEE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31520" y="5358384"/>
            <a:ext cx="365760" cy="365760"/>
          </a:xfrm>
          <a:prstGeom prst="ellipse">
            <a:avLst/>
          </a:prstGeom>
          <a:solidFill>
            <a:srgbClr val="EAF1FA"/>
          </a:solidFill>
          <a:ln w="12700">
            <a:solidFill>
              <a:srgbClr val="EAF1F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31520" y="5358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4A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1280160" y="5212080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the upcoming visit until it's resolved.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YOURSELF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check 3 — answer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Insurance &amp; Eligibility Essentials for Care Navigators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6916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eligibility response reports 'other coverage' the chart doesn't have. You should: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2606040"/>
            <a:ext cx="63093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2606040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Add the new package to the chart yourself.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3172968"/>
            <a:ext cx="63093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3172968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Ignore it if the primary is active.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" y="3739896"/>
            <a:ext cx="6309360" cy="475488"/>
          </a:xfrm>
          <a:prstGeom prst="roundRect">
            <a:avLst>
              <a:gd name="adj" fmla="val 11538"/>
            </a:avLst>
          </a:prstGeom>
          <a:solidFill>
            <a:srgbClr val="EEF2E8"/>
          </a:solidFill>
          <a:ln w="19050">
            <a:solidFill>
              <a:srgbClr val="586C47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31520" y="3739896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Ask the family about the coverage, upload the card if available, and route to billing to add and sequence it.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48640" y="4306824"/>
            <a:ext cx="63093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31520" y="4306824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Cancel the upcoming visit until it's resolved.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223760" y="2606040"/>
            <a:ext cx="4434840" cy="3520440"/>
          </a:xfrm>
          <a:prstGeom prst="roundRect">
            <a:avLst>
              <a:gd name="adj" fmla="val 3117"/>
            </a:avLst>
          </a:prstGeom>
          <a:solidFill>
            <a:srgbClr val="586C47"/>
          </a:solidFill>
          <a:ln w="12700">
            <a:solidFill>
              <a:srgbClr val="586C47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2880360"/>
            <a:ext cx="457200" cy="45720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8092440" y="28803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Correct answer: C</a:t>
            </a:r>
            <a:endParaRPr lang="en-US" sz="1800" dirty="0"/>
          </a:p>
        </p:txBody>
      </p:sp>
      <p:sp>
        <p:nvSpPr>
          <p:cNvPr id="19" name="Text 15"/>
          <p:cNvSpPr txBox="1"/>
          <p:nvPr/>
        </p:nvSpPr>
        <p:spPr>
          <a:xfrm>
            <a:off x="7498080" y="3520440"/>
            <a:ext cx="3886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Navigators detect and report; billing adds and sequences coverage. Gather the details, upload the card, and route with the visit date so billing can prioritize.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0" y="274320"/>
            <a:ext cx="1463040" cy="62179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86C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SUMMARY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566928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4A8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Insurance &amp; Eligibility Essentials for Care Navigators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064240" y="641908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11091672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892808"/>
            <a:ext cx="347472" cy="34747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1691640"/>
            <a:ext cx="10149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detect coverage changes first — at enrollment, before visits, and whenever a family mentions a change. Ask in Q1 and after life events.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548640" y="2560320"/>
            <a:ext cx="11091672" cy="749808"/>
          </a:xfrm>
          <a:prstGeom prst="roundRect">
            <a:avLst>
              <a:gd name="adj" fmla="val 9756"/>
            </a:avLst>
          </a:prstGeom>
          <a:solidFill>
            <a:srgbClr val="EAF1FA"/>
          </a:solidFill>
          <a:ln w="9525">
            <a:solidFill>
              <a:srgbClr val="EAF1FA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761488"/>
            <a:ext cx="347472" cy="34747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325880" y="2560320"/>
            <a:ext cx="10149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the vocabulary: traditional Medicare, Medicare Advantage, Medicaid, dual eligible, secondary. The card, not the memory, is the source.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548640" y="3429000"/>
            <a:ext cx="11091672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630168"/>
            <a:ext cx="347472" cy="347472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325880" y="3429000"/>
            <a:ext cx="10149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eligibility runs three days before visits; run on-demand checks after changes and read status, subscriber match, and other-coverage messages.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548640" y="4297680"/>
            <a:ext cx="11091672" cy="749808"/>
          </a:xfrm>
          <a:prstGeom prst="roundRect">
            <a:avLst>
              <a:gd name="adj" fmla="val 9756"/>
            </a:avLst>
          </a:prstGeom>
          <a:solidFill>
            <a:srgbClr val="EAF1FA"/>
          </a:solidFill>
          <a:ln w="9525">
            <a:solidFill>
              <a:srgbClr val="EAF1FA"/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498848"/>
            <a:ext cx="347472" cy="347472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325880" y="4297680"/>
            <a:ext cx="10149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edit insurance packages. Route to the billing queue with what you found, what the family says, and the next visit date.</a:t>
            </a:r>
            <a:endParaRPr lang="en-US" sz="1400" dirty="0"/>
          </a:p>
        </p:txBody>
      </p:sp>
      <p:sp>
        <p:nvSpPr>
          <p:cNvPr id="19" name="Shape 12"/>
          <p:cNvSpPr/>
          <p:nvPr/>
        </p:nvSpPr>
        <p:spPr>
          <a:xfrm>
            <a:off x="548640" y="5166360"/>
            <a:ext cx="11091672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D6DEE8"/>
            </a:solidFill>
            <a:prstDash val="solid"/>
          </a:ln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5367528"/>
            <a:ext cx="347472" cy="347472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1325880" y="5166360"/>
            <a:ext cx="10149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what's on file and connect families to billing or state SHIP counselors; never quote costs, promise coverage, or recommend plans.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E4A8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84ACDF">
              <a:alpha val="20000"/>
            </a:srgbClr>
          </a:solidFill>
          <a:ln w="12700">
            <a:solidFill>
              <a:srgbClr val="84ACDF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640080"/>
            <a:ext cx="3931920" cy="1691640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" name="Image 0" descr="/home/claude/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731520"/>
            <a:ext cx="3657600" cy="15087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27432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You've completed Module 4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36118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A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&amp; Eligibility Essentials for Care Navigators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4663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1C2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4983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5: Care Team Communication, Patient Cases &amp; Tasking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58521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4A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 shown are illustrative representations of athenaOne workflows (terminology verified against athenahealth O-help and published workflow guides, Sept 2026). Follow AbleLiving policies and athenahealth O-help where they differ.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4: Insurance &amp; Eligibility Essentials for Care Navigators</dc:title>
  <dc:subject>PptxGenJS Presentation</dc:subject>
  <dc:creator>AbleLiving Memory Support</dc:creator>
  <cp:lastModifiedBy>AbleLiving Memory Support</cp:lastModifiedBy>
  <cp:revision>1</cp:revision>
  <dcterms:created xsi:type="dcterms:W3CDTF">2026-09-24T23:01:56Z</dcterms:created>
  <dcterms:modified xsi:type="dcterms:W3CDTF">2026-09-24T23:01:56Z</dcterms:modified>
</cp:coreProperties>
</file>