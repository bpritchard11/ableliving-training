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 explicit: the Form is the narrative record; the Care Plan tab is the structured record. Both are required for every care-management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to confirm the subclass AbleLiving chose so it is searchable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1.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8595360" y="-2011680"/>
            <a:ext cx="5943600" cy="59436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1645920" y="4754880"/>
            <a:ext cx="4114800" cy="4114800"/>
          </a:xfrm>
          <a:prstGeom prst="ellipse">
            <a:avLst/>
          </a:prstGeom>
          <a:solidFill>
            <a:srgbClr val="586C47">
              <a:alpha val="30000"/>
            </a:srgbClr>
          </a:solidFill>
          <a:ln w="12700">
            <a:solidFill>
              <a:srgbClr val="586C47">
                <a:alpha val="30000"/>
              </a:srgbClr>
            </a:solidFill>
            <a:prstDash val="solid"/>
          </a:ln>
        </p:spPr>
      </p:sp>
      <p:sp>
        <p:nvSpPr>
          <p:cNvPr id="4" name="Shape 2"/>
          <p:cNvSpPr/>
          <p:nvPr/>
        </p:nvSpPr>
        <p:spPr>
          <a:xfrm>
            <a:off x="731520" y="640080"/>
            <a:ext cx="3931920" cy="1691640"/>
          </a:xfrm>
          <a:prstGeom prst="roundRect">
            <a:avLst>
              <a:gd name="adj" fmla="val 8108"/>
            </a:avLst>
          </a:prstGeom>
          <a:solidFill>
            <a:srgbClr val="FFFFFF"/>
          </a:solidFill>
          <a:ln w="12700">
            <a:solidFill>
              <a:srgbClr val="FFFFFF"/>
            </a:solidFill>
            <a:prstDash val="solid"/>
          </a:ln>
        </p:spPr>
      </p:sp>
      <p:pic>
        <p:nvPicPr>
          <p:cNvPr id="5" name="Image 0" descr="/home/claude/build/logo.png">    </p:cNvPr>
          <p:cNvPicPr>
            <a:picLocks noChangeAspect="1"/>
          </p:cNvPicPr>
          <p:nvPr/>
        </p:nvPicPr>
        <p:blipFill>
          <a:blip r:embed="rId1"/>
          <a:stretch>
            <a:fillRect/>
          </a:stretch>
        </p:blipFill>
        <p:spPr>
          <a:xfrm>
            <a:off x="868680" y="731520"/>
            <a:ext cx="3657600" cy="1508760"/>
          </a:xfrm>
          <a:prstGeom prst="rect">
            <a:avLst/>
          </a:prstGeom>
        </p:spPr>
      </p:pic>
      <p:sp>
        <p:nvSpPr>
          <p:cNvPr id="6" name="Text 3"/>
          <p:cNvSpPr txBox="1"/>
          <p:nvPr/>
        </p:nvSpPr>
        <p:spPr>
          <a:xfrm>
            <a:off x="731520" y="2880360"/>
            <a:ext cx="10058400" cy="320040"/>
          </a:xfrm>
          <a:prstGeom prst="rect">
            <a:avLst/>
          </a:prstGeom>
          <a:noFill/>
          <a:ln/>
        </p:spPr>
        <p:txBody>
          <a:bodyPr wrap="square" lIns="0" tIns="0" rIns="0" bIns="0" rtlCol="0" anchor="ctr"/>
          <a:lstStyle/>
          <a:p>
            <a:pPr indent="0" marL="0">
              <a:buNone/>
            </a:pPr>
            <a:r>
              <a:rPr lang="en-US" sz="1300" b="1" spc="200" kern="0" dirty="0">
                <a:solidFill>
                  <a:srgbClr val="F1C232"/>
                </a:solidFill>
                <a:latin typeface="Calibri" pitchFamily="34" charset="0"/>
                <a:ea typeface="Calibri" pitchFamily="34" charset="-122"/>
                <a:cs typeface="Calibri" pitchFamily="34" charset="-120"/>
              </a:rPr>
              <a:t>ATHENAONE TRAINING SERIES · MODULE 6 OF 10</a:t>
            </a:r>
            <a:endParaRPr lang="en-US" sz="1300" dirty="0"/>
          </a:p>
        </p:txBody>
      </p:sp>
      <p:sp>
        <p:nvSpPr>
          <p:cNvPr id="7" name="Text 4"/>
          <p:cNvSpPr txBox="1"/>
          <p:nvPr/>
        </p:nvSpPr>
        <p:spPr>
          <a:xfrm>
            <a:off x="731520" y="32461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Care Plans &amp; Care Management Documentation</a:t>
            </a:r>
            <a:endParaRPr lang="en-US" sz="4400" dirty="0"/>
          </a:p>
        </p:txBody>
      </p:sp>
      <p:sp>
        <p:nvSpPr>
          <p:cNvPr id="8" name="Text 5"/>
          <p:cNvSpPr txBox="1"/>
          <p:nvPr/>
        </p:nvSpPr>
        <p:spPr>
          <a:xfrm>
            <a:off x="731520" y="4617720"/>
            <a:ext cx="9601200" cy="822960"/>
          </a:xfrm>
          <a:prstGeom prst="rect">
            <a:avLst/>
          </a:prstGeom>
          <a:noFill/>
          <a:ln/>
        </p:spPr>
        <p:txBody>
          <a:bodyPr wrap="square" lIns="0" tIns="0" rIns="0" bIns="0" rtlCol="0" anchor="ctr"/>
          <a:lstStyle/>
          <a:p>
            <a:pPr indent="0" marL="0">
              <a:buNone/>
            </a:pPr>
            <a:r>
              <a:rPr lang="en-US" sz="1800" dirty="0">
                <a:solidFill>
                  <a:srgbClr val="EAF1FA"/>
                </a:solidFill>
                <a:latin typeface="Calibri" pitchFamily="34" charset="0"/>
                <a:ea typeface="Calibri" pitchFamily="34" charset="-122"/>
                <a:cs typeface="Calibri" pitchFamily="34" charset="-120"/>
              </a:rPr>
              <a:t>Caregiver assessments, the dementia care plan, outreach documentation, time tracking, and respite coordination — the heart of navigator work.</a:t>
            </a:r>
            <a:endParaRPr lang="en-US" sz="1800" dirty="0"/>
          </a:p>
        </p:txBody>
      </p:sp>
      <p:sp>
        <p:nvSpPr>
          <p:cNvPr id="9" name="Text 6"/>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dirty="0">
                <a:solidFill>
                  <a:srgbClr val="84ACDF"/>
                </a:solidFill>
                <a:latin typeface="Calibri" pitchFamily="34" charset="0"/>
                <a:ea typeface="Calibri" pitchFamily="34" charset="-122"/>
                <a:cs typeface="Calibri" pitchFamily="34" charset="-120"/>
              </a:rPr>
              <a:t>Care Navigator Curriculum  ·  Approximately 60 minutes  ·  View-only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WHAT WE'LL COVER</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Module roadmap</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673352"/>
            <a:ext cx="457200" cy="457200"/>
          </a:xfrm>
          <a:prstGeom prst="ellipse">
            <a:avLst/>
          </a:prstGeom>
          <a:solidFill>
            <a:srgbClr val="1E4A87"/>
          </a:solidFill>
          <a:ln w="12700">
            <a:solidFill>
              <a:srgbClr val="1E4A87"/>
            </a:solidFill>
            <a:prstDash val="solid"/>
          </a:ln>
        </p:spPr>
      </p:sp>
      <p:sp>
        <p:nvSpPr>
          <p:cNvPr id="8" name="Text 5"/>
          <p:cNvSpPr txBox="1"/>
          <p:nvPr/>
        </p:nvSpPr>
        <p:spPr>
          <a:xfrm>
            <a:off x="640080" y="1673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80160" y="160020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What a care plan is for — and who reads it</a:t>
            </a:r>
            <a:endParaRPr lang="en-US" sz="1800" dirty="0"/>
          </a:p>
        </p:txBody>
      </p:sp>
      <p:sp>
        <p:nvSpPr>
          <p:cNvPr id="10" name="Text 7"/>
          <p:cNvSpPr txBox="1"/>
          <p:nvPr/>
        </p:nvSpPr>
        <p:spPr>
          <a:xfrm>
            <a:off x="8778240" y="160020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5 min</a:t>
            </a:r>
            <a:endParaRPr lang="en-US" sz="1400" dirty="0"/>
          </a:p>
        </p:txBody>
      </p:sp>
      <p:sp>
        <p:nvSpPr>
          <p:cNvPr id="11" name="Shape 8"/>
          <p:cNvSpPr/>
          <p:nvPr/>
        </p:nvSpPr>
        <p:spPr>
          <a:xfrm>
            <a:off x="1280160" y="2258568"/>
            <a:ext cx="8595360" cy="0"/>
          </a:xfrm>
          <a:prstGeom prst="line">
            <a:avLst/>
          </a:prstGeom>
          <a:noFill/>
          <a:ln w="9525">
            <a:solidFill>
              <a:srgbClr val="D6DEE8"/>
            </a:solidFill>
            <a:prstDash val="solid"/>
          </a:ln>
        </p:spPr>
      </p:sp>
      <p:sp>
        <p:nvSpPr>
          <p:cNvPr id="12" name="Shape 9"/>
          <p:cNvSpPr/>
          <p:nvPr/>
        </p:nvSpPr>
        <p:spPr>
          <a:xfrm>
            <a:off x="640080" y="2386584"/>
            <a:ext cx="457200" cy="457200"/>
          </a:xfrm>
          <a:prstGeom prst="ellipse">
            <a:avLst/>
          </a:prstGeom>
          <a:solidFill>
            <a:srgbClr val="1E4A87"/>
          </a:solidFill>
          <a:ln w="12700">
            <a:solidFill>
              <a:srgbClr val="1E4A87"/>
            </a:solidFill>
            <a:prstDash val="solid"/>
          </a:ln>
        </p:spPr>
      </p:sp>
      <p:sp>
        <p:nvSpPr>
          <p:cNvPr id="13" name="Text 10"/>
          <p:cNvSpPr txBox="1"/>
          <p:nvPr/>
        </p:nvSpPr>
        <p:spPr>
          <a:xfrm>
            <a:off x="640080"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280160" y="2313432"/>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Assessments: Forms, athenaOne screenings, and caregiver strain</a:t>
            </a:r>
            <a:endParaRPr lang="en-US" sz="1800" dirty="0"/>
          </a:p>
        </p:txBody>
      </p:sp>
      <p:sp>
        <p:nvSpPr>
          <p:cNvPr id="15" name="Text 12"/>
          <p:cNvSpPr txBox="1"/>
          <p:nvPr/>
        </p:nvSpPr>
        <p:spPr>
          <a:xfrm>
            <a:off x="8778240" y="2313432"/>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12 min</a:t>
            </a:r>
            <a:endParaRPr lang="en-US" sz="1400" dirty="0"/>
          </a:p>
        </p:txBody>
      </p:sp>
      <p:sp>
        <p:nvSpPr>
          <p:cNvPr id="16" name="Shape 13"/>
          <p:cNvSpPr/>
          <p:nvPr/>
        </p:nvSpPr>
        <p:spPr>
          <a:xfrm>
            <a:off x="1280160" y="2971800"/>
            <a:ext cx="8595360" cy="0"/>
          </a:xfrm>
          <a:prstGeom prst="line">
            <a:avLst/>
          </a:prstGeom>
          <a:noFill/>
          <a:ln w="9525">
            <a:solidFill>
              <a:srgbClr val="D6DEE8"/>
            </a:solidFill>
            <a:prstDash val="solid"/>
          </a:ln>
        </p:spPr>
      </p:sp>
      <p:sp>
        <p:nvSpPr>
          <p:cNvPr id="17" name="Shape 14"/>
          <p:cNvSpPr/>
          <p:nvPr/>
        </p:nvSpPr>
        <p:spPr>
          <a:xfrm>
            <a:off x="640080" y="3099816"/>
            <a:ext cx="457200" cy="457200"/>
          </a:xfrm>
          <a:prstGeom prst="ellipse">
            <a:avLst/>
          </a:prstGeom>
          <a:solidFill>
            <a:srgbClr val="1E4A87"/>
          </a:solidFill>
          <a:ln w="12700">
            <a:solidFill>
              <a:srgbClr val="1E4A87"/>
            </a:solidFill>
            <a:prstDash val="solid"/>
          </a:ln>
        </p:spPr>
      </p:sp>
      <p:sp>
        <p:nvSpPr>
          <p:cNvPr id="18" name="Text 15"/>
          <p:cNvSpPr txBox="1"/>
          <p:nvPr/>
        </p:nvSpPr>
        <p:spPr>
          <a:xfrm>
            <a:off x="640080"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280160" y="3026664"/>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Building and updating the care plan</a:t>
            </a:r>
            <a:endParaRPr lang="en-US" sz="1800" dirty="0"/>
          </a:p>
        </p:txBody>
      </p:sp>
      <p:sp>
        <p:nvSpPr>
          <p:cNvPr id="20" name="Text 17"/>
          <p:cNvSpPr txBox="1"/>
          <p:nvPr/>
        </p:nvSpPr>
        <p:spPr>
          <a:xfrm>
            <a:off x="8778240" y="3026664"/>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15 min</a:t>
            </a:r>
            <a:endParaRPr lang="en-US" sz="1400" dirty="0"/>
          </a:p>
        </p:txBody>
      </p:sp>
      <p:sp>
        <p:nvSpPr>
          <p:cNvPr id="21" name="Shape 18"/>
          <p:cNvSpPr/>
          <p:nvPr/>
        </p:nvSpPr>
        <p:spPr>
          <a:xfrm>
            <a:off x="1280160" y="3685032"/>
            <a:ext cx="8595360" cy="0"/>
          </a:xfrm>
          <a:prstGeom prst="line">
            <a:avLst/>
          </a:prstGeom>
          <a:noFill/>
          <a:ln w="9525">
            <a:solidFill>
              <a:srgbClr val="D6DEE8"/>
            </a:solidFill>
            <a:prstDash val="solid"/>
          </a:ln>
        </p:spPr>
      </p:sp>
      <p:sp>
        <p:nvSpPr>
          <p:cNvPr id="22" name="Shape 19"/>
          <p:cNvSpPr/>
          <p:nvPr/>
        </p:nvSpPr>
        <p:spPr>
          <a:xfrm>
            <a:off x="640080" y="3813048"/>
            <a:ext cx="457200" cy="457200"/>
          </a:xfrm>
          <a:prstGeom prst="ellipse">
            <a:avLst/>
          </a:prstGeom>
          <a:solidFill>
            <a:srgbClr val="1E4A87"/>
          </a:solidFill>
          <a:ln w="12700">
            <a:solidFill>
              <a:srgbClr val="1E4A87"/>
            </a:solidFill>
            <a:prstDash val="solid"/>
          </a:ln>
        </p:spPr>
      </p:sp>
      <p:sp>
        <p:nvSpPr>
          <p:cNvPr id="23" name="Text 20"/>
          <p:cNvSpPr txBox="1"/>
          <p:nvPr/>
        </p:nvSpPr>
        <p:spPr>
          <a:xfrm>
            <a:off x="64008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1280160" y="3739896"/>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Documenting care-management outreach and time</a:t>
            </a:r>
            <a:endParaRPr lang="en-US" sz="1800" dirty="0"/>
          </a:p>
        </p:txBody>
      </p:sp>
      <p:sp>
        <p:nvSpPr>
          <p:cNvPr id="25" name="Text 22"/>
          <p:cNvSpPr txBox="1"/>
          <p:nvPr/>
        </p:nvSpPr>
        <p:spPr>
          <a:xfrm>
            <a:off x="8778240" y="3739896"/>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12 min</a:t>
            </a:r>
            <a:endParaRPr lang="en-US" sz="1400" dirty="0"/>
          </a:p>
        </p:txBody>
      </p:sp>
      <p:sp>
        <p:nvSpPr>
          <p:cNvPr id="26" name="Shape 23"/>
          <p:cNvSpPr/>
          <p:nvPr/>
        </p:nvSpPr>
        <p:spPr>
          <a:xfrm>
            <a:off x="1280160" y="4398264"/>
            <a:ext cx="8595360" cy="0"/>
          </a:xfrm>
          <a:prstGeom prst="line">
            <a:avLst/>
          </a:prstGeom>
          <a:noFill/>
          <a:ln w="9525">
            <a:solidFill>
              <a:srgbClr val="D6DEE8"/>
            </a:solidFill>
            <a:prstDash val="solid"/>
          </a:ln>
        </p:spPr>
      </p:sp>
      <p:sp>
        <p:nvSpPr>
          <p:cNvPr id="27" name="Shape 24"/>
          <p:cNvSpPr/>
          <p:nvPr/>
        </p:nvSpPr>
        <p:spPr>
          <a:xfrm>
            <a:off x="640080" y="4526280"/>
            <a:ext cx="457200" cy="457200"/>
          </a:xfrm>
          <a:prstGeom prst="ellipse">
            <a:avLst/>
          </a:prstGeom>
          <a:solidFill>
            <a:srgbClr val="1E4A87"/>
          </a:solidFill>
          <a:ln w="12700">
            <a:solidFill>
              <a:srgbClr val="1E4A87"/>
            </a:solidFill>
            <a:prstDash val="solid"/>
          </a:ln>
        </p:spPr>
      </p:sp>
      <p:sp>
        <p:nvSpPr>
          <p:cNvPr id="28" name="Text 25"/>
          <p:cNvSpPr txBox="1"/>
          <p:nvPr/>
        </p:nvSpPr>
        <p:spPr>
          <a:xfrm>
            <a:off x="64008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txBox="1"/>
          <p:nvPr/>
        </p:nvSpPr>
        <p:spPr>
          <a:xfrm>
            <a:off x="1280160" y="4453128"/>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Respite, community resources, and the 24/7 line</a:t>
            </a:r>
            <a:endParaRPr lang="en-US" sz="1800" dirty="0"/>
          </a:p>
        </p:txBody>
      </p:sp>
      <p:sp>
        <p:nvSpPr>
          <p:cNvPr id="30" name="Text 27"/>
          <p:cNvSpPr txBox="1"/>
          <p:nvPr/>
        </p:nvSpPr>
        <p:spPr>
          <a:xfrm>
            <a:off x="8778240" y="4453128"/>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6 min</a:t>
            </a:r>
            <a:endParaRPr lang="en-US" sz="1400" dirty="0"/>
          </a:p>
        </p:txBody>
      </p:sp>
      <p:sp>
        <p:nvSpPr>
          <p:cNvPr id="31" name="Shape 28"/>
          <p:cNvSpPr/>
          <p:nvPr/>
        </p:nvSpPr>
        <p:spPr>
          <a:xfrm>
            <a:off x="1280160" y="5111496"/>
            <a:ext cx="8595360" cy="0"/>
          </a:xfrm>
          <a:prstGeom prst="line">
            <a:avLst/>
          </a:prstGeom>
          <a:noFill/>
          <a:ln w="9525">
            <a:solidFill>
              <a:srgbClr val="D6DEE8"/>
            </a:solidFill>
            <a:prstDash val="solid"/>
          </a:ln>
        </p:spPr>
      </p:sp>
      <p:sp>
        <p:nvSpPr>
          <p:cNvPr id="32" name="Shape 29"/>
          <p:cNvSpPr/>
          <p:nvPr/>
        </p:nvSpPr>
        <p:spPr>
          <a:xfrm>
            <a:off x="640080" y="5239512"/>
            <a:ext cx="457200" cy="457200"/>
          </a:xfrm>
          <a:prstGeom prst="ellipse">
            <a:avLst/>
          </a:prstGeom>
          <a:solidFill>
            <a:srgbClr val="1E4A87"/>
          </a:solidFill>
          <a:ln w="12700">
            <a:solidFill>
              <a:srgbClr val="1E4A87"/>
            </a:solidFill>
            <a:prstDash val="solid"/>
          </a:ln>
        </p:spPr>
      </p:sp>
      <p:sp>
        <p:nvSpPr>
          <p:cNvPr id="33" name="Text 30"/>
          <p:cNvSpPr txBox="1"/>
          <p:nvPr/>
        </p:nvSpPr>
        <p:spPr>
          <a:xfrm>
            <a:off x="640080" y="5239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1"/>
          <p:cNvSpPr txBox="1"/>
          <p:nvPr/>
        </p:nvSpPr>
        <p:spPr>
          <a:xfrm>
            <a:off x="1280160" y="516636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Scenario, knowledge checks, and takeaways</a:t>
            </a:r>
            <a:endParaRPr lang="en-US" sz="1800" dirty="0"/>
          </a:p>
        </p:txBody>
      </p:sp>
      <p:sp>
        <p:nvSpPr>
          <p:cNvPr id="35" name="Text 32"/>
          <p:cNvSpPr txBox="1"/>
          <p:nvPr/>
        </p:nvSpPr>
        <p:spPr>
          <a:xfrm>
            <a:off x="8778240" y="516636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36" name="Shape 33"/>
          <p:cNvSpPr/>
          <p:nvPr/>
        </p:nvSpPr>
        <p:spPr>
          <a:xfrm>
            <a:off x="10241280" y="2194560"/>
            <a:ext cx="1463040" cy="1280160"/>
          </a:xfrm>
          <a:prstGeom prst="roundRect">
            <a:avLst>
              <a:gd name="adj" fmla="val 7143"/>
            </a:avLst>
          </a:prstGeom>
          <a:solidFill>
            <a:srgbClr val="EEF2E8"/>
          </a:solidFill>
          <a:ln w="12700">
            <a:solidFill>
              <a:srgbClr val="EEF2E8"/>
            </a:solidFill>
            <a:prstDash val="solid"/>
          </a:ln>
        </p:spPr>
      </p:sp>
      <p:sp>
        <p:nvSpPr>
          <p:cNvPr id="37" name="Text 34"/>
          <p:cNvSpPr txBox="1"/>
          <p:nvPr/>
        </p:nvSpPr>
        <p:spPr>
          <a:xfrm>
            <a:off x="10241280" y="2286000"/>
            <a:ext cx="1463040" cy="685800"/>
          </a:xfrm>
          <a:prstGeom prst="rect">
            <a:avLst/>
          </a:prstGeom>
          <a:noFill/>
          <a:ln/>
        </p:spPr>
        <p:txBody>
          <a:bodyPr wrap="square" lIns="0" tIns="0" rIns="0" bIns="0" rtlCol="0" anchor="ctr"/>
          <a:lstStyle/>
          <a:p>
            <a:pPr algn="ctr" indent="0" marL="0">
              <a:buNone/>
            </a:pPr>
            <a:r>
              <a:rPr lang="en-US" sz="3600" b="1" dirty="0">
                <a:solidFill>
                  <a:srgbClr val="586C47"/>
                </a:solidFill>
                <a:latin typeface="Cambria" pitchFamily="34" charset="0"/>
                <a:ea typeface="Cambria" pitchFamily="34" charset="-122"/>
                <a:cs typeface="Cambria" pitchFamily="34" charset="-120"/>
              </a:rPr>
              <a:t>60</a:t>
            </a:r>
            <a:endParaRPr lang="en-US" sz="3600" dirty="0"/>
          </a:p>
        </p:txBody>
      </p:sp>
      <p:sp>
        <p:nvSpPr>
          <p:cNvPr id="38" name="Text 35"/>
          <p:cNvSpPr txBox="1"/>
          <p:nvPr/>
        </p:nvSpPr>
        <p:spPr>
          <a:xfrm>
            <a:off x="10241280" y="2926080"/>
            <a:ext cx="1463040" cy="365760"/>
          </a:xfrm>
          <a:prstGeom prst="rect">
            <a:avLst/>
          </a:prstGeom>
          <a:noFill/>
          <a:ln/>
        </p:spPr>
        <p:txBody>
          <a:bodyPr wrap="square" lIns="0" tIns="0" rIns="0" bIns="0" rtlCol="0" anchor="ctr"/>
          <a:lstStyle/>
          <a:p>
            <a:pPr algn="ctr" indent="0" marL="0">
              <a:buNone/>
            </a:pPr>
            <a:r>
              <a:rPr lang="en-US" sz="1200" dirty="0">
                <a:solidFill>
                  <a:srgbClr val="586C47"/>
                </a:solidFill>
                <a:latin typeface="Calibri" pitchFamily="34" charset="0"/>
                <a:ea typeface="Calibri" pitchFamily="34" charset="-122"/>
                <a:cs typeface="Calibri" pitchFamily="34" charset="-120"/>
              </a:rPr>
              <a:t>minutes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LEARNING OBJECTIVES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By the end of this module, you will be able to…</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691640"/>
            <a:ext cx="5349240" cy="1051560"/>
          </a:xfrm>
          <a:prstGeom prst="roundRect">
            <a:avLst>
              <a:gd name="adj" fmla="val 8696"/>
            </a:avLst>
          </a:prstGeom>
          <a:solidFill>
            <a:srgbClr val="EAF1FA"/>
          </a:solidFill>
          <a:ln w="12700">
            <a:solidFill>
              <a:srgbClr val="EAF1FA"/>
            </a:solidFill>
            <a:prstDash val="solid"/>
          </a:ln>
        </p:spPr>
      </p:sp>
      <p:sp>
        <p:nvSpPr>
          <p:cNvPr id="8" name="Shape 5"/>
          <p:cNvSpPr/>
          <p:nvPr/>
        </p:nvSpPr>
        <p:spPr>
          <a:xfrm>
            <a:off x="731520" y="1920240"/>
            <a:ext cx="594360" cy="59436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59536" y="2048256"/>
            <a:ext cx="338328" cy="338328"/>
          </a:xfrm>
          <a:prstGeom prst="rect">
            <a:avLst/>
          </a:prstGeom>
        </p:spPr>
      </p:pic>
      <p:sp>
        <p:nvSpPr>
          <p:cNvPr id="10" name="Text 6"/>
          <p:cNvSpPr txBox="1"/>
          <p:nvPr/>
        </p:nvSpPr>
        <p:spPr>
          <a:xfrm>
            <a:off x="1508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Explain the purpose and required elements of a person-centered dementia care plan.</a:t>
            </a:r>
            <a:endParaRPr lang="en-US" sz="1400" dirty="0"/>
          </a:p>
        </p:txBody>
      </p:sp>
      <p:sp>
        <p:nvSpPr>
          <p:cNvPr id="11" name="Shape 7"/>
          <p:cNvSpPr/>
          <p:nvPr/>
        </p:nvSpPr>
        <p:spPr>
          <a:xfrm>
            <a:off x="6263640" y="1691640"/>
            <a:ext cx="5349240" cy="1051560"/>
          </a:xfrm>
          <a:prstGeom prst="roundRect">
            <a:avLst>
              <a:gd name="adj" fmla="val 8696"/>
            </a:avLst>
          </a:prstGeom>
          <a:solidFill>
            <a:srgbClr val="EAF1FA"/>
          </a:solidFill>
          <a:ln w="12700">
            <a:solidFill>
              <a:srgbClr val="EAF1FA"/>
            </a:solidFill>
            <a:prstDash val="solid"/>
          </a:ln>
        </p:spPr>
      </p:sp>
      <p:sp>
        <p:nvSpPr>
          <p:cNvPr id="12" name="Shape 8"/>
          <p:cNvSpPr/>
          <p:nvPr/>
        </p:nvSpPr>
        <p:spPr>
          <a:xfrm>
            <a:off x="6446520" y="1920240"/>
            <a:ext cx="594360" cy="594360"/>
          </a:xfrm>
          <a:prstGeom prst="ellipse">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574536" y="2048256"/>
            <a:ext cx="338328" cy="338328"/>
          </a:xfrm>
          <a:prstGeom prst="rect">
            <a:avLst/>
          </a:prstGeom>
        </p:spPr>
      </p:pic>
      <p:sp>
        <p:nvSpPr>
          <p:cNvPr id="14" name="Text 9"/>
          <p:cNvSpPr txBox="1"/>
          <p:nvPr/>
        </p:nvSpPr>
        <p:spPr>
          <a:xfrm>
            <a:off x="7223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Complete and document standardized assessments of patient function and caregiver strain in athenaOne.</a:t>
            </a:r>
            <a:endParaRPr lang="en-US" sz="1400" dirty="0"/>
          </a:p>
        </p:txBody>
      </p:sp>
      <p:sp>
        <p:nvSpPr>
          <p:cNvPr id="15" name="Shape 10"/>
          <p:cNvSpPr/>
          <p:nvPr/>
        </p:nvSpPr>
        <p:spPr>
          <a:xfrm>
            <a:off x="548640" y="3017520"/>
            <a:ext cx="5349240" cy="1051560"/>
          </a:xfrm>
          <a:prstGeom prst="roundRect">
            <a:avLst>
              <a:gd name="adj" fmla="val 8696"/>
            </a:avLst>
          </a:prstGeom>
          <a:solidFill>
            <a:srgbClr val="EAF1FA"/>
          </a:solidFill>
          <a:ln w="12700">
            <a:solidFill>
              <a:srgbClr val="EAF1FA"/>
            </a:solidFill>
            <a:prstDash val="solid"/>
          </a:ln>
        </p:spPr>
      </p:sp>
      <p:sp>
        <p:nvSpPr>
          <p:cNvPr id="16" name="Shape 11"/>
          <p:cNvSpPr/>
          <p:nvPr/>
        </p:nvSpPr>
        <p:spPr>
          <a:xfrm>
            <a:off x="731520" y="3246120"/>
            <a:ext cx="594360" cy="594360"/>
          </a:xfrm>
          <a:prstGeom prst="ellipse">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859536" y="3374136"/>
            <a:ext cx="338328" cy="338328"/>
          </a:xfrm>
          <a:prstGeom prst="rect">
            <a:avLst/>
          </a:prstGeom>
        </p:spPr>
      </p:pic>
      <p:sp>
        <p:nvSpPr>
          <p:cNvPr id="18" name="Text 12"/>
          <p:cNvSpPr txBox="1"/>
          <p:nvPr/>
        </p:nvSpPr>
        <p:spPr>
          <a:xfrm>
            <a:off x="1508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Enter goals, interventions, responsible parties, and review dates in the care plan and keep them current.</a:t>
            </a:r>
            <a:endParaRPr lang="en-US" sz="1400" dirty="0"/>
          </a:p>
        </p:txBody>
      </p:sp>
      <p:sp>
        <p:nvSpPr>
          <p:cNvPr id="19" name="Shape 13"/>
          <p:cNvSpPr/>
          <p:nvPr/>
        </p:nvSpPr>
        <p:spPr>
          <a:xfrm>
            <a:off x="6263640" y="3017520"/>
            <a:ext cx="5349240" cy="1051560"/>
          </a:xfrm>
          <a:prstGeom prst="roundRect">
            <a:avLst>
              <a:gd name="adj" fmla="val 8696"/>
            </a:avLst>
          </a:prstGeom>
          <a:solidFill>
            <a:srgbClr val="EAF1FA"/>
          </a:solidFill>
          <a:ln w="12700">
            <a:solidFill>
              <a:srgbClr val="EAF1FA"/>
            </a:solidFill>
            <a:prstDash val="solid"/>
          </a:ln>
        </p:spPr>
      </p:sp>
      <p:sp>
        <p:nvSpPr>
          <p:cNvPr id="20" name="Shape 14"/>
          <p:cNvSpPr/>
          <p:nvPr/>
        </p:nvSpPr>
        <p:spPr>
          <a:xfrm>
            <a:off x="6446520" y="3246120"/>
            <a:ext cx="594360" cy="594360"/>
          </a:xfrm>
          <a:prstGeom prst="ellipse">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6574536" y="3374136"/>
            <a:ext cx="338328" cy="338328"/>
          </a:xfrm>
          <a:prstGeom prst="rect">
            <a:avLst/>
          </a:prstGeom>
        </p:spPr>
      </p:pic>
      <p:sp>
        <p:nvSpPr>
          <p:cNvPr id="22" name="Text 15"/>
          <p:cNvSpPr txBox="1"/>
          <p:nvPr/>
        </p:nvSpPr>
        <p:spPr>
          <a:xfrm>
            <a:off x="7223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Document care-management contacts and time accurately to support program and billing requirements.</a:t>
            </a:r>
            <a:endParaRPr lang="en-US" sz="1400" dirty="0"/>
          </a:p>
        </p:txBody>
      </p:sp>
      <p:sp>
        <p:nvSpPr>
          <p:cNvPr id="23" name="Shape 16"/>
          <p:cNvSpPr/>
          <p:nvPr/>
        </p:nvSpPr>
        <p:spPr>
          <a:xfrm>
            <a:off x="548640" y="4343400"/>
            <a:ext cx="5349240" cy="1051560"/>
          </a:xfrm>
          <a:prstGeom prst="roundRect">
            <a:avLst>
              <a:gd name="adj" fmla="val 8696"/>
            </a:avLst>
          </a:prstGeom>
          <a:solidFill>
            <a:srgbClr val="EAF1FA"/>
          </a:solidFill>
          <a:ln w="12700">
            <a:solidFill>
              <a:srgbClr val="EAF1FA"/>
            </a:solidFill>
            <a:prstDash val="solid"/>
          </a:ln>
        </p:spPr>
      </p:sp>
      <p:sp>
        <p:nvSpPr>
          <p:cNvPr id="24" name="Shape 17"/>
          <p:cNvSpPr/>
          <p:nvPr/>
        </p:nvSpPr>
        <p:spPr>
          <a:xfrm>
            <a:off x="731520" y="4572000"/>
            <a:ext cx="594360" cy="594360"/>
          </a:xfrm>
          <a:prstGeom prst="ellipse">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859536" y="4700016"/>
            <a:ext cx="338328" cy="338328"/>
          </a:xfrm>
          <a:prstGeom prst="rect">
            <a:avLst/>
          </a:prstGeom>
        </p:spPr>
      </p:pic>
      <p:sp>
        <p:nvSpPr>
          <p:cNvPr id="26" name="Text 18"/>
          <p:cNvSpPr txBox="1"/>
          <p:nvPr/>
        </p:nvSpPr>
        <p:spPr>
          <a:xfrm>
            <a:off x="1508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Coordinate respite and community resources and record referrals and outcomes.</a:t>
            </a:r>
            <a:endParaRPr lang="en-US" sz="1400" dirty="0"/>
          </a:p>
        </p:txBody>
      </p:sp>
      <p:sp>
        <p:nvSpPr>
          <p:cNvPr id="27" name="Shape 19"/>
          <p:cNvSpPr/>
          <p:nvPr/>
        </p:nvSpPr>
        <p:spPr>
          <a:xfrm>
            <a:off x="6263640" y="4343400"/>
            <a:ext cx="5349240" cy="1051560"/>
          </a:xfrm>
          <a:prstGeom prst="roundRect">
            <a:avLst>
              <a:gd name="adj" fmla="val 8696"/>
            </a:avLst>
          </a:prstGeom>
          <a:solidFill>
            <a:srgbClr val="EAF1FA"/>
          </a:solidFill>
          <a:ln w="12700">
            <a:solidFill>
              <a:srgbClr val="EAF1FA"/>
            </a:solidFill>
            <a:prstDash val="solid"/>
          </a:ln>
        </p:spPr>
      </p:sp>
      <p:sp>
        <p:nvSpPr>
          <p:cNvPr id="28" name="Shape 20"/>
          <p:cNvSpPr/>
          <p:nvPr/>
        </p:nvSpPr>
        <p:spPr>
          <a:xfrm>
            <a:off x="6446520" y="4572000"/>
            <a:ext cx="594360" cy="594360"/>
          </a:xfrm>
          <a:prstGeom prst="ellipse">
            <a:avLst/>
          </a:prstGeom>
          <a:solidFill>
            <a:srgbClr val="FFFFFF"/>
          </a:solidFill>
          <a:ln w="12700">
            <a:solidFill>
              <a:srgbClr val="FFFFFF"/>
            </a:solidFill>
            <a:prstDash val="solid"/>
          </a:ln>
        </p:spPr>
      </p:sp>
      <p:pic>
        <p:nvPicPr>
          <p:cNvPr id="29" name="Image 6" descr="preencoded.png">    </p:cNvPr>
          <p:cNvPicPr>
            <a:picLocks noChangeAspect="1"/>
          </p:cNvPicPr>
          <p:nvPr/>
        </p:nvPicPr>
        <p:blipFill>
          <a:blip r:embed="rId7"/>
          <a:stretch>
            <a:fillRect/>
          </a:stretch>
        </p:blipFill>
        <p:spPr>
          <a:xfrm>
            <a:off x="6574536" y="4700016"/>
            <a:ext cx="338328" cy="338328"/>
          </a:xfrm>
          <a:prstGeom prst="rect">
            <a:avLst/>
          </a:prstGeom>
        </p:spPr>
      </p:pic>
      <p:sp>
        <p:nvSpPr>
          <p:cNvPr id="30" name="Text 21"/>
          <p:cNvSpPr txBox="1"/>
          <p:nvPr/>
        </p:nvSpPr>
        <p:spPr>
          <a:xfrm>
            <a:off x="7223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Trigger care-plan reviews after changes in condition, hospitalizations, or caregiver status.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1</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What a care plan is for — and who reads it</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 living document shared with the patient and caregiver, not a form filled once for compliance.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PURPOSE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care plan serves four audiences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Patient and caregiver</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Their goals in their words, what to expect, who to call. A copy goes home.</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The clinical team</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Current problems, interventions, and who owns each. Read before every visit and call.</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Program requirements</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Dementia care-management programs — including CMS's GUIDE Model — require a comprehensive assessment, a written care plan, and regular review. The chart is the evidence.</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Billing</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Care-management services are billed based on documented eligibility, consent, contacts, and time. Missing pieces mean unbillable work.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ANATOMY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Required elements of a comprehensive care plan</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548640" y="1691640"/>
            <a:ext cx="6217920" cy="43891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Patient and caregiver goals, in their words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Current problems: cognitive, functional, behavioral, medical, psychosocial</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Interventions with a responsible team member for each</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Medication list and management plan (who administers, how, adherence supports)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Safety plan: wandering, driving, falls, firearms, home hazards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Caregiver support plan: education, respite, community resources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Advance care planning status and legal documents on file</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Crisis and after-hours contact plan</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Review date and trigger events for early review</a:t>
            </a:r>
            <a:endParaRPr lang="en-US" sz="1400" dirty="0"/>
          </a:p>
        </p:txBody>
      </p:sp>
      <p:sp>
        <p:nvSpPr>
          <p:cNvPr id="8" name="Shape 5"/>
          <p:cNvSpPr/>
          <p:nvPr/>
        </p:nvSpPr>
        <p:spPr>
          <a:xfrm>
            <a:off x="7223760" y="1691640"/>
            <a:ext cx="4434840" cy="4389120"/>
          </a:xfrm>
          <a:prstGeom prst="roundRect">
            <a:avLst>
              <a:gd name="adj" fmla="val 2500"/>
            </a:avLst>
          </a:prstGeom>
          <a:solidFill>
            <a:srgbClr val="1E4A87"/>
          </a:solidFill>
          <a:ln w="12700">
            <a:solidFill>
              <a:srgbClr val="1E4A87"/>
            </a:solidFill>
            <a:prstDash val="solid"/>
          </a:ln>
        </p:spPr>
      </p:sp>
      <p:pic>
        <p:nvPicPr>
          <p:cNvPr id="9" name="Image 1" descr="preencoded.png">    </p:cNvPr>
          <p:cNvPicPr>
            <a:picLocks noChangeAspect="1"/>
          </p:cNvPicPr>
          <p:nvPr/>
        </p:nvPicPr>
        <p:blipFill>
          <a:blip r:embed="rId2"/>
          <a:stretch>
            <a:fillRect/>
          </a:stretch>
        </p:blipFill>
        <p:spPr>
          <a:xfrm>
            <a:off x="7543800" y="2011680"/>
            <a:ext cx="548640" cy="548640"/>
          </a:xfrm>
          <a:prstGeom prst="rect">
            <a:avLst/>
          </a:prstGeom>
        </p:spPr>
      </p:pic>
      <p:sp>
        <p:nvSpPr>
          <p:cNvPr id="10" name="Text 6"/>
          <p:cNvSpPr txBox="1"/>
          <p:nvPr/>
        </p:nvSpPr>
        <p:spPr>
          <a:xfrm>
            <a:off x="7543800" y="2697480"/>
            <a:ext cx="3794760" cy="73152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Person-centered means</a:t>
            </a:r>
            <a:endParaRPr lang="en-US" sz="2000" dirty="0"/>
          </a:p>
        </p:txBody>
      </p:sp>
      <p:sp>
        <p:nvSpPr>
          <p:cNvPr id="11" name="Text 7"/>
          <p:cNvSpPr txBox="1"/>
          <p:nvPr/>
        </p:nvSpPr>
        <p:spPr>
          <a:xfrm>
            <a:off x="7543800" y="3474720"/>
            <a:ext cx="3794760" cy="2286000"/>
          </a:xfrm>
          <a:prstGeom prst="rect">
            <a:avLst/>
          </a:prstGeom>
          <a:noFill/>
          <a:ln/>
        </p:spPr>
        <p:txBody>
          <a:bodyPr wrap="square" lIns="0" tIns="0" rIns="0" bIns="0" rtlCol="0" anchor="t"/>
          <a:lstStyle/>
          <a:p>
            <a:pPr indent="0" marL="0">
              <a:buNone/>
            </a:pPr>
            <a:r>
              <a:rPr lang="en-US" sz="1250" dirty="0">
                <a:solidFill>
                  <a:srgbClr val="EAF1FA"/>
                </a:solidFill>
                <a:latin typeface="Calibri" pitchFamily="34" charset="0"/>
                <a:ea typeface="Calibri" pitchFamily="34" charset="-122"/>
                <a:cs typeface="Calibri" pitchFamily="34" charset="-120"/>
              </a:rPr>
              <a:t>The plan reflects what matters to this patient and caregiver — staying home, seeing grandchildren, keeping the dog — and interventions serve those goals.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2</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Assessments: patient function and caregiver strain</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At AbleLiving, assessments are captured on Microsoft Forms and filed to the chart as clinical documents. The structured screenings that athenaOne scores live on the Care Plan tab.</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HOW ABLELIVING DOCUMENTS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two documentation paths — and when each is used</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691640"/>
            <a:ext cx="3514344" cy="3566160"/>
          </a:xfrm>
          <a:prstGeom prst="roundRect">
            <a:avLst>
              <a:gd name="adj" fmla="val 2602"/>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Microsoft Forms → clinical document</a:t>
            </a:r>
            <a:endParaRPr lang="en-US" sz="1500" dirty="0"/>
          </a:p>
        </p:txBody>
      </p:sp>
      <p:sp>
        <p:nvSpPr>
          <p:cNvPr id="11" name="Text 7"/>
          <p:cNvSpPr txBox="1"/>
          <p:nvPr/>
        </p:nvSpPr>
        <p:spPr>
          <a:xfrm>
            <a:off x="777240"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GUIDE Comprehensive Assessment and the Care Navigator Visit form are completed in Forms during or right after the visit or call, exported to PDF, and uploaded to the patient's chart as a Clinical Document. This is the record of the encounter.</a:t>
            </a:r>
            <a:endParaRPr lang="en-US" sz="1300" dirty="0"/>
          </a:p>
        </p:txBody>
      </p:sp>
      <p:sp>
        <p:nvSpPr>
          <p:cNvPr id="12" name="Shape 8"/>
          <p:cNvSpPr/>
          <p:nvPr/>
        </p:nvSpPr>
        <p:spPr>
          <a:xfrm>
            <a:off x="4337304" y="1691640"/>
            <a:ext cx="3514344" cy="3566160"/>
          </a:xfrm>
          <a:prstGeom prst="roundRect">
            <a:avLst>
              <a:gd name="adj" fmla="val 2602"/>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athenaOne Care Plan tab</a:t>
            </a:r>
            <a:endParaRPr lang="en-US" sz="1500" dirty="0"/>
          </a:p>
        </p:txBody>
      </p:sp>
      <p:sp>
        <p:nvSpPr>
          <p:cNvPr id="16" name="Text 11"/>
          <p:cNvSpPr txBox="1"/>
          <p:nvPr/>
        </p:nvSpPr>
        <p:spPr>
          <a:xfrm>
            <a:off x="4565904"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Care Management Events (time and modality), Health Concerns, Goals, Patient Tasks, and Care Team Tasks. This is what the Care Program Panel, the Care Plan Audit, and billing read.</a:t>
            </a:r>
            <a:endParaRPr lang="en-US" sz="1300" dirty="0"/>
          </a:p>
        </p:txBody>
      </p:sp>
      <p:sp>
        <p:nvSpPr>
          <p:cNvPr id="17" name="Shape 12"/>
          <p:cNvSpPr/>
          <p:nvPr/>
        </p:nvSpPr>
        <p:spPr>
          <a:xfrm>
            <a:off x="8125968" y="1691640"/>
            <a:ext cx="3514344" cy="3566160"/>
          </a:xfrm>
          <a:prstGeom prst="roundRect">
            <a:avLst>
              <a:gd name="adj" fmla="val 2602"/>
            </a:avLst>
          </a:prstGeom>
          <a:solidFill>
            <a:srgbClr val="EEF2E8"/>
          </a:solidFill>
          <a:ln w="12700">
            <a:solidFill>
              <a:srgbClr val="EEF2E8"/>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athenaOne screenings</a:t>
            </a:r>
            <a:endParaRPr lang="en-US" sz="1500" dirty="0"/>
          </a:p>
        </p:txBody>
      </p:sp>
      <p:sp>
        <p:nvSpPr>
          <p:cNvPr id="21" name="Text 15"/>
          <p:cNvSpPr txBox="1"/>
          <p:nvPr/>
        </p:nvSpPr>
        <p:spPr>
          <a:xfrm>
            <a:off x="8354568"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Standardized instruments launched from the Care Plan tab (Screening » icon) or an encounter. Scores trend under Vitals → Screening and feed quality measures.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INSTRUMENTS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Assessments you'll document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Cognition and staging</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Provider-administered cognitive screens and dementia stage. Captured in the GUIDE Comprehensive Assessment form; the score is also entered as an athenaOne screening when the instrument exists there.</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Function: ADLs and IADLs</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Bathing, dressing, eating, transfers, toileting; medications, meals, finances, transportation. Sections of the Comprehensive Assessment form.</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Behavioral and psychological symptoms</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Agitation, wandering, sleep disturbance, hallucinations, depression — frequency and caregiver distress. Comprehensive Assessment form; PHQ-type screens in athenaOne.</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Caregiver strain</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GUIDE caregiver assessment (e.g., Zarit or the program-specified tool). Scores drive respite and support referrals.</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Safety and environment</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Home hazards, driving, firearms, medication storage, emergency plan. Observed at the in-home visit; recorded on the form.</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Social needs</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Food, housing, transportation, isolation, finances. athenaOne's SDOH screening (PRAPARE-style) where enabled; otherwise on the form.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FORMS → CLINICAL DOCUMENT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Filing a completed Form to the chart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Complete the Form. </a:t>
            </a:r>
            <a:pPr indent="0" marL="0">
              <a:buNone/>
            </a:pPr>
            <a:r>
              <a:rPr lang="en-US" sz="1250" dirty="0">
                <a:solidFill>
                  <a:srgbClr val="1F2933"/>
                </a:solidFill>
                <a:latin typeface="Calibri" pitchFamily="34" charset="0"/>
                <a:ea typeface="Calibri" pitchFamily="34" charset="-122"/>
                <a:cs typeface="Calibri" pitchFamily="34" charset="-120"/>
              </a:rPr>
              <a:t>GUIDE Comprehensive Assessment or Care Navigator Visit form, with the patient's name, DOB, and athenaOne ID entered exactly as in the chart.</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Export the response to PDF. </a:t>
            </a:r>
            <a:pPr indent="0" marL="0">
              <a:buNone/>
            </a:pPr>
            <a:r>
              <a:rPr lang="en-US" sz="1250" dirty="0">
                <a:solidFill>
                  <a:srgbClr val="1F2933"/>
                </a:solidFill>
                <a:latin typeface="Calibri" pitchFamily="34" charset="0"/>
                <a:ea typeface="Calibri" pitchFamily="34" charset="-122"/>
                <a:cs typeface="Calibri" pitchFamily="34" charset="-120"/>
              </a:rPr>
              <a:t>From the Forms response, print/save as PDF. Name it: LAST_FIRST_ID_CompAssessment_YYYY-MM-DD.pdf.</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chart and verify the banner. </a:t>
            </a:r>
            <a:pPr indent="0" marL="0">
              <a:buNone/>
            </a:pPr>
            <a:r>
              <a:rPr lang="en-US" sz="1250" dirty="0">
                <a:solidFill>
                  <a:srgbClr val="1F2933"/>
                </a:solidFill>
                <a:latin typeface="Calibri" pitchFamily="34" charset="0"/>
                <a:ea typeface="Calibri" pitchFamily="34" charset="-122"/>
                <a:cs typeface="Calibri" pitchFamily="34" charset="-120"/>
              </a:rPr>
              <a:t>Two identifiers. Never upload from the Forms tab without checking the chart is the right patient.</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Document → Clinical Document. </a:t>
            </a:r>
            <a:pPr indent="0" marL="0">
              <a:buNone/>
            </a:pPr>
            <a:r>
              <a:rPr lang="en-US" sz="1250" dirty="0">
                <a:solidFill>
                  <a:srgbClr val="1F2933"/>
                </a:solidFill>
                <a:latin typeface="Calibri" pitchFamily="34" charset="0"/>
                <a:ea typeface="Calibri" pitchFamily="34" charset="-122"/>
                <a:cs typeface="Calibri" pitchFamily="34" charset="-120"/>
              </a:rPr>
              <a:t>Choose the subclass AbleLiving designates (e.g., Clinical Document → Other/Consult Note per convention), set the document date to the visit date, and add a one-line summary.</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Leave in REVIEW to the care manager or provider. </a:t>
            </a:r>
            <a:pPr indent="0" marL="0">
              <a:buNone/>
            </a:pPr>
            <a:r>
              <a:rPr lang="en-US" sz="1250" dirty="0">
                <a:solidFill>
                  <a:srgbClr val="1F2933"/>
                </a:solidFill>
                <a:latin typeface="Calibri" pitchFamily="34" charset="0"/>
                <a:ea typeface="Calibri" pitchFamily="34" charset="-122"/>
                <a:cs typeface="Calibri" pitchFamily="34" charset="-120"/>
              </a:rPr>
              <a:t>So the clinical owner sees it, signs off, and updates the Care Plan tab from it.</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Chart · Add Document</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Patient</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Doe, Jane · ID 48211</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File</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DOE_JANE_48211_CompAssessment_2026-09-24.pdf</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Class / Subclass</a:t>
            </a:r>
            <a:endParaRPr lang="en-US" sz="1000" dirty="0"/>
          </a:p>
        </p:txBody>
      </p:sp>
      <p:sp>
        <p:nvSpPr>
          <p:cNvPr id="33" name="Shape 30"/>
          <p:cNvSpPr/>
          <p:nvPr/>
        </p:nvSpPr>
        <p:spPr>
          <a:xfrm>
            <a:off x="8275320" y="3035808"/>
            <a:ext cx="3108960" cy="274320"/>
          </a:xfrm>
          <a:prstGeom prst="rect">
            <a:avLst/>
          </a:prstGeom>
          <a:solidFill>
            <a:srgbClr val="FFF6D6"/>
          </a:solidFill>
          <a:ln w="15875">
            <a:solidFill>
              <a:srgbClr val="F1C232"/>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Clinical Document / [AbleLiving subclass]</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Document date</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09/24/2026</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Note</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GUIDE Comprehensive Assessment — Zarit 27 (high); ADL 3/6</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Action</a:t>
            </a:r>
            <a:endParaRPr lang="en-US" sz="1000" dirty="0"/>
          </a:p>
        </p:txBody>
      </p:sp>
      <p:sp>
        <p:nvSpPr>
          <p:cNvPr id="42" name="Shape 39"/>
          <p:cNvSpPr/>
          <p:nvPr/>
        </p:nvSpPr>
        <p:spPr>
          <a:xfrm>
            <a:off x="8275320" y="4133088"/>
            <a:ext cx="3108960" cy="274320"/>
          </a:xfrm>
          <a:prstGeom prst="rect">
            <a:avLst/>
          </a:prstGeom>
          <a:solidFill>
            <a:srgbClr val="FFF6D6"/>
          </a:solidFill>
          <a:ln w="15875">
            <a:solidFill>
              <a:srgbClr val="F1C232"/>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Leave in REVIEW to caremanagement</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CARE PLAN TAB → SCREENING</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Running an athenaOne screening</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Chart → Care tab → Care Plan → Screening » icon. </a:t>
            </a:r>
            <a:pPr indent="0" marL="0">
              <a:buNone/>
            </a:pPr>
            <a:r>
              <a:rPr lang="en-US" sz="1250" dirty="0">
                <a:solidFill>
                  <a:srgbClr val="1F2933"/>
                </a:solidFill>
                <a:latin typeface="Calibri" pitchFamily="34" charset="0"/>
                <a:ea typeface="Calibri" pitchFamily="34" charset="-122"/>
                <a:cs typeface="Calibri" pitchFamily="34" charset="-120"/>
              </a:rPr>
              <a:t>Verify the banner; enter the caregiver's name as respondent where the instrument allows.</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Select the instrument. </a:t>
            </a:r>
            <a:pPr indent="0" marL="0">
              <a:buNone/>
            </a:pPr>
            <a:r>
              <a:rPr lang="en-US" sz="1250" dirty="0">
                <a:solidFill>
                  <a:srgbClr val="1F2933"/>
                </a:solidFill>
                <a:latin typeface="Calibri" pitchFamily="34" charset="0"/>
                <a:ea typeface="Calibri" pitchFamily="34" charset="-122"/>
                <a:cs typeface="Calibri" pitchFamily="34" charset="-120"/>
              </a:rPr>
              <a:t>Search by name (PHQ-9, Zarit, fall risk, etc., as enabled at AbleLiving).</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Ask each item as written. </a:t>
            </a:r>
            <a:pPr indent="0" marL="0">
              <a:buNone/>
            </a:pPr>
            <a:r>
              <a:rPr lang="en-US" sz="1250" dirty="0">
                <a:solidFill>
                  <a:srgbClr val="1F2933"/>
                </a:solidFill>
                <a:latin typeface="Calibri" pitchFamily="34" charset="0"/>
                <a:ea typeface="Calibri" pitchFamily="34" charset="-122"/>
                <a:cs typeface="Calibri" pitchFamily="34" charset="-120"/>
              </a:rPr>
              <a:t>Don't paraphrase standardized items; it changes the score.</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Save; the score calculates. </a:t>
            </a:r>
            <a:pPr indent="0" marL="0">
              <a:buNone/>
            </a:pPr>
            <a:r>
              <a:rPr lang="en-US" sz="1250" dirty="0">
                <a:solidFill>
                  <a:srgbClr val="1F2933"/>
                </a:solidFill>
                <a:latin typeface="Calibri" pitchFamily="34" charset="0"/>
                <a:ea typeface="Calibri" pitchFamily="34" charset="-122"/>
                <a:cs typeface="Calibri" pitchFamily="34" charset="-120"/>
              </a:rPr>
              <a:t>It appears under Vitals → Screening with the date, and trends over time.</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Act on the score. </a:t>
            </a:r>
            <a:pPr indent="0" marL="0">
              <a:buNone/>
            </a:pPr>
            <a:r>
              <a:rPr lang="en-US" sz="1250" dirty="0">
                <a:solidFill>
                  <a:srgbClr val="1F2933"/>
                </a:solidFill>
                <a:latin typeface="Calibri" pitchFamily="34" charset="0"/>
                <a:ea typeface="Calibri" pitchFamily="34" charset="-122"/>
                <a:cs typeface="Calibri" pitchFamily="34" charset="-120"/>
              </a:rPr>
              <a:t>Scores above the program threshold become a Health Concern on the Care Plan and route to the care manager.</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Care Plan · Screening</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Instrument</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Zarit Burden Interview (12-item)</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Respondent</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Susan Doe (daughter, primary caregiver)</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Score</a:t>
            </a:r>
            <a:endParaRPr lang="en-US" sz="1000" dirty="0"/>
          </a:p>
        </p:txBody>
      </p:sp>
      <p:sp>
        <p:nvSpPr>
          <p:cNvPr id="33" name="Shape 30"/>
          <p:cNvSpPr/>
          <p:nvPr/>
        </p:nvSpPr>
        <p:spPr>
          <a:xfrm>
            <a:off x="8275320" y="3035808"/>
            <a:ext cx="3108960" cy="274320"/>
          </a:xfrm>
          <a:prstGeom prst="rect">
            <a:avLst/>
          </a:prstGeom>
          <a:solidFill>
            <a:srgbClr val="FFF6D6"/>
          </a:solidFill>
          <a:ln w="15875">
            <a:solidFill>
              <a:srgbClr val="F1C232"/>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27 / 48 — high burden</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Date</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09/24/2026 · by B. Navigator</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Trend</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Prior 06/20/2026: 19</a:t>
            </a:r>
            <a:endParaRPr lang="en-US" sz="1000" dirty="0"/>
          </a:p>
        </p:txBody>
      </p:sp>
      <p:sp>
        <p:nvSpPr>
          <p:cNvPr id="41" name="Shape 38"/>
          <p:cNvSpPr/>
          <p:nvPr/>
        </p:nvSpPr>
        <p:spPr>
          <a:xfrm>
            <a:off x="6537960" y="4160520"/>
            <a:ext cx="1554480" cy="329184"/>
          </a:xfrm>
          <a:prstGeom prst="roundRect">
            <a:avLst>
              <a:gd name="adj" fmla="val 13889"/>
            </a:avLst>
          </a:prstGeom>
          <a:solidFill>
            <a:srgbClr val="1E4A87"/>
          </a:solidFill>
          <a:ln w="12700">
            <a:solidFill>
              <a:srgbClr val="1E4A87"/>
            </a:solidFill>
            <a:prstDash val="solid"/>
          </a:ln>
        </p:spPr>
      </p:sp>
      <p:sp>
        <p:nvSpPr>
          <p:cNvPr id="42" name="Text 39"/>
          <p:cNvSpPr txBox="1"/>
          <p:nvPr/>
        </p:nvSpPr>
        <p:spPr>
          <a:xfrm>
            <a:off x="6537960" y="416052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Assessments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Schedule enough time; a rushed caregiver interview produces unreliable scores.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Interview the caregiver away from the patient for questions about behavior or the caregiver's feelings.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Enter the athenaOne patient ID on the Form so the PDF can be matched to the chart without guesswork.</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File the Form PDF the same day; the care manager updates the Care Plan from it.</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Leaving the assessment only in Forms — if it isn't in athenaOne, it doesn't exist for the team, the audit, or billing.</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Uploading the PDF as an Admin document; it must be a Clinical Document so it appears in the clinical record.</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Recording your interpretation ('caregiver is burned out') instead of the score and what was said.</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Skipping reassessment because 'nothing has changed' — GUIDE requires it on schedule.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3</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Building and updating the care plan</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athenaOne allows one active Care Plan per patient. It is built from Health Concerns, Goals, Patient Tasks, and Care Team Tasks — and the care manager owns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ANATOMY IN ATHENAONE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Care Plan tab, section by section</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 Management Events</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One entry per care-management activity: event type (modality), duration (entered manually — not a timer), and a summary. Not shared in the patient's care plan document. Feeds monthly time totals.</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Health Concerns</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reasons for the plan (diagnoses or problems). Added from an athenaOne Care Plan Template or manually; can be made inactive.</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Goals</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Measurable goals with due dates and a Progress dropdown. From the athena curated list or custom. Custom goals are visible only to the user who created them.</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Patient Tasks</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Behavior-change actions the patient/caregiver owns, linked to goals.</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 Team Tasks</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Actions for the team — order a referral, arrange respite. Assigned by sending the Care Plan Document in REVIEW to a Practice Role with an Action Note.</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Active vs. Historical</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Only one active plan. Archive a completed plan (keeps history); Delete only if created in error.</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CARE PLAN</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Care-plan workflow at AbleLiving</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Enroll and add the care team</a:t>
            </a:r>
            <a:endParaRPr lang="en-US" sz="1400" dirty="0"/>
          </a:p>
        </p:txBody>
      </p:sp>
      <p:sp>
        <p:nvSpPr>
          <p:cNvPr id="11" name="Text 8"/>
          <p:cNvSpPr txBox="1"/>
          <p:nvPr/>
        </p:nvSpPr>
        <p:spPr>
          <a:xfrm>
            <a:off x="777240"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Program enrollment and consent status on Quickview; add the Care Manager under Care Team Members. Without these the plan and time are not billable.</a:t>
            </a:r>
            <a:endParaRPr lang="en-US" sz="1150" dirty="0"/>
          </a:p>
        </p:txBody>
      </p:sp>
      <p:sp>
        <p:nvSpPr>
          <p:cNvPr id="12" name="Shape 9"/>
          <p:cNvSpPr/>
          <p:nvPr/>
        </p:nvSpPr>
        <p:spPr>
          <a:xfrm>
            <a:off x="2435352"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2663952"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2663952"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2663952"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Gather inputs</a:t>
            </a:r>
            <a:endParaRPr lang="en-US" sz="1400" dirty="0"/>
          </a:p>
        </p:txBody>
      </p:sp>
      <p:sp>
        <p:nvSpPr>
          <p:cNvPr id="16" name="Text 13"/>
          <p:cNvSpPr txBox="1"/>
          <p:nvPr/>
        </p:nvSpPr>
        <p:spPr>
          <a:xfrm>
            <a:off x="2663952"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Latest Form PDFs, athenaOne screenings, provider notes, medication list, caregiver conversation, prior plan.</a:t>
            </a:r>
            <a:endParaRPr lang="en-US" sz="1150" dirty="0"/>
          </a:p>
        </p:txBody>
      </p:sp>
      <p:sp>
        <p:nvSpPr>
          <p:cNvPr id="17" name="Shape 14"/>
          <p:cNvSpPr/>
          <p:nvPr/>
        </p:nvSpPr>
        <p:spPr>
          <a:xfrm>
            <a:off x="4322064"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550664"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455066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4550664"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Draft with the caregiver</a:t>
            </a:r>
            <a:endParaRPr lang="en-US" sz="1400" dirty="0"/>
          </a:p>
        </p:txBody>
      </p:sp>
      <p:sp>
        <p:nvSpPr>
          <p:cNvPr id="21" name="Text 18"/>
          <p:cNvSpPr txBox="1"/>
          <p:nvPr/>
        </p:nvSpPr>
        <p:spPr>
          <a:xfrm>
            <a:off x="4550664"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Goals in their words. Confirm what's realistic. Ask what they most need help with.</a:t>
            </a:r>
            <a:endParaRPr lang="en-US" sz="1150" dirty="0"/>
          </a:p>
        </p:txBody>
      </p:sp>
      <p:sp>
        <p:nvSpPr>
          <p:cNvPr id="22" name="Shape 19"/>
          <p:cNvSpPr/>
          <p:nvPr/>
        </p:nvSpPr>
        <p:spPr>
          <a:xfrm>
            <a:off x="6208776"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437376"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6437376"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6437376"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Care manager enters the plan</a:t>
            </a:r>
            <a:endParaRPr lang="en-US" sz="1400" dirty="0"/>
          </a:p>
        </p:txBody>
      </p:sp>
      <p:sp>
        <p:nvSpPr>
          <p:cNvPr id="26" name="Text 23"/>
          <p:cNvSpPr txBox="1"/>
          <p:nvPr/>
        </p:nvSpPr>
        <p:spPr>
          <a:xfrm>
            <a:off x="6437376"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Health Concerns → Goals → Patient Tasks → Care Team Tasks. Navigators propose; the care manager enters and owns the plan.</a:t>
            </a:r>
            <a:endParaRPr lang="en-US" sz="1150" dirty="0"/>
          </a:p>
        </p:txBody>
      </p:sp>
      <p:sp>
        <p:nvSpPr>
          <p:cNvPr id="27" name="Shape 24"/>
          <p:cNvSpPr/>
          <p:nvPr/>
        </p:nvSpPr>
        <p:spPr>
          <a:xfrm>
            <a:off x="8095488"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8324088" y="1965960"/>
            <a:ext cx="548640" cy="548640"/>
          </a:xfrm>
          <a:prstGeom prst="ellipse">
            <a:avLst/>
          </a:prstGeom>
          <a:solidFill>
            <a:srgbClr val="1E4A87"/>
          </a:solidFill>
          <a:ln w="12700">
            <a:solidFill>
              <a:srgbClr val="1E4A87"/>
            </a:solidFill>
            <a:prstDash val="solid"/>
          </a:ln>
        </p:spPr>
      </p:sp>
      <p:sp>
        <p:nvSpPr>
          <p:cNvPr id="29" name="Text 26"/>
          <p:cNvSpPr txBox="1"/>
          <p:nvPr/>
        </p:nvSpPr>
        <p:spPr>
          <a:xfrm>
            <a:off x="832408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8324088"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Provider review</a:t>
            </a:r>
            <a:endParaRPr lang="en-US" sz="1400" dirty="0"/>
          </a:p>
        </p:txBody>
      </p:sp>
      <p:sp>
        <p:nvSpPr>
          <p:cNvPr id="31" name="Text 28"/>
          <p:cNvSpPr txBox="1"/>
          <p:nvPr/>
        </p:nvSpPr>
        <p:spPr>
          <a:xfrm>
            <a:off x="8324088"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Monthly Care Plan Audit exported via Chart Export and left in REVIEW to the supervising provider, who signs off with 'Reviewed'.</a:t>
            </a:r>
            <a:endParaRPr lang="en-US" sz="1150" dirty="0"/>
          </a:p>
        </p:txBody>
      </p:sp>
      <p:sp>
        <p:nvSpPr>
          <p:cNvPr id="32" name="Shape 29"/>
          <p:cNvSpPr/>
          <p:nvPr/>
        </p:nvSpPr>
        <p:spPr>
          <a:xfrm>
            <a:off x="9982200"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33" name="Shape 30"/>
          <p:cNvSpPr/>
          <p:nvPr/>
        </p:nvSpPr>
        <p:spPr>
          <a:xfrm>
            <a:off x="10210800" y="1965960"/>
            <a:ext cx="548640" cy="548640"/>
          </a:xfrm>
          <a:prstGeom prst="ellipse">
            <a:avLst/>
          </a:prstGeom>
          <a:solidFill>
            <a:srgbClr val="586C47"/>
          </a:solidFill>
          <a:ln w="12700">
            <a:solidFill>
              <a:srgbClr val="586C47"/>
            </a:solidFill>
            <a:prstDash val="solid"/>
          </a:ln>
        </p:spPr>
      </p:sp>
      <p:sp>
        <p:nvSpPr>
          <p:cNvPr id="34" name="Text 31"/>
          <p:cNvSpPr txBox="1"/>
          <p:nvPr/>
        </p:nvSpPr>
        <p:spPr>
          <a:xfrm>
            <a:off x="1021080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5" name="Text 32"/>
          <p:cNvSpPr txBox="1"/>
          <p:nvPr/>
        </p:nvSpPr>
        <p:spPr>
          <a:xfrm>
            <a:off x="10210800"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Share with the family</a:t>
            </a:r>
            <a:endParaRPr lang="en-US" sz="1400" dirty="0"/>
          </a:p>
        </p:txBody>
      </p:sp>
      <p:sp>
        <p:nvSpPr>
          <p:cNvPr id="36" name="Text 33"/>
          <p:cNvSpPr txBox="1"/>
          <p:nvPr/>
        </p:nvSpPr>
        <p:spPr>
          <a:xfrm>
            <a:off x="10210800"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Care Plan Letter via Create Order Group → Letters, closed to print or sent to the portal. Set the review date and trigger events.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CARE PLAN TAB</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Entering a Health Concern and its tasks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Chart → Care tab → Care Plan; open the active plan. </a:t>
            </a:r>
            <a:pPr indent="0" marL="0">
              <a:buNone/>
            </a:pPr>
            <a:r>
              <a:rPr lang="en-US" sz="1250" dirty="0">
                <a:solidFill>
                  <a:srgbClr val="1F2933"/>
                </a:solidFill>
                <a:latin typeface="Calibri" pitchFamily="34" charset="0"/>
                <a:ea typeface="Calibri" pitchFamily="34" charset="-122"/>
                <a:cs typeface="Calibri" pitchFamily="34" charset="-120"/>
              </a:rPr>
              <a:t>Confirm it's the current version.</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Health Concern. </a:t>
            </a:r>
            <a:pPr indent="0" marL="0">
              <a:buNone/>
            </a:pPr>
            <a:r>
              <a:rPr lang="en-US" sz="1250" dirty="0">
                <a:solidFill>
                  <a:srgbClr val="1F2933"/>
                </a:solidFill>
                <a:latin typeface="Calibri" pitchFamily="34" charset="0"/>
                <a:ea typeface="Calibri" pitchFamily="34" charset="-122"/>
                <a:cs typeface="Calibri" pitchFamily="34" charset="-120"/>
              </a:rPr>
              <a:t>Use a Care Plan Template where one fits; otherwise add manually with notes.</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Goals with due dates. </a:t>
            </a:r>
            <a:pPr indent="0" marL="0">
              <a:buNone/>
            </a:pPr>
            <a:r>
              <a:rPr lang="en-US" sz="1250" dirty="0">
                <a:solidFill>
                  <a:srgbClr val="1F2933"/>
                </a:solidFill>
                <a:latin typeface="Calibri" pitchFamily="34" charset="0"/>
                <a:ea typeface="Calibri" pitchFamily="34" charset="-122"/>
                <a:cs typeface="Calibri" pitchFamily="34" charset="-120"/>
              </a:rPr>
              <a:t>Curated goals where possible; set Progress as you go.</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Patient Tasks and Care Team Tasks. </a:t>
            </a:r>
            <a:pPr indent="0" marL="0">
              <a:buNone/>
            </a:pPr>
            <a:r>
              <a:rPr lang="en-US" sz="1250" dirty="0">
                <a:solidFill>
                  <a:srgbClr val="1F2933"/>
                </a:solidFill>
                <a:latin typeface="Calibri" pitchFamily="34" charset="0"/>
                <a:ea typeface="Calibri" pitchFamily="34" charset="-122"/>
                <a:cs typeface="Calibri" pitchFamily="34" charset="-120"/>
              </a:rPr>
              <a:t>Who does what by when — including the caregiver's own actions.</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Create Care Plan Document → Leave in REVIEW to the owner role. </a:t>
            </a:r>
            <a:pPr indent="0" marL="0">
              <a:buNone/>
            </a:pPr>
            <a:r>
              <a:rPr lang="en-US" sz="1250" dirty="0">
                <a:solidFill>
                  <a:srgbClr val="1F2933"/>
                </a:solidFill>
                <a:latin typeface="Calibri" pitchFamily="34" charset="0"/>
                <a:ea typeface="Calibri" pitchFamily="34" charset="-122"/>
                <a:cs typeface="Calibri" pitchFamily="34" charset="-120"/>
              </a:rPr>
              <a:t>The Action Note is the assignment; it lands in that role's Clinical Inbox.</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Care Plan · Active · Health Concern 3 of 6</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Health Concern</a:t>
            </a:r>
            <a:endParaRPr lang="en-US" sz="1000" dirty="0"/>
          </a:p>
        </p:txBody>
      </p:sp>
      <p:sp>
        <p:nvSpPr>
          <p:cNvPr id="27" name="Shape 24"/>
          <p:cNvSpPr/>
          <p:nvPr/>
        </p:nvSpPr>
        <p:spPr>
          <a:xfrm>
            <a:off x="8275320" y="2304288"/>
            <a:ext cx="3108960" cy="274320"/>
          </a:xfrm>
          <a:prstGeom prst="rect">
            <a:avLst/>
          </a:prstGeom>
          <a:solidFill>
            <a:srgbClr val="FFF6D6"/>
          </a:solidFill>
          <a:ln w="15875">
            <a:solidFill>
              <a:srgbClr val="F1C232"/>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Nighttime wandering; caregiver sleep loss</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Goal</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Susan: 'sleep through the night' · due 10/24</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Care Team Task 1</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Provider: evening routine/med review — 10/01</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Care Team Task 2</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Care mgr: door alarm + overnight respite — 10/03</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Patient Task</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Caregiver: keep sleep log nightly</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Assign</a:t>
            </a:r>
            <a:endParaRPr lang="en-US" sz="1000" dirty="0"/>
          </a:p>
        </p:txBody>
      </p:sp>
      <p:sp>
        <p:nvSpPr>
          <p:cNvPr id="42" name="Shape 39"/>
          <p:cNvSpPr/>
          <p:nvPr/>
        </p:nvSpPr>
        <p:spPr>
          <a:xfrm>
            <a:off x="8275320" y="4133088"/>
            <a:ext cx="3108960" cy="274320"/>
          </a:xfrm>
          <a:prstGeom prst="rect">
            <a:avLst/>
          </a:prstGeom>
          <a:solidFill>
            <a:srgbClr val="FFF6D6"/>
          </a:solidFill>
          <a:ln w="15875">
            <a:solidFill>
              <a:srgbClr val="F1C232"/>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Care Plan Document → REVIEW to caremanagement</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TRIGGER EVENTS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When to review early</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Hospitalization or ED visit</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Always. Reconcile medications and revisit safety and caregiver capacity.</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Change in condition</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New behavioral symptoms, functional decline, weight loss, new diagnosis.</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Caregiver change</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Illness, relocation, new caregiver, death of a spouse, high strain score.</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Living situation change</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Move, facility placement, hospice election, loss of home services.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Care plans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Write Care Team Tasks someone can actually do: 'send respite agency list by 10/3' beats 'explore respite.'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Archive, don't delete, completed plans; history matters.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Read the plan aloud with the caregiver; if it doesn't sound like their family, revise it.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Check that every problem from the Comprehensive Assessment appears as a Health Concern.</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Copying last quarter's plan forward with a new date.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Tasks with no owner or no date.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Plans the caregiver has never seen — send the Care Plan Letter.</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Waiting for the scheduled review after a hospitalization.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4</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Documenting care-management outreach and time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Every contact is documented twice: the narrative on the Care Navigator Visit form, and the time as a Care Management Event on the Care Plan tab.</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CONTACT DOCUMENTATION</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What must be captured for each contact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 Navigator Visit form</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narrative record: WHO/WHY/WHAT/DONE/NEXT, referencing the Health Concern addressed. Exported and filed as a Clinical Document the same day.</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 Management Event</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Care Plan tab → Events: event type (phone, video, in person), duration in minutes entered manually, and a summary naming the program and diagnosis supported.</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Who and how</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Patient, caregiver, or both; verify authorization for PHI. Name the caregiver in both records.</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Outcome and next step</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What changed, what's pending, who owns it, and when. Update Goal progress or Care Team Task status.</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Consent and enrollment on file</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Program enrollment and consent status (verbal/written) recorded on Quickview before time counts. Check once; reference thereafter.</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What doesn't count</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Scheduling calls and voicemail attempts are documented but are not qualifying care-management time. Follow AbleLiving's GUIDE guidance on what qualifies.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CARE PLAN TAB</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Logging a Care Management Event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Chart → Care tab → Care Plan → Events → +. </a:t>
            </a:r>
            <a:pPr indent="0" marL="0">
              <a:buNone/>
            </a:pPr>
            <a:r>
              <a:rPr lang="en-US" sz="1250" dirty="0">
                <a:solidFill>
                  <a:srgbClr val="1F2933"/>
                </a:solidFill>
                <a:latin typeface="Calibri" pitchFamily="34" charset="0"/>
                <a:ea typeface="Calibri" pitchFamily="34" charset="-122"/>
                <a:cs typeface="Calibri" pitchFamily="34" charset="-120"/>
              </a:rPr>
              <a:t>Verify patient and that the program shows on the Care Plan tab.</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Set the event date/time. </a:t>
            </a:r>
            <a:pPr indent="0" marL="0">
              <a:buNone/>
            </a:pPr>
            <a:r>
              <a:rPr lang="en-US" sz="1250" dirty="0">
                <a:solidFill>
                  <a:srgbClr val="1F2933"/>
                </a:solidFill>
                <a:latin typeface="Calibri" pitchFamily="34" charset="0"/>
                <a:ea typeface="Calibri" pitchFamily="34" charset="-122"/>
                <a:cs typeface="Calibri" pitchFamily="34" charset="-120"/>
              </a:rPr>
              <a:t>Defaults to now; adjust to the actual contact time.</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Select event type and enter Duration. </a:t>
            </a:r>
            <a:pPr indent="0" marL="0">
              <a:buNone/>
            </a:pPr>
            <a:r>
              <a:rPr lang="en-US" sz="1250" dirty="0">
                <a:solidFill>
                  <a:srgbClr val="1F2933"/>
                </a:solidFill>
                <a:latin typeface="Calibri" pitchFamily="34" charset="0"/>
                <a:ea typeface="Calibri" pitchFamily="34" charset="-122"/>
                <a:cs typeface="Calibri" pitchFamily="34" charset="-120"/>
              </a:rPr>
              <a:t>Modality (phone, video, in person). Minutes are typed in — there is no timer. 27 is 27.</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Write the Summary. </a:t>
            </a:r>
            <a:pPr indent="0" marL="0">
              <a:buNone/>
            </a:pPr>
            <a:r>
              <a:rPr lang="en-US" sz="1250" dirty="0">
                <a:solidFill>
                  <a:srgbClr val="1F2933"/>
                </a:solidFill>
                <a:latin typeface="Calibri" pitchFamily="34" charset="0"/>
                <a:ea typeface="Calibri" pitchFamily="34" charset="-122"/>
                <a:cs typeface="Calibri" pitchFamily="34" charset="-120"/>
              </a:rPr>
              <a:t>Program, Health Concern addressed, and the WHO/WHY/WHAT/DONE/NEXT gist. Reference the filed Form PDF.</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then verify the month total. </a:t>
            </a:r>
            <a:pPr indent="0" marL="0">
              <a:buNone/>
            </a:pPr>
            <a:r>
              <a:rPr lang="en-US" sz="1250" dirty="0">
                <a:solidFill>
                  <a:srgbClr val="1F2933"/>
                </a:solidFill>
                <a:latin typeface="Calibri" pitchFamily="34" charset="0"/>
                <a:ea typeface="Calibri" pitchFamily="34" charset="-122"/>
                <a:cs typeface="Calibri" pitchFamily="34" charset="-120"/>
              </a:rPr>
              <a:t>Care Program Panel (Patients menu) shows accrued time by month for every enrolled patient.</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Care Plan · Care Management Events · Add</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Program</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GUIDE dementia care — enrolled 08/14/26 · consent: written</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Date / Time</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09/24/2026 · 2:05 PM</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Event type / Duration</a:t>
            </a:r>
            <a:endParaRPr lang="en-US" sz="1000" dirty="0"/>
          </a:p>
        </p:txBody>
      </p:sp>
      <p:sp>
        <p:nvSpPr>
          <p:cNvPr id="33" name="Shape 30"/>
          <p:cNvSpPr/>
          <p:nvPr/>
        </p:nvSpPr>
        <p:spPr>
          <a:xfrm>
            <a:off x="8275320" y="3035808"/>
            <a:ext cx="3108960" cy="274320"/>
          </a:xfrm>
          <a:prstGeom prst="rect">
            <a:avLst/>
          </a:prstGeom>
          <a:solidFill>
            <a:srgbClr val="FFF6D6"/>
          </a:solidFill>
          <a:ln w="15875">
            <a:solidFill>
              <a:srgbClr val="F1C232"/>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Phone · 27 min</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Summary</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GUIDE; HC3 wandering: caregiver education on sundowning; see CNV form 9/24</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Month total (panel)</a:t>
            </a:r>
            <a:endParaRPr lang="en-US" sz="1000" dirty="0"/>
          </a:p>
        </p:txBody>
      </p:sp>
      <p:sp>
        <p:nvSpPr>
          <p:cNvPr id="39" name="Shape 36"/>
          <p:cNvSpPr/>
          <p:nvPr/>
        </p:nvSpPr>
        <p:spPr>
          <a:xfrm>
            <a:off x="8275320" y="3767328"/>
            <a:ext cx="3108960" cy="274320"/>
          </a:xfrm>
          <a:prstGeom prst="rect">
            <a:avLst/>
          </a:prstGeom>
          <a:solidFill>
            <a:srgbClr val="FFF6D6"/>
          </a:solidFill>
          <a:ln w="15875">
            <a:solidFill>
              <a:srgbClr val="F1C232"/>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48 min</a:t>
            </a:r>
            <a:endParaRPr lang="en-US" sz="1000" dirty="0"/>
          </a:p>
        </p:txBody>
      </p:sp>
      <p:sp>
        <p:nvSpPr>
          <p:cNvPr id="41" name="Shape 38"/>
          <p:cNvSpPr/>
          <p:nvPr/>
        </p:nvSpPr>
        <p:spPr>
          <a:xfrm>
            <a:off x="6537960" y="4160520"/>
            <a:ext cx="1554480" cy="329184"/>
          </a:xfrm>
          <a:prstGeom prst="roundRect">
            <a:avLst>
              <a:gd name="adj" fmla="val 13889"/>
            </a:avLst>
          </a:prstGeom>
          <a:solidFill>
            <a:srgbClr val="1E4A87"/>
          </a:solidFill>
          <a:ln w="12700">
            <a:solidFill>
              <a:srgbClr val="1E4A87"/>
            </a:solidFill>
            <a:prstDash val="solid"/>
          </a:ln>
        </p:spPr>
      </p:sp>
      <p:sp>
        <p:nvSpPr>
          <p:cNvPr id="42" name="Text 39"/>
          <p:cNvSpPr txBox="1"/>
          <p:nvPr/>
        </p:nvSpPr>
        <p:spPr>
          <a:xfrm>
            <a:off x="6537960" y="416052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Time and contact documentation</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Log the event immediately; end-of-week reconstruction is inaccurate and non-compliant.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Be precise: 27 minutes is 27 minutes, not 30.</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Name the Health Concern in every event summary so the connection is visible to auditors.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Check the Care Program Panel weekly: filter for enrolled patients with no time or under threshold this month.</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Counting voicemail attempts or scheduling as care-management time.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Rounding up.</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An event with no summary, or a Form with no event.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Logging time before enrollment and consent are recorded on Quickview.</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5</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Respite, community resources, and the 24/7 line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Support for the caregiver is support for the patient.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RESOURCES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Coordinating support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48640" y="1691640"/>
            <a:ext cx="3514344" cy="3566160"/>
          </a:xfrm>
          <a:prstGeom prst="roundRect">
            <a:avLst>
              <a:gd name="adj" fmla="val 2602"/>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Respite</a:t>
            </a:r>
            <a:endParaRPr lang="en-US" sz="1500" dirty="0"/>
          </a:p>
        </p:txBody>
      </p:sp>
      <p:sp>
        <p:nvSpPr>
          <p:cNvPr id="11" name="Text 7"/>
          <p:cNvSpPr txBox="1"/>
          <p:nvPr/>
        </p:nvSpPr>
        <p:spPr>
          <a:xfrm>
            <a:off x="777240"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In-home respite, adult day programs, short-term facility respite. Program-funded respite has rules on eligibility and hours — document approval, hours used, and provider.</a:t>
            </a:r>
            <a:endParaRPr lang="en-US" sz="1300" dirty="0"/>
          </a:p>
        </p:txBody>
      </p:sp>
      <p:sp>
        <p:nvSpPr>
          <p:cNvPr id="12" name="Shape 8"/>
          <p:cNvSpPr/>
          <p:nvPr/>
        </p:nvSpPr>
        <p:spPr>
          <a:xfrm>
            <a:off x="4337304" y="1691640"/>
            <a:ext cx="3514344" cy="3566160"/>
          </a:xfrm>
          <a:prstGeom prst="roundRect">
            <a:avLst>
              <a:gd name="adj" fmla="val 2602"/>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Community resources</a:t>
            </a:r>
            <a:endParaRPr lang="en-US" sz="1500" dirty="0"/>
          </a:p>
        </p:txBody>
      </p:sp>
      <p:sp>
        <p:nvSpPr>
          <p:cNvPr id="16" name="Text 11"/>
          <p:cNvSpPr txBox="1"/>
          <p:nvPr/>
        </p:nvSpPr>
        <p:spPr>
          <a:xfrm>
            <a:off x="4565904"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Area Agencies on Aging, Alzheimer's Association, Medicaid waiver programs, meals, transportation, caregiver support groups. Track referrals and outcomes.</a:t>
            </a:r>
            <a:endParaRPr lang="en-US" sz="1300" dirty="0"/>
          </a:p>
        </p:txBody>
      </p:sp>
      <p:sp>
        <p:nvSpPr>
          <p:cNvPr id="17" name="Shape 12"/>
          <p:cNvSpPr/>
          <p:nvPr/>
        </p:nvSpPr>
        <p:spPr>
          <a:xfrm>
            <a:off x="8125968" y="1691640"/>
            <a:ext cx="3514344" cy="3566160"/>
          </a:xfrm>
          <a:prstGeom prst="roundRect">
            <a:avLst>
              <a:gd name="adj" fmla="val 2602"/>
            </a:avLst>
          </a:prstGeom>
          <a:solidFill>
            <a:srgbClr val="EEF2E8"/>
          </a:solidFill>
          <a:ln w="12700">
            <a:solidFill>
              <a:srgbClr val="EEF2E8"/>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The 24/7 support line</a:t>
            </a:r>
            <a:endParaRPr lang="en-US" sz="1500" dirty="0"/>
          </a:p>
        </p:txBody>
      </p:sp>
      <p:sp>
        <p:nvSpPr>
          <p:cNvPr id="21" name="Text 15"/>
          <p:cNvSpPr txBox="1"/>
          <p:nvPr/>
        </p:nvSpPr>
        <p:spPr>
          <a:xfrm>
            <a:off x="8354568"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Make sure every caregiver knows the number and when to use it. Document that it was provided and review it at each care-plan update.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REFERRALS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Documenting a resource referral</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548640"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Record the need</a:t>
            </a:r>
            <a:endParaRPr lang="en-US" sz="1600" dirty="0"/>
          </a:p>
        </p:txBody>
      </p:sp>
      <p:sp>
        <p:nvSpPr>
          <p:cNvPr id="11" name="Text 8"/>
          <p:cNvSpPr txBox="1"/>
          <p:nvPr/>
        </p:nvSpPr>
        <p:spPr>
          <a:xfrm>
            <a:off x="777240"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Link to the assessment finding and care-plan problem.</a:t>
            </a:r>
            <a:endParaRPr lang="en-US" sz="1300" dirty="0"/>
          </a:p>
        </p:txBody>
      </p:sp>
      <p:sp>
        <p:nvSpPr>
          <p:cNvPr id="12" name="Shape 9"/>
          <p:cNvSpPr/>
          <p:nvPr/>
        </p:nvSpPr>
        <p:spPr>
          <a:xfrm>
            <a:off x="3378708"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607308"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60730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607308"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Record the referral</a:t>
            </a:r>
            <a:endParaRPr lang="en-US" sz="1600" dirty="0"/>
          </a:p>
        </p:txBody>
      </p:sp>
      <p:sp>
        <p:nvSpPr>
          <p:cNvPr id="16" name="Text 13"/>
          <p:cNvSpPr txBox="1"/>
          <p:nvPr/>
        </p:nvSpPr>
        <p:spPr>
          <a:xfrm>
            <a:off x="3607308"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Organization, contact, date, what was requested, and whether the caregiver consented to sharing information.</a:t>
            </a:r>
            <a:endParaRPr lang="en-US" sz="1300" dirty="0"/>
          </a:p>
        </p:txBody>
      </p:sp>
      <p:sp>
        <p:nvSpPr>
          <p:cNvPr id="17" name="Shape 14"/>
          <p:cNvSpPr/>
          <p:nvPr/>
        </p:nvSpPr>
        <p:spPr>
          <a:xfrm>
            <a:off x="6208776"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6437376"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6437376"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6437376"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Set a follow-up</a:t>
            </a:r>
            <a:endParaRPr lang="en-US" sz="1600" dirty="0"/>
          </a:p>
        </p:txBody>
      </p:sp>
      <p:sp>
        <p:nvSpPr>
          <p:cNvPr id="21" name="Text 18"/>
          <p:cNvSpPr txBox="1"/>
          <p:nvPr/>
        </p:nvSpPr>
        <p:spPr>
          <a:xfrm>
            <a:off x="6437376"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Did the caregiver connect? Did services start? Two weeks is a typical check-in.</a:t>
            </a:r>
            <a:endParaRPr lang="en-US" sz="1300" dirty="0"/>
          </a:p>
        </p:txBody>
      </p:sp>
      <p:sp>
        <p:nvSpPr>
          <p:cNvPr id="22" name="Shape 19"/>
          <p:cNvSpPr/>
          <p:nvPr/>
        </p:nvSpPr>
        <p:spPr>
          <a:xfrm>
            <a:off x="9038844"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9267444" y="1965960"/>
            <a:ext cx="548640" cy="548640"/>
          </a:xfrm>
          <a:prstGeom prst="ellipse">
            <a:avLst/>
          </a:prstGeom>
          <a:solidFill>
            <a:srgbClr val="586C47"/>
          </a:solidFill>
          <a:ln w="12700">
            <a:solidFill>
              <a:srgbClr val="586C47"/>
            </a:solidFill>
            <a:prstDash val="solid"/>
          </a:ln>
        </p:spPr>
      </p:sp>
      <p:sp>
        <p:nvSpPr>
          <p:cNvPr id="24" name="Text 21"/>
          <p:cNvSpPr txBox="1"/>
          <p:nvPr/>
        </p:nvSpPr>
        <p:spPr>
          <a:xfrm>
            <a:off x="926744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9267444"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Record the outcome</a:t>
            </a:r>
            <a:endParaRPr lang="en-US" sz="1600" dirty="0"/>
          </a:p>
        </p:txBody>
      </p:sp>
      <p:sp>
        <p:nvSpPr>
          <p:cNvPr id="26" name="Text 23"/>
          <p:cNvSpPr txBox="1"/>
          <p:nvPr/>
        </p:nvSpPr>
        <p:spPr>
          <a:xfrm>
            <a:off x="9267444"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Started, declined, waitlisted, ineligible. Update the care plan accordingly.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6</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Scenario, knowledge checks, and takeaways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Apply the module.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PRACTICE SCENARIO</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After the hospital</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548640" y="1691640"/>
            <a:ext cx="6035040" cy="4434840"/>
          </a:xfrm>
          <a:prstGeom prst="roundRect">
            <a:avLst>
              <a:gd name="adj" fmla="val 2474"/>
            </a:avLst>
          </a:prstGeom>
          <a:solidFill>
            <a:srgbClr val="1E4A87"/>
          </a:solidFill>
          <a:ln w="12700">
            <a:solidFill>
              <a:srgbClr val="1E4A87"/>
            </a:solidFill>
            <a:prstDash val="solid"/>
          </a:ln>
        </p:spPr>
      </p:sp>
      <p:pic>
        <p:nvPicPr>
          <p:cNvPr id="8" name="Image 1" descr="preencoded.png">    </p:cNvPr>
          <p:cNvPicPr>
            <a:picLocks noChangeAspect="1"/>
          </p:cNvPicPr>
          <p:nvPr/>
        </p:nvPicPr>
        <p:blipFill>
          <a:blip r:embed="rId2"/>
          <a:stretch>
            <a:fillRect/>
          </a:stretch>
        </p:blipFill>
        <p:spPr>
          <a:xfrm>
            <a:off x="868680" y="2011680"/>
            <a:ext cx="502920" cy="502920"/>
          </a:xfrm>
          <a:prstGeom prst="rect">
            <a:avLst/>
          </a:prstGeom>
        </p:spPr>
      </p:pic>
      <p:sp>
        <p:nvSpPr>
          <p:cNvPr id="9" name="Text 5"/>
          <p:cNvSpPr txBox="1"/>
          <p:nvPr/>
        </p:nvSpPr>
        <p:spPr>
          <a:xfrm>
            <a:off x="1554480" y="2011680"/>
            <a:ext cx="4572000" cy="50292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THE SITUATION</a:t>
            </a:r>
            <a:endParaRPr lang="en-US" sz="1200" dirty="0"/>
          </a:p>
        </p:txBody>
      </p:sp>
      <p:sp>
        <p:nvSpPr>
          <p:cNvPr id="10" name="Text 6"/>
          <p:cNvSpPr txBox="1"/>
          <p:nvPr/>
        </p:nvSpPr>
        <p:spPr>
          <a:xfrm>
            <a:off x="868680" y="2697480"/>
            <a:ext cx="5394960" cy="3200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Gloria Simmons, 91, was discharged three days ago after a hip fracture repair. Her son Kevin moved in temporarily. At your post-discharge call, Kevin says she's 'much more confused than before,' is refusing physical therapy, and he's 'not sure which of these pill bottles is which.' The last care plan was reviewed six weeks ago; the caregiver strain score then was low — for Gloria's daughter, who lives across town.</a:t>
            </a:r>
            <a:endParaRPr lang="en-US" sz="1350" dirty="0"/>
          </a:p>
        </p:txBody>
      </p:sp>
      <p:sp>
        <p:nvSpPr>
          <p:cNvPr id="11" name="Text 7"/>
          <p:cNvSpPr txBox="1"/>
          <p:nvPr/>
        </p:nvSpPr>
        <p:spPr>
          <a:xfrm>
            <a:off x="6949440" y="1737360"/>
            <a:ext cx="4754880" cy="457200"/>
          </a:xfrm>
          <a:prstGeom prst="rect">
            <a:avLst/>
          </a:prstGeom>
          <a:noFill/>
          <a:ln/>
        </p:spPr>
        <p:txBody>
          <a:bodyPr wrap="square" lIns="0" tIns="0" rIns="0" bIns="0" rtlCol="0" anchor="ctr"/>
          <a:lstStyle/>
          <a:p>
            <a:pPr indent="0" marL="0">
              <a:buNone/>
            </a:pPr>
            <a:r>
              <a:rPr lang="en-US" sz="1800" b="1" dirty="0">
                <a:solidFill>
                  <a:srgbClr val="586C47"/>
                </a:solidFill>
                <a:latin typeface="Cambria" pitchFamily="34" charset="0"/>
                <a:ea typeface="Cambria" pitchFamily="34" charset="-122"/>
                <a:cs typeface="Cambria" pitchFamily="34" charset="-120"/>
              </a:rPr>
              <a:t>Pause and think through:</a:t>
            </a:r>
            <a:endParaRPr lang="en-US" sz="1800" dirty="0"/>
          </a:p>
        </p:txBody>
      </p:sp>
      <p:sp>
        <p:nvSpPr>
          <p:cNvPr id="12" name="Shape 8"/>
          <p:cNvSpPr/>
          <p:nvPr/>
        </p:nvSpPr>
        <p:spPr>
          <a:xfrm>
            <a:off x="6949440" y="2377440"/>
            <a:ext cx="365760" cy="365760"/>
          </a:xfrm>
          <a:prstGeom prst="ellipse">
            <a:avLst/>
          </a:prstGeom>
          <a:solidFill>
            <a:srgbClr val="586C47"/>
          </a:solidFill>
          <a:ln w="12700">
            <a:solidFill>
              <a:srgbClr val="586C47"/>
            </a:solidFill>
            <a:prstDash val="solid"/>
          </a:ln>
        </p:spPr>
      </p:sp>
      <p:sp>
        <p:nvSpPr>
          <p:cNvPr id="13" name="Text 9"/>
          <p:cNvSpPr txBox="1"/>
          <p:nvPr/>
        </p:nvSpPr>
        <p:spPr>
          <a:xfrm>
            <a:off x="6949440" y="2377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452360" y="233172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in this situation triggers an early care-plan review, and what needs to happen first?</a:t>
            </a:r>
            <a:endParaRPr lang="en-US" sz="1300" dirty="0"/>
          </a:p>
        </p:txBody>
      </p:sp>
      <p:sp>
        <p:nvSpPr>
          <p:cNvPr id="15" name="Shape 11"/>
          <p:cNvSpPr/>
          <p:nvPr/>
        </p:nvSpPr>
        <p:spPr>
          <a:xfrm>
            <a:off x="6949440" y="3337560"/>
            <a:ext cx="365760" cy="365760"/>
          </a:xfrm>
          <a:prstGeom prst="ellipse">
            <a:avLst/>
          </a:prstGeom>
          <a:solidFill>
            <a:srgbClr val="586C47"/>
          </a:solidFill>
          <a:ln w="12700">
            <a:solidFill>
              <a:srgbClr val="586C47"/>
            </a:solidFill>
            <a:prstDash val="solid"/>
          </a:ln>
        </p:spPr>
      </p:sp>
      <p:sp>
        <p:nvSpPr>
          <p:cNvPr id="16" name="Text 12"/>
          <p:cNvSpPr txBox="1"/>
          <p:nvPr/>
        </p:nvSpPr>
        <p:spPr>
          <a:xfrm>
            <a:off x="694944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7452360" y="329184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assessments need to be redone, and with whom?</a:t>
            </a:r>
            <a:endParaRPr lang="en-US" sz="1300" dirty="0"/>
          </a:p>
        </p:txBody>
      </p:sp>
      <p:sp>
        <p:nvSpPr>
          <p:cNvPr id="18" name="Shape 14"/>
          <p:cNvSpPr/>
          <p:nvPr/>
        </p:nvSpPr>
        <p:spPr>
          <a:xfrm>
            <a:off x="6949440" y="4297680"/>
            <a:ext cx="365760" cy="365760"/>
          </a:xfrm>
          <a:prstGeom prst="ellipse">
            <a:avLst/>
          </a:prstGeom>
          <a:solidFill>
            <a:srgbClr val="586C47"/>
          </a:solidFill>
          <a:ln w="12700">
            <a:solidFill>
              <a:srgbClr val="586C47"/>
            </a:solidFill>
            <a:prstDash val="solid"/>
          </a:ln>
        </p:spPr>
      </p:sp>
      <p:sp>
        <p:nvSpPr>
          <p:cNvPr id="19" name="Text 15"/>
          <p:cNvSpPr txBox="1"/>
          <p:nvPr/>
        </p:nvSpPr>
        <p:spPr>
          <a:xfrm>
            <a:off x="694944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6"/>
          <p:cNvSpPr txBox="1"/>
          <p:nvPr/>
        </p:nvSpPr>
        <p:spPr>
          <a:xfrm>
            <a:off x="7452360" y="425196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How do you document this contact and its time?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SCENARIO — A STRONG APPROACH</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Gloria's post-discharge review</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
        <p:nvSpPr>
          <p:cNvPr id="7" name="Shape 4"/>
          <p:cNvSpPr/>
          <p:nvPr/>
        </p:nvSpPr>
        <p:spPr>
          <a:xfrm>
            <a:off x="548640" y="1691640"/>
            <a:ext cx="11091672" cy="670560"/>
          </a:xfrm>
          <a:prstGeom prst="roundRect">
            <a:avLst>
              <a:gd name="adj" fmla="val 10909"/>
            </a:avLst>
          </a:prstGeom>
          <a:solidFill>
            <a:srgbClr val="EEF2E8"/>
          </a:solidFill>
          <a:ln w="9525">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731520" y="1862328"/>
            <a:ext cx="329184" cy="329184"/>
          </a:xfrm>
          <a:prstGeom prst="rect">
            <a:avLst/>
          </a:prstGeom>
        </p:spPr>
      </p:pic>
      <p:sp>
        <p:nvSpPr>
          <p:cNvPr id="9" name="Text 5"/>
          <p:cNvSpPr txBox="1"/>
          <p:nvPr/>
        </p:nvSpPr>
        <p:spPr>
          <a:xfrm>
            <a:off x="1234440" y="173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Handle the urgent clinical items first.  </a:t>
            </a:r>
            <a:pPr indent="0" marL="0">
              <a:buNone/>
            </a:pPr>
            <a:r>
              <a:rPr lang="en-US" sz="1150" dirty="0">
                <a:solidFill>
                  <a:srgbClr val="1F2933"/>
                </a:solidFill>
                <a:latin typeface="Calibri" pitchFamily="34" charset="0"/>
                <a:ea typeface="Calibri" pitchFamily="34" charset="-122"/>
                <a:cs typeface="Calibri" pitchFamily="34" charset="-120"/>
              </a:rPr>
              <a:t>New confusion after surgery and medication uncertainty are clinical. Route to the nurse/provider today for medication reconciliation and delirium evaluation; live call if red flags.</a:t>
            </a:r>
            <a:endParaRPr lang="en-US" sz="1150" dirty="0"/>
          </a:p>
        </p:txBody>
      </p:sp>
      <p:sp>
        <p:nvSpPr>
          <p:cNvPr id="10" name="Shape 6"/>
          <p:cNvSpPr/>
          <p:nvPr/>
        </p:nvSpPr>
        <p:spPr>
          <a:xfrm>
            <a:off x="548640" y="2453640"/>
            <a:ext cx="11091672" cy="670560"/>
          </a:xfrm>
          <a:prstGeom prst="roundRect">
            <a:avLst>
              <a:gd name="adj" fmla="val 10909"/>
            </a:avLst>
          </a:prstGeom>
          <a:solidFill>
            <a:srgbClr val="FFFFFF"/>
          </a:solidFill>
          <a:ln w="9525">
            <a:solidFill>
              <a:srgbClr val="D6DEE8"/>
            </a:solidFill>
            <a:prstDash val="solid"/>
          </a:ln>
        </p:spPr>
      </p:sp>
      <p:pic>
        <p:nvPicPr>
          <p:cNvPr id="11" name="Image 2" descr="preencoded.png">    </p:cNvPr>
          <p:cNvPicPr>
            <a:picLocks noChangeAspect="1"/>
          </p:cNvPicPr>
          <p:nvPr/>
        </p:nvPicPr>
        <p:blipFill>
          <a:blip r:embed="rId3"/>
          <a:stretch>
            <a:fillRect/>
          </a:stretch>
        </p:blipFill>
        <p:spPr>
          <a:xfrm>
            <a:off x="731520" y="2624328"/>
            <a:ext cx="329184" cy="329184"/>
          </a:xfrm>
          <a:prstGeom prst="rect">
            <a:avLst/>
          </a:prstGeom>
        </p:spPr>
      </p:pic>
      <p:sp>
        <p:nvSpPr>
          <p:cNvPr id="12" name="Text 7"/>
          <p:cNvSpPr txBox="1"/>
          <p:nvPr/>
        </p:nvSpPr>
        <p:spPr>
          <a:xfrm>
            <a:off x="1234440" y="2499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Recognize the triggers.  </a:t>
            </a:r>
            <a:pPr indent="0" marL="0">
              <a:buNone/>
            </a:pPr>
            <a:r>
              <a:rPr lang="en-US" sz="1150" dirty="0">
                <a:solidFill>
                  <a:srgbClr val="1F2933"/>
                </a:solidFill>
                <a:latin typeface="Calibri" pitchFamily="34" charset="0"/>
                <a:ea typeface="Calibri" pitchFamily="34" charset="-122"/>
                <a:cs typeface="Calibri" pitchFamily="34" charset="-120"/>
              </a:rPr>
              <a:t>Hospitalization, change in condition, and a change in caregiver — three triggers. Schedule the care-plan review this week.</a:t>
            </a:r>
            <a:endParaRPr lang="en-US" sz="1150" dirty="0"/>
          </a:p>
        </p:txBody>
      </p:sp>
      <p:sp>
        <p:nvSpPr>
          <p:cNvPr id="13" name="Shape 8"/>
          <p:cNvSpPr/>
          <p:nvPr/>
        </p:nvSpPr>
        <p:spPr>
          <a:xfrm>
            <a:off x="548640" y="3215640"/>
            <a:ext cx="11091672" cy="670560"/>
          </a:xfrm>
          <a:prstGeom prst="roundRect">
            <a:avLst>
              <a:gd name="adj" fmla="val 10909"/>
            </a:avLst>
          </a:prstGeom>
          <a:solidFill>
            <a:srgbClr val="EEF2E8"/>
          </a:solidFill>
          <a:ln w="9525">
            <a:solidFill>
              <a:srgbClr val="EEF2E8"/>
            </a:solidFill>
            <a:prstDash val="solid"/>
          </a:ln>
        </p:spPr>
      </p:sp>
      <p:pic>
        <p:nvPicPr>
          <p:cNvPr id="14" name="Image 3" descr="preencoded.png">    </p:cNvPr>
          <p:cNvPicPr>
            <a:picLocks noChangeAspect="1"/>
          </p:cNvPicPr>
          <p:nvPr/>
        </p:nvPicPr>
        <p:blipFill>
          <a:blip r:embed="rId4"/>
          <a:stretch>
            <a:fillRect/>
          </a:stretch>
        </p:blipFill>
        <p:spPr>
          <a:xfrm>
            <a:off x="731520" y="3386328"/>
            <a:ext cx="329184" cy="329184"/>
          </a:xfrm>
          <a:prstGeom prst="rect">
            <a:avLst/>
          </a:prstGeom>
        </p:spPr>
      </p:pic>
      <p:sp>
        <p:nvSpPr>
          <p:cNvPr id="15" name="Text 9"/>
          <p:cNvSpPr txBox="1"/>
          <p:nvPr/>
        </p:nvSpPr>
        <p:spPr>
          <a:xfrm>
            <a:off x="1234440" y="3261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Reassess with the right caregiver.  </a:t>
            </a:r>
            <a:pPr indent="0" marL="0">
              <a:buNone/>
            </a:pPr>
            <a:r>
              <a:rPr lang="en-US" sz="1150" dirty="0">
                <a:solidFill>
                  <a:srgbClr val="1F2933"/>
                </a:solidFill>
                <a:latin typeface="Calibri" pitchFamily="34" charset="0"/>
                <a:ea typeface="Calibri" pitchFamily="34" charset="-122"/>
                <a:cs typeface="Calibri" pitchFamily="34" charset="-120"/>
              </a:rPr>
              <a:t>Kevin is now the primary caregiver. Register him properly (Module 2), get authorization, and complete a caregiver strain assessment and function assessment with him.</a:t>
            </a:r>
            <a:endParaRPr lang="en-US" sz="1150" dirty="0"/>
          </a:p>
        </p:txBody>
      </p:sp>
      <p:sp>
        <p:nvSpPr>
          <p:cNvPr id="16" name="Shape 10"/>
          <p:cNvSpPr/>
          <p:nvPr/>
        </p:nvSpPr>
        <p:spPr>
          <a:xfrm>
            <a:off x="548640" y="3977640"/>
            <a:ext cx="11091672" cy="670560"/>
          </a:xfrm>
          <a:prstGeom prst="roundRect">
            <a:avLst>
              <a:gd name="adj" fmla="val 10909"/>
            </a:avLst>
          </a:prstGeom>
          <a:solidFill>
            <a:srgbClr val="FFFFFF"/>
          </a:solidFill>
          <a:ln w="9525">
            <a:solidFill>
              <a:srgbClr val="D6DEE8"/>
            </a:solidFill>
            <a:prstDash val="solid"/>
          </a:ln>
        </p:spPr>
      </p:sp>
      <p:pic>
        <p:nvPicPr>
          <p:cNvPr id="17" name="Image 4" descr="preencoded.png">    </p:cNvPr>
          <p:cNvPicPr>
            <a:picLocks noChangeAspect="1"/>
          </p:cNvPicPr>
          <p:nvPr/>
        </p:nvPicPr>
        <p:blipFill>
          <a:blip r:embed="rId5"/>
          <a:stretch>
            <a:fillRect/>
          </a:stretch>
        </p:blipFill>
        <p:spPr>
          <a:xfrm>
            <a:off x="731520" y="4148328"/>
            <a:ext cx="329184" cy="329184"/>
          </a:xfrm>
          <a:prstGeom prst="rect">
            <a:avLst/>
          </a:prstGeom>
        </p:spPr>
      </p:pic>
      <p:sp>
        <p:nvSpPr>
          <p:cNvPr id="18" name="Text 11"/>
          <p:cNvSpPr txBox="1"/>
          <p:nvPr/>
        </p:nvSpPr>
        <p:spPr>
          <a:xfrm>
            <a:off x="1234440" y="4023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Address PT refusal in the plan.  </a:t>
            </a:r>
            <a:pPr indent="0" marL="0">
              <a:buNone/>
            </a:pPr>
            <a:r>
              <a:rPr lang="en-US" sz="1150" dirty="0">
                <a:solidFill>
                  <a:srgbClr val="1F2933"/>
                </a:solidFill>
                <a:latin typeface="Calibri" pitchFamily="34" charset="0"/>
                <a:ea typeface="Calibri" pitchFamily="34" charset="-122"/>
                <a:cs typeface="Calibri" pitchFamily="34" charset="-120"/>
              </a:rPr>
              <a:t>Document what Gloria says and why; the team can adapt the approach. Don't record it as 'non-compliant.'</a:t>
            </a:r>
            <a:endParaRPr lang="en-US" sz="1150" dirty="0"/>
          </a:p>
        </p:txBody>
      </p:sp>
      <p:sp>
        <p:nvSpPr>
          <p:cNvPr id="19" name="Shape 12"/>
          <p:cNvSpPr/>
          <p:nvPr/>
        </p:nvSpPr>
        <p:spPr>
          <a:xfrm>
            <a:off x="548640" y="4739640"/>
            <a:ext cx="11091672" cy="670560"/>
          </a:xfrm>
          <a:prstGeom prst="roundRect">
            <a:avLst>
              <a:gd name="adj" fmla="val 10909"/>
            </a:avLst>
          </a:prstGeom>
          <a:solidFill>
            <a:srgbClr val="EEF2E8"/>
          </a:solidFill>
          <a:ln w="9525">
            <a:solidFill>
              <a:srgbClr val="EEF2E8"/>
            </a:solidFill>
            <a:prstDash val="solid"/>
          </a:ln>
        </p:spPr>
      </p:sp>
      <p:pic>
        <p:nvPicPr>
          <p:cNvPr id="20" name="Image 5" descr="preencoded.png">    </p:cNvPr>
          <p:cNvPicPr>
            <a:picLocks noChangeAspect="1"/>
          </p:cNvPicPr>
          <p:nvPr/>
        </p:nvPicPr>
        <p:blipFill>
          <a:blip r:embed="rId6"/>
          <a:stretch>
            <a:fillRect/>
          </a:stretch>
        </p:blipFill>
        <p:spPr>
          <a:xfrm>
            <a:off x="731520" y="4910328"/>
            <a:ext cx="329184" cy="329184"/>
          </a:xfrm>
          <a:prstGeom prst="rect">
            <a:avLst/>
          </a:prstGeom>
        </p:spPr>
      </p:pic>
      <p:sp>
        <p:nvSpPr>
          <p:cNvPr id="21" name="Text 13"/>
          <p:cNvSpPr txBox="1"/>
          <p:nvPr/>
        </p:nvSpPr>
        <p:spPr>
          <a:xfrm>
            <a:off x="1234440" y="4785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Document the contact and time.  </a:t>
            </a:r>
            <a:pPr indent="0" marL="0">
              <a:buNone/>
            </a:pPr>
            <a:r>
              <a:rPr lang="en-US" sz="1150" dirty="0">
                <a:solidFill>
                  <a:srgbClr val="1F2933"/>
                </a:solidFill>
                <a:latin typeface="Calibri" pitchFamily="34" charset="0"/>
                <a:ea typeface="Calibri" pitchFamily="34" charset="-122"/>
                <a:cs typeface="Calibri" pitchFamily="34" charset="-120"/>
              </a:rPr>
              <a:t>Care Navigator Visit form filed as a Clinical Document, plus a Care Management Event with modality, minutes, and the Health Concerns addressed.</a:t>
            </a:r>
            <a:endParaRPr lang="en-US" sz="1150" dirty="0"/>
          </a:p>
        </p:txBody>
      </p:sp>
      <p:sp>
        <p:nvSpPr>
          <p:cNvPr id="22" name="Shape 14"/>
          <p:cNvSpPr/>
          <p:nvPr/>
        </p:nvSpPr>
        <p:spPr>
          <a:xfrm>
            <a:off x="548640" y="5501640"/>
            <a:ext cx="11091672" cy="670560"/>
          </a:xfrm>
          <a:prstGeom prst="roundRect">
            <a:avLst>
              <a:gd name="adj" fmla="val 10909"/>
            </a:avLst>
          </a:prstGeom>
          <a:solidFill>
            <a:srgbClr val="FFFFFF"/>
          </a:solidFill>
          <a:ln w="9525">
            <a:solidFill>
              <a:srgbClr val="D6DEE8"/>
            </a:solidFill>
            <a:prstDash val="solid"/>
          </a:ln>
        </p:spPr>
      </p:sp>
      <p:pic>
        <p:nvPicPr>
          <p:cNvPr id="23" name="Image 6" descr="preencoded.png">    </p:cNvPr>
          <p:cNvPicPr>
            <a:picLocks noChangeAspect="1"/>
          </p:cNvPicPr>
          <p:nvPr/>
        </p:nvPicPr>
        <p:blipFill>
          <a:blip r:embed="rId7"/>
          <a:stretch>
            <a:fillRect/>
          </a:stretch>
        </p:blipFill>
        <p:spPr>
          <a:xfrm>
            <a:off x="731520" y="5672328"/>
            <a:ext cx="329184" cy="329184"/>
          </a:xfrm>
          <a:prstGeom prst="rect">
            <a:avLst/>
          </a:prstGeom>
        </p:spPr>
      </p:pic>
      <p:sp>
        <p:nvSpPr>
          <p:cNvPr id="24" name="Text 15"/>
          <p:cNvSpPr txBox="1"/>
          <p:nvPr/>
        </p:nvSpPr>
        <p:spPr>
          <a:xfrm>
            <a:off x="1234440" y="554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Close the loop.  </a:t>
            </a:r>
            <a:pPr indent="0" marL="0">
              <a:buNone/>
            </a:pPr>
            <a:r>
              <a:rPr lang="en-US" sz="1150" dirty="0">
                <a:solidFill>
                  <a:srgbClr val="1F2933"/>
                </a:solidFill>
                <a:latin typeface="Calibri" pitchFamily="34" charset="0"/>
                <a:ea typeface="Calibri" pitchFamily="34" charset="-122"/>
                <a:cs typeface="Calibri" pitchFamily="34" charset="-120"/>
              </a:rPr>
              <a:t>Tell Kevin what happens next: nurse call today, visit scheduled, care-plan review with him, 24/7 line number.</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Which is the best-written Care Team Task?</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Explore respite options.</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Social worker to send caregiver a list of three in-home respite agencies and follow up by 10/3.</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Caregiver needs a break.</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Respite — TBD.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Which is the best-written Care Team Task?</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Explore respite options.</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Social worker to send caregiver a list of three in-home respite agencies and follow up by 10/3.</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Caregiver needs a break.</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Respite — TBD.</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Care Team Task needs an owner, a concrete action, and a date. The others are goals, observations, or placeholders.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You spent 12 minutes leaving voicemails and 20 minutes on a call educating a caregiver about wandering safety. How much care-management time do you log?</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32 minutes.</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 20-minute Care Management Event, with the voicemail attempts documented on the visit form but not logged as care-management time.</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30 minutes.</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None, because the call was by phone.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32</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You spent 12 minutes leaving voicemails and 20 minutes on a call educating a caregiver about wandering safety. How much care-management time do you log?</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32 minutes.</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A 20-minute Care Management Event, with the voicemail attempts documented on the visit form but not logged as care-management time.</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30 minutes.</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None, because the call was by phone.</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Voicemail attempts are documented but generally do not count as care-management time. Log a 20-minute Care Management Event naming the Health Concern. Follow AbleLiving's GUIDE guidance.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33</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caregiver strain score comes back well above the program threshold. The correct next step is:</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Note it in the chart and reassess in 90 days.</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Tell the caregiver to take it easy.</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Route to the care manager for respite and support planning, and add it to the Care Plan as a Health Concern with tasks.</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Ask the provider to prescribe something for the caregiver.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34</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caregiver strain score comes back well above the program threshold. The correct next step is:</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Note it in the chart and reassess in 90 days.</a:t>
            </a:r>
            <a:endParaRPr lang="en-US" sz="1200" dirty="0"/>
          </a:p>
        </p:txBody>
      </p:sp>
      <p:sp>
        <p:nvSpPr>
          <p:cNvPr id="10" name="Shape 7"/>
          <p:cNvSpPr/>
          <p:nvPr/>
        </p:nvSpPr>
        <p:spPr>
          <a:xfrm>
            <a:off x="548640" y="3172968"/>
            <a:ext cx="6309360" cy="475488"/>
          </a:xfrm>
          <a:prstGeom prst="roundRect">
            <a:avLst>
              <a:gd name="adj" fmla="val 11538"/>
            </a:avLst>
          </a:prstGeom>
          <a:solidFill>
            <a:srgbClr val="FFFFFF"/>
          </a:solidFill>
          <a:ln w="9525">
            <a:solidFill>
              <a:srgbClr val="D6DEE8"/>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B.  Tell the caregiver to take it easy.</a:t>
            </a:r>
            <a:endParaRPr lang="en-US" sz="1200" dirty="0"/>
          </a:p>
        </p:txBody>
      </p:sp>
      <p:sp>
        <p:nvSpPr>
          <p:cNvPr id="12" name="Shape 9"/>
          <p:cNvSpPr/>
          <p:nvPr/>
        </p:nvSpPr>
        <p:spPr>
          <a:xfrm>
            <a:off x="548640" y="3739896"/>
            <a:ext cx="6309360" cy="475488"/>
          </a:xfrm>
          <a:prstGeom prst="roundRect">
            <a:avLst>
              <a:gd name="adj" fmla="val 11538"/>
            </a:avLst>
          </a:prstGeom>
          <a:solidFill>
            <a:srgbClr val="EEF2E8"/>
          </a:solidFill>
          <a:ln w="19050">
            <a:solidFill>
              <a:srgbClr val="586C47"/>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C.  Route to the care manager for respite and support planning, and add it to the Care Plan as a Health Concern with tasks.</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Ask the provider to prescribe something for the caregiver.</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C</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High strain is a Health Concern with Goals and Care Team Tasks. Routing to the care manager and updating the plan is what turns the score into support.</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MODULE SUMMARY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Key takeaways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6 · Care Plans &amp; Care Management Documentation</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35</a:t>
            </a:r>
            <a:endParaRPr lang="en-US" sz="900" dirty="0"/>
          </a:p>
        </p:txBody>
      </p:sp>
      <p:sp>
        <p:nvSpPr>
          <p:cNvPr id="7" name="Shape 4"/>
          <p:cNvSpPr/>
          <p:nvPr/>
        </p:nvSpPr>
        <p:spPr>
          <a:xfrm>
            <a:off x="548640" y="1691640"/>
            <a:ext cx="11091672" cy="647700"/>
          </a:xfrm>
          <a:prstGeom prst="roundRect">
            <a:avLst>
              <a:gd name="adj" fmla="val 11294"/>
            </a:avLst>
          </a:prstGeom>
          <a:solidFill>
            <a:srgbClr val="FFFFFF"/>
          </a:solidFill>
          <a:ln w="9525">
            <a:solidFill>
              <a:srgbClr val="D6DEE8"/>
            </a:solidFill>
            <a:prstDash val="solid"/>
          </a:ln>
        </p:spPr>
      </p:sp>
      <p:pic>
        <p:nvPicPr>
          <p:cNvPr id="8" name="Image 1" descr="preencoded.png">    </p:cNvPr>
          <p:cNvPicPr>
            <a:picLocks noChangeAspect="1"/>
          </p:cNvPicPr>
          <p:nvPr/>
        </p:nvPicPr>
        <p:blipFill>
          <a:blip r:embed="rId2"/>
          <a:stretch>
            <a:fillRect/>
          </a:stretch>
        </p:blipFill>
        <p:spPr>
          <a:xfrm>
            <a:off x="777240" y="1841754"/>
            <a:ext cx="347472" cy="347472"/>
          </a:xfrm>
          <a:prstGeom prst="rect">
            <a:avLst/>
          </a:prstGeom>
        </p:spPr>
      </p:pic>
      <p:sp>
        <p:nvSpPr>
          <p:cNvPr id="9" name="Text 5"/>
          <p:cNvSpPr txBox="1"/>
          <p:nvPr/>
        </p:nvSpPr>
        <p:spPr>
          <a:xfrm>
            <a:off x="1325880" y="169164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Two records for every contact: the Microsoft Form filed as a Clinical Document (narrative) and the Care Management Event on the Care Plan tab (time).</a:t>
            </a:r>
            <a:endParaRPr lang="en-US" sz="1400" dirty="0"/>
          </a:p>
        </p:txBody>
      </p:sp>
      <p:sp>
        <p:nvSpPr>
          <p:cNvPr id="10" name="Shape 6"/>
          <p:cNvSpPr/>
          <p:nvPr/>
        </p:nvSpPr>
        <p:spPr>
          <a:xfrm>
            <a:off x="548640" y="2458212"/>
            <a:ext cx="11091672" cy="647700"/>
          </a:xfrm>
          <a:prstGeom prst="roundRect">
            <a:avLst>
              <a:gd name="adj" fmla="val 11294"/>
            </a:avLst>
          </a:prstGeom>
          <a:solidFill>
            <a:srgbClr val="EAF1FA"/>
          </a:solidFill>
          <a:ln w="9525">
            <a:solidFill>
              <a:srgbClr val="EAF1FA"/>
            </a:solidFill>
            <a:prstDash val="solid"/>
          </a:ln>
        </p:spPr>
      </p:sp>
      <p:pic>
        <p:nvPicPr>
          <p:cNvPr id="11" name="Image 2" descr="preencoded.png">    </p:cNvPr>
          <p:cNvPicPr>
            <a:picLocks noChangeAspect="1"/>
          </p:cNvPicPr>
          <p:nvPr/>
        </p:nvPicPr>
        <p:blipFill>
          <a:blip r:embed="rId3"/>
          <a:stretch>
            <a:fillRect/>
          </a:stretch>
        </p:blipFill>
        <p:spPr>
          <a:xfrm>
            <a:off x="777240" y="2608326"/>
            <a:ext cx="347472" cy="347472"/>
          </a:xfrm>
          <a:prstGeom prst="rect">
            <a:avLst/>
          </a:prstGeom>
        </p:spPr>
      </p:pic>
      <p:sp>
        <p:nvSpPr>
          <p:cNvPr id="12" name="Text 7"/>
          <p:cNvSpPr txBox="1"/>
          <p:nvPr/>
        </p:nvSpPr>
        <p:spPr>
          <a:xfrm>
            <a:off x="1325880" y="2458212"/>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athenaOne's Care Plan = Health Concerns → Goals → Patient Tasks → Care Team Tasks; one active plan; the care manager owns it.</a:t>
            </a:r>
            <a:endParaRPr lang="en-US" sz="1400" dirty="0"/>
          </a:p>
        </p:txBody>
      </p:sp>
      <p:sp>
        <p:nvSpPr>
          <p:cNvPr id="13" name="Shape 8"/>
          <p:cNvSpPr/>
          <p:nvPr/>
        </p:nvSpPr>
        <p:spPr>
          <a:xfrm>
            <a:off x="548640" y="3224784"/>
            <a:ext cx="11091672" cy="647700"/>
          </a:xfrm>
          <a:prstGeom prst="roundRect">
            <a:avLst>
              <a:gd name="adj" fmla="val 11294"/>
            </a:avLst>
          </a:prstGeom>
          <a:solidFill>
            <a:srgbClr val="FFFFFF"/>
          </a:solidFill>
          <a:ln w="9525">
            <a:solidFill>
              <a:srgbClr val="D6DEE8"/>
            </a:solidFill>
            <a:prstDash val="solid"/>
          </a:ln>
        </p:spPr>
      </p:sp>
      <p:pic>
        <p:nvPicPr>
          <p:cNvPr id="14" name="Image 3" descr="preencoded.png">    </p:cNvPr>
          <p:cNvPicPr>
            <a:picLocks noChangeAspect="1"/>
          </p:cNvPicPr>
          <p:nvPr/>
        </p:nvPicPr>
        <p:blipFill>
          <a:blip r:embed="rId4"/>
          <a:stretch>
            <a:fillRect/>
          </a:stretch>
        </p:blipFill>
        <p:spPr>
          <a:xfrm>
            <a:off x="777240" y="3374898"/>
            <a:ext cx="347472" cy="347472"/>
          </a:xfrm>
          <a:prstGeom prst="rect">
            <a:avLst/>
          </a:prstGeom>
        </p:spPr>
      </p:pic>
      <p:sp>
        <p:nvSpPr>
          <p:cNvPr id="15" name="Text 9"/>
          <p:cNvSpPr txBox="1"/>
          <p:nvPr/>
        </p:nvSpPr>
        <p:spPr>
          <a:xfrm>
            <a:off x="1325880" y="3224784"/>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Assessments are data. Administer instruments as written, record scores and context, compare to prior, and route what exceeds thresholds.</a:t>
            </a:r>
            <a:endParaRPr lang="en-US" sz="1400" dirty="0"/>
          </a:p>
        </p:txBody>
      </p:sp>
      <p:sp>
        <p:nvSpPr>
          <p:cNvPr id="16" name="Shape 10"/>
          <p:cNvSpPr/>
          <p:nvPr/>
        </p:nvSpPr>
        <p:spPr>
          <a:xfrm>
            <a:off x="548640" y="3991356"/>
            <a:ext cx="11091672" cy="647700"/>
          </a:xfrm>
          <a:prstGeom prst="roundRect">
            <a:avLst>
              <a:gd name="adj" fmla="val 11294"/>
            </a:avLst>
          </a:prstGeom>
          <a:solidFill>
            <a:srgbClr val="EAF1FA"/>
          </a:solidFill>
          <a:ln w="9525">
            <a:solidFill>
              <a:srgbClr val="EAF1FA"/>
            </a:solidFill>
            <a:prstDash val="solid"/>
          </a:ln>
        </p:spPr>
      </p:sp>
      <p:pic>
        <p:nvPicPr>
          <p:cNvPr id="17" name="Image 4" descr="preencoded.png">    </p:cNvPr>
          <p:cNvPicPr>
            <a:picLocks noChangeAspect="1"/>
          </p:cNvPicPr>
          <p:nvPr/>
        </p:nvPicPr>
        <p:blipFill>
          <a:blip r:embed="rId5"/>
          <a:stretch>
            <a:fillRect/>
          </a:stretch>
        </p:blipFill>
        <p:spPr>
          <a:xfrm>
            <a:off x="777240" y="4141470"/>
            <a:ext cx="347472" cy="347472"/>
          </a:xfrm>
          <a:prstGeom prst="rect">
            <a:avLst/>
          </a:prstGeom>
        </p:spPr>
      </p:pic>
      <p:sp>
        <p:nvSpPr>
          <p:cNvPr id="18" name="Text 11"/>
          <p:cNvSpPr txBox="1"/>
          <p:nvPr/>
        </p:nvSpPr>
        <p:spPr>
          <a:xfrm>
            <a:off x="1325880" y="3991356"/>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Review early on trigger events: hospitalization, change in condition, caregiver change, living-situation change.</a:t>
            </a:r>
            <a:endParaRPr lang="en-US" sz="1400" dirty="0"/>
          </a:p>
        </p:txBody>
      </p:sp>
      <p:sp>
        <p:nvSpPr>
          <p:cNvPr id="19" name="Shape 12"/>
          <p:cNvSpPr/>
          <p:nvPr/>
        </p:nvSpPr>
        <p:spPr>
          <a:xfrm>
            <a:off x="548640" y="4757928"/>
            <a:ext cx="11091672" cy="647700"/>
          </a:xfrm>
          <a:prstGeom prst="roundRect">
            <a:avLst>
              <a:gd name="adj" fmla="val 11294"/>
            </a:avLst>
          </a:prstGeom>
          <a:solidFill>
            <a:srgbClr val="FFFFFF"/>
          </a:solidFill>
          <a:ln w="9525">
            <a:solidFill>
              <a:srgbClr val="D6DEE8"/>
            </a:solidFill>
            <a:prstDash val="solid"/>
          </a:ln>
        </p:spPr>
      </p:sp>
      <p:pic>
        <p:nvPicPr>
          <p:cNvPr id="20" name="Image 5" descr="preencoded.png">    </p:cNvPr>
          <p:cNvPicPr>
            <a:picLocks noChangeAspect="1"/>
          </p:cNvPicPr>
          <p:nvPr/>
        </p:nvPicPr>
        <p:blipFill>
          <a:blip r:embed="rId6"/>
          <a:stretch>
            <a:fillRect/>
          </a:stretch>
        </p:blipFill>
        <p:spPr>
          <a:xfrm>
            <a:off x="777240" y="4908042"/>
            <a:ext cx="347472" cy="347472"/>
          </a:xfrm>
          <a:prstGeom prst="rect">
            <a:avLst/>
          </a:prstGeom>
        </p:spPr>
      </p:pic>
      <p:sp>
        <p:nvSpPr>
          <p:cNvPr id="21" name="Text 13"/>
          <p:cNvSpPr txBox="1"/>
          <p:nvPr/>
        </p:nvSpPr>
        <p:spPr>
          <a:xfrm>
            <a:off x="1325880" y="4757928"/>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Care Management Events: modality, minutes typed in exactly, summary naming the program and Health Concern — logged the same day; monitor the Care Program Panel.</a:t>
            </a:r>
            <a:endParaRPr lang="en-US" sz="1400" dirty="0"/>
          </a:p>
        </p:txBody>
      </p:sp>
      <p:sp>
        <p:nvSpPr>
          <p:cNvPr id="22" name="Shape 14"/>
          <p:cNvSpPr/>
          <p:nvPr/>
        </p:nvSpPr>
        <p:spPr>
          <a:xfrm>
            <a:off x="548640" y="5524500"/>
            <a:ext cx="11091672" cy="647700"/>
          </a:xfrm>
          <a:prstGeom prst="roundRect">
            <a:avLst>
              <a:gd name="adj" fmla="val 11294"/>
            </a:avLst>
          </a:prstGeom>
          <a:solidFill>
            <a:srgbClr val="EAF1FA"/>
          </a:solidFill>
          <a:ln w="9525">
            <a:solidFill>
              <a:srgbClr val="EAF1FA"/>
            </a:solidFill>
            <a:prstDash val="solid"/>
          </a:ln>
        </p:spPr>
      </p:sp>
      <p:pic>
        <p:nvPicPr>
          <p:cNvPr id="23" name="Image 6" descr="preencoded.png">    </p:cNvPr>
          <p:cNvPicPr>
            <a:picLocks noChangeAspect="1"/>
          </p:cNvPicPr>
          <p:nvPr/>
        </p:nvPicPr>
        <p:blipFill>
          <a:blip r:embed="rId7"/>
          <a:stretch>
            <a:fillRect/>
          </a:stretch>
        </p:blipFill>
        <p:spPr>
          <a:xfrm>
            <a:off x="777240" y="5674614"/>
            <a:ext cx="347472" cy="347472"/>
          </a:xfrm>
          <a:prstGeom prst="rect">
            <a:avLst/>
          </a:prstGeom>
        </p:spPr>
      </p:pic>
      <p:sp>
        <p:nvSpPr>
          <p:cNvPr id="24" name="Text 15"/>
          <p:cNvSpPr txBox="1"/>
          <p:nvPr/>
        </p:nvSpPr>
        <p:spPr>
          <a:xfrm>
            <a:off x="1325880" y="552450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Caregiver support is patient care: respite, resources, and the 24/7 line are tracked to outcome.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7498080" y="640080"/>
            <a:ext cx="3931920" cy="1691640"/>
          </a:xfrm>
          <a:prstGeom prst="roundRect">
            <a:avLst>
              <a:gd name="adj" fmla="val 8108"/>
            </a:avLst>
          </a:prstGeom>
          <a:solidFill>
            <a:srgbClr val="FFFFFF"/>
          </a:solidFill>
          <a:ln w="12700">
            <a:solidFill>
              <a:srgbClr val="FFFFFF"/>
            </a:solidFill>
            <a:prstDash val="solid"/>
          </a:ln>
        </p:spPr>
      </p:sp>
      <p:pic>
        <p:nvPicPr>
          <p:cNvPr id="4" name="Image 0" descr="/home/claude/build/logo.png">    </p:cNvPr>
          <p:cNvPicPr>
            <a:picLocks noChangeAspect="1"/>
          </p:cNvPicPr>
          <p:nvPr/>
        </p:nvPicPr>
        <p:blipFill>
          <a:blip r:embed="rId1"/>
          <a:stretch>
            <a:fillRect/>
          </a:stretch>
        </p:blipFill>
        <p:spPr>
          <a:xfrm>
            <a:off x="7635240" y="731520"/>
            <a:ext cx="3657600" cy="1508760"/>
          </a:xfrm>
          <a:prstGeom prst="rect">
            <a:avLst/>
          </a:prstGeom>
        </p:spPr>
      </p:pic>
      <p:sp>
        <p:nvSpPr>
          <p:cNvPr id="5" name="Text 2"/>
          <p:cNvSpPr txBox="1"/>
          <p:nvPr/>
        </p:nvSpPr>
        <p:spPr>
          <a:xfrm>
            <a:off x="731520" y="274320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You've completed Module 6</a:t>
            </a:r>
            <a:endParaRPr lang="en-US" sz="4000" dirty="0"/>
          </a:p>
        </p:txBody>
      </p:sp>
      <p:sp>
        <p:nvSpPr>
          <p:cNvPr id="6" name="Text 3"/>
          <p:cNvSpPr txBox="1"/>
          <p:nvPr/>
        </p:nvSpPr>
        <p:spPr>
          <a:xfrm>
            <a:off x="731520" y="3611880"/>
            <a:ext cx="10058400" cy="548640"/>
          </a:xfrm>
          <a:prstGeom prst="rect">
            <a:avLst/>
          </a:prstGeom>
          <a:noFill/>
          <a:ln/>
        </p:spPr>
        <p:txBody>
          <a:bodyPr wrap="square" lIns="0" tIns="0" rIns="0" bIns="0" rtlCol="0" anchor="ctr"/>
          <a:lstStyle/>
          <a:p>
            <a:pPr indent="0" marL="0">
              <a:buNone/>
            </a:pPr>
            <a:r>
              <a:rPr lang="en-US" sz="2000" dirty="0">
                <a:solidFill>
                  <a:srgbClr val="EAF1FA"/>
                </a:solidFill>
                <a:latin typeface="Calibri" pitchFamily="34" charset="0"/>
                <a:ea typeface="Calibri" pitchFamily="34" charset="-122"/>
                <a:cs typeface="Calibri" pitchFamily="34" charset="-120"/>
              </a:rPr>
              <a:t>Care Plans &amp; Care Management Documentation</a:t>
            </a:r>
            <a:endParaRPr lang="en-US" sz="2000" dirty="0"/>
          </a:p>
        </p:txBody>
      </p:sp>
      <p:sp>
        <p:nvSpPr>
          <p:cNvPr id="7" name="Text 4"/>
          <p:cNvSpPr txBox="1"/>
          <p:nvPr/>
        </p:nvSpPr>
        <p:spPr>
          <a:xfrm>
            <a:off x="731520" y="4663440"/>
            <a:ext cx="5486400" cy="32004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UP NEXT</a:t>
            </a:r>
            <a:endParaRPr lang="en-US" sz="1200" dirty="0"/>
          </a:p>
        </p:txBody>
      </p:sp>
      <p:sp>
        <p:nvSpPr>
          <p:cNvPr id="8" name="Text 5"/>
          <p:cNvSpPr txBox="1"/>
          <p:nvPr/>
        </p:nvSpPr>
        <p:spPr>
          <a:xfrm>
            <a:off x="731520" y="4983480"/>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Module 7: Orders, Referrals &amp; Results Tracking</a:t>
            </a:r>
            <a:endParaRPr lang="en-US" sz="1800" dirty="0"/>
          </a:p>
        </p:txBody>
      </p:sp>
      <p:sp>
        <p:nvSpPr>
          <p:cNvPr id="9" name="Text 6"/>
          <p:cNvSpPr txBox="1"/>
          <p:nvPr/>
        </p:nvSpPr>
        <p:spPr>
          <a:xfrm>
            <a:off x="731520" y="5852160"/>
            <a:ext cx="10515600" cy="548640"/>
          </a:xfrm>
          <a:prstGeom prst="rect">
            <a:avLst/>
          </a:prstGeom>
          <a:noFill/>
          <a:ln/>
        </p:spPr>
        <p:txBody>
          <a:bodyPr wrap="square" lIns="0" tIns="0" rIns="0" bIns="0" rtlCol="0" anchor="ctr"/>
          <a:lstStyle/>
          <a:p>
            <a:pPr indent="0" marL="0">
              <a:buNone/>
            </a:pPr>
            <a:r>
              <a:rPr lang="en-US" sz="1000" i="1" dirty="0">
                <a:solidFill>
                  <a:srgbClr val="84ACDF"/>
                </a:solidFill>
                <a:latin typeface="Calibri" pitchFamily="34" charset="0"/>
                <a:ea typeface="Calibri" pitchFamily="34" charset="-122"/>
                <a:cs typeface="Calibri" pitchFamily="34" charset="-120"/>
              </a:rPr>
              <a:t>Screens shown are illustrative representations of athenaOne workflows (terminology verified against athenahealth O-help and published workflow guides, Sept 2026). Follow AbleLiving policies and athenahealth O-help where they differ.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Care Plans &amp; Care Management Documentation</dc:title>
  <dc:subject>PptxGenJS Presentation</dc:subject>
  <dc:creator>AbleLiving Memory Support</dc:creator>
  <cp:lastModifiedBy>AbleLiving Memory Support</cp:lastModifiedBy>
  <cp:revision>1</cp:revision>
  <dcterms:created xsi:type="dcterms:W3CDTF">2026-09-24T23:01:57Z</dcterms:created>
  <dcterms:modified xsi:type="dcterms:W3CDTF">2026-09-24T23:01:57Z</dcterms:modified>
</cp:coreProperties>
</file>