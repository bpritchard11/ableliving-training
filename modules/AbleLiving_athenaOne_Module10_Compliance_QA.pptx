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AbleLiving's program-specific audit tool in the live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slideLayout" Target="../slideLayouts/slideLayout1.xml"/><Relationship Id="rId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A87"/>
        </a:solidFill>
      </p:bgPr>
    </p:bg>
    <p:spTree>
      <p:nvGrpSpPr>
        <p:cNvPr id="1" name=""/>
        <p:cNvGrpSpPr/>
        <p:nvPr/>
      </p:nvGrpSpPr>
      <p:grpSpPr>
        <a:xfrm>
          <a:off x="0" y="0"/>
          <a:ext cx="0" cy="0"/>
          <a:chOff x="0" y="0"/>
          <a:chExt cx="0" cy="0"/>
        </a:xfrm>
      </p:grpSpPr>
      <p:sp>
        <p:nvSpPr>
          <p:cNvPr id="2" name="Shape 0"/>
          <p:cNvSpPr/>
          <p:nvPr/>
        </p:nvSpPr>
        <p:spPr>
          <a:xfrm>
            <a:off x="8595360" y="-2011680"/>
            <a:ext cx="5943600" cy="5943600"/>
          </a:xfrm>
          <a:prstGeom prst="ellipse">
            <a:avLst/>
          </a:prstGeom>
          <a:solidFill>
            <a:srgbClr val="84ACDF">
              <a:alpha val="20000"/>
            </a:srgbClr>
          </a:solidFill>
          <a:ln w="12700">
            <a:solidFill>
              <a:srgbClr val="84ACDF">
                <a:alpha val="20000"/>
              </a:srgbClr>
            </a:solidFill>
            <a:prstDash val="solid"/>
          </a:ln>
        </p:spPr>
      </p:sp>
      <p:sp>
        <p:nvSpPr>
          <p:cNvPr id="3" name="Shape 1"/>
          <p:cNvSpPr/>
          <p:nvPr/>
        </p:nvSpPr>
        <p:spPr>
          <a:xfrm>
            <a:off x="-1645920" y="4754880"/>
            <a:ext cx="4114800" cy="4114800"/>
          </a:xfrm>
          <a:prstGeom prst="ellipse">
            <a:avLst/>
          </a:prstGeom>
          <a:solidFill>
            <a:srgbClr val="586C47">
              <a:alpha val="30000"/>
            </a:srgbClr>
          </a:solidFill>
          <a:ln w="12700">
            <a:solidFill>
              <a:srgbClr val="586C47">
                <a:alpha val="30000"/>
              </a:srgbClr>
            </a:solidFill>
            <a:prstDash val="solid"/>
          </a:ln>
        </p:spPr>
      </p:sp>
      <p:sp>
        <p:nvSpPr>
          <p:cNvPr id="4" name="Shape 2"/>
          <p:cNvSpPr/>
          <p:nvPr/>
        </p:nvSpPr>
        <p:spPr>
          <a:xfrm>
            <a:off x="731520" y="640080"/>
            <a:ext cx="3931920" cy="1691640"/>
          </a:xfrm>
          <a:prstGeom prst="roundRect">
            <a:avLst>
              <a:gd name="adj" fmla="val 8108"/>
            </a:avLst>
          </a:prstGeom>
          <a:solidFill>
            <a:srgbClr val="FFFFFF"/>
          </a:solidFill>
          <a:ln w="12700">
            <a:solidFill>
              <a:srgbClr val="FFFFFF"/>
            </a:solidFill>
            <a:prstDash val="solid"/>
          </a:ln>
        </p:spPr>
      </p:sp>
      <p:pic>
        <p:nvPicPr>
          <p:cNvPr id="5" name="Image 0" descr="/home/claude/build/logo.png">    </p:cNvPr>
          <p:cNvPicPr>
            <a:picLocks noChangeAspect="1"/>
          </p:cNvPicPr>
          <p:nvPr/>
        </p:nvPicPr>
        <p:blipFill>
          <a:blip r:embed="rId1"/>
          <a:stretch>
            <a:fillRect/>
          </a:stretch>
        </p:blipFill>
        <p:spPr>
          <a:xfrm>
            <a:off x="868680" y="731520"/>
            <a:ext cx="3657600" cy="1508760"/>
          </a:xfrm>
          <a:prstGeom prst="rect">
            <a:avLst/>
          </a:prstGeom>
        </p:spPr>
      </p:pic>
      <p:sp>
        <p:nvSpPr>
          <p:cNvPr id="6" name="Text 3"/>
          <p:cNvSpPr txBox="1"/>
          <p:nvPr/>
        </p:nvSpPr>
        <p:spPr>
          <a:xfrm>
            <a:off x="731520" y="2880360"/>
            <a:ext cx="10058400" cy="320040"/>
          </a:xfrm>
          <a:prstGeom prst="rect">
            <a:avLst/>
          </a:prstGeom>
          <a:noFill/>
          <a:ln/>
        </p:spPr>
        <p:txBody>
          <a:bodyPr wrap="square" lIns="0" tIns="0" rIns="0" bIns="0" rtlCol="0" anchor="ctr"/>
          <a:lstStyle/>
          <a:p>
            <a:pPr indent="0" marL="0">
              <a:buNone/>
            </a:pPr>
            <a:r>
              <a:rPr lang="en-US" sz="1300" b="1" spc="200" kern="0" dirty="0">
                <a:solidFill>
                  <a:srgbClr val="F1C232"/>
                </a:solidFill>
                <a:latin typeface="Calibri" pitchFamily="34" charset="0"/>
                <a:ea typeface="Calibri" pitchFamily="34" charset="-122"/>
                <a:cs typeface="Calibri" pitchFamily="34" charset="-120"/>
              </a:rPr>
              <a:t>ATHENAONE TRAINING SERIES · MODULE 10 OF 10</a:t>
            </a:r>
            <a:endParaRPr lang="en-US" sz="1300" dirty="0"/>
          </a:p>
        </p:txBody>
      </p:sp>
      <p:sp>
        <p:nvSpPr>
          <p:cNvPr id="7" name="Text 4"/>
          <p:cNvSpPr txBox="1"/>
          <p:nvPr/>
        </p:nvSpPr>
        <p:spPr>
          <a:xfrm>
            <a:off x="731520" y="3246120"/>
            <a:ext cx="10515600" cy="13716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Compliance, Privacy &amp; Quality Assurance in athenaOne</a:t>
            </a:r>
            <a:endParaRPr lang="en-US" sz="4400" dirty="0"/>
          </a:p>
        </p:txBody>
      </p:sp>
      <p:sp>
        <p:nvSpPr>
          <p:cNvPr id="8" name="Text 5"/>
          <p:cNvSpPr txBox="1"/>
          <p:nvPr/>
        </p:nvSpPr>
        <p:spPr>
          <a:xfrm>
            <a:off x="731520" y="4617720"/>
            <a:ext cx="9601200" cy="822960"/>
          </a:xfrm>
          <a:prstGeom prst="rect">
            <a:avLst/>
          </a:prstGeom>
          <a:noFill/>
          <a:ln/>
        </p:spPr>
        <p:txBody>
          <a:bodyPr wrap="square" lIns="0" tIns="0" rIns="0" bIns="0" rtlCol="0" anchor="ctr"/>
          <a:lstStyle/>
          <a:p>
            <a:pPr indent="0" marL="0">
              <a:buNone/>
            </a:pPr>
            <a:r>
              <a:rPr lang="en-US" sz="1800" dirty="0">
                <a:solidFill>
                  <a:srgbClr val="EAF1FA"/>
                </a:solidFill>
                <a:latin typeface="Calibri" pitchFamily="34" charset="0"/>
                <a:ea typeface="Calibri" pitchFamily="34" charset="-122"/>
                <a:cs typeface="Calibri" pitchFamily="34" charset="-120"/>
              </a:rPr>
              <a:t>HIPAA in daily practice, minimum necessary, the audit trail, documentation integrity, program audit readiness, and how navigators check their own work.</a:t>
            </a:r>
            <a:endParaRPr lang="en-US" sz="1800" dirty="0"/>
          </a:p>
        </p:txBody>
      </p:sp>
      <p:sp>
        <p:nvSpPr>
          <p:cNvPr id="9" name="Text 6"/>
          <p:cNvSpPr txBox="1"/>
          <p:nvPr/>
        </p:nvSpPr>
        <p:spPr>
          <a:xfrm>
            <a:off x="731520" y="5989320"/>
            <a:ext cx="10058400" cy="365760"/>
          </a:xfrm>
          <a:prstGeom prst="rect">
            <a:avLst/>
          </a:prstGeom>
          <a:noFill/>
          <a:ln/>
        </p:spPr>
        <p:txBody>
          <a:bodyPr wrap="square" lIns="0" tIns="0" rIns="0" bIns="0" rtlCol="0" anchor="ctr"/>
          <a:lstStyle/>
          <a:p>
            <a:pPr indent="0" marL="0">
              <a:buNone/>
            </a:pPr>
            <a:r>
              <a:rPr lang="en-US" sz="1200" dirty="0">
                <a:solidFill>
                  <a:srgbClr val="84ACDF"/>
                </a:solidFill>
                <a:latin typeface="Calibri" pitchFamily="34" charset="0"/>
                <a:ea typeface="Calibri" pitchFamily="34" charset="-122"/>
                <a:cs typeface="Calibri" pitchFamily="34" charset="-120"/>
              </a:rPr>
              <a:t>Care Navigator Curriculum  ·  Approximately 60 minutes  ·  View-only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WHAT WE'LL COVER</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Module roadmap</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640080" y="1673352"/>
            <a:ext cx="457200" cy="457200"/>
          </a:xfrm>
          <a:prstGeom prst="ellipse">
            <a:avLst/>
          </a:prstGeom>
          <a:solidFill>
            <a:srgbClr val="1E4A87"/>
          </a:solidFill>
          <a:ln w="12700">
            <a:solidFill>
              <a:srgbClr val="1E4A87"/>
            </a:solidFill>
            <a:prstDash val="solid"/>
          </a:ln>
        </p:spPr>
      </p:sp>
      <p:sp>
        <p:nvSpPr>
          <p:cNvPr id="8" name="Text 5"/>
          <p:cNvSpPr txBox="1"/>
          <p:nvPr/>
        </p:nvSpPr>
        <p:spPr>
          <a:xfrm>
            <a:off x="640080" y="16733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280160" y="1600200"/>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Compliance is a daily practice, not a policy binder</a:t>
            </a:r>
            <a:endParaRPr lang="en-US" sz="1800" dirty="0"/>
          </a:p>
        </p:txBody>
      </p:sp>
      <p:sp>
        <p:nvSpPr>
          <p:cNvPr id="10" name="Text 7"/>
          <p:cNvSpPr txBox="1"/>
          <p:nvPr/>
        </p:nvSpPr>
        <p:spPr>
          <a:xfrm>
            <a:off x="8778240" y="1600200"/>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5 min</a:t>
            </a:r>
            <a:endParaRPr lang="en-US" sz="1400" dirty="0"/>
          </a:p>
        </p:txBody>
      </p:sp>
      <p:sp>
        <p:nvSpPr>
          <p:cNvPr id="11" name="Shape 8"/>
          <p:cNvSpPr/>
          <p:nvPr/>
        </p:nvSpPr>
        <p:spPr>
          <a:xfrm>
            <a:off x="1280160" y="2258568"/>
            <a:ext cx="8595360" cy="0"/>
          </a:xfrm>
          <a:prstGeom prst="line">
            <a:avLst/>
          </a:prstGeom>
          <a:noFill/>
          <a:ln w="9525">
            <a:solidFill>
              <a:srgbClr val="D6DEE8"/>
            </a:solidFill>
            <a:prstDash val="solid"/>
          </a:ln>
        </p:spPr>
      </p:sp>
      <p:sp>
        <p:nvSpPr>
          <p:cNvPr id="12" name="Shape 9"/>
          <p:cNvSpPr/>
          <p:nvPr/>
        </p:nvSpPr>
        <p:spPr>
          <a:xfrm>
            <a:off x="640080" y="2386584"/>
            <a:ext cx="457200" cy="457200"/>
          </a:xfrm>
          <a:prstGeom prst="ellipse">
            <a:avLst/>
          </a:prstGeom>
          <a:solidFill>
            <a:srgbClr val="1E4A87"/>
          </a:solidFill>
          <a:ln w="12700">
            <a:solidFill>
              <a:srgbClr val="1E4A87"/>
            </a:solidFill>
            <a:prstDash val="solid"/>
          </a:ln>
        </p:spPr>
      </p:sp>
      <p:sp>
        <p:nvSpPr>
          <p:cNvPr id="13" name="Text 10"/>
          <p:cNvSpPr txBox="1"/>
          <p:nvPr/>
        </p:nvSpPr>
        <p:spPr>
          <a:xfrm>
            <a:off x="640080" y="238658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1280160" y="2313432"/>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HIPAA in athenaOne: access, disclosure, and minimum necessary</a:t>
            </a:r>
            <a:endParaRPr lang="en-US" sz="1800" dirty="0"/>
          </a:p>
        </p:txBody>
      </p:sp>
      <p:sp>
        <p:nvSpPr>
          <p:cNvPr id="15" name="Text 12"/>
          <p:cNvSpPr txBox="1"/>
          <p:nvPr/>
        </p:nvSpPr>
        <p:spPr>
          <a:xfrm>
            <a:off x="8778240" y="2313432"/>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15 min</a:t>
            </a:r>
            <a:endParaRPr lang="en-US" sz="1400" dirty="0"/>
          </a:p>
        </p:txBody>
      </p:sp>
      <p:sp>
        <p:nvSpPr>
          <p:cNvPr id="16" name="Shape 13"/>
          <p:cNvSpPr/>
          <p:nvPr/>
        </p:nvSpPr>
        <p:spPr>
          <a:xfrm>
            <a:off x="1280160" y="2971800"/>
            <a:ext cx="8595360" cy="0"/>
          </a:xfrm>
          <a:prstGeom prst="line">
            <a:avLst/>
          </a:prstGeom>
          <a:noFill/>
          <a:ln w="9525">
            <a:solidFill>
              <a:srgbClr val="D6DEE8"/>
            </a:solidFill>
            <a:prstDash val="solid"/>
          </a:ln>
        </p:spPr>
      </p:sp>
      <p:sp>
        <p:nvSpPr>
          <p:cNvPr id="17" name="Shape 14"/>
          <p:cNvSpPr/>
          <p:nvPr/>
        </p:nvSpPr>
        <p:spPr>
          <a:xfrm>
            <a:off x="640080" y="3099816"/>
            <a:ext cx="457200" cy="457200"/>
          </a:xfrm>
          <a:prstGeom prst="ellipse">
            <a:avLst/>
          </a:prstGeom>
          <a:solidFill>
            <a:srgbClr val="1E4A87"/>
          </a:solidFill>
          <a:ln w="12700">
            <a:solidFill>
              <a:srgbClr val="1E4A87"/>
            </a:solidFill>
            <a:prstDash val="solid"/>
          </a:ln>
        </p:spPr>
      </p:sp>
      <p:sp>
        <p:nvSpPr>
          <p:cNvPr id="18" name="Text 15"/>
          <p:cNvSpPr txBox="1"/>
          <p:nvPr/>
        </p:nvSpPr>
        <p:spPr>
          <a:xfrm>
            <a:off x="640080" y="30998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1280160" y="3026664"/>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The audit trail and documentation integrity</a:t>
            </a:r>
            <a:endParaRPr lang="en-US" sz="1800" dirty="0"/>
          </a:p>
        </p:txBody>
      </p:sp>
      <p:sp>
        <p:nvSpPr>
          <p:cNvPr id="20" name="Text 17"/>
          <p:cNvSpPr txBox="1"/>
          <p:nvPr/>
        </p:nvSpPr>
        <p:spPr>
          <a:xfrm>
            <a:off x="8778240" y="3026664"/>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10 min</a:t>
            </a:r>
            <a:endParaRPr lang="en-US" sz="1400" dirty="0"/>
          </a:p>
        </p:txBody>
      </p:sp>
      <p:sp>
        <p:nvSpPr>
          <p:cNvPr id="21" name="Shape 18"/>
          <p:cNvSpPr/>
          <p:nvPr/>
        </p:nvSpPr>
        <p:spPr>
          <a:xfrm>
            <a:off x="1280160" y="3685032"/>
            <a:ext cx="8595360" cy="0"/>
          </a:xfrm>
          <a:prstGeom prst="line">
            <a:avLst/>
          </a:prstGeom>
          <a:noFill/>
          <a:ln w="9525">
            <a:solidFill>
              <a:srgbClr val="D6DEE8"/>
            </a:solidFill>
            <a:prstDash val="solid"/>
          </a:ln>
        </p:spPr>
      </p:sp>
      <p:sp>
        <p:nvSpPr>
          <p:cNvPr id="22" name="Shape 19"/>
          <p:cNvSpPr/>
          <p:nvPr/>
        </p:nvSpPr>
        <p:spPr>
          <a:xfrm>
            <a:off x="640080" y="3813048"/>
            <a:ext cx="457200" cy="457200"/>
          </a:xfrm>
          <a:prstGeom prst="ellipse">
            <a:avLst/>
          </a:prstGeom>
          <a:solidFill>
            <a:srgbClr val="1E4A87"/>
          </a:solidFill>
          <a:ln w="12700">
            <a:solidFill>
              <a:srgbClr val="1E4A87"/>
            </a:solidFill>
            <a:prstDash val="solid"/>
          </a:ln>
        </p:spPr>
      </p:sp>
      <p:sp>
        <p:nvSpPr>
          <p:cNvPr id="23" name="Text 20"/>
          <p:cNvSpPr txBox="1"/>
          <p:nvPr/>
        </p:nvSpPr>
        <p:spPr>
          <a:xfrm>
            <a:off x="640080" y="38130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1280160" y="3739896"/>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Program audit readiness: what auditors look for</a:t>
            </a:r>
            <a:endParaRPr lang="en-US" sz="1800" dirty="0"/>
          </a:p>
        </p:txBody>
      </p:sp>
      <p:sp>
        <p:nvSpPr>
          <p:cNvPr id="25" name="Text 22"/>
          <p:cNvSpPr txBox="1"/>
          <p:nvPr/>
        </p:nvSpPr>
        <p:spPr>
          <a:xfrm>
            <a:off x="8778240" y="3739896"/>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12 min</a:t>
            </a:r>
            <a:endParaRPr lang="en-US" sz="1400" dirty="0"/>
          </a:p>
        </p:txBody>
      </p:sp>
      <p:sp>
        <p:nvSpPr>
          <p:cNvPr id="26" name="Shape 23"/>
          <p:cNvSpPr/>
          <p:nvPr/>
        </p:nvSpPr>
        <p:spPr>
          <a:xfrm>
            <a:off x="1280160" y="4398264"/>
            <a:ext cx="8595360" cy="0"/>
          </a:xfrm>
          <a:prstGeom prst="line">
            <a:avLst/>
          </a:prstGeom>
          <a:noFill/>
          <a:ln w="9525">
            <a:solidFill>
              <a:srgbClr val="D6DEE8"/>
            </a:solidFill>
            <a:prstDash val="solid"/>
          </a:ln>
        </p:spPr>
      </p:sp>
      <p:sp>
        <p:nvSpPr>
          <p:cNvPr id="27" name="Shape 24"/>
          <p:cNvSpPr/>
          <p:nvPr/>
        </p:nvSpPr>
        <p:spPr>
          <a:xfrm>
            <a:off x="640080" y="4526280"/>
            <a:ext cx="457200" cy="457200"/>
          </a:xfrm>
          <a:prstGeom prst="ellipse">
            <a:avLst/>
          </a:prstGeom>
          <a:solidFill>
            <a:srgbClr val="1E4A87"/>
          </a:solidFill>
          <a:ln w="12700">
            <a:solidFill>
              <a:srgbClr val="1E4A87"/>
            </a:solidFill>
            <a:prstDash val="solid"/>
          </a:ln>
        </p:spPr>
      </p:sp>
      <p:sp>
        <p:nvSpPr>
          <p:cNvPr id="28" name="Text 25"/>
          <p:cNvSpPr txBox="1"/>
          <p:nvPr/>
        </p:nvSpPr>
        <p:spPr>
          <a:xfrm>
            <a:off x="640080" y="4526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6"/>
          <p:cNvSpPr txBox="1"/>
          <p:nvPr/>
        </p:nvSpPr>
        <p:spPr>
          <a:xfrm>
            <a:off x="1280160" y="4453128"/>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Quality assurance: self-audits and peer review</a:t>
            </a:r>
            <a:endParaRPr lang="en-US" sz="1800" dirty="0"/>
          </a:p>
        </p:txBody>
      </p:sp>
      <p:sp>
        <p:nvSpPr>
          <p:cNvPr id="30" name="Text 27"/>
          <p:cNvSpPr txBox="1"/>
          <p:nvPr/>
        </p:nvSpPr>
        <p:spPr>
          <a:xfrm>
            <a:off x="8778240" y="4453128"/>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8 min</a:t>
            </a:r>
            <a:endParaRPr lang="en-US" sz="1400" dirty="0"/>
          </a:p>
        </p:txBody>
      </p:sp>
      <p:sp>
        <p:nvSpPr>
          <p:cNvPr id="31" name="Shape 28"/>
          <p:cNvSpPr/>
          <p:nvPr/>
        </p:nvSpPr>
        <p:spPr>
          <a:xfrm>
            <a:off x="1280160" y="5111496"/>
            <a:ext cx="8595360" cy="0"/>
          </a:xfrm>
          <a:prstGeom prst="line">
            <a:avLst/>
          </a:prstGeom>
          <a:noFill/>
          <a:ln w="9525">
            <a:solidFill>
              <a:srgbClr val="D6DEE8"/>
            </a:solidFill>
            <a:prstDash val="solid"/>
          </a:ln>
        </p:spPr>
      </p:sp>
      <p:sp>
        <p:nvSpPr>
          <p:cNvPr id="32" name="Shape 29"/>
          <p:cNvSpPr/>
          <p:nvPr/>
        </p:nvSpPr>
        <p:spPr>
          <a:xfrm>
            <a:off x="640080" y="5239512"/>
            <a:ext cx="457200" cy="457200"/>
          </a:xfrm>
          <a:prstGeom prst="ellipse">
            <a:avLst/>
          </a:prstGeom>
          <a:solidFill>
            <a:srgbClr val="1E4A87"/>
          </a:solidFill>
          <a:ln w="12700">
            <a:solidFill>
              <a:srgbClr val="1E4A87"/>
            </a:solidFill>
            <a:prstDash val="solid"/>
          </a:ln>
        </p:spPr>
      </p:sp>
      <p:sp>
        <p:nvSpPr>
          <p:cNvPr id="33" name="Text 30"/>
          <p:cNvSpPr txBox="1"/>
          <p:nvPr/>
        </p:nvSpPr>
        <p:spPr>
          <a:xfrm>
            <a:off x="640080" y="52395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1"/>
          <p:cNvSpPr txBox="1"/>
          <p:nvPr/>
        </p:nvSpPr>
        <p:spPr>
          <a:xfrm>
            <a:off x="1280160" y="5166360"/>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Scenario, knowledge checks, and takeaways</a:t>
            </a:r>
            <a:endParaRPr lang="en-US" sz="1800" dirty="0"/>
          </a:p>
        </p:txBody>
      </p:sp>
      <p:sp>
        <p:nvSpPr>
          <p:cNvPr id="35" name="Text 32"/>
          <p:cNvSpPr txBox="1"/>
          <p:nvPr/>
        </p:nvSpPr>
        <p:spPr>
          <a:xfrm>
            <a:off x="8778240" y="5166360"/>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10 min</a:t>
            </a:r>
            <a:endParaRPr lang="en-US" sz="1400" dirty="0"/>
          </a:p>
        </p:txBody>
      </p:sp>
      <p:sp>
        <p:nvSpPr>
          <p:cNvPr id="36" name="Shape 33"/>
          <p:cNvSpPr/>
          <p:nvPr/>
        </p:nvSpPr>
        <p:spPr>
          <a:xfrm>
            <a:off x="10241280" y="2194560"/>
            <a:ext cx="1463040" cy="1280160"/>
          </a:xfrm>
          <a:prstGeom prst="roundRect">
            <a:avLst>
              <a:gd name="adj" fmla="val 7143"/>
            </a:avLst>
          </a:prstGeom>
          <a:solidFill>
            <a:srgbClr val="EEF2E8"/>
          </a:solidFill>
          <a:ln w="12700">
            <a:solidFill>
              <a:srgbClr val="EEF2E8"/>
            </a:solidFill>
            <a:prstDash val="solid"/>
          </a:ln>
        </p:spPr>
      </p:sp>
      <p:sp>
        <p:nvSpPr>
          <p:cNvPr id="37" name="Text 34"/>
          <p:cNvSpPr txBox="1"/>
          <p:nvPr/>
        </p:nvSpPr>
        <p:spPr>
          <a:xfrm>
            <a:off x="10241280" y="2286000"/>
            <a:ext cx="1463040" cy="685800"/>
          </a:xfrm>
          <a:prstGeom prst="rect">
            <a:avLst/>
          </a:prstGeom>
          <a:noFill/>
          <a:ln/>
        </p:spPr>
        <p:txBody>
          <a:bodyPr wrap="square" lIns="0" tIns="0" rIns="0" bIns="0" rtlCol="0" anchor="ctr"/>
          <a:lstStyle/>
          <a:p>
            <a:pPr algn="ctr" indent="0" marL="0">
              <a:buNone/>
            </a:pPr>
            <a:r>
              <a:rPr lang="en-US" sz="3600" b="1" dirty="0">
                <a:solidFill>
                  <a:srgbClr val="586C47"/>
                </a:solidFill>
                <a:latin typeface="Cambria" pitchFamily="34" charset="0"/>
                <a:ea typeface="Cambria" pitchFamily="34" charset="-122"/>
                <a:cs typeface="Cambria" pitchFamily="34" charset="-120"/>
              </a:rPr>
              <a:t>60</a:t>
            </a:r>
            <a:endParaRPr lang="en-US" sz="3600" dirty="0"/>
          </a:p>
        </p:txBody>
      </p:sp>
      <p:sp>
        <p:nvSpPr>
          <p:cNvPr id="38" name="Text 35"/>
          <p:cNvSpPr txBox="1"/>
          <p:nvPr/>
        </p:nvSpPr>
        <p:spPr>
          <a:xfrm>
            <a:off x="10241280" y="2926080"/>
            <a:ext cx="1463040" cy="365760"/>
          </a:xfrm>
          <a:prstGeom prst="rect">
            <a:avLst/>
          </a:prstGeom>
          <a:noFill/>
          <a:ln/>
        </p:spPr>
        <p:txBody>
          <a:bodyPr wrap="square" lIns="0" tIns="0" rIns="0" bIns="0" rtlCol="0" anchor="ctr"/>
          <a:lstStyle/>
          <a:p>
            <a:pPr algn="ctr" indent="0" marL="0">
              <a:buNone/>
            </a:pPr>
            <a:r>
              <a:rPr lang="en-US" sz="1200" dirty="0">
                <a:solidFill>
                  <a:srgbClr val="586C47"/>
                </a:solidFill>
                <a:latin typeface="Calibri" pitchFamily="34" charset="0"/>
                <a:ea typeface="Calibri" pitchFamily="34" charset="-122"/>
                <a:cs typeface="Calibri" pitchFamily="34" charset="-120"/>
              </a:rPr>
              <a:t>minutes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LEARNING OBJECTIVES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By the end of this module, you will be able to…</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548640" y="1691640"/>
            <a:ext cx="5349240" cy="1051560"/>
          </a:xfrm>
          <a:prstGeom prst="roundRect">
            <a:avLst>
              <a:gd name="adj" fmla="val 8696"/>
            </a:avLst>
          </a:prstGeom>
          <a:solidFill>
            <a:srgbClr val="EAF1FA"/>
          </a:solidFill>
          <a:ln w="12700">
            <a:solidFill>
              <a:srgbClr val="EAF1FA"/>
            </a:solidFill>
            <a:prstDash val="solid"/>
          </a:ln>
        </p:spPr>
      </p:sp>
      <p:sp>
        <p:nvSpPr>
          <p:cNvPr id="8" name="Shape 5"/>
          <p:cNvSpPr/>
          <p:nvPr/>
        </p:nvSpPr>
        <p:spPr>
          <a:xfrm>
            <a:off x="731520" y="1920240"/>
            <a:ext cx="594360" cy="59436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59536" y="2048256"/>
            <a:ext cx="338328" cy="338328"/>
          </a:xfrm>
          <a:prstGeom prst="rect">
            <a:avLst/>
          </a:prstGeom>
        </p:spPr>
      </p:pic>
      <p:sp>
        <p:nvSpPr>
          <p:cNvPr id="10" name="Text 6"/>
          <p:cNvSpPr txBox="1"/>
          <p:nvPr/>
        </p:nvSpPr>
        <p:spPr>
          <a:xfrm>
            <a:off x="1508760" y="178308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Apply HIPAA's minimum-necessary and authorized-disclosure rules to everyday navigator tasks in athenaOne.</a:t>
            </a:r>
            <a:endParaRPr lang="en-US" sz="1400" dirty="0"/>
          </a:p>
        </p:txBody>
      </p:sp>
      <p:sp>
        <p:nvSpPr>
          <p:cNvPr id="11" name="Shape 7"/>
          <p:cNvSpPr/>
          <p:nvPr/>
        </p:nvSpPr>
        <p:spPr>
          <a:xfrm>
            <a:off x="6263640" y="1691640"/>
            <a:ext cx="5349240" cy="1051560"/>
          </a:xfrm>
          <a:prstGeom prst="roundRect">
            <a:avLst>
              <a:gd name="adj" fmla="val 8696"/>
            </a:avLst>
          </a:prstGeom>
          <a:solidFill>
            <a:srgbClr val="EAF1FA"/>
          </a:solidFill>
          <a:ln w="12700">
            <a:solidFill>
              <a:srgbClr val="EAF1FA"/>
            </a:solidFill>
            <a:prstDash val="solid"/>
          </a:ln>
        </p:spPr>
      </p:sp>
      <p:sp>
        <p:nvSpPr>
          <p:cNvPr id="12" name="Shape 8"/>
          <p:cNvSpPr/>
          <p:nvPr/>
        </p:nvSpPr>
        <p:spPr>
          <a:xfrm>
            <a:off x="6446520" y="1920240"/>
            <a:ext cx="594360" cy="594360"/>
          </a:xfrm>
          <a:prstGeom prst="ellipse">
            <a:avLst/>
          </a:prstGeom>
          <a:solidFill>
            <a:srgbClr val="FFFFFF"/>
          </a:solidFill>
          <a:ln w="12700">
            <a:solidFill>
              <a:srgbClr val="FFFFFF"/>
            </a:solidFill>
            <a:prstDash val="solid"/>
          </a:ln>
        </p:spPr>
      </p:sp>
      <p:pic>
        <p:nvPicPr>
          <p:cNvPr id="13" name="Image 2" descr="preencoded.png">    </p:cNvPr>
          <p:cNvPicPr>
            <a:picLocks noChangeAspect="1"/>
          </p:cNvPicPr>
          <p:nvPr/>
        </p:nvPicPr>
        <p:blipFill>
          <a:blip r:embed="rId3"/>
          <a:stretch>
            <a:fillRect/>
          </a:stretch>
        </p:blipFill>
        <p:spPr>
          <a:xfrm>
            <a:off x="6574536" y="2048256"/>
            <a:ext cx="338328" cy="338328"/>
          </a:xfrm>
          <a:prstGeom prst="rect">
            <a:avLst/>
          </a:prstGeom>
        </p:spPr>
      </p:pic>
      <p:sp>
        <p:nvSpPr>
          <p:cNvPr id="14" name="Text 9"/>
          <p:cNvSpPr txBox="1"/>
          <p:nvPr/>
        </p:nvSpPr>
        <p:spPr>
          <a:xfrm>
            <a:off x="7223760" y="178308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Explain what the audit trail records and how it is used in investigations and program audits.</a:t>
            </a:r>
            <a:endParaRPr lang="en-US" sz="1400" dirty="0"/>
          </a:p>
        </p:txBody>
      </p:sp>
      <p:sp>
        <p:nvSpPr>
          <p:cNvPr id="15" name="Shape 10"/>
          <p:cNvSpPr/>
          <p:nvPr/>
        </p:nvSpPr>
        <p:spPr>
          <a:xfrm>
            <a:off x="548640" y="3017520"/>
            <a:ext cx="5349240" cy="1051560"/>
          </a:xfrm>
          <a:prstGeom prst="roundRect">
            <a:avLst>
              <a:gd name="adj" fmla="val 8696"/>
            </a:avLst>
          </a:prstGeom>
          <a:solidFill>
            <a:srgbClr val="EAF1FA"/>
          </a:solidFill>
          <a:ln w="12700">
            <a:solidFill>
              <a:srgbClr val="EAF1FA"/>
            </a:solidFill>
            <a:prstDash val="solid"/>
          </a:ln>
        </p:spPr>
      </p:sp>
      <p:sp>
        <p:nvSpPr>
          <p:cNvPr id="16" name="Shape 11"/>
          <p:cNvSpPr/>
          <p:nvPr/>
        </p:nvSpPr>
        <p:spPr>
          <a:xfrm>
            <a:off x="731520" y="3246120"/>
            <a:ext cx="594360" cy="594360"/>
          </a:xfrm>
          <a:prstGeom prst="ellipse">
            <a:avLst/>
          </a:prstGeom>
          <a:solidFill>
            <a:srgbClr val="FFFFFF"/>
          </a:solidFill>
          <a:ln w="12700">
            <a:solidFill>
              <a:srgbClr val="FFFFFF"/>
            </a:solidFill>
            <a:prstDash val="solid"/>
          </a:ln>
        </p:spPr>
      </p:sp>
      <p:pic>
        <p:nvPicPr>
          <p:cNvPr id="17" name="Image 3" descr="preencoded.png">    </p:cNvPr>
          <p:cNvPicPr>
            <a:picLocks noChangeAspect="1"/>
          </p:cNvPicPr>
          <p:nvPr/>
        </p:nvPicPr>
        <p:blipFill>
          <a:blip r:embed="rId4"/>
          <a:stretch>
            <a:fillRect/>
          </a:stretch>
        </p:blipFill>
        <p:spPr>
          <a:xfrm>
            <a:off x="859536" y="3374136"/>
            <a:ext cx="338328" cy="338328"/>
          </a:xfrm>
          <a:prstGeom prst="rect">
            <a:avLst/>
          </a:prstGeom>
        </p:spPr>
      </p:pic>
      <p:sp>
        <p:nvSpPr>
          <p:cNvPr id="18" name="Text 12"/>
          <p:cNvSpPr txBox="1"/>
          <p:nvPr/>
        </p:nvSpPr>
        <p:spPr>
          <a:xfrm>
            <a:off x="1508760" y="310896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Correct documentation errors properly — addenda, moves, and late entries — without altering history.</a:t>
            </a:r>
            <a:endParaRPr lang="en-US" sz="1400" dirty="0"/>
          </a:p>
        </p:txBody>
      </p:sp>
      <p:sp>
        <p:nvSpPr>
          <p:cNvPr id="19" name="Shape 13"/>
          <p:cNvSpPr/>
          <p:nvPr/>
        </p:nvSpPr>
        <p:spPr>
          <a:xfrm>
            <a:off x="6263640" y="3017520"/>
            <a:ext cx="5349240" cy="1051560"/>
          </a:xfrm>
          <a:prstGeom prst="roundRect">
            <a:avLst>
              <a:gd name="adj" fmla="val 8696"/>
            </a:avLst>
          </a:prstGeom>
          <a:solidFill>
            <a:srgbClr val="EAF1FA"/>
          </a:solidFill>
          <a:ln w="12700">
            <a:solidFill>
              <a:srgbClr val="EAF1FA"/>
            </a:solidFill>
            <a:prstDash val="solid"/>
          </a:ln>
        </p:spPr>
      </p:sp>
      <p:sp>
        <p:nvSpPr>
          <p:cNvPr id="20" name="Shape 14"/>
          <p:cNvSpPr/>
          <p:nvPr/>
        </p:nvSpPr>
        <p:spPr>
          <a:xfrm>
            <a:off x="6446520" y="3246120"/>
            <a:ext cx="594360" cy="594360"/>
          </a:xfrm>
          <a:prstGeom prst="ellipse">
            <a:avLst/>
          </a:prstGeom>
          <a:solidFill>
            <a:srgbClr val="FFFFFF"/>
          </a:solidFill>
          <a:ln w="12700">
            <a:solidFill>
              <a:srgbClr val="FFFFFF"/>
            </a:solidFill>
            <a:prstDash val="solid"/>
          </a:ln>
        </p:spPr>
      </p:sp>
      <p:pic>
        <p:nvPicPr>
          <p:cNvPr id="21" name="Image 4" descr="preencoded.png">    </p:cNvPr>
          <p:cNvPicPr>
            <a:picLocks noChangeAspect="1"/>
          </p:cNvPicPr>
          <p:nvPr/>
        </p:nvPicPr>
        <p:blipFill>
          <a:blip r:embed="rId5"/>
          <a:stretch>
            <a:fillRect/>
          </a:stretch>
        </p:blipFill>
        <p:spPr>
          <a:xfrm>
            <a:off x="6574536" y="3374136"/>
            <a:ext cx="338328" cy="338328"/>
          </a:xfrm>
          <a:prstGeom prst="rect">
            <a:avLst/>
          </a:prstGeom>
        </p:spPr>
      </p:pic>
      <p:sp>
        <p:nvSpPr>
          <p:cNvPr id="22" name="Text 15"/>
          <p:cNvSpPr txBox="1"/>
          <p:nvPr/>
        </p:nvSpPr>
        <p:spPr>
          <a:xfrm>
            <a:off x="7223760" y="310896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Describe what a care-management program audit checks and how the chart demonstrates compliance.</a:t>
            </a:r>
            <a:endParaRPr lang="en-US" sz="1400" dirty="0"/>
          </a:p>
        </p:txBody>
      </p:sp>
      <p:sp>
        <p:nvSpPr>
          <p:cNvPr id="23" name="Shape 16"/>
          <p:cNvSpPr/>
          <p:nvPr/>
        </p:nvSpPr>
        <p:spPr>
          <a:xfrm>
            <a:off x="548640" y="4343400"/>
            <a:ext cx="5349240" cy="1051560"/>
          </a:xfrm>
          <a:prstGeom prst="roundRect">
            <a:avLst>
              <a:gd name="adj" fmla="val 8696"/>
            </a:avLst>
          </a:prstGeom>
          <a:solidFill>
            <a:srgbClr val="EAF1FA"/>
          </a:solidFill>
          <a:ln w="12700">
            <a:solidFill>
              <a:srgbClr val="EAF1FA"/>
            </a:solidFill>
            <a:prstDash val="solid"/>
          </a:ln>
        </p:spPr>
      </p:sp>
      <p:sp>
        <p:nvSpPr>
          <p:cNvPr id="24" name="Shape 17"/>
          <p:cNvSpPr/>
          <p:nvPr/>
        </p:nvSpPr>
        <p:spPr>
          <a:xfrm>
            <a:off x="731520" y="4572000"/>
            <a:ext cx="594360" cy="594360"/>
          </a:xfrm>
          <a:prstGeom prst="ellipse">
            <a:avLst/>
          </a:prstGeom>
          <a:solidFill>
            <a:srgbClr val="FFFFFF"/>
          </a:solidFill>
          <a:ln w="12700">
            <a:solidFill>
              <a:srgbClr val="FFFFFF"/>
            </a:solidFill>
            <a:prstDash val="solid"/>
          </a:ln>
        </p:spPr>
      </p:sp>
      <p:pic>
        <p:nvPicPr>
          <p:cNvPr id="25" name="Image 5" descr="preencoded.png">    </p:cNvPr>
          <p:cNvPicPr>
            <a:picLocks noChangeAspect="1"/>
          </p:cNvPicPr>
          <p:nvPr/>
        </p:nvPicPr>
        <p:blipFill>
          <a:blip r:embed="rId6"/>
          <a:stretch>
            <a:fillRect/>
          </a:stretch>
        </p:blipFill>
        <p:spPr>
          <a:xfrm>
            <a:off x="859536" y="4700016"/>
            <a:ext cx="338328" cy="338328"/>
          </a:xfrm>
          <a:prstGeom prst="rect">
            <a:avLst/>
          </a:prstGeom>
        </p:spPr>
      </p:pic>
      <p:sp>
        <p:nvSpPr>
          <p:cNvPr id="26" name="Text 18"/>
          <p:cNvSpPr txBox="1"/>
          <p:nvPr/>
        </p:nvSpPr>
        <p:spPr>
          <a:xfrm>
            <a:off x="1508760" y="443484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Perform a monthly self-audit of a sample of your own charts using a checklist.</a:t>
            </a:r>
            <a:endParaRPr lang="en-US" sz="1400" dirty="0"/>
          </a:p>
        </p:txBody>
      </p:sp>
      <p:sp>
        <p:nvSpPr>
          <p:cNvPr id="27" name="Shape 19"/>
          <p:cNvSpPr/>
          <p:nvPr/>
        </p:nvSpPr>
        <p:spPr>
          <a:xfrm>
            <a:off x="6263640" y="4343400"/>
            <a:ext cx="5349240" cy="1051560"/>
          </a:xfrm>
          <a:prstGeom prst="roundRect">
            <a:avLst>
              <a:gd name="adj" fmla="val 8696"/>
            </a:avLst>
          </a:prstGeom>
          <a:solidFill>
            <a:srgbClr val="EAF1FA"/>
          </a:solidFill>
          <a:ln w="12700">
            <a:solidFill>
              <a:srgbClr val="EAF1FA"/>
            </a:solidFill>
            <a:prstDash val="solid"/>
          </a:ln>
        </p:spPr>
      </p:sp>
      <p:sp>
        <p:nvSpPr>
          <p:cNvPr id="28" name="Shape 20"/>
          <p:cNvSpPr/>
          <p:nvPr/>
        </p:nvSpPr>
        <p:spPr>
          <a:xfrm>
            <a:off x="6446520" y="4572000"/>
            <a:ext cx="594360" cy="594360"/>
          </a:xfrm>
          <a:prstGeom prst="ellipse">
            <a:avLst/>
          </a:prstGeom>
          <a:solidFill>
            <a:srgbClr val="FFFFFF"/>
          </a:solidFill>
          <a:ln w="12700">
            <a:solidFill>
              <a:srgbClr val="FFFFFF"/>
            </a:solidFill>
            <a:prstDash val="solid"/>
          </a:ln>
        </p:spPr>
      </p:sp>
      <p:pic>
        <p:nvPicPr>
          <p:cNvPr id="29" name="Image 6" descr="preencoded.png">    </p:cNvPr>
          <p:cNvPicPr>
            <a:picLocks noChangeAspect="1"/>
          </p:cNvPicPr>
          <p:nvPr/>
        </p:nvPicPr>
        <p:blipFill>
          <a:blip r:embed="rId7"/>
          <a:stretch>
            <a:fillRect/>
          </a:stretch>
        </p:blipFill>
        <p:spPr>
          <a:xfrm>
            <a:off x="6574536" y="4700016"/>
            <a:ext cx="338328" cy="338328"/>
          </a:xfrm>
          <a:prstGeom prst="rect">
            <a:avLst/>
          </a:prstGeom>
        </p:spPr>
      </p:pic>
      <p:sp>
        <p:nvSpPr>
          <p:cNvPr id="30" name="Text 21"/>
          <p:cNvSpPr txBox="1"/>
          <p:nvPr/>
        </p:nvSpPr>
        <p:spPr>
          <a:xfrm>
            <a:off x="7223760" y="443484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Recognize and report privacy incidents and documentation problems promptly.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1</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Compliance is a daily practice</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Every module so far included compliance. This one names 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RECAP</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The compliance you already practice</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548640" y="1691640"/>
            <a:ext cx="3514344"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Module 1</a:t>
            </a:r>
            <a:endParaRPr lang="en-US" sz="1500" dirty="0"/>
          </a:p>
        </p:txBody>
      </p:sp>
      <p:sp>
        <p:nvSpPr>
          <p:cNvPr id="11" name="Text 7"/>
          <p:cNvSpPr txBox="1"/>
          <p:nvPr/>
        </p:nvSpPr>
        <p:spPr>
          <a:xfrm>
            <a:off x="777240"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Unique credentials, log out, two identifiers, documentation standards.</a:t>
            </a:r>
            <a:endParaRPr lang="en-US" sz="1150" dirty="0"/>
          </a:p>
        </p:txBody>
      </p:sp>
      <p:sp>
        <p:nvSpPr>
          <p:cNvPr id="12" name="Shape 8"/>
          <p:cNvSpPr/>
          <p:nvPr/>
        </p:nvSpPr>
        <p:spPr>
          <a:xfrm>
            <a:off x="4337304" y="1691640"/>
            <a:ext cx="3514344"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4565904"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4684776" y="2039112"/>
            <a:ext cx="310896" cy="310896"/>
          </a:xfrm>
          <a:prstGeom prst="rect">
            <a:avLst/>
          </a:prstGeom>
        </p:spPr>
      </p:pic>
      <p:sp>
        <p:nvSpPr>
          <p:cNvPr id="15" name="Text 10"/>
          <p:cNvSpPr txBox="1"/>
          <p:nvPr/>
        </p:nvSpPr>
        <p:spPr>
          <a:xfrm>
            <a:off x="5251704"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Module 2</a:t>
            </a:r>
            <a:endParaRPr lang="en-US" sz="1500" dirty="0"/>
          </a:p>
        </p:txBody>
      </p:sp>
      <p:sp>
        <p:nvSpPr>
          <p:cNvPr id="16" name="Text 11"/>
          <p:cNvSpPr txBox="1"/>
          <p:nvPr/>
        </p:nvSpPr>
        <p:spPr>
          <a:xfrm>
            <a:off x="4565904"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Authorization backed by documents; consents and ROI classified and current.</a:t>
            </a:r>
            <a:endParaRPr lang="en-US" sz="1150" dirty="0"/>
          </a:p>
        </p:txBody>
      </p:sp>
      <p:sp>
        <p:nvSpPr>
          <p:cNvPr id="17" name="Shape 12"/>
          <p:cNvSpPr/>
          <p:nvPr/>
        </p:nvSpPr>
        <p:spPr>
          <a:xfrm>
            <a:off x="8125968" y="1691640"/>
            <a:ext cx="3514344"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8354568" y="192024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473440" y="2039112"/>
            <a:ext cx="310896" cy="310896"/>
          </a:xfrm>
          <a:prstGeom prst="rect">
            <a:avLst/>
          </a:prstGeom>
        </p:spPr>
      </p:pic>
      <p:sp>
        <p:nvSpPr>
          <p:cNvPr id="20" name="Text 14"/>
          <p:cNvSpPr txBox="1"/>
          <p:nvPr/>
        </p:nvSpPr>
        <p:spPr>
          <a:xfrm>
            <a:off x="9040368"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Module 4</a:t>
            </a:r>
            <a:endParaRPr lang="en-US" sz="1500" dirty="0"/>
          </a:p>
        </p:txBody>
      </p:sp>
      <p:sp>
        <p:nvSpPr>
          <p:cNvPr id="21" name="Text 15"/>
          <p:cNvSpPr txBox="1"/>
          <p:nvPr/>
        </p:nvSpPr>
        <p:spPr>
          <a:xfrm>
            <a:off x="8354568"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No cost quotes, no plan advice; billing owns coverage.</a:t>
            </a:r>
            <a:endParaRPr lang="en-US" sz="1150" dirty="0"/>
          </a:p>
        </p:txBody>
      </p:sp>
      <p:sp>
        <p:nvSpPr>
          <p:cNvPr id="22" name="Shape 16"/>
          <p:cNvSpPr/>
          <p:nvPr/>
        </p:nvSpPr>
        <p:spPr>
          <a:xfrm>
            <a:off x="548640" y="4046220"/>
            <a:ext cx="3514344" cy="2080260"/>
          </a:xfrm>
          <a:prstGeom prst="roundRect">
            <a:avLst>
              <a:gd name="adj" fmla="val 4396"/>
            </a:avLst>
          </a:prstGeom>
          <a:solidFill>
            <a:srgbClr val="EAF1FA"/>
          </a:solidFill>
          <a:ln w="12700">
            <a:solidFill>
              <a:srgbClr val="EAF1FA"/>
            </a:solidFill>
            <a:prstDash val="solid"/>
          </a:ln>
        </p:spPr>
      </p:sp>
      <p:sp>
        <p:nvSpPr>
          <p:cNvPr id="23" name="Shape 17"/>
          <p:cNvSpPr/>
          <p:nvPr/>
        </p:nvSpPr>
        <p:spPr>
          <a:xfrm>
            <a:off x="777240"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896112" y="4393692"/>
            <a:ext cx="310896" cy="310896"/>
          </a:xfrm>
          <a:prstGeom prst="rect">
            <a:avLst/>
          </a:prstGeom>
        </p:spPr>
      </p:pic>
      <p:sp>
        <p:nvSpPr>
          <p:cNvPr id="25" name="Text 18"/>
          <p:cNvSpPr txBox="1"/>
          <p:nvPr/>
        </p:nvSpPr>
        <p:spPr>
          <a:xfrm>
            <a:off x="1463040"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Modules 5 &amp; 9</a:t>
            </a:r>
            <a:endParaRPr lang="en-US" sz="1500" dirty="0"/>
          </a:p>
        </p:txBody>
      </p:sp>
      <p:sp>
        <p:nvSpPr>
          <p:cNvPr id="26" name="Text 19"/>
          <p:cNvSpPr txBox="1"/>
          <p:nvPr/>
        </p:nvSpPr>
        <p:spPr>
          <a:xfrm>
            <a:off x="777240"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PHI only to authorized people; HIPAA-appropriate voicemails; consent per channel.</a:t>
            </a:r>
            <a:endParaRPr lang="en-US" sz="1150" dirty="0"/>
          </a:p>
        </p:txBody>
      </p:sp>
      <p:sp>
        <p:nvSpPr>
          <p:cNvPr id="27" name="Shape 20"/>
          <p:cNvSpPr/>
          <p:nvPr/>
        </p:nvSpPr>
        <p:spPr>
          <a:xfrm>
            <a:off x="4337304" y="4046220"/>
            <a:ext cx="3514344" cy="2080260"/>
          </a:xfrm>
          <a:prstGeom prst="roundRect">
            <a:avLst>
              <a:gd name="adj" fmla="val 4396"/>
            </a:avLst>
          </a:prstGeom>
          <a:solidFill>
            <a:srgbClr val="EAF1FA"/>
          </a:solidFill>
          <a:ln w="12700">
            <a:solidFill>
              <a:srgbClr val="EAF1FA"/>
            </a:solidFill>
            <a:prstDash val="solid"/>
          </a:ln>
        </p:spPr>
      </p:sp>
      <p:sp>
        <p:nvSpPr>
          <p:cNvPr id="28" name="Shape 21"/>
          <p:cNvSpPr/>
          <p:nvPr/>
        </p:nvSpPr>
        <p:spPr>
          <a:xfrm>
            <a:off x="4565904" y="4274820"/>
            <a:ext cx="548640" cy="548640"/>
          </a:xfrm>
          <a:prstGeom prst="ellipse">
            <a:avLst/>
          </a:prstGeom>
          <a:solidFill>
            <a:srgbClr val="FFFFFF"/>
          </a:solidFill>
          <a:ln w="12700">
            <a:solidFill>
              <a:srgbClr val="FFFFFF"/>
            </a:solidFill>
            <a:prstDash val="solid"/>
          </a:ln>
        </p:spPr>
      </p:sp>
      <p:pic>
        <p:nvPicPr>
          <p:cNvPr id="29" name="Image 5" descr="preencoded.png">    </p:cNvPr>
          <p:cNvPicPr>
            <a:picLocks noChangeAspect="1"/>
          </p:cNvPicPr>
          <p:nvPr/>
        </p:nvPicPr>
        <p:blipFill>
          <a:blip r:embed="rId6"/>
          <a:stretch>
            <a:fillRect/>
          </a:stretch>
        </p:blipFill>
        <p:spPr>
          <a:xfrm>
            <a:off x="4684776" y="4393692"/>
            <a:ext cx="310896" cy="310896"/>
          </a:xfrm>
          <a:prstGeom prst="rect">
            <a:avLst/>
          </a:prstGeom>
        </p:spPr>
      </p:pic>
      <p:sp>
        <p:nvSpPr>
          <p:cNvPr id="30" name="Text 22"/>
          <p:cNvSpPr txBox="1"/>
          <p:nvPr/>
        </p:nvSpPr>
        <p:spPr>
          <a:xfrm>
            <a:off x="5251704"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Module 6</a:t>
            </a:r>
            <a:endParaRPr lang="en-US" sz="1500" dirty="0"/>
          </a:p>
        </p:txBody>
      </p:sp>
      <p:sp>
        <p:nvSpPr>
          <p:cNvPr id="31" name="Text 23"/>
          <p:cNvSpPr txBox="1"/>
          <p:nvPr/>
        </p:nvSpPr>
        <p:spPr>
          <a:xfrm>
            <a:off x="4565904"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Accurate time, qualifying activities only, consent and eligibility before billing.</a:t>
            </a:r>
            <a:endParaRPr lang="en-US" sz="1150" dirty="0"/>
          </a:p>
        </p:txBody>
      </p:sp>
      <p:sp>
        <p:nvSpPr>
          <p:cNvPr id="32" name="Shape 24"/>
          <p:cNvSpPr/>
          <p:nvPr/>
        </p:nvSpPr>
        <p:spPr>
          <a:xfrm>
            <a:off x="8125968" y="4046220"/>
            <a:ext cx="3514344" cy="2080260"/>
          </a:xfrm>
          <a:prstGeom prst="roundRect">
            <a:avLst>
              <a:gd name="adj" fmla="val 4396"/>
            </a:avLst>
          </a:prstGeom>
          <a:solidFill>
            <a:srgbClr val="EEF2E8"/>
          </a:solidFill>
          <a:ln w="12700">
            <a:solidFill>
              <a:srgbClr val="EEF2E8"/>
            </a:solidFill>
            <a:prstDash val="solid"/>
          </a:ln>
        </p:spPr>
      </p:sp>
      <p:sp>
        <p:nvSpPr>
          <p:cNvPr id="33" name="Shape 25"/>
          <p:cNvSpPr/>
          <p:nvPr/>
        </p:nvSpPr>
        <p:spPr>
          <a:xfrm>
            <a:off x="8354568" y="4274820"/>
            <a:ext cx="548640" cy="548640"/>
          </a:xfrm>
          <a:prstGeom prst="ellipse">
            <a:avLst/>
          </a:prstGeom>
          <a:solidFill>
            <a:srgbClr val="FFFFFF"/>
          </a:solidFill>
          <a:ln w="12700">
            <a:solidFill>
              <a:srgbClr val="FFFFFF"/>
            </a:solidFill>
            <a:prstDash val="solid"/>
          </a:ln>
        </p:spPr>
      </p:sp>
      <p:pic>
        <p:nvPicPr>
          <p:cNvPr id="34" name="Image 6" descr="preencoded.png">    </p:cNvPr>
          <p:cNvPicPr>
            <a:picLocks noChangeAspect="1"/>
          </p:cNvPicPr>
          <p:nvPr/>
        </p:nvPicPr>
        <p:blipFill>
          <a:blip r:embed="rId7"/>
          <a:stretch>
            <a:fillRect/>
          </a:stretch>
        </p:blipFill>
        <p:spPr>
          <a:xfrm>
            <a:off x="8473440" y="4393692"/>
            <a:ext cx="310896" cy="310896"/>
          </a:xfrm>
          <a:prstGeom prst="rect">
            <a:avLst/>
          </a:prstGeom>
        </p:spPr>
      </p:pic>
      <p:sp>
        <p:nvSpPr>
          <p:cNvPr id="35" name="Text 26"/>
          <p:cNvSpPr txBox="1"/>
          <p:nvPr/>
        </p:nvSpPr>
        <p:spPr>
          <a:xfrm>
            <a:off x="9040368"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Module 8</a:t>
            </a:r>
            <a:endParaRPr lang="en-US" sz="1500" dirty="0"/>
          </a:p>
        </p:txBody>
      </p:sp>
      <p:sp>
        <p:nvSpPr>
          <p:cNvPr id="36" name="Text 27"/>
          <p:cNvSpPr txBox="1"/>
          <p:nvPr/>
        </p:nvSpPr>
        <p:spPr>
          <a:xfrm>
            <a:off x="8354568"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Gaps close with real documentation; exclusions need evidence; no pressure on families.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CONTEXT</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Why it matters at AbleLiving specifically</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6</a:t>
            </a:r>
            <a:endParaRPr lang="en-US" sz="900" dirty="0"/>
          </a:p>
        </p:txBody>
      </p:sp>
      <p:sp>
        <p:nvSpPr>
          <p:cNvPr id="7" name="Text 4"/>
          <p:cNvSpPr txBox="1"/>
          <p:nvPr/>
        </p:nvSpPr>
        <p:spPr>
          <a:xfrm>
            <a:off x="548640" y="1691640"/>
            <a:ext cx="6217920" cy="438912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Our patients often cannot advocate for their own privacy — we hold that trust for them</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Caregivers, relatives, aides, and neighbors are all around the patient; the line between helpful and unauthorized is easy to cross</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Program participation (care management, value-based contracts) is audited against the chart</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Improper billing based on incomplete documentation can trigger repayment and penalties</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Mandated reporting for elder abuse and neglect applies in both Florida and Ohio</a:t>
            </a:r>
            <a:endParaRPr lang="en-US" sz="1400" dirty="0"/>
          </a:p>
        </p:txBody>
      </p:sp>
      <p:sp>
        <p:nvSpPr>
          <p:cNvPr id="8" name="Shape 5"/>
          <p:cNvSpPr/>
          <p:nvPr/>
        </p:nvSpPr>
        <p:spPr>
          <a:xfrm>
            <a:off x="7223760" y="1691640"/>
            <a:ext cx="4434840" cy="4389120"/>
          </a:xfrm>
          <a:prstGeom prst="roundRect">
            <a:avLst>
              <a:gd name="adj" fmla="val 2500"/>
            </a:avLst>
          </a:prstGeom>
          <a:solidFill>
            <a:srgbClr val="1E4A87"/>
          </a:solidFill>
          <a:ln w="12700">
            <a:solidFill>
              <a:srgbClr val="1E4A87"/>
            </a:solidFill>
            <a:prstDash val="solid"/>
          </a:ln>
        </p:spPr>
      </p:sp>
      <p:pic>
        <p:nvPicPr>
          <p:cNvPr id="9" name="Image 1" descr="preencoded.png">    </p:cNvPr>
          <p:cNvPicPr>
            <a:picLocks noChangeAspect="1"/>
          </p:cNvPicPr>
          <p:nvPr/>
        </p:nvPicPr>
        <p:blipFill>
          <a:blip r:embed="rId2"/>
          <a:stretch>
            <a:fillRect/>
          </a:stretch>
        </p:blipFill>
        <p:spPr>
          <a:xfrm>
            <a:off x="7543800" y="2011680"/>
            <a:ext cx="548640" cy="548640"/>
          </a:xfrm>
          <a:prstGeom prst="rect">
            <a:avLst/>
          </a:prstGeom>
        </p:spPr>
      </p:pic>
      <p:sp>
        <p:nvSpPr>
          <p:cNvPr id="10" name="Text 6"/>
          <p:cNvSpPr txBox="1"/>
          <p:nvPr/>
        </p:nvSpPr>
        <p:spPr>
          <a:xfrm>
            <a:off x="7543800" y="2697480"/>
            <a:ext cx="3794760" cy="73152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The standard</a:t>
            </a:r>
            <a:endParaRPr lang="en-US" sz="2000" dirty="0"/>
          </a:p>
        </p:txBody>
      </p:sp>
      <p:sp>
        <p:nvSpPr>
          <p:cNvPr id="11" name="Text 7"/>
          <p:cNvSpPr txBox="1"/>
          <p:nvPr/>
        </p:nvSpPr>
        <p:spPr>
          <a:xfrm>
            <a:off x="7543800" y="3474720"/>
            <a:ext cx="3794760" cy="2286000"/>
          </a:xfrm>
          <a:prstGeom prst="rect">
            <a:avLst/>
          </a:prstGeom>
          <a:noFill/>
          <a:ln/>
        </p:spPr>
        <p:txBody>
          <a:bodyPr wrap="square" lIns="0" tIns="0" rIns="0" bIns="0" rtlCol="0" anchor="t"/>
          <a:lstStyle/>
          <a:p>
            <a:pPr indent="0" marL="0">
              <a:buNone/>
            </a:pPr>
            <a:r>
              <a:rPr lang="en-US" sz="1250" dirty="0">
                <a:solidFill>
                  <a:srgbClr val="EAF1FA"/>
                </a:solidFill>
                <a:latin typeface="Calibri" pitchFamily="34" charset="0"/>
                <a:ea typeface="Calibri" pitchFamily="34" charset="-122"/>
                <a:cs typeface="Calibri" pitchFamily="34" charset="-120"/>
              </a:rPr>
              <a:t>Treat the chart as if the patient could read every line, and the auditor will.</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2</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HIPAA in athenaOne: access, disclosure, and minimum necessary</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Three questions before any access or disclosure: Do I need this? Is this person authorized? Is this the least I can share?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ACCESS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Access rules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548640" y="1691640"/>
            <a:ext cx="5408676"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Access only for a work reason</a:t>
            </a:r>
            <a:endParaRPr lang="en-US" sz="1500" dirty="0"/>
          </a:p>
        </p:txBody>
      </p:sp>
      <p:sp>
        <p:nvSpPr>
          <p:cNvPr id="11" name="Text 7"/>
          <p:cNvSpPr txBox="1"/>
          <p:nvPr/>
        </p:nvSpPr>
        <p:spPr>
          <a:xfrm>
            <a:off x="777240"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Your caseload, an item routed to you, or a request from a team member. Curiosity, a neighbor's relative, or a former patient is not a work reason — even to 'check they're OK.'</a:t>
            </a:r>
            <a:endParaRPr lang="en-US" sz="1150" dirty="0"/>
          </a:p>
        </p:txBody>
      </p:sp>
      <p:sp>
        <p:nvSpPr>
          <p:cNvPr id="12" name="Shape 8"/>
          <p:cNvSpPr/>
          <p:nvPr/>
        </p:nvSpPr>
        <p:spPr>
          <a:xfrm>
            <a:off x="6231636" y="1691640"/>
            <a:ext cx="5408676"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6460236"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6579108" y="2039112"/>
            <a:ext cx="310896" cy="310896"/>
          </a:xfrm>
          <a:prstGeom prst="rect">
            <a:avLst/>
          </a:prstGeom>
        </p:spPr>
      </p:pic>
      <p:sp>
        <p:nvSpPr>
          <p:cNvPr id="15" name="Text 10"/>
          <p:cNvSpPr txBox="1"/>
          <p:nvPr/>
        </p:nvSpPr>
        <p:spPr>
          <a:xfrm>
            <a:off x="7146036"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Every access is logged</a:t>
            </a:r>
            <a:endParaRPr lang="en-US" sz="1500" dirty="0"/>
          </a:p>
        </p:txBody>
      </p:sp>
      <p:sp>
        <p:nvSpPr>
          <p:cNvPr id="16" name="Text 11"/>
          <p:cNvSpPr txBox="1"/>
          <p:nvPr/>
        </p:nvSpPr>
        <p:spPr>
          <a:xfrm>
            <a:off x="6460236"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audit trail records views, not just edits. Random and targeted audits compare access to work assignments.</a:t>
            </a:r>
            <a:endParaRPr lang="en-US" sz="1150" dirty="0"/>
          </a:p>
        </p:txBody>
      </p:sp>
      <p:sp>
        <p:nvSpPr>
          <p:cNvPr id="17" name="Shape 12"/>
          <p:cNvSpPr/>
          <p:nvPr/>
        </p:nvSpPr>
        <p:spPr>
          <a:xfrm>
            <a:off x="548640" y="4046220"/>
            <a:ext cx="5408676"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777240" y="427482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96112" y="4393692"/>
            <a:ext cx="310896" cy="310896"/>
          </a:xfrm>
          <a:prstGeom prst="rect">
            <a:avLst/>
          </a:prstGeom>
        </p:spPr>
      </p:pic>
      <p:sp>
        <p:nvSpPr>
          <p:cNvPr id="20" name="Text 14"/>
          <p:cNvSpPr txBox="1"/>
          <p:nvPr/>
        </p:nvSpPr>
        <p:spPr>
          <a:xfrm>
            <a:off x="1463040"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Screens and devices</a:t>
            </a:r>
            <a:endParaRPr lang="en-US" sz="1500" dirty="0"/>
          </a:p>
        </p:txBody>
      </p:sp>
      <p:sp>
        <p:nvSpPr>
          <p:cNvPr id="21" name="Text 15"/>
          <p:cNvSpPr txBox="1"/>
          <p:nvPr/>
        </p:nvSpPr>
        <p:spPr>
          <a:xfrm>
            <a:off x="777240"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Lock when you step away; angle screens away from visitors; no charts open on shared displays; no PHI on personal devices or personal messaging apps.</a:t>
            </a:r>
            <a:endParaRPr lang="en-US" sz="1150" dirty="0"/>
          </a:p>
        </p:txBody>
      </p:sp>
      <p:sp>
        <p:nvSpPr>
          <p:cNvPr id="22" name="Shape 16"/>
          <p:cNvSpPr/>
          <p:nvPr/>
        </p:nvSpPr>
        <p:spPr>
          <a:xfrm>
            <a:off x="6231636" y="4046220"/>
            <a:ext cx="5408676" cy="2080260"/>
          </a:xfrm>
          <a:prstGeom prst="roundRect">
            <a:avLst>
              <a:gd name="adj" fmla="val 4396"/>
            </a:avLst>
          </a:prstGeom>
          <a:solidFill>
            <a:srgbClr val="EEF2E8"/>
          </a:solidFill>
          <a:ln w="12700">
            <a:solidFill>
              <a:srgbClr val="EEF2E8"/>
            </a:solidFill>
            <a:prstDash val="solid"/>
          </a:ln>
        </p:spPr>
      </p:sp>
      <p:sp>
        <p:nvSpPr>
          <p:cNvPr id="23" name="Shape 17"/>
          <p:cNvSpPr/>
          <p:nvPr/>
        </p:nvSpPr>
        <p:spPr>
          <a:xfrm>
            <a:off x="6460236"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6579108" y="4393692"/>
            <a:ext cx="310896" cy="310896"/>
          </a:xfrm>
          <a:prstGeom prst="rect">
            <a:avLst/>
          </a:prstGeom>
        </p:spPr>
      </p:pic>
      <p:sp>
        <p:nvSpPr>
          <p:cNvPr id="25" name="Text 18"/>
          <p:cNvSpPr txBox="1"/>
          <p:nvPr/>
        </p:nvSpPr>
        <p:spPr>
          <a:xfrm>
            <a:off x="7146036"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Photos and screenshots</a:t>
            </a:r>
            <a:endParaRPr lang="en-US" sz="1500" dirty="0"/>
          </a:p>
        </p:txBody>
      </p:sp>
      <p:sp>
        <p:nvSpPr>
          <p:cNvPr id="26" name="Text 19"/>
          <p:cNvSpPr txBox="1"/>
          <p:nvPr/>
        </p:nvSpPr>
        <p:spPr>
          <a:xfrm>
            <a:off x="6460236"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Never photograph a screen or a document with a personal phone. Card images go to Documents via approved workflows only.</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DISCLOSURE</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Disclosure rules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548640" y="1691640"/>
            <a:ext cx="5408676"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Authorized recipients</a:t>
            </a:r>
            <a:endParaRPr lang="en-US" sz="1500" dirty="0"/>
          </a:p>
        </p:txBody>
      </p:sp>
      <p:sp>
        <p:nvSpPr>
          <p:cNvPr id="11" name="Text 7"/>
          <p:cNvSpPr txBox="1"/>
          <p:nvPr/>
        </p:nvSpPr>
        <p:spPr>
          <a:xfrm>
            <a:off x="777240"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patient; a legal representative (proxy, POA with medical scope, guardian); anyone named on a current ROI within its scope; treating providers for care coordination.</a:t>
            </a:r>
            <a:endParaRPr lang="en-US" sz="1150" dirty="0"/>
          </a:p>
        </p:txBody>
      </p:sp>
      <p:sp>
        <p:nvSpPr>
          <p:cNvPr id="12" name="Shape 8"/>
          <p:cNvSpPr/>
          <p:nvPr/>
        </p:nvSpPr>
        <p:spPr>
          <a:xfrm>
            <a:off x="6231636" y="1691640"/>
            <a:ext cx="5408676"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6460236"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6579108" y="2039112"/>
            <a:ext cx="310896" cy="310896"/>
          </a:xfrm>
          <a:prstGeom prst="rect">
            <a:avLst/>
          </a:prstGeom>
        </p:spPr>
      </p:pic>
      <p:sp>
        <p:nvSpPr>
          <p:cNvPr id="15" name="Text 10"/>
          <p:cNvSpPr txBox="1"/>
          <p:nvPr/>
        </p:nvSpPr>
        <p:spPr>
          <a:xfrm>
            <a:off x="7146036"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Minimum necessary</a:t>
            </a:r>
            <a:endParaRPr lang="en-US" sz="1500" dirty="0"/>
          </a:p>
        </p:txBody>
      </p:sp>
      <p:sp>
        <p:nvSpPr>
          <p:cNvPr id="16" name="Text 11"/>
          <p:cNvSpPr txBox="1"/>
          <p:nvPr/>
        </p:nvSpPr>
        <p:spPr>
          <a:xfrm>
            <a:off x="6460236"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Share only what the recipient needs for their purpose. A transportation service needs the address and time, not the diagnosis.</a:t>
            </a:r>
            <a:endParaRPr lang="en-US" sz="1150" dirty="0"/>
          </a:p>
        </p:txBody>
      </p:sp>
      <p:sp>
        <p:nvSpPr>
          <p:cNvPr id="17" name="Shape 12"/>
          <p:cNvSpPr/>
          <p:nvPr/>
        </p:nvSpPr>
        <p:spPr>
          <a:xfrm>
            <a:off x="548640" y="4046220"/>
            <a:ext cx="5408676"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777240" y="427482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96112" y="4393692"/>
            <a:ext cx="310896" cy="310896"/>
          </a:xfrm>
          <a:prstGeom prst="rect">
            <a:avLst/>
          </a:prstGeom>
        </p:spPr>
      </p:pic>
      <p:sp>
        <p:nvSpPr>
          <p:cNvPr id="20" name="Text 14"/>
          <p:cNvSpPr txBox="1"/>
          <p:nvPr/>
        </p:nvSpPr>
        <p:spPr>
          <a:xfrm>
            <a:off x="1463040"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Approved channels</a:t>
            </a:r>
            <a:endParaRPr lang="en-US" sz="1500" dirty="0"/>
          </a:p>
        </p:txBody>
      </p:sp>
      <p:sp>
        <p:nvSpPr>
          <p:cNvPr id="21" name="Text 15"/>
          <p:cNvSpPr txBox="1"/>
          <p:nvPr/>
        </p:nvSpPr>
        <p:spPr>
          <a:xfrm>
            <a:off x="777240"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athenaOne portal messages, encrypted email per policy, fax to verified numbers, phone to verified contacts. Never personal email, SMS without consent, or social media.</a:t>
            </a:r>
            <a:endParaRPr lang="en-US" sz="1150" dirty="0"/>
          </a:p>
        </p:txBody>
      </p:sp>
      <p:sp>
        <p:nvSpPr>
          <p:cNvPr id="22" name="Shape 16"/>
          <p:cNvSpPr/>
          <p:nvPr/>
        </p:nvSpPr>
        <p:spPr>
          <a:xfrm>
            <a:off x="6231636" y="4046220"/>
            <a:ext cx="5408676" cy="2080260"/>
          </a:xfrm>
          <a:prstGeom prst="roundRect">
            <a:avLst>
              <a:gd name="adj" fmla="val 4396"/>
            </a:avLst>
          </a:prstGeom>
          <a:solidFill>
            <a:srgbClr val="EEF2E8"/>
          </a:solidFill>
          <a:ln w="12700">
            <a:solidFill>
              <a:srgbClr val="EEF2E8"/>
            </a:solidFill>
            <a:prstDash val="solid"/>
          </a:ln>
        </p:spPr>
      </p:sp>
      <p:sp>
        <p:nvSpPr>
          <p:cNvPr id="23" name="Shape 17"/>
          <p:cNvSpPr/>
          <p:nvPr/>
        </p:nvSpPr>
        <p:spPr>
          <a:xfrm>
            <a:off x="6460236"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6579108" y="4393692"/>
            <a:ext cx="310896" cy="310896"/>
          </a:xfrm>
          <a:prstGeom prst="rect">
            <a:avLst/>
          </a:prstGeom>
        </p:spPr>
      </p:pic>
      <p:sp>
        <p:nvSpPr>
          <p:cNvPr id="25" name="Text 18"/>
          <p:cNvSpPr txBox="1"/>
          <p:nvPr/>
        </p:nvSpPr>
        <p:spPr>
          <a:xfrm>
            <a:off x="7146036"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Verification before disclosure</a:t>
            </a:r>
            <a:endParaRPr lang="en-US" sz="1500" dirty="0"/>
          </a:p>
        </p:txBody>
      </p:sp>
      <p:sp>
        <p:nvSpPr>
          <p:cNvPr id="26" name="Text 19"/>
          <p:cNvSpPr txBox="1"/>
          <p:nvPr/>
        </p:nvSpPr>
        <p:spPr>
          <a:xfrm>
            <a:off x="6460236"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Confirm identity (two identifiers for the patient; name and relationship for the contact, matched to the chart) every call, even with a familiar voice.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INCIDENT RESPONSE</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When you think a privacy incident occurred</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548640"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777240" y="1965960"/>
            <a:ext cx="548640" cy="548640"/>
          </a:xfrm>
          <a:prstGeom prst="ellipse">
            <a:avLst/>
          </a:prstGeom>
          <a:solidFill>
            <a:srgbClr val="1E4A87"/>
          </a:solidFill>
          <a:ln w="12700">
            <a:solidFill>
              <a:srgbClr val="1E4A87"/>
            </a:solidFill>
            <a:prstDash val="solid"/>
          </a:ln>
        </p:spPr>
      </p:sp>
      <p:sp>
        <p:nvSpPr>
          <p:cNvPr id="9" name="Text 6"/>
          <p:cNvSpPr txBox="1"/>
          <p:nvPr/>
        </p:nvSpPr>
        <p:spPr>
          <a:xfrm>
            <a:off x="777240"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777240"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Stop the exposure</a:t>
            </a:r>
            <a:endParaRPr lang="en-US" sz="1400" dirty="0"/>
          </a:p>
        </p:txBody>
      </p:sp>
      <p:sp>
        <p:nvSpPr>
          <p:cNvPr id="11" name="Text 8"/>
          <p:cNvSpPr txBox="1"/>
          <p:nvPr/>
        </p:nvSpPr>
        <p:spPr>
          <a:xfrm>
            <a:off x="777240"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Retrieve the misdirected fax, correct the misfiled document, end the conversation with the unauthorized caller.</a:t>
            </a:r>
            <a:endParaRPr lang="en-US" sz="1150" dirty="0"/>
          </a:p>
        </p:txBody>
      </p:sp>
      <p:sp>
        <p:nvSpPr>
          <p:cNvPr id="12" name="Shape 9"/>
          <p:cNvSpPr/>
          <p:nvPr/>
        </p:nvSpPr>
        <p:spPr>
          <a:xfrm>
            <a:off x="2812694"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3041294" y="1965960"/>
            <a:ext cx="548640" cy="548640"/>
          </a:xfrm>
          <a:prstGeom prst="ellipse">
            <a:avLst/>
          </a:prstGeom>
          <a:solidFill>
            <a:srgbClr val="1E4A87"/>
          </a:solidFill>
          <a:ln w="12700">
            <a:solidFill>
              <a:srgbClr val="1E4A87"/>
            </a:solidFill>
            <a:prstDash val="solid"/>
          </a:ln>
        </p:spPr>
      </p:sp>
      <p:sp>
        <p:nvSpPr>
          <p:cNvPr id="14" name="Text 11"/>
          <p:cNvSpPr txBox="1"/>
          <p:nvPr/>
        </p:nvSpPr>
        <p:spPr>
          <a:xfrm>
            <a:off x="3041294"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3041294"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Report immediately</a:t>
            </a:r>
            <a:endParaRPr lang="en-US" sz="1400" dirty="0"/>
          </a:p>
        </p:txBody>
      </p:sp>
      <p:sp>
        <p:nvSpPr>
          <p:cNvPr id="16" name="Text 13"/>
          <p:cNvSpPr txBox="1"/>
          <p:nvPr/>
        </p:nvSpPr>
        <p:spPr>
          <a:xfrm>
            <a:off x="3041294"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Tell your supervisor and the privacy officer the same day, even if you think it's minor or it was you. Timely reporting is protective.</a:t>
            </a:r>
            <a:endParaRPr lang="en-US" sz="1150" dirty="0"/>
          </a:p>
        </p:txBody>
      </p:sp>
      <p:sp>
        <p:nvSpPr>
          <p:cNvPr id="17" name="Shape 14"/>
          <p:cNvSpPr/>
          <p:nvPr/>
        </p:nvSpPr>
        <p:spPr>
          <a:xfrm>
            <a:off x="5076749"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5305349" y="1965960"/>
            <a:ext cx="548640" cy="548640"/>
          </a:xfrm>
          <a:prstGeom prst="ellipse">
            <a:avLst/>
          </a:prstGeom>
          <a:solidFill>
            <a:srgbClr val="1E4A87"/>
          </a:solidFill>
          <a:ln w="12700">
            <a:solidFill>
              <a:srgbClr val="1E4A87"/>
            </a:solidFill>
            <a:prstDash val="solid"/>
          </a:ln>
        </p:spPr>
      </p:sp>
      <p:sp>
        <p:nvSpPr>
          <p:cNvPr id="19" name="Text 16"/>
          <p:cNvSpPr txBox="1"/>
          <p:nvPr/>
        </p:nvSpPr>
        <p:spPr>
          <a:xfrm>
            <a:off x="5305349"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txBox="1"/>
          <p:nvPr/>
        </p:nvSpPr>
        <p:spPr>
          <a:xfrm>
            <a:off x="5305349"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Document facts</a:t>
            </a:r>
            <a:endParaRPr lang="en-US" sz="1400" dirty="0"/>
          </a:p>
        </p:txBody>
      </p:sp>
      <p:sp>
        <p:nvSpPr>
          <p:cNvPr id="21" name="Text 18"/>
          <p:cNvSpPr txBox="1"/>
          <p:nvPr/>
        </p:nvSpPr>
        <p:spPr>
          <a:xfrm>
            <a:off x="5305349"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What, when, who, and what was disclosed. No speculation, no minimizing.</a:t>
            </a:r>
            <a:endParaRPr lang="en-US" sz="1150" dirty="0"/>
          </a:p>
        </p:txBody>
      </p:sp>
      <p:sp>
        <p:nvSpPr>
          <p:cNvPr id="22" name="Shape 19"/>
          <p:cNvSpPr/>
          <p:nvPr/>
        </p:nvSpPr>
        <p:spPr>
          <a:xfrm>
            <a:off x="7340803"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7569403" y="1965960"/>
            <a:ext cx="548640" cy="548640"/>
          </a:xfrm>
          <a:prstGeom prst="ellipse">
            <a:avLst/>
          </a:prstGeom>
          <a:solidFill>
            <a:srgbClr val="1E4A87"/>
          </a:solidFill>
          <a:ln w="12700">
            <a:solidFill>
              <a:srgbClr val="1E4A87"/>
            </a:solidFill>
            <a:prstDash val="solid"/>
          </a:ln>
        </p:spPr>
      </p:sp>
      <p:sp>
        <p:nvSpPr>
          <p:cNvPr id="24" name="Text 21"/>
          <p:cNvSpPr txBox="1"/>
          <p:nvPr/>
        </p:nvSpPr>
        <p:spPr>
          <a:xfrm>
            <a:off x="7569403"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2"/>
          <p:cNvSpPr txBox="1"/>
          <p:nvPr/>
        </p:nvSpPr>
        <p:spPr>
          <a:xfrm>
            <a:off x="7569403"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Cooperate with review</a:t>
            </a:r>
            <a:endParaRPr lang="en-US" sz="1400" dirty="0"/>
          </a:p>
        </p:txBody>
      </p:sp>
      <p:sp>
        <p:nvSpPr>
          <p:cNvPr id="26" name="Text 23"/>
          <p:cNvSpPr txBox="1"/>
          <p:nvPr/>
        </p:nvSpPr>
        <p:spPr>
          <a:xfrm>
            <a:off x="7569403"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privacy officer determines whether it's a reportable breach and what notification is required.</a:t>
            </a:r>
            <a:endParaRPr lang="en-US" sz="1150" dirty="0"/>
          </a:p>
        </p:txBody>
      </p:sp>
      <p:sp>
        <p:nvSpPr>
          <p:cNvPr id="27" name="Shape 24"/>
          <p:cNvSpPr/>
          <p:nvPr/>
        </p:nvSpPr>
        <p:spPr>
          <a:xfrm>
            <a:off x="9604858"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8" name="Shape 25"/>
          <p:cNvSpPr/>
          <p:nvPr/>
        </p:nvSpPr>
        <p:spPr>
          <a:xfrm>
            <a:off x="9833458" y="1965960"/>
            <a:ext cx="548640" cy="548640"/>
          </a:xfrm>
          <a:prstGeom prst="ellipse">
            <a:avLst/>
          </a:prstGeom>
          <a:solidFill>
            <a:srgbClr val="586C47"/>
          </a:solidFill>
          <a:ln w="12700">
            <a:solidFill>
              <a:srgbClr val="586C47"/>
            </a:solidFill>
            <a:prstDash val="solid"/>
          </a:ln>
        </p:spPr>
      </p:sp>
      <p:sp>
        <p:nvSpPr>
          <p:cNvPr id="29" name="Text 26"/>
          <p:cNvSpPr txBox="1"/>
          <p:nvPr/>
        </p:nvSpPr>
        <p:spPr>
          <a:xfrm>
            <a:off x="9833458"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7"/>
          <p:cNvSpPr txBox="1"/>
          <p:nvPr/>
        </p:nvSpPr>
        <p:spPr>
          <a:xfrm>
            <a:off x="9833458"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Learn</a:t>
            </a:r>
            <a:endParaRPr lang="en-US" sz="1400" dirty="0"/>
          </a:p>
        </p:txBody>
      </p:sp>
      <p:sp>
        <p:nvSpPr>
          <p:cNvPr id="31" name="Text 28"/>
          <p:cNvSpPr txBox="1"/>
          <p:nvPr/>
        </p:nvSpPr>
        <p:spPr>
          <a:xfrm>
            <a:off x="9833458"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Most incidents come from process gaps. Help fix the process.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3</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The audit trail and documentation integrity</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The record is permanent. Corrections add; they never erase.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AUDIT TRAIL</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What the audit trail records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548640" y="1691640"/>
            <a:ext cx="3514344"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Views</a:t>
            </a:r>
            <a:endParaRPr lang="en-US" sz="1500" dirty="0"/>
          </a:p>
        </p:txBody>
      </p:sp>
      <p:sp>
        <p:nvSpPr>
          <p:cNvPr id="11" name="Text 7"/>
          <p:cNvSpPr txBox="1"/>
          <p:nvPr/>
        </p:nvSpPr>
        <p:spPr>
          <a:xfrm>
            <a:off x="777240"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Who opened which chart, section, and document, and when.</a:t>
            </a:r>
            <a:endParaRPr lang="en-US" sz="1150" dirty="0"/>
          </a:p>
        </p:txBody>
      </p:sp>
      <p:sp>
        <p:nvSpPr>
          <p:cNvPr id="12" name="Shape 8"/>
          <p:cNvSpPr/>
          <p:nvPr/>
        </p:nvSpPr>
        <p:spPr>
          <a:xfrm>
            <a:off x="4337304" y="1691640"/>
            <a:ext cx="3514344"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4565904"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4684776" y="2039112"/>
            <a:ext cx="310896" cy="310896"/>
          </a:xfrm>
          <a:prstGeom prst="rect">
            <a:avLst/>
          </a:prstGeom>
        </p:spPr>
      </p:pic>
      <p:sp>
        <p:nvSpPr>
          <p:cNvPr id="15" name="Text 10"/>
          <p:cNvSpPr txBox="1"/>
          <p:nvPr/>
        </p:nvSpPr>
        <p:spPr>
          <a:xfrm>
            <a:off x="5251704"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Edits</a:t>
            </a:r>
            <a:endParaRPr lang="en-US" sz="1500" dirty="0"/>
          </a:p>
        </p:txBody>
      </p:sp>
      <p:sp>
        <p:nvSpPr>
          <p:cNvPr id="16" name="Text 11"/>
          <p:cNvSpPr txBox="1"/>
          <p:nvPr/>
        </p:nvSpPr>
        <p:spPr>
          <a:xfrm>
            <a:off x="4565904"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Every change with the prior value, the new value, the user, and the timestamp.</a:t>
            </a:r>
            <a:endParaRPr lang="en-US" sz="1150" dirty="0"/>
          </a:p>
        </p:txBody>
      </p:sp>
      <p:sp>
        <p:nvSpPr>
          <p:cNvPr id="17" name="Shape 12"/>
          <p:cNvSpPr/>
          <p:nvPr/>
        </p:nvSpPr>
        <p:spPr>
          <a:xfrm>
            <a:off x="8125968" y="1691640"/>
            <a:ext cx="3514344"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8354568" y="192024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473440" y="2039112"/>
            <a:ext cx="310896" cy="310896"/>
          </a:xfrm>
          <a:prstGeom prst="rect">
            <a:avLst/>
          </a:prstGeom>
        </p:spPr>
      </p:pic>
      <p:sp>
        <p:nvSpPr>
          <p:cNvPr id="20" name="Text 14"/>
          <p:cNvSpPr txBox="1"/>
          <p:nvPr/>
        </p:nvSpPr>
        <p:spPr>
          <a:xfrm>
            <a:off x="9040368"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Deletions and moves</a:t>
            </a:r>
            <a:endParaRPr lang="en-US" sz="1500" dirty="0"/>
          </a:p>
        </p:txBody>
      </p:sp>
      <p:sp>
        <p:nvSpPr>
          <p:cNvPr id="21" name="Text 15"/>
          <p:cNvSpPr txBox="1"/>
          <p:nvPr/>
        </p:nvSpPr>
        <p:spPr>
          <a:xfrm>
            <a:off x="8354568"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What was removed or relocated and by whom. Nothing truly disappears.</a:t>
            </a:r>
            <a:endParaRPr lang="en-US" sz="1150" dirty="0"/>
          </a:p>
        </p:txBody>
      </p:sp>
      <p:sp>
        <p:nvSpPr>
          <p:cNvPr id="22" name="Shape 16"/>
          <p:cNvSpPr/>
          <p:nvPr/>
        </p:nvSpPr>
        <p:spPr>
          <a:xfrm>
            <a:off x="548640" y="4046220"/>
            <a:ext cx="3514344" cy="2080260"/>
          </a:xfrm>
          <a:prstGeom prst="roundRect">
            <a:avLst>
              <a:gd name="adj" fmla="val 4396"/>
            </a:avLst>
          </a:prstGeom>
          <a:solidFill>
            <a:srgbClr val="EAF1FA"/>
          </a:solidFill>
          <a:ln w="12700">
            <a:solidFill>
              <a:srgbClr val="EAF1FA"/>
            </a:solidFill>
            <a:prstDash val="solid"/>
          </a:ln>
        </p:spPr>
      </p:sp>
      <p:sp>
        <p:nvSpPr>
          <p:cNvPr id="23" name="Shape 17"/>
          <p:cNvSpPr/>
          <p:nvPr/>
        </p:nvSpPr>
        <p:spPr>
          <a:xfrm>
            <a:off x="777240"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896112" y="4393692"/>
            <a:ext cx="310896" cy="310896"/>
          </a:xfrm>
          <a:prstGeom prst="rect">
            <a:avLst/>
          </a:prstGeom>
        </p:spPr>
      </p:pic>
      <p:sp>
        <p:nvSpPr>
          <p:cNvPr id="25" name="Text 18"/>
          <p:cNvSpPr txBox="1"/>
          <p:nvPr/>
        </p:nvSpPr>
        <p:spPr>
          <a:xfrm>
            <a:off x="1463040"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Disclosures</a:t>
            </a:r>
            <a:endParaRPr lang="en-US" sz="1500" dirty="0"/>
          </a:p>
        </p:txBody>
      </p:sp>
      <p:sp>
        <p:nvSpPr>
          <p:cNvPr id="26" name="Text 19"/>
          <p:cNvSpPr txBox="1"/>
          <p:nvPr/>
        </p:nvSpPr>
        <p:spPr>
          <a:xfrm>
            <a:off x="777240"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Records sent by fax, portal, Chart Export, or Manage Data Exports, to whom — the Record Release Information you enter is part of the trail.</a:t>
            </a:r>
            <a:endParaRPr lang="en-US" sz="1150" dirty="0"/>
          </a:p>
        </p:txBody>
      </p:sp>
      <p:sp>
        <p:nvSpPr>
          <p:cNvPr id="27" name="Shape 20"/>
          <p:cNvSpPr/>
          <p:nvPr/>
        </p:nvSpPr>
        <p:spPr>
          <a:xfrm>
            <a:off x="4337304" y="4046220"/>
            <a:ext cx="3514344" cy="2080260"/>
          </a:xfrm>
          <a:prstGeom prst="roundRect">
            <a:avLst>
              <a:gd name="adj" fmla="val 4396"/>
            </a:avLst>
          </a:prstGeom>
          <a:solidFill>
            <a:srgbClr val="EAF1FA"/>
          </a:solidFill>
          <a:ln w="12700">
            <a:solidFill>
              <a:srgbClr val="EAF1FA"/>
            </a:solidFill>
            <a:prstDash val="solid"/>
          </a:ln>
        </p:spPr>
      </p:sp>
      <p:sp>
        <p:nvSpPr>
          <p:cNvPr id="28" name="Shape 21"/>
          <p:cNvSpPr/>
          <p:nvPr/>
        </p:nvSpPr>
        <p:spPr>
          <a:xfrm>
            <a:off x="4565904" y="4274820"/>
            <a:ext cx="548640" cy="548640"/>
          </a:xfrm>
          <a:prstGeom prst="ellipse">
            <a:avLst/>
          </a:prstGeom>
          <a:solidFill>
            <a:srgbClr val="FFFFFF"/>
          </a:solidFill>
          <a:ln w="12700">
            <a:solidFill>
              <a:srgbClr val="FFFFFF"/>
            </a:solidFill>
            <a:prstDash val="solid"/>
          </a:ln>
        </p:spPr>
      </p:sp>
      <p:pic>
        <p:nvPicPr>
          <p:cNvPr id="29" name="Image 5" descr="preencoded.png">    </p:cNvPr>
          <p:cNvPicPr>
            <a:picLocks noChangeAspect="1"/>
          </p:cNvPicPr>
          <p:nvPr/>
        </p:nvPicPr>
        <p:blipFill>
          <a:blip r:embed="rId6"/>
          <a:stretch>
            <a:fillRect/>
          </a:stretch>
        </p:blipFill>
        <p:spPr>
          <a:xfrm>
            <a:off x="4684776" y="4393692"/>
            <a:ext cx="310896" cy="310896"/>
          </a:xfrm>
          <a:prstGeom prst="rect">
            <a:avLst/>
          </a:prstGeom>
        </p:spPr>
      </p:pic>
      <p:sp>
        <p:nvSpPr>
          <p:cNvPr id="30" name="Text 22"/>
          <p:cNvSpPr txBox="1"/>
          <p:nvPr/>
        </p:nvSpPr>
        <p:spPr>
          <a:xfrm>
            <a:off x="5251704"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Logins</a:t>
            </a:r>
            <a:endParaRPr lang="en-US" sz="1500" dirty="0"/>
          </a:p>
        </p:txBody>
      </p:sp>
      <p:sp>
        <p:nvSpPr>
          <p:cNvPr id="31" name="Text 23"/>
          <p:cNvSpPr txBox="1"/>
          <p:nvPr/>
        </p:nvSpPr>
        <p:spPr>
          <a:xfrm>
            <a:off x="4565904"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Time, device, and location where available. Credential sharing is visible in patterns.</a:t>
            </a:r>
            <a:endParaRPr lang="en-US" sz="1150" dirty="0"/>
          </a:p>
        </p:txBody>
      </p:sp>
      <p:sp>
        <p:nvSpPr>
          <p:cNvPr id="32" name="Shape 24"/>
          <p:cNvSpPr/>
          <p:nvPr/>
        </p:nvSpPr>
        <p:spPr>
          <a:xfrm>
            <a:off x="8125968" y="4046220"/>
            <a:ext cx="3514344" cy="2080260"/>
          </a:xfrm>
          <a:prstGeom prst="roundRect">
            <a:avLst>
              <a:gd name="adj" fmla="val 4396"/>
            </a:avLst>
          </a:prstGeom>
          <a:solidFill>
            <a:srgbClr val="EEF2E8"/>
          </a:solidFill>
          <a:ln w="12700">
            <a:solidFill>
              <a:srgbClr val="EEF2E8"/>
            </a:solidFill>
            <a:prstDash val="solid"/>
          </a:ln>
        </p:spPr>
      </p:sp>
      <p:sp>
        <p:nvSpPr>
          <p:cNvPr id="33" name="Shape 25"/>
          <p:cNvSpPr/>
          <p:nvPr/>
        </p:nvSpPr>
        <p:spPr>
          <a:xfrm>
            <a:off x="8354568" y="4274820"/>
            <a:ext cx="548640" cy="548640"/>
          </a:xfrm>
          <a:prstGeom prst="ellipse">
            <a:avLst/>
          </a:prstGeom>
          <a:solidFill>
            <a:srgbClr val="FFFFFF"/>
          </a:solidFill>
          <a:ln w="12700">
            <a:solidFill>
              <a:srgbClr val="FFFFFF"/>
            </a:solidFill>
            <a:prstDash val="solid"/>
          </a:ln>
        </p:spPr>
      </p:sp>
      <p:pic>
        <p:nvPicPr>
          <p:cNvPr id="34" name="Image 6" descr="preencoded.png">    </p:cNvPr>
          <p:cNvPicPr>
            <a:picLocks noChangeAspect="1"/>
          </p:cNvPicPr>
          <p:nvPr/>
        </p:nvPicPr>
        <p:blipFill>
          <a:blip r:embed="rId7"/>
          <a:stretch>
            <a:fillRect/>
          </a:stretch>
        </p:blipFill>
        <p:spPr>
          <a:xfrm>
            <a:off x="8473440" y="4393692"/>
            <a:ext cx="310896" cy="310896"/>
          </a:xfrm>
          <a:prstGeom prst="rect">
            <a:avLst/>
          </a:prstGeom>
        </p:spPr>
      </p:pic>
      <p:sp>
        <p:nvSpPr>
          <p:cNvPr id="35" name="Text 26"/>
          <p:cNvSpPr txBox="1"/>
          <p:nvPr/>
        </p:nvSpPr>
        <p:spPr>
          <a:xfrm>
            <a:off x="9040368"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Timing</a:t>
            </a:r>
            <a:endParaRPr lang="en-US" sz="1500" dirty="0"/>
          </a:p>
        </p:txBody>
      </p:sp>
      <p:sp>
        <p:nvSpPr>
          <p:cNvPr id="36" name="Text 27"/>
          <p:cNvSpPr txBox="1"/>
          <p:nvPr/>
        </p:nvSpPr>
        <p:spPr>
          <a:xfrm>
            <a:off x="8354568"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gap between an event and its documentation is visible; late entries stand out.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CORRECTIONS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Correcting documentation the right way</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548640"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777240" y="1965960"/>
            <a:ext cx="548640" cy="548640"/>
          </a:xfrm>
          <a:prstGeom prst="ellipse">
            <a:avLst/>
          </a:prstGeom>
          <a:solidFill>
            <a:srgbClr val="1E4A87"/>
          </a:solidFill>
          <a:ln w="12700">
            <a:solidFill>
              <a:srgbClr val="1E4A87"/>
            </a:solidFill>
            <a:prstDash val="solid"/>
          </a:ln>
        </p:spPr>
      </p:sp>
      <p:sp>
        <p:nvSpPr>
          <p:cNvPr id="9" name="Text 6"/>
          <p:cNvSpPr txBox="1"/>
          <p:nvPr/>
        </p:nvSpPr>
        <p:spPr>
          <a:xfrm>
            <a:off x="777240"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777240"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Your own note, same day</a:t>
            </a:r>
            <a:endParaRPr lang="en-US" sz="1400" dirty="0"/>
          </a:p>
        </p:txBody>
      </p:sp>
      <p:sp>
        <p:nvSpPr>
          <p:cNvPr id="11" name="Text 8"/>
          <p:cNvSpPr txBox="1"/>
          <p:nvPr/>
        </p:nvSpPr>
        <p:spPr>
          <a:xfrm>
            <a:off x="777240"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Edit if the system allows and the note isn't signed or acted on; the original is retained in history.</a:t>
            </a:r>
            <a:endParaRPr lang="en-US" sz="1150" dirty="0"/>
          </a:p>
        </p:txBody>
      </p:sp>
      <p:sp>
        <p:nvSpPr>
          <p:cNvPr id="12" name="Shape 9"/>
          <p:cNvSpPr/>
          <p:nvPr/>
        </p:nvSpPr>
        <p:spPr>
          <a:xfrm>
            <a:off x="2812694"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3041294" y="1965960"/>
            <a:ext cx="548640" cy="548640"/>
          </a:xfrm>
          <a:prstGeom prst="ellipse">
            <a:avLst/>
          </a:prstGeom>
          <a:solidFill>
            <a:srgbClr val="1E4A87"/>
          </a:solidFill>
          <a:ln w="12700">
            <a:solidFill>
              <a:srgbClr val="1E4A87"/>
            </a:solidFill>
            <a:prstDash val="solid"/>
          </a:ln>
        </p:spPr>
      </p:sp>
      <p:sp>
        <p:nvSpPr>
          <p:cNvPr id="14" name="Text 11"/>
          <p:cNvSpPr txBox="1"/>
          <p:nvPr/>
        </p:nvSpPr>
        <p:spPr>
          <a:xfrm>
            <a:off x="3041294"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3041294"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Your own note, later</a:t>
            </a:r>
            <a:endParaRPr lang="en-US" sz="1400" dirty="0"/>
          </a:p>
        </p:txBody>
      </p:sp>
      <p:sp>
        <p:nvSpPr>
          <p:cNvPr id="16" name="Text 13"/>
          <p:cNvSpPr txBox="1"/>
          <p:nvPr/>
        </p:nvSpPr>
        <p:spPr>
          <a:xfrm>
            <a:off x="3041294"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Add an addendum: 'Addendum 9/26: corrects 9/24 entry — caregiver contact was daughter Susan, not son Mark.' Never overwrite.</a:t>
            </a:r>
            <a:endParaRPr lang="en-US" sz="1150" dirty="0"/>
          </a:p>
        </p:txBody>
      </p:sp>
      <p:sp>
        <p:nvSpPr>
          <p:cNvPr id="17" name="Shape 14"/>
          <p:cNvSpPr/>
          <p:nvPr/>
        </p:nvSpPr>
        <p:spPr>
          <a:xfrm>
            <a:off x="5076749"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5305349" y="1965960"/>
            <a:ext cx="548640" cy="548640"/>
          </a:xfrm>
          <a:prstGeom prst="ellipse">
            <a:avLst/>
          </a:prstGeom>
          <a:solidFill>
            <a:srgbClr val="1E4A87"/>
          </a:solidFill>
          <a:ln w="12700">
            <a:solidFill>
              <a:srgbClr val="1E4A87"/>
            </a:solidFill>
            <a:prstDash val="solid"/>
          </a:ln>
        </p:spPr>
      </p:sp>
      <p:sp>
        <p:nvSpPr>
          <p:cNvPr id="19" name="Text 16"/>
          <p:cNvSpPr txBox="1"/>
          <p:nvPr/>
        </p:nvSpPr>
        <p:spPr>
          <a:xfrm>
            <a:off x="5305349"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txBox="1"/>
          <p:nvPr/>
        </p:nvSpPr>
        <p:spPr>
          <a:xfrm>
            <a:off x="5305349"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Late entry</a:t>
            </a:r>
            <a:endParaRPr lang="en-US" sz="1400" dirty="0"/>
          </a:p>
        </p:txBody>
      </p:sp>
      <p:sp>
        <p:nvSpPr>
          <p:cNvPr id="21" name="Text 18"/>
          <p:cNvSpPr txBox="1"/>
          <p:nvPr/>
        </p:nvSpPr>
        <p:spPr>
          <a:xfrm>
            <a:off x="5305349"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Label it: 'Late entry for 9/22 contact, documented 9/24.' Include why if relevant.</a:t>
            </a:r>
            <a:endParaRPr lang="en-US" sz="1150" dirty="0"/>
          </a:p>
        </p:txBody>
      </p:sp>
      <p:sp>
        <p:nvSpPr>
          <p:cNvPr id="22" name="Shape 19"/>
          <p:cNvSpPr/>
          <p:nvPr/>
        </p:nvSpPr>
        <p:spPr>
          <a:xfrm>
            <a:off x="7340803"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7569403" y="1965960"/>
            <a:ext cx="548640" cy="548640"/>
          </a:xfrm>
          <a:prstGeom prst="ellipse">
            <a:avLst/>
          </a:prstGeom>
          <a:solidFill>
            <a:srgbClr val="1E4A87"/>
          </a:solidFill>
          <a:ln w="12700">
            <a:solidFill>
              <a:srgbClr val="1E4A87"/>
            </a:solidFill>
            <a:prstDash val="solid"/>
          </a:ln>
        </p:spPr>
      </p:sp>
      <p:sp>
        <p:nvSpPr>
          <p:cNvPr id="24" name="Text 21"/>
          <p:cNvSpPr txBox="1"/>
          <p:nvPr/>
        </p:nvSpPr>
        <p:spPr>
          <a:xfrm>
            <a:off x="7569403"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2"/>
          <p:cNvSpPr txBox="1"/>
          <p:nvPr/>
        </p:nvSpPr>
        <p:spPr>
          <a:xfrm>
            <a:off x="7569403"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Someone else's note</a:t>
            </a:r>
            <a:endParaRPr lang="en-US" sz="1400" dirty="0"/>
          </a:p>
        </p:txBody>
      </p:sp>
      <p:sp>
        <p:nvSpPr>
          <p:cNvPr id="26" name="Text 23"/>
          <p:cNvSpPr txBox="1"/>
          <p:nvPr/>
        </p:nvSpPr>
        <p:spPr>
          <a:xfrm>
            <a:off x="7569403"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Never edit it. Message the author; if they're unavailable, notify your supervisor.</a:t>
            </a:r>
            <a:endParaRPr lang="en-US" sz="1150" dirty="0"/>
          </a:p>
        </p:txBody>
      </p:sp>
      <p:sp>
        <p:nvSpPr>
          <p:cNvPr id="27" name="Shape 24"/>
          <p:cNvSpPr/>
          <p:nvPr/>
        </p:nvSpPr>
        <p:spPr>
          <a:xfrm>
            <a:off x="9604858"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8" name="Shape 25"/>
          <p:cNvSpPr/>
          <p:nvPr/>
        </p:nvSpPr>
        <p:spPr>
          <a:xfrm>
            <a:off x="9833458" y="1965960"/>
            <a:ext cx="548640" cy="548640"/>
          </a:xfrm>
          <a:prstGeom prst="ellipse">
            <a:avLst/>
          </a:prstGeom>
          <a:solidFill>
            <a:srgbClr val="586C47"/>
          </a:solidFill>
          <a:ln w="12700">
            <a:solidFill>
              <a:srgbClr val="586C47"/>
            </a:solidFill>
            <a:prstDash val="solid"/>
          </a:ln>
        </p:spPr>
      </p:sp>
      <p:sp>
        <p:nvSpPr>
          <p:cNvPr id="29" name="Text 26"/>
          <p:cNvSpPr txBox="1"/>
          <p:nvPr/>
        </p:nvSpPr>
        <p:spPr>
          <a:xfrm>
            <a:off x="9833458"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7"/>
          <p:cNvSpPr txBox="1"/>
          <p:nvPr/>
        </p:nvSpPr>
        <p:spPr>
          <a:xfrm>
            <a:off x="9833458"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Wrong chart</a:t>
            </a:r>
            <a:endParaRPr lang="en-US" sz="1400" dirty="0"/>
          </a:p>
        </p:txBody>
      </p:sp>
      <p:sp>
        <p:nvSpPr>
          <p:cNvPr id="31" name="Text 28"/>
          <p:cNvSpPr txBox="1"/>
          <p:nvPr/>
        </p:nvSpPr>
        <p:spPr>
          <a:xfrm>
            <a:off x="9833458"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Use the move workflow; notify your supervisor; document the correction in both charts per policy. This is also a privacy incident to report.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TIPS &amp; PITFALLS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Documentation integrity</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548640" y="1691640"/>
            <a:ext cx="5394960" cy="4434840"/>
          </a:xfrm>
          <a:prstGeom prst="roundRect">
            <a:avLst>
              <a:gd name="adj" fmla="val 2062"/>
            </a:avLst>
          </a:prstGeom>
          <a:solidFill>
            <a:srgbClr val="EEF2E8"/>
          </a:solidFill>
          <a:ln w="12700">
            <a:solidFill>
              <a:srgbClr val="EEF2E8"/>
            </a:solidFill>
            <a:prstDash val="solid"/>
          </a:ln>
        </p:spPr>
      </p:sp>
      <p:pic>
        <p:nvPicPr>
          <p:cNvPr id="8" name="Image 1" descr="preencoded.png">    </p:cNvPr>
          <p:cNvPicPr>
            <a:picLocks noChangeAspect="1"/>
          </p:cNvPicPr>
          <p:nvPr/>
        </p:nvPicPr>
        <p:blipFill>
          <a:blip r:embed="rId2"/>
          <a:stretch>
            <a:fillRect/>
          </a:stretch>
        </p:blipFill>
        <p:spPr>
          <a:xfrm>
            <a:off x="822960" y="1965960"/>
            <a:ext cx="411480" cy="411480"/>
          </a:xfrm>
          <a:prstGeom prst="rect">
            <a:avLst/>
          </a:prstGeom>
        </p:spPr>
      </p:pic>
      <p:sp>
        <p:nvSpPr>
          <p:cNvPr id="9" name="Text 5"/>
          <p:cNvSpPr txBox="1"/>
          <p:nvPr/>
        </p:nvSpPr>
        <p:spPr>
          <a:xfrm>
            <a:off x="1371600" y="1920240"/>
            <a:ext cx="4389120" cy="502920"/>
          </a:xfrm>
          <a:prstGeom prst="rect">
            <a:avLst/>
          </a:prstGeom>
          <a:noFill/>
          <a:ln/>
        </p:spPr>
        <p:txBody>
          <a:bodyPr wrap="square" lIns="0" tIns="0" rIns="0" bIns="0" rtlCol="0" anchor="ctr"/>
          <a:lstStyle/>
          <a:p>
            <a:pPr indent="0" marL="0">
              <a:buNone/>
            </a:pPr>
            <a:r>
              <a:rPr lang="en-US" sz="2000" b="1" dirty="0">
                <a:solidFill>
                  <a:srgbClr val="586C47"/>
                </a:solidFill>
                <a:latin typeface="Cambria" pitchFamily="34" charset="0"/>
                <a:ea typeface="Cambria" pitchFamily="34" charset="-122"/>
                <a:cs typeface="Cambria" pitchFamily="34" charset="-120"/>
              </a:rPr>
              <a:t>Do this</a:t>
            </a:r>
            <a:endParaRPr lang="en-US" sz="2000" dirty="0"/>
          </a:p>
        </p:txBody>
      </p:sp>
      <p:sp>
        <p:nvSpPr>
          <p:cNvPr id="10" name="Text 6"/>
          <p:cNvSpPr txBox="1"/>
          <p:nvPr/>
        </p:nvSpPr>
        <p:spPr>
          <a:xfrm>
            <a:off x="822960"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Document at the time of the work; it's more accurate and the audit trail shows it.</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Use exact times and names; vagueness reads as evasion.</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Sign every entry with your name and role; the system adds the timestamp.</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If you're unsure whether to document something, document the facts and ask.</a:t>
            </a:r>
            <a:endParaRPr lang="en-US" sz="1250" dirty="0"/>
          </a:p>
        </p:txBody>
      </p:sp>
      <p:sp>
        <p:nvSpPr>
          <p:cNvPr id="11" name="Shape 7"/>
          <p:cNvSpPr/>
          <p:nvPr/>
        </p:nvSpPr>
        <p:spPr>
          <a:xfrm>
            <a:off x="6245352" y="1691640"/>
            <a:ext cx="5394960" cy="4434840"/>
          </a:xfrm>
          <a:prstGeom prst="roundRect">
            <a:avLst>
              <a:gd name="adj" fmla="val 2062"/>
            </a:avLst>
          </a:prstGeom>
          <a:solidFill>
            <a:srgbClr val="FBEDEA"/>
          </a:solidFill>
          <a:ln w="12700">
            <a:solidFill>
              <a:srgbClr val="FBEDEA"/>
            </a:solidFill>
            <a:prstDash val="solid"/>
          </a:ln>
        </p:spPr>
      </p:sp>
      <p:pic>
        <p:nvPicPr>
          <p:cNvPr id="12" name="Image 2" descr="preencoded.png">    </p:cNvPr>
          <p:cNvPicPr>
            <a:picLocks noChangeAspect="1"/>
          </p:cNvPicPr>
          <p:nvPr/>
        </p:nvPicPr>
        <p:blipFill>
          <a:blip r:embed="rId3"/>
          <a:stretch>
            <a:fillRect/>
          </a:stretch>
        </p:blipFill>
        <p:spPr>
          <a:xfrm>
            <a:off x="6519672" y="1965960"/>
            <a:ext cx="411480" cy="411480"/>
          </a:xfrm>
          <a:prstGeom prst="rect">
            <a:avLst/>
          </a:prstGeom>
        </p:spPr>
      </p:pic>
      <p:sp>
        <p:nvSpPr>
          <p:cNvPr id="13" name="Text 8"/>
          <p:cNvSpPr txBox="1"/>
          <p:nvPr/>
        </p:nvSpPr>
        <p:spPr>
          <a:xfrm>
            <a:off x="7068312" y="1920240"/>
            <a:ext cx="4389120" cy="502920"/>
          </a:xfrm>
          <a:prstGeom prst="rect">
            <a:avLst/>
          </a:prstGeom>
          <a:noFill/>
          <a:ln/>
        </p:spPr>
        <p:txBody>
          <a:bodyPr wrap="square" lIns="0" tIns="0" rIns="0" bIns="0" rtlCol="0" anchor="ctr"/>
          <a:lstStyle/>
          <a:p>
            <a:pPr indent="0" marL="0">
              <a:buNone/>
            </a:pPr>
            <a:r>
              <a:rPr lang="en-US" sz="2000" b="1" dirty="0">
                <a:solidFill>
                  <a:srgbClr val="A33A2B"/>
                </a:solidFill>
                <a:latin typeface="Cambria" pitchFamily="34" charset="0"/>
                <a:ea typeface="Cambria" pitchFamily="34" charset="-122"/>
                <a:cs typeface="Cambria" pitchFamily="34" charset="-120"/>
              </a:rPr>
              <a:t>Watch out for</a:t>
            </a:r>
            <a:endParaRPr lang="en-US" sz="2000" dirty="0"/>
          </a:p>
        </p:txBody>
      </p:sp>
      <p:sp>
        <p:nvSpPr>
          <p:cNvPr id="14" name="Text 9"/>
          <p:cNvSpPr txBox="1"/>
          <p:nvPr/>
        </p:nvSpPr>
        <p:spPr>
          <a:xfrm>
            <a:off x="6519672"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Copy-forward of prior notes with a new date.</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'Cleaning up' a note after a complaint or audit notice.</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Documenting for a colleague under your login.</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Deleting a misfiled item instead of moving it.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4</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Program audit readiness</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Auditors test whether the chart proves what was billed and reported.</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AUDIT CHECKLIST</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What a care-management audit checks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16</a:t>
            </a:r>
            <a:endParaRPr lang="en-US" sz="900" dirty="0"/>
          </a:p>
        </p:txBody>
      </p:sp>
      <p:sp>
        <p:nvSpPr>
          <p:cNvPr id="7" name="Shape 4"/>
          <p:cNvSpPr/>
          <p:nvPr/>
        </p:nvSpPr>
        <p:spPr>
          <a:xfrm>
            <a:off x="548640" y="1691640"/>
            <a:ext cx="3514344"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Eligibility and consent</a:t>
            </a:r>
            <a:endParaRPr lang="en-US" sz="1500" dirty="0"/>
          </a:p>
        </p:txBody>
      </p:sp>
      <p:sp>
        <p:nvSpPr>
          <p:cNvPr id="11" name="Text 7"/>
          <p:cNvSpPr txBox="1"/>
          <p:nvPr/>
        </p:nvSpPr>
        <p:spPr>
          <a:xfrm>
            <a:off x="777240"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Documented program eligibility; program consent signed by the patient or legal representative before services; consent covers the billed period.</a:t>
            </a:r>
            <a:endParaRPr lang="en-US" sz="1150" dirty="0"/>
          </a:p>
        </p:txBody>
      </p:sp>
      <p:sp>
        <p:nvSpPr>
          <p:cNvPr id="12" name="Shape 8"/>
          <p:cNvSpPr/>
          <p:nvPr/>
        </p:nvSpPr>
        <p:spPr>
          <a:xfrm>
            <a:off x="4337304" y="1691640"/>
            <a:ext cx="3514344"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4565904"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4684776" y="2039112"/>
            <a:ext cx="310896" cy="310896"/>
          </a:xfrm>
          <a:prstGeom prst="rect">
            <a:avLst/>
          </a:prstGeom>
        </p:spPr>
      </p:pic>
      <p:sp>
        <p:nvSpPr>
          <p:cNvPr id="15" name="Text 10"/>
          <p:cNvSpPr txBox="1"/>
          <p:nvPr/>
        </p:nvSpPr>
        <p:spPr>
          <a:xfrm>
            <a:off x="5251704"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Assessment and care plan</a:t>
            </a:r>
            <a:endParaRPr lang="en-US" sz="1500" dirty="0"/>
          </a:p>
        </p:txBody>
      </p:sp>
      <p:sp>
        <p:nvSpPr>
          <p:cNvPr id="16" name="Text 11"/>
          <p:cNvSpPr txBox="1"/>
          <p:nvPr/>
        </p:nvSpPr>
        <p:spPr>
          <a:xfrm>
            <a:off x="4565904"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Comprehensive assessment on file; care plan with required elements; reviewed on cadence with dates and signatures; shared with the patient/caregiver.</a:t>
            </a:r>
            <a:endParaRPr lang="en-US" sz="1150" dirty="0"/>
          </a:p>
        </p:txBody>
      </p:sp>
      <p:sp>
        <p:nvSpPr>
          <p:cNvPr id="17" name="Shape 12"/>
          <p:cNvSpPr/>
          <p:nvPr/>
        </p:nvSpPr>
        <p:spPr>
          <a:xfrm>
            <a:off x="8125968" y="1691640"/>
            <a:ext cx="3514344"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8354568" y="192024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473440" y="2039112"/>
            <a:ext cx="310896" cy="310896"/>
          </a:xfrm>
          <a:prstGeom prst="rect">
            <a:avLst/>
          </a:prstGeom>
        </p:spPr>
      </p:pic>
      <p:sp>
        <p:nvSpPr>
          <p:cNvPr id="20" name="Text 14"/>
          <p:cNvSpPr txBox="1"/>
          <p:nvPr/>
        </p:nvSpPr>
        <p:spPr>
          <a:xfrm>
            <a:off x="9040368"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Contacts and time</a:t>
            </a:r>
            <a:endParaRPr lang="en-US" sz="1500" dirty="0"/>
          </a:p>
        </p:txBody>
      </p:sp>
      <p:sp>
        <p:nvSpPr>
          <p:cNvPr id="21" name="Text 15"/>
          <p:cNvSpPr txBox="1"/>
          <p:nvPr/>
        </p:nvSpPr>
        <p:spPr>
          <a:xfrm>
            <a:off x="8354568"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Each billed month has documented qualifying contacts with date, duration, participants, and content tied to the care plan; totals meet thresholds.</a:t>
            </a:r>
            <a:endParaRPr lang="en-US" sz="1150" dirty="0"/>
          </a:p>
        </p:txBody>
      </p:sp>
      <p:sp>
        <p:nvSpPr>
          <p:cNvPr id="22" name="Shape 16"/>
          <p:cNvSpPr/>
          <p:nvPr/>
        </p:nvSpPr>
        <p:spPr>
          <a:xfrm>
            <a:off x="548640" y="4046220"/>
            <a:ext cx="3514344" cy="2080260"/>
          </a:xfrm>
          <a:prstGeom prst="roundRect">
            <a:avLst>
              <a:gd name="adj" fmla="val 4396"/>
            </a:avLst>
          </a:prstGeom>
          <a:solidFill>
            <a:srgbClr val="EAF1FA"/>
          </a:solidFill>
          <a:ln w="12700">
            <a:solidFill>
              <a:srgbClr val="EAF1FA"/>
            </a:solidFill>
            <a:prstDash val="solid"/>
          </a:ln>
        </p:spPr>
      </p:sp>
      <p:sp>
        <p:nvSpPr>
          <p:cNvPr id="23" name="Shape 17"/>
          <p:cNvSpPr/>
          <p:nvPr/>
        </p:nvSpPr>
        <p:spPr>
          <a:xfrm>
            <a:off x="777240"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896112" y="4393692"/>
            <a:ext cx="310896" cy="310896"/>
          </a:xfrm>
          <a:prstGeom prst="rect">
            <a:avLst/>
          </a:prstGeom>
        </p:spPr>
      </p:pic>
      <p:sp>
        <p:nvSpPr>
          <p:cNvPr id="25" name="Text 18"/>
          <p:cNvSpPr txBox="1"/>
          <p:nvPr/>
        </p:nvSpPr>
        <p:spPr>
          <a:xfrm>
            <a:off x="1463040"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Caregiver elements</a:t>
            </a:r>
            <a:endParaRPr lang="en-US" sz="1500" dirty="0"/>
          </a:p>
        </p:txBody>
      </p:sp>
      <p:sp>
        <p:nvSpPr>
          <p:cNvPr id="26" name="Text 19"/>
          <p:cNvSpPr txBox="1"/>
          <p:nvPr/>
        </p:nvSpPr>
        <p:spPr>
          <a:xfrm>
            <a:off x="777240"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Caregiver identified and assessed; education and support documented; 24/7 access confirmed.</a:t>
            </a:r>
            <a:endParaRPr lang="en-US" sz="1150" dirty="0"/>
          </a:p>
        </p:txBody>
      </p:sp>
      <p:sp>
        <p:nvSpPr>
          <p:cNvPr id="27" name="Shape 20"/>
          <p:cNvSpPr/>
          <p:nvPr/>
        </p:nvSpPr>
        <p:spPr>
          <a:xfrm>
            <a:off x="4337304" y="4046220"/>
            <a:ext cx="3514344" cy="2080260"/>
          </a:xfrm>
          <a:prstGeom prst="roundRect">
            <a:avLst>
              <a:gd name="adj" fmla="val 4396"/>
            </a:avLst>
          </a:prstGeom>
          <a:solidFill>
            <a:srgbClr val="EAF1FA"/>
          </a:solidFill>
          <a:ln w="12700">
            <a:solidFill>
              <a:srgbClr val="EAF1FA"/>
            </a:solidFill>
            <a:prstDash val="solid"/>
          </a:ln>
        </p:spPr>
      </p:sp>
      <p:sp>
        <p:nvSpPr>
          <p:cNvPr id="28" name="Shape 21"/>
          <p:cNvSpPr/>
          <p:nvPr/>
        </p:nvSpPr>
        <p:spPr>
          <a:xfrm>
            <a:off x="4565904" y="4274820"/>
            <a:ext cx="548640" cy="548640"/>
          </a:xfrm>
          <a:prstGeom prst="ellipse">
            <a:avLst/>
          </a:prstGeom>
          <a:solidFill>
            <a:srgbClr val="FFFFFF"/>
          </a:solidFill>
          <a:ln w="12700">
            <a:solidFill>
              <a:srgbClr val="FFFFFF"/>
            </a:solidFill>
            <a:prstDash val="solid"/>
          </a:ln>
        </p:spPr>
      </p:sp>
      <p:pic>
        <p:nvPicPr>
          <p:cNvPr id="29" name="Image 5" descr="preencoded.png">    </p:cNvPr>
          <p:cNvPicPr>
            <a:picLocks noChangeAspect="1"/>
          </p:cNvPicPr>
          <p:nvPr/>
        </p:nvPicPr>
        <p:blipFill>
          <a:blip r:embed="rId6"/>
          <a:stretch>
            <a:fillRect/>
          </a:stretch>
        </p:blipFill>
        <p:spPr>
          <a:xfrm>
            <a:off x="4684776" y="4393692"/>
            <a:ext cx="310896" cy="310896"/>
          </a:xfrm>
          <a:prstGeom prst="rect">
            <a:avLst/>
          </a:prstGeom>
        </p:spPr>
      </p:pic>
      <p:sp>
        <p:nvSpPr>
          <p:cNvPr id="30" name="Text 22"/>
          <p:cNvSpPr txBox="1"/>
          <p:nvPr/>
        </p:nvSpPr>
        <p:spPr>
          <a:xfrm>
            <a:off x="5251704"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Supporting documents</a:t>
            </a:r>
            <a:endParaRPr lang="en-US" sz="1500" dirty="0"/>
          </a:p>
        </p:txBody>
      </p:sp>
      <p:sp>
        <p:nvSpPr>
          <p:cNvPr id="31" name="Text 23"/>
          <p:cNvSpPr txBox="1"/>
          <p:nvPr/>
        </p:nvSpPr>
        <p:spPr>
          <a:xfrm>
            <a:off x="4565904"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ROI and legal documents on file for anyone receiving PHI; advance care planning status documented.</a:t>
            </a:r>
            <a:endParaRPr lang="en-US" sz="1150" dirty="0"/>
          </a:p>
        </p:txBody>
      </p:sp>
      <p:sp>
        <p:nvSpPr>
          <p:cNvPr id="32" name="Shape 24"/>
          <p:cNvSpPr/>
          <p:nvPr/>
        </p:nvSpPr>
        <p:spPr>
          <a:xfrm>
            <a:off x="8125968" y="4046220"/>
            <a:ext cx="3514344" cy="2080260"/>
          </a:xfrm>
          <a:prstGeom prst="roundRect">
            <a:avLst>
              <a:gd name="adj" fmla="val 4396"/>
            </a:avLst>
          </a:prstGeom>
          <a:solidFill>
            <a:srgbClr val="EEF2E8"/>
          </a:solidFill>
          <a:ln w="12700">
            <a:solidFill>
              <a:srgbClr val="EEF2E8"/>
            </a:solidFill>
            <a:prstDash val="solid"/>
          </a:ln>
        </p:spPr>
      </p:sp>
      <p:sp>
        <p:nvSpPr>
          <p:cNvPr id="33" name="Shape 25"/>
          <p:cNvSpPr/>
          <p:nvPr/>
        </p:nvSpPr>
        <p:spPr>
          <a:xfrm>
            <a:off x="8354568" y="4274820"/>
            <a:ext cx="548640" cy="548640"/>
          </a:xfrm>
          <a:prstGeom prst="ellipse">
            <a:avLst/>
          </a:prstGeom>
          <a:solidFill>
            <a:srgbClr val="FFFFFF"/>
          </a:solidFill>
          <a:ln w="12700">
            <a:solidFill>
              <a:srgbClr val="FFFFFF"/>
            </a:solidFill>
            <a:prstDash val="solid"/>
          </a:ln>
        </p:spPr>
      </p:sp>
      <p:pic>
        <p:nvPicPr>
          <p:cNvPr id="34" name="Image 6" descr="preencoded.png">    </p:cNvPr>
          <p:cNvPicPr>
            <a:picLocks noChangeAspect="1"/>
          </p:cNvPicPr>
          <p:nvPr/>
        </p:nvPicPr>
        <p:blipFill>
          <a:blip r:embed="rId7"/>
          <a:stretch>
            <a:fillRect/>
          </a:stretch>
        </p:blipFill>
        <p:spPr>
          <a:xfrm>
            <a:off x="8473440" y="4393692"/>
            <a:ext cx="310896" cy="310896"/>
          </a:xfrm>
          <a:prstGeom prst="rect">
            <a:avLst/>
          </a:prstGeom>
        </p:spPr>
      </p:pic>
      <p:sp>
        <p:nvSpPr>
          <p:cNvPr id="35" name="Text 26"/>
          <p:cNvSpPr txBox="1"/>
          <p:nvPr/>
        </p:nvSpPr>
        <p:spPr>
          <a:xfrm>
            <a:off x="9040368"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Staff credentials</a:t>
            </a:r>
            <a:endParaRPr lang="en-US" sz="1500" dirty="0"/>
          </a:p>
        </p:txBody>
      </p:sp>
      <p:sp>
        <p:nvSpPr>
          <p:cNvPr id="36" name="Text 27"/>
          <p:cNvSpPr txBox="1"/>
          <p:nvPr/>
        </p:nvSpPr>
        <p:spPr>
          <a:xfrm>
            <a:off x="8354568"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Services performed by staff with required training; supervision documented where required.</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AUDIT WALK-THROUGH</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Pulling the evidence for one patient-month</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17</a:t>
            </a:r>
            <a:endParaRPr lang="en-US" sz="900" dirty="0"/>
          </a:p>
        </p:txBody>
      </p:sp>
      <p:sp>
        <p:nvSpPr>
          <p:cNvPr id="7" name="Shape 4"/>
          <p:cNvSpPr/>
          <p:nvPr/>
        </p:nvSpPr>
        <p:spPr>
          <a:xfrm>
            <a:off x="548640" y="1719072"/>
            <a:ext cx="347472" cy="347472"/>
          </a:xfrm>
          <a:prstGeom prst="ellipse">
            <a:avLst/>
          </a:prstGeom>
          <a:solidFill>
            <a:srgbClr val="1E4A87"/>
          </a:solidFill>
          <a:ln w="12700">
            <a:solidFill>
              <a:srgbClr val="1E4A87"/>
            </a:solidFill>
            <a:prstDash val="solid"/>
          </a:ln>
        </p:spPr>
      </p:sp>
      <p:sp>
        <p:nvSpPr>
          <p:cNvPr id="8" name="Text 5"/>
          <p:cNvSpPr txBox="1"/>
          <p:nvPr/>
        </p:nvSpPr>
        <p:spPr>
          <a:xfrm>
            <a:off x="548640" y="171907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1005840" y="169164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Open the chart and verify. </a:t>
            </a:r>
            <a:pPr indent="0" marL="0">
              <a:buNone/>
            </a:pPr>
            <a:r>
              <a:rPr lang="en-US" sz="1250" dirty="0">
                <a:solidFill>
                  <a:srgbClr val="1F2933"/>
                </a:solidFill>
                <a:latin typeface="Calibri" pitchFamily="34" charset="0"/>
                <a:ea typeface="Calibri" pitchFamily="34" charset="-122"/>
                <a:cs typeface="Calibri" pitchFamily="34" charset="-120"/>
              </a:rPr>
              <a:t>Confirm program enrollment date and status.</a:t>
            </a:r>
            <a:endParaRPr lang="en-US" sz="1250" dirty="0"/>
          </a:p>
        </p:txBody>
      </p:sp>
      <p:sp>
        <p:nvSpPr>
          <p:cNvPr id="10" name="Shape 7"/>
          <p:cNvSpPr/>
          <p:nvPr/>
        </p:nvSpPr>
        <p:spPr>
          <a:xfrm>
            <a:off x="548640" y="2542032"/>
            <a:ext cx="347472" cy="347472"/>
          </a:xfrm>
          <a:prstGeom prst="ellipse">
            <a:avLst/>
          </a:prstGeom>
          <a:solidFill>
            <a:srgbClr val="1E4A87"/>
          </a:solidFill>
          <a:ln w="12700">
            <a:solidFill>
              <a:srgbClr val="1E4A87"/>
            </a:solidFill>
            <a:prstDash val="solid"/>
          </a:ln>
        </p:spPr>
      </p:sp>
      <p:sp>
        <p:nvSpPr>
          <p:cNvPr id="11" name="Text 8"/>
          <p:cNvSpPr txBox="1"/>
          <p:nvPr/>
        </p:nvSpPr>
        <p:spPr>
          <a:xfrm>
            <a:off x="548640" y="25420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1005840" y="251460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Locate the consent and eligibility documentation. </a:t>
            </a:r>
            <a:pPr indent="0" marL="0">
              <a:buNone/>
            </a:pPr>
            <a:r>
              <a:rPr lang="en-US" sz="1250" dirty="0">
                <a:solidFill>
                  <a:srgbClr val="1F2933"/>
                </a:solidFill>
                <a:latin typeface="Calibri" pitchFamily="34" charset="0"/>
                <a:ea typeface="Calibri" pitchFamily="34" charset="-122"/>
                <a:cs typeface="Calibri" pitchFamily="34" charset="-120"/>
              </a:rPr>
              <a:t>Documents tab; note dates.</a:t>
            </a:r>
            <a:endParaRPr lang="en-US" sz="1250" dirty="0"/>
          </a:p>
        </p:txBody>
      </p:sp>
      <p:sp>
        <p:nvSpPr>
          <p:cNvPr id="13" name="Shape 10"/>
          <p:cNvSpPr/>
          <p:nvPr/>
        </p:nvSpPr>
        <p:spPr>
          <a:xfrm>
            <a:off x="548640" y="3364992"/>
            <a:ext cx="347472" cy="347472"/>
          </a:xfrm>
          <a:prstGeom prst="ellipse">
            <a:avLst/>
          </a:prstGeom>
          <a:solidFill>
            <a:srgbClr val="1E4A87"/>
          </a:solidFill>
          <a:ln w="12700">
            <a:solidFill>
              <a:srgbClr val="1E4A87"/>
            </a:solidFill>
            <a:prstDash val="solid"/>
          </a:ln>
        </p:spPr>
      </p:sp>
      <p:sp>
        <p:nvSpPr>
          <p:cNvPr id="14" name="Text 11"/>
          <p:cNvSpPr txBox="1"/>
          <p:nvPr/>
        </p:nvSpPr>
        <p:spPr>
          <a:xfrm>
            <a:off x="548640" y="33649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txBox="1"/>
          <p:nvPr/>
        </p:nvSpPr>
        <p:spPr>
          <a:xfrm>
            <a:off x="1005840" y="333756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Open the Care Plan tab and the filed assessment Forms. </a:t>
            </a:r>
            <a:pPr indent="0" marL="0">
              <a:buNone/>
            </a:pPr>
            <a:r>
              <a:rPr lang="en-US" sz="1250" dirty="0">
                <a:solidFill>
                  <a:srgbClr val="1F2933"/>
                </a:solidFill>
                <a:latin typeface="Calibri" pitchFamily="34" charset="0"/>
                <a:ea typeface="Calibri" pitchFamily="34" charset="-122"/>
                <a:cs typeface="Calibri" pitchFamily="34" charset="-120"/>
              </a:rPr>
              <a:t>Check review dates fall within the required cadence and the Care Plan Audit was left in REVIEW to the provider and marked Reviewed.</a:t>
            </a:r>
            <a:endParaRPr lang="en-US" sz="1250" dirty="0"/>
          </a:p>
        </p:txBody>
      </p:sp>
      <p:sp>
        <p:nvSpPr>
          <p:cNvPr id="16" name="Shape 13"/>
          <p:cNvSpPr/>
          <p:nvPr/>
        </p:nvSpPr>
        <p:spPr>
          <a:xfrm>
            <a:off x="548640" y="4187952"/>
            <a:ext cx="347472" cy="347472"/>
          </a:xfrm>
          <a:prstGeom prst="ellipse">
            <a:avLst/>
          </a:prstGeom>
          <a:solidFill>
            <a:srgbClr val="1E4A87"/>
          </a:solidFill>
          <a:ln w="12700">
            <a:solidFill>
              <a:srgbClr val="1E4A87"/>
            </a:solidFill>
            <a:prstDash val="solid"/>
          </a:ln>
        </p:spPr>
      </p:sp>
      <p:sp>
        <p:nvSpPr>
          <p:cNvPr id="17" name="Text 14"/>
          <p:cNvSpPr txBox="1"/>
          <p:nvPr/>
        </p:nvSpPr>
        <p:spPr>
          <a:xfrm>
            <a:off x="548640" y="418795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txBox="1"/>
          <p:nvPr/>
        </p:nvSpPr>
        <p:spPr>
          <a:xfrm>
            <a:off x="1005840" y="416052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Open Care Management Events for the month (or the Care Program Panel). </a:t>
            </a:r>
            <a:pPr indent="0" marL="0">
              <a:buNone/>
            </a:pPr>
            <a:r>
              <a:rPr lang="en-US" sz="1250" dirty="0">
                <a:solidFill>
                  <a:srgbClr val="1F2933"/>
                </a:solidFill>
                <a:latin typeface="Calibri" pitchFamily="34" charset="0"/>
                <a:ea typeface="Calibri" pitchFamily="34" charset="-122"/>
                <a:cs typeface="Calibri" pitchFamily="34" charset="-120"/>
              </a:rPr>
              <a:t>Sum qualifying minutes; confirm each event has date, duration, event type, summary naming the Health Concern, and a matching Care Navigator Visit form.</a:t>
            </a:r>
            <a:endParaRPr lang="en-US" sz="1250" dirty="0"/>
          </a:p>
        </p:txBody>
      </p:sp>
      <p:sp>
        <p:nvSpPr>
          <p:cNvPr id="19" name="Shape 16"/>
          <p:cNvSpPr/>
          <p:nvPr/>
        </p:nvSpPr>
        <p:spPr>
          <a:xfrm>
            <a:off x="548640" y="5010912"/>
            <a:ext cx="347472" cy="347472"/>
          </a:xfrm>
          <a:prstGeom prst="ellipse">
            <a:avLst/>
          </a:prstGeom>
          <a:solidFill>
            <a:srgbClr val="1E4A87"/>
          </a:solidFill>
          <a:ln w="12700">
            <a:solidFill>
              <a:srgbClr val="1E4A87"/>
            </a:solidFill>
            <a:prstDash val="solid"/>
          </a:ln>
        </p:spPr>
      </p:sp>
      <p:sp>
        <p:nvSpPr>
          <p:cNvPr id="20" name="Text 17"/>
          <p:cNvSpPr txBox="1"/>
          <p:nvPr/>
        </p:nvSpPr>
        <p:spPr>
          <a:xfrm>
            <a:off x="548640" y="5010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8"/>
          <p:cNvSpPr txBox="1"/>
          <p:nvPr/>
        </p:nvSpPr>
        <p:spPr>
          <a:xfrm>
            <a:off x="1005840" y="498348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Note gaps and fix forward. </a:t>
            </a:r>
            <a:pPr indent="0" marL="0">
              <a:buNone/>
            </a:pPr>
            <a:r>
              <a:rPr lang="en-US" sz="1250" dirty="0">
                <a:solidFill>
                  <a:srgbClr val="1F2933"/>
                </a:solidFill>
                <a:latin typeface="Calibri" pitchFamily="34" charset="0"/>
                <a:ea typeface="Calibri" pitchFamily="34" charset="-122"/>
                <a:cs typeface="Calibri" pitchFamily="34" charset="-120"/>
              </a:rPr>
              <a:t>You can't backfill a past month; you can fix processes and this month.</a:t>
            </a:r>
            <a:endParaRPr lang="en-US" sz="1250" dirty="0"/>
          </a:p>
        </p:txBody>
      </p:sp>
      <p:sp>
        <p:nvSpPr>
          <p:cNvPr id="22" name="Shape 19"/>
          <p:cNvSpPr/>
          <p:nvPr/>
        </p:nvSpPr>
        <p:spPr>
          <a:xfrm>
            <a:off x="6309360" y="1691640"/>
            <a:ext cx="5349240" cy="4480560"/>
          </a:xfrm>
          <a:prstGeom prst="roundRect">
            <a:avLst>
              <a:gd name="adj" fmla="val 1633"/>
            </a:avLst>
          </a:prstGeom>
          <a:solidFill>
            <a:srgbClr val="F7F9FC"/>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6309360" y="1691640"/>
            <a:ext cx="5349240" cy="411480"/>
          </a:xfrm>
          <a:prstGeom prst="rect">
            <a:avLst/>
          </a:prstGeom>
          <a:solidFill>
            <a:srgbClr val="1E4A87"/>
          </a:solidFill>
          <a:ln w="12700">
            <a:solidFill>
              <a:srgbClr val="1E4A87"/>
            </a:solidFill>
            <a:prstDash val="solid"/>
          </a:ln>
        </p:spPr>
      </p:sp>
      <p:sp>
        <p:nvSpPr>
          <p:cNvPr id="24" name="Text 21"/>
          <p:cNvSpPr txBox="1"/>
          <p:nvPr/>
        </p:nvSpPr>
        <p:spPr>
          <a:xfrm>
            <a:off x="6492240" y="1691640"/>
            <a:ext cx="49834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Audit pull · Doe, Jane · September 2026</a:t>
            </a:r>
            <a:endParaRPr lang="en-US" sz="1100" dirty="0"/>
          </a:p>
        </p:txBody>
      </p:sp>
      <p:sp>
        <p:nvSpPr>
          <p:cNvPr id="25" name="Text 22"/>
          <p:cNvSpPr txBox="1"/>
          <p:nvPr/>
        </p:nvSpPr>
        <p:spPr>
          <a:xfrm>
            <a:off x="6492240" y="1691640"/>
            <a:ext cx="4983480" cy="411480"/>
          </a:xfrm>
          <a:prstGeom prst="rect">
            <a:avLst/>
          </a:prstGeom>
          <a:noFill/>
          <a:ln/>
        </p:spPr>
        <p:txBody>
          <a:bodyPr wrap="square" lIns="0" tIns="0" rIns="0" bIns="0" rtlCol="0" anchor="ctr"/>
          <a:lstStyle/>
          <a:p>
            <a:pPr algn="r" indent="0" marL="0">
              <a:buNone/>
            </a:pPr>
            <a:r>
              <a:rPr lang="en-US" sz="800" dirty="0">
                <a:solidFill>
                  <a:srgbClr val="84ACDF"/>
                </a:solidFill>
                <a:latin typeface="Calibri" pitchFamily="34" charset="0"/>
                <a:ea typeface="Calibri" pitchFamily="34" charset="-122"/>
                <a:cs typeface="Calibri" pitchFamily="34" charset="-120"/>
              </a:rPr>
              <a:t>athenaOne · illustrative screen</a:t>
            </a:r>
            <a:endParaRPr lang="en-US" sz="800" dirty="0"/>
          </a:p>
        </p:txBody>
      </p:sp>
      <p:sp>
        <p:nvSpPr>
          <p:cNvPr id="26" name="Text 23"/>
          <p:cNvSpPr txBox="1"/>
          <p:nvPr/>
        </p:nvSpPr>
        <p:spPr>
          <a:xfrm>
            <a:off x="6537960" y="22860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Enrollment</a:t>
            </a:r>
            <a:endParaRPr lang="en-US" sz="1000" dirty="0"/>
          </a:p>
        </p:txBody>
      </p:sp>
      <p:sp>
        <p:nvSpPr>
          <p:cNvPr id="27" name="Shape 24"/>
          <p:cNvSpPr/>
          <p:nvPr/>
        </p:nvSpPr>
        <p:spPr>
          <a:xfrm>
            <a:off x="8275320" y="2304288"/>
            <a:ext cx="3108960" cy="274320"/>
          </a:xfrm>
          <a:prstGeom prst="rect">
            <a:avLst/>
          </a:prstGeom>
          <a:solidFill>
            <a:srgbClr val="FFFFFF"/>
          </a:solidFill>
          <a:ln w="9525">
            <a:solidFill>
              <a:srgbClr val="D6DEE8"/>
            </a:solidFill>
            <a:prstDash val="solid"/>
          </a:ln>
        </p:spPr>
      </p:sp>
      <p:sp>
        <p:nvSpPr>
          <p:cNvPr id="28" name="Text 25"/>
          <p:cNvSpPr txBox="1"/>
          <p:nvPr/>
        </p:nvSpPr>
        <p:spPr>
          <a:xfrm>
            <a:off x="8366760" y="23042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08/14/2026 · consent signed by HCP (Susan) 08/14</a:t>
            </a:r>
            <a:endParaRPr lang="en-US" sz="1000" dirty="0"/>
          </a:p>
        </p:txBody>
      </p:sp>
      <p:sp>
        <p:nvSpPr>
          <p:cNvPr id="29" name="Text 26"/>
          <p:cNvSpPr txBox="1"/>
          <p:nvPr/>
        </p:nvSpPr>
        <p:spPr>
          <a:xfrm>
            <a:off x="6537960" y="265176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Assessment</a:t>
            </a:r>
            <a:endParaRPr lang="en-US" sz="1000" dirty="0"/>
          </a:p>
        </p:txBody>
      </p:sp>
      <p:sp>
        <p:nvSpPr>
          <p:cNvPr id="30" name="Shape 27"/>
          <p:cNvSpPr/>
          <p:nvPr/>
        </p:nvSpPr>
        <p:spPr>
          <a:xfrm>
            <a:off x="8275320" y="2670048"/>
            <a:ext cx="3108960" cy="274320"/>
          </a:xfrm>
          <a:prstGeom prst="rect">
            <a:avLst/>
          </a:prstGeom>
          <a:solidFill>
            <a:srgbClr val="FFFFFF"/>
          </a:solidFill>
          <a:ln w="9525">
            <a:solidFill>
              <a:srgbClr val="D6DEE8"/>
            </a:solidFill>
            <a:prstDash val="solid"/>
          </a:ln>
        </p:spPr>
      </p:sp>
      <p:sp>
        <p:nvSpPr>
          <p:cNvPr id="31" name="Text 28"/>
          <p:cNvSpPr txBox="1"/>
          <p:nvPr/>
        </p:nvSpPr>
        <p:spPr>
          <a:xfrm>
            <a:off x="8366760" y="267004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GUIDE Comp. Assessment PDF 08/20 · Zarit 09/24</a:t>
            </a:r>
            <a:endParaRPr lang="en-US" sz="1000" dirty="0"/>
          </a:p>
        </p:txBody>
      </p:sp>
      <p:sp>
        <p:nvSpPr>
          <p:cNvPr id="32" name="Text 29"/>
          <p:cNvSpPr txBox="1"/>
          <p:nvPr/>
        </p:nvSpPr>
        <p:spPr>
          <a:xfrm>
            <a:off x="6537960" y="301752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Care plan</a:t>
            </a:r>
            <a:endParaRPr lang="en-US" sz="1000" dirty="0"/>
          </a:p>
        </p:txBody>
      </p:sp>
      <p:sp>
        <p:nvSpPr>
          <p:cNvPr id="33" name="Shape 30"/>
          <p:cNvSpPr/>
          <p:nvPr/>
        </p:nvSpPr>
        <p:spPr>
          <a:xfrm>
            <a:off x="8275320" y="3035808"/>
            <a:ext cx="3108960" cy="274320"/>
          </a:xfrm>
          <a:prstGeom prst="rect">
            <a:avLst/>
          </a:prstGeom>
          <a:solidFill>
            <a:srgbClr val="FFF6D6"/>
          </a:solidFill>
          <a:ln w="15875">
            <a:solidFill>
              <a:srgbClr val="F1C232"/>
            </a:solidFill>
            <a:prstDash val="solid"/>
          </a:ln>
        </p:spPr>
      </p:sp>
      <p:sp>
        <p:nvSpPr>
          <p:cNvPr id="34" name="Text 31"/>
          <p:cNvSpPr txBox="1"/>
          <p:nvPr/>
        </p:nvSpPr>
        <p:spPr>
          <a:xfrm>
            <a:off x="8366760" y="303580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Active plan 08/20 · Care Plan Audit reviewed 09/19 · Care Plan Letter to portal 09/19</a:t>
            </a:r>
            <a:endParaRPr lang="en-US" sz="1000" dirty="0"/>
          </a:p>
        </p:txBody>
      </p:sp>
      <p:sp>
        <p:nvSpPr>
          <p:cNvPr id="35" name="Text 32"/>
          <p:cNvSpPr txBox="1"/>
          <p:nvPr/>
        </p:nvSpPr>
        <p:spPr>
          <a:xfrm>
            <a:off x="6537960" y="338328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CM Events</a:t>
            </a:r>
            <a:endParaRPr lang="en-US" sz="1000" dirty="0"/>
          </a:p>
        </p:txBody>
      </p:sp>
      <p:sp>
        <p:nvSpPr>
          <p:cNvPr id="36" name="Shape 33"/>
          <p:cNvSpPr/>
          <p:nvPr/>
        </p:nvSpPr>
        <p:spPr>
          <a:xfrm>
            <a:off x="8275320" y="3401568"/>
            <a:ext cx="3108960" cy="274320"/>
          </a:xfrm>
          <a:prstGeom prst="rect">
            <a:avLst/>
          </a:prstGeom>
          <a:solidFill>
            <a:srgbClr val="FFFFFF"/>
          </a:solidFill>
          <a:ln w="9525">
            <a:solidFill>
              <a:srgbClr val="D6DEE8"/>
            </a:solidFill>
            <a:prstDash val="solid"/>
          </a:ln>
        </p:spPr>
      </p:sp>
      <p:sp>
        <p:nvSpPr>
          <p:cNvPr id="37" name="Text 34"/>
          <p:cNvSpPr txBox="1"/>
          <p:nvPr/>
        </p:nvSpPr>
        <p:spPr>
          <a:xfrm>
            <a:off x="8366760" y="340156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09/05 (18m) · 09/12 (11m) · 09/24 (27m) = 56 min · CNV forms filed</a:t>
            </a:r>
            <a:endParaRPr lang="en-US" sz="1000" dirty="0"/>
          </a:p>
        </p:txBody>
      </p:sp>
      <p:sp>
        <p:nvSpPr>
          <p:cNvPr id="38" name="Text 35"/>
          <p:cNvSpPr txBox="1"/>
          <p:nvPr/>
        </p:nvSpPr>
        <p:spPr>
          <a:xfrm>
            <a:off x="6537960" y="374904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24/7 line</a:t>
            </a:r>
            <a:endParaRPr lang="en-US" sz="1000" dirty="0"/>
          </a:p>
        </p:txBody>
      </p:sp>
      <p:sp>
        <p:nvSpPr>
          <p:cNvPr id="39" name="Shape 36"/>
          <p:cNvSpPr/>
          <p:nvPr/>
        </p:nvSpPr>
        <p:spPr>
          <a:xfrm>
            <a:off x="8275320" y="3767328"/>
            <a:ext cx="3108960" cy="274320"/>
          </a:xfrm>
          <a:prstGeom prst="rect">
            <a:avLst/>
          </a:prstGeom>
          <a:solidFill>
            <a:srgbClr val="FFFFFF"/>
          </a:solidFill>
          <a:ln w="9525">
            <a:solidFill>
              <a:srgbClr val="D6DEE8"/>
            </a:solidFill>
            <a:prstDash val="solid"/>
          </a:ln>
        </p:spPr>
      </p:sp>
      <p:sp>
        <p:nvSpPr>
          <p:cNvPr id="40" name="Text 37"/>
          <p:cNvSpPr txBox="1"/>
          <p:nvPr/>
        </p:nvSpPr>
        <p:spPr>
          <a:xfrm>
            <a:off x="8366760" y="376732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Provided 08/20; reconfirmed 09/19</a:t>
            </a:r>
            <a:endParaRPr lang="en-US" sz="1000" dirty="0"/>
          </a:p>
        </p:txBody>
      </p:sp>
      <p:sp>
        <p:nvSpPr>
          <p:cNvPr id="41" name="Text 38"/>
          <p:cNvSpPr txBox="1"/>
          <p:nvPr/>
        </p:nvSpPr>
        <p:spPr>
          <a:xfrm>
            <a:off x="6537960" y="41148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Gaps</a:t>
            </a:r>
            <a:endParaRPr lang="en-US" sz="1000" dirty="0"/>
          </a:p>
        </p:txBody>
      </p:sp>
      <p:sp>
        <p:nvSpPr>
          <p:cNvPr id="42" name="Shape 39"/>
          <p:cNvSpPr/>
          <p:nvPr/>
        </p:nvSpPr>
        <p:spPr>
          <a:xfrm>
            <a:off x="8275320" y="4133088"/>
            <a:ext cx="3108960" cy="274320"/>
          </a:xfrm>
          <a:prstGeom prst="rect">
            <a:avLst/>
          </a:prstGeom>
          <a:solidFill>
            <a:srgbClr val="FFF6D6"/>
          </a:solidFill>
          <a:ln w="15875">
            <a:solidFill>
              <a:srgbClr val="F1C232"/>
            </a:solidFill>
            <a:prstDash val="solid"/>
          </a:ln>
        </p:spPr>
      </p:sp>
      <p:sp>
        <p:nvSpPr>
          <p:cNvPr id="43" name="Text 40"/>
          <p:cNvSpPr txBox="1"/>
          <p:nvPr/>
        </p:nvSpPr>
        <p:spPr>
          <a:xfrm>
            <a:off x="8366760" y="41330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None this month</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TIPS &amp; PITFALLS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Audit readiness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18</a:t>
            </a:r>
            <a:endParaRPr lang="en-US" sz="900" dirty="0"/>
          </a:p>
        </p:txBody>
      </p:sp>
      <p:sp>
        <p:nvSpPr>
          <p:cNvPr id="7" name="Shape 4"/>
          <p:cNvSpPr/>
          <p:nvPr/>
        </p:nvSpPr>
        <p:spPr>
          <a:xfrm>
            <a:off x="548640" y="1691640"/>
            <a:ext cx="5394960" cy="4434840"/>
          </a:xfrm>
          <a:prstGeom prst="roundRect">
            <a:avLst>
              <a:gd name="adj" fmla="val 2062"/>
            </a:avLst>
          </a:prstGeom>
          <a:solidFill>
            <a:srgbClr val="EEF2E8"/>
          </a:solidFill>
          <a:ln w="12700">
            <a:solidFill>
              <a:srgbClr val="EEF2E8"/>
            </a:solidFill>
            <a:prstDash val="solid"/>
          </a:ln>
        </p:spPr>
      </p:sp>
      <p:pic>
        <p:nvPicPr>
          <p:cNvPr id="8" name="Image 1" descr="preencoded.png">    </p:cNvPr>
          <p:cNvPicPr>
            <a:picLocks noChangeAspect="1"/>
          </p:cNvPicPr>
          <p:nvPr/>
        </p:nvPicPr>
        <p:blipFill>
          <a:blip r:embed="rId2"/>
          <a:stretch>
            <a:fillRect/>
          </a:stretch>
        </p:blipFill>
        <p:spPr>
          <a:xfrm>
            <a:off x="822960" y="1965960"/>
            <a:ext cx="411480" cy="411480"/>
          </a:xfrm>
          <a:prstGeom prst="rect">
            <a:avLst/>
          </a:prstGeom>
        </p:spPr>
      </p:pic>
      <p:sp>
        <p:nvSpPr>
          <p:cNvPr id="9" name="Text 5"/>
          <p:cNvSpPr txBox="1"/>
          <p:nvPr/>
        </p:nvSpPr>
        <p:spPr>
          <a:xfrm>
            <a:off x="1371600" y="1920240"/>
            <a:ext cx="4389120" cy="502920"/>
          </a:xfrm>
          <a:prstGeom prst="rect">
            <a:avLst/>
          </a:prstGeom>
          <a:noFill/>
          <a:ln/>
        </p:spPr>
        <p:txBody>
          <a:bodyPr wrap="square" lIns="0" tIns="0" rIns="0" bIns="0" rtlCol="0" anchor="ctr"/>
          <a:lstStyle/>
          <a:p>
            <a:pPr indent="0" marL="0">
              <a:buNone/>
            </a:pPr>
            <a:r>
              <a:rPr lang="en-US" sz="2000" b="1" dirty="0">
                <a:solidFill>
                  <a:srgbClr val="586C47"/>
                </a:solidFill>
                <a:latin typeface="Cambria" pitchFamily="34" charset="0"/>
                <a:ea typeface="Cambria" pitchFamily="34" charset="-122"/>
                <a:cs typeface="Cambria" pitchFamily="34" charset="-120"/>
              </a:rPr>
              <a:t>Do this</a:t>
            </a:r>
            <a:endParaRPr lang="en-US" sz="2000" dirty="0"/>
          </a:p>
        </p:txBody>
      </p:sp>
      <p:sp>
        <p:nvSpPr>
          <p:cNvPr id="10" name="Text 6"/>
          <p:cNvSpPr txBox="1"/>
          <p:nvPr/>
        </p:nvSpPr>
        <p:spPr>
          <a:xfrm>
            <a:off x="822960"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Audit yourself monthly on a small sample before someone else does.</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Fix processes, not just charts: if one chart is missing consent dates, others probably are.</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Keep templates current with program requirements; ask when they change.</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When an audit request arrives, respond through your supervisor with the exact records requested — nothing more.</a:t>
            </a:r>
            <a:endParaRPr lang="en-US" sz="1250" dirty="0"/>
          </a:p>
        </p:txBody>
      </p:sp>
      <p:sp>
        <p:nvSpPr>
          <p:cNvPr id="11" name="Shape 7"/>
          <p:cNvSpPr/>
          <p:nvPr/>
        </p:nvSpPr>
        <p:spPr>
          <a:xfrm>
            <a:off x="6245352" y="1691640"/>
            <a:ext cx="5394960" cy="4434840"/>
          </a:xfrm>
          <a:prstGeom prst="roundRect">
            <a:avLst>
              <a:gd name="adj" fmla="val 2062"/>
            </a:avLst>
          </a:prstGeom>
          <a:solidFill>
            <a:srgbClr val="FBEDEA"/>
          </a:solidFill>
          <a:ln w="12700">
            <a:solidFill>
              <a:srgbClr val="FBEDEA"/>
            </a:solidFill>
            <a:prstDash val="solid"/>
          </a:ln>
        </p:spPr>
      </p:sp>
      <p:pic>
        <p:nvPicPr>
          <p:cNvPr id="12" name="Image 2" descr="preencoded.png">    </p:cNvPr>
          <p:cNvPicPr>
            <a:picLocks noChangeAspect="1"/>
          </p:cNvPicPr>
          <p:nvPr/>
        </p:nvPicPr>
        <p:blipFill>
          <a:blip r:embed="rId3"/>
          <a:stretch>
            <a:fillRect/>
          </a:stretch>
        </p:blipFill>
        <p:spPr>
          <a:xfrm>
            <a:off x="6519672" y="1965960"/>
            <a:ext cx="411480" cy="411480"/>
          </a:xfrm>
          <a:prstGeom prst="rect">
            <a:avLst/>
          </a:prstGeom>
        </p:spPr>
      </p:pic>
      <p:sp>
        <p:nvSpPr>
          <p:cNvPr id="13" name="Text 8"/>
          <p:cNvSpPr txBox="1"/>
          <p:nvPr/>
        </p:nvSpPr>
        <p:spPr>
          <a:xfrm>
            <a:off x="7068312" y="1920240"/>
            <a:ext cx="4389120" cy="502920"/>
          </a:xfrm>
          <a:prstGeom prst="rect">
            <a:avLst/>
          </a:prstGeom>
          <a:noFill/>
          <a:ln/>
        </p:spPr>
        <p:txBody>
          <a:bodyPr wrap="square" lIns="0" tIns="0" rIns="0" bIns="0" rtlCol="0" anchor="ctr"/>
          <a:lstStyle/>
          <a:p>
            <a:pPr indent="0" marL="0">
              <a:buNone/>
            </a:pPr>
            <a:r>
              <a:rPr lang="en-US" sz="2000" b="1" dirty="0">
                <a:solidFill>
                  <a:srgbClr val="A33A2B"/>
                </a:solidFill>
                <a:latin typeface="Cambria" pitchFamily="34" charset="0"/>
                <a:ea typeface="Cambria" pitchFamily="34" charset="-122"/>
                <a:cs typeface="Cambria" pitchFamily="34" charset="-120"/>
              </a:rPr>
              <a:t>Watch out for</a:t>
            </a:r>
            <a:endParaRPr lang="en-US" sz="2000" dirty="0"/>
          </a:p>
        </p:txBody>
      </p:sp>
      <p:sp>
        <p:nvSpPr>
          <p:cNvPr id="14" name="Text 9"/>
          <p:cNvSpPr txBox="1"/>
          <p:nvPr/>
        </p:nvSpPr>
        <p:spPr>
          <a:xfrm>
            <a:off x="6519672"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Backdating or 'reconstructing' documentation for a past month.</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Sending an auditor the whole chart when three documents were requested.</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Assuming another team member documented the consent.</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Treating audit findings as personal criticism rather than process information.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5</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Quality assurance: self-audits and peer review</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Checking your own work is how the standard becomes a habit.</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QA ROUTINE</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A monthly self-audit</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20</a:t>
            </a:r>
            <a:endParaRPr lang="en-US" sz="900" dirty="0"/>
          </a:p>
        </p:txBody>
      </p:sp>
      <p:sp>
        <p:nvSpPr>
          <p:cNvPr id="7" name="Shape 4"/>
          <p:cNvSpPr/>
          <p:nvPr/>
        </p:nvSpPr>
        <p:spPr>
          <a:xfrm>
            <a:off x="548640" y="1691640"/>
            <a:ext cx="5408676"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Pick five charts</a:t>
            </a:r>
            <a:endParaRPr lang="en-US" sz="1500" dirty="0"/>
          </a:p>
        </p:txBody>
      </p:sp>
      <p:sp>
        <p:nvSpPr>
          <p:cNvPr id="11" name="Text 7"/>
          <p:cNvSpPr txBox="1"/>
          <p:nvPr/>
        </p:nvSpPr>
        <p:spPr>
          <a:xfrm>
            <a:off x="777240"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Two you touched most, two you touched least, one at random from your caseload.</a:t>
            </a:r>
            <a:endParaRPr lang="en-US" sz="1150" dirty="0"/>
          </a:p>
        </p:txBody>
      </p:sp>
      <p:sp>
        <p:nvSpPr>
          <p:cNvPr id="12" name="Shape 8"/>
          <p:cNvSpPr/>
          <p:nvPr/>
        </p:nvSpPr>
        <p:spPr>
          <a:xfrm>
            <a:off x="6231636" y="1691640"/>
            <a:ext cx="5408676"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6460236"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6579108" y="2039112"/>
            <a:ext cx="310896" cy="310896"/>
          </a:xfrm>
          <a:prstGeom prst="rect">
            <a:avLst/>
          </a:prstGeom>
        </p:spPr>
      </p:pic>
      <p:sp>
        <p:nvSpPr>
          <p:cNvPr id="15" name="Text 10"/>
          <p:cNvSpPr txBox="1"/>
          <p:nvPr/>
        </p:nvSpPr>
        <p:spPr>
          <a:xfrm>
            <a:off x="7146036"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Run the checklist</a:t>
            </a:r>
            <a:endParaRPr lang="en-US" sz="1500" dirty="0"/>
          </a:p>
        </p:txBody>
      </p:sp>
      <p:sp>
        <p:nvSpPr>
          <p:cNvPr id="16" name="Text 11"/>
          <p:cNvSpPr txBox="1"/>
          <p:nvPr/>
        </p:nvSpPr>
        <p:spPr>
          <a:xfrm>
            <a:off x="6460236"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Contacts current and authorized? Alerts accurate? Open cases have next dates? Care plan reviewed on time? Contact log complete? Open orders under threshold?</a:t>
            </a:r>
            <a:endParaRPr lang="en-US" sz="1150" dirty="0"/>
          </a:p>
        </p:txBody>
      </p:sp>
      <p:sp>
        <p:nvSpPr>
          <p:cNvPr id="17" name="Shape 12"/>
          <p:cNvSpPr/>
          <p:nvPr/>
        </p:nvSpPr>
        <p:spPr>
          <a:xfrm>
            <a:off x="548640" y="4046220"/>
            <a:ext cx="5408676"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777240" y="427482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96112" y="4393692"/>
            <a:ext cx="310896" cy="310896"/>
          </a:xfrm>
          <a:prstGeom prst="rect">
            <a:avLst/>
          </a:prstGeom>
        </p:spPr>
      </p:pic>
      <p:sp>
        <p:nvSpPr>
          <p:cNvPr id="20" name="Text 14"/>
          <p:cNvSpPr txBox="1"/>
          <p:nvPr/>
        </p:nvSpPr>
        <p:spPr>
          <a:xfrm>
            <a:off x="1463040"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Score and trend</a:t>
            </a:r>
            <a:endParaRPr lang="en-US" sz="1500" dirty="0"/>
          </a:p>
        </p:txBody>
      </p:sp>
      <p:sp>
        <p:nvSpPr>
          <p:cNvPr id="21" name="Text 15"/>
          <p:cNvSpPr txBox="1"/>
          <p:nvPr/>
        </p:nvSpPr>
        <p:spPr>
          <a:xfrm>
            <a:off x="777240"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Count items met out of items checked. Track month over month. Share with your supervisor.</a:t>
            </a:r>
            <a:endParaRPr lang="en-US" sz="1150" dirty="0"/>
          </a:p>
        </p:txBody>
      </p:sp>
      <p:sp>
        <p:nvSpPr>
          <p:cNvPr id="22" name="Shape 16"/>
          <p:cNvSpPr/>
          <p:nvPr/>
        </p:nvSpPr>
        <p:spPr>
          <a:xfrm>
            <a:off x="6231636" y="4046220"/>
            <a:ext cx="5408676" cy="2080260"/>
          </a:xfrm>
          <a:prstGeom prst="roundRect">
            <a:avLst>
              <a:gd name="adj" fmla="val 4396"/>
            </a:avLst>
          </a:prstGeom>
          <a:solidFill>
            <a:srgbClr val="EEF2E8"/>
          </a:solidFill>
          <a:ln w="12700">
            <a:solidFill>
              <a:srgbClr val="EEF2E8"/>
            </a:solidFill>
            <a:prstDash val="solid"/>
          </a:ln>
        </p:spPr>
      </p:sp>
      <p:sp>
        <p:nvSpPr>
          <p:cNvPr id="23" name="Shape 17"/>
          <p:cNvSpPr/>
          <p:nvPr/>
        </p:nvSpPr>
        <p:spPr>
          <a:xfrm>
            <a:off x="6460236"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6579108" y="4393692"/>
            <a:ext cx="310896" cy="310896"/>
          </a:xfrm>
          <a:prstGeom prst="rect">
            <a:avLst/>
          </a:prstGeom>
        </p:spPr>
      </p:pic>
      <p:sp>
        <p:nvSpPr>
          <p:cNvPr id="25" name="Text 18"/>
          <p:cNvSpPr txBox="1"/>
          <p:nvPr/>
        </p:nvSpPr>
        <p:spPr>
          <a:xfrm>
            <a:off x="7146036"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Peer review</a:t>
            </a:r>
            <a:endParaRPr lang="en-US" sz="1500" dirty="0"/>
          </a:p>
        </p:txBody>
      </p:sp>
      <p:sp>
        <p:nvSpPr>
          <p:cNvPr id="26" name="Text 19"/>
          <p:cNvSpPr txBox="1"/>
          <p:nvPr/>
        </p:nvSpPr>
        <p:spPr>
          <a:xfrm>
            <a:off x="6460236"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Swap one chart with a colleague quarterly. Fresh eyes find what you've stopped seeing.</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CHECKLIST</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Navigator chart-review checklist</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21</a:t>
            </a:r>
            <a:endParaRPr lang="en-US" sz="900" dirty="0"/>
          </a:p>
        </p:txBody>
      </p:sp>
      <p:sp>
        <p:nvSpPr>
          <p:cNvPr id="7" name="Text 4"/>
          <p:cNvSpPr txBox="1"/>
          <p:nvPr/>
        </p:nvSpPr>
        <p:spPr>
          <a:xfrm>
            <a:off x="548640" y="1691640"/>
            <a:ext cx="6217920" cy="438912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Banner verified; no evidence of wrong-chart entries</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At least one caregiver contact with role, phone, and authorization status; ROI dates current</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Communication preferences set; consent per channel documented</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Practice alerts accurate and current</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No open patient cases older than 7 days without a note and next date</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Active Care Plan reviewed within cadence; Care Team Tasks have owners and dates</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Care Management Events have date, duration, type, summary naming the Health Concern; a Care Navigator Visit form is filed for each</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No open orders/referrals past the threshold without a documented action</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Documents classified correctly; no unmatched results</a:t>
            </a:r>
            <a:endParaRPr lang="en-US" sz="1400" dirty="0"/>
          </a:p>
        </p:txBody>
      </p:sp>
      <p:sp>
        <p:nvSpPr>
          <p:cNvPr id="8" name="Shape 5"/>
          <p:cNvSpPr/>
          <p:nvPr/>
        </p:nvSpPr>
        <p:spPr>
          <a:xfrm>
            <a:off x="7223760" y="1691640"/>
            <a:ext cx="4434840" cy="4389120"/>
          </a:xfrm>
          <a:prstGeom prst="roundRect">
            <a:avLst>
              <a:gd name="adj" fmla="val 2500"/>
            </a:avLst>
          </a:prstGeom>
          <a:solidFill>
            <a:srgbClr val="1E4A87"/>
          </a:solidFill>
          <a:ln w="12700">
            <a:solidFill>
              <a:srgbClr val="1E4A87"/>
            </a:solidFill>
            <a:prstDash val="solid"/>
          </a:ln>
        </p:spPr>
      </p:sp>
      <p:pic>
        <p:nvPicPr>
          <p:cNvPr id="9" name="Image 1" descr="preencoded.png">    </p:cNvPr>
          <p:cNvPicPr>
            <a:picLocks noChangeAspect="1"/>
          </p:cNvPicPr>
          <p:nvPr/>
        </p:nvPicPr>
        <p:blipFill>
          <a:blip r:embed="rId2"/>
          <a:stretch>
            <a:fillRect/>
          </a:stretch>
        </p:blipFill>
        <p:spPr>
          <a:xfrm>
            <a:off x="7543800" y="2011680"/>
            <a:ext cx="548640" cy="548640"/>
          </a:xfrm>
          <a:prstGeom prst="rect">
            <a:avLst/>
          </a:prstGeom>
        </p:spPr>
      </p:pic>
      <p:sp>
        <p:nvSpPr>
          <p:cNvPr id="10" name="Text 6"/>
          <p:cNvSpPr txBox="1"/>
          <p:nvPr/>
        </p:nvSpPr>
        <p:spPr>
          <a:xfrm>
            <a:off x="7543800" y="2697480"/>
            <a:ext cx="3794760" cy="73152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The goal</a:t>
            </a:r>
            <a:endParaRPr lang="en-US" sz="2000" dirty="0"/>
          </a:p>
        </p:txBody>
      </p:sp>
      <p:sp>
        <p:nvSpPr>
          <p:cNvPr id="11" name="Text 7"/>
          <p:cNvSpPr txBox="1"/>
          <p:nvPr/>
        </p:nvSpPr>
        <p:spPr>
          <a:xfrm>
            <a:off x="7543800" y="3474720"/>
            <a:ext cx="3794760" cy="2286000"/>
          </a:xfrm>
          <a:prstGeom prst="rect">
            <a:avLst/>
          </a:prstGeom>
          <a:noFill/>
          <a:ln/>
        </p:spPr>
        <p:txBody>
          <a:bodyPr wrap="square" lIns="0" tIns="0" rIns="0" bIns="0" rtlCol="0" anchor="t"/>
          <a:lstStyle/>
          <a:p>
            <a:pPr indent="0" marL="0">
              <a:buNone/>
            </a:pPr>
            <a:r>
              <a:rPr lang="en-US" sz="1250" dirty="0">
                <a:solidFill>
                  <a:srgbClr val="EAF1FA"/>
                </a:solidFill>
                <a:latin typeface="Calibri" pitchFamily="34" charset="0"/>
                <a:ea typeface="Calibri" pitchFamily="34" charset="-122"/>
                <a:cs typeface="Calibri" pitchFamily="34" charset="-120"/>
              </a:rPr>
              <a:t>Not a perfect score — an honest one, improving each month, with the fixes turned into habits.</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6</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Scenario, knowledge checks, and takeaways</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Apply the module.</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PRACTICE SCENARIO</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The helpful neighbor and the misdirected fax</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23</a:t>
            </a:r>
            <a:endParaRPr lang="en-US" sz="900" dirty="0"/>
          </a:p>
        </p:txBody>
      </p:sp>
      <p:sp>
        <p:nvSpPr>
          <p:cNvPr id="7" name="Shape 4"/>
          <p:cNvSpPr/>
          <p:nvPr/>
        </p:nvSpPr>
        <p:spPr>
          <a:xfrm>
            <a:off x="548640" y="1691640"/>
            <a:ext cx="6035040" cy="4434840"/>
          </a:xfrm>
          <a:prstGeom prst="roundRect">
            <a:avLst>
              <a:gd name="adj" fmla="val 2474"/>
            </a:avLst>
          </a:prstGeom>
          <a:solidFill>
            <a:srgbClr val="1E4A87"/>
          </a:solidFill>
          <a:ln w="12700">
            <a:solidFill>
              <a:srgbClr val="1E4A87"/>
            </a:solidFill>
            <a:prstDash val="solid"/>
          </a:ln>
        </p:spPr>
      </p:sp>
      <p:pic>
        <p:nvPicPr>
          <p:cNvPr id="8" name="Image 1" descr="preencoded.png">    </p:cNvPr>
          <p:cNvPicPr>
            <a:picLocks noChangeAspect="1"/>
          </p:cNvPicPr>
          <p:nvPr/>
        </p:nvPicPr>
        <p:blipFill>
          <a:blip r:embed="rId2"/>
          <a:stretch>
            <a:fillRect/>
          </a:stretch>
        </p:blipFill>
        <p:spPr>
          <a:xfrm>
            <a:off x="868680" y="2011680"/>
            <a:ext cx="502920" cy="502920"/>
          </a:xfrm>
          <a:prstGeom prst="rect">
            <a:avLst/>
          </a:prstGeom>
        </p:spPr>
      </p:pic>
      <p:sp>
        <p:nvSpPr>
          <p:cNvPr id="9" name="Text 5"/>
          <p:cNvSpPr txBox="1"/>
          <p:nvPr/>
        </p:nvSpPr>
        <p:spPr>
          <a:xfrm>
            <a:off x="1554480" y="2011680"/>
            <a:ext cx="4572000" cy="502920"/>
          </a:xfrm>
          <a:prstGeom prst="rect">
            <a:avLst/>
          </a:prstGeom>
          <a:noFill/>
          <a:ln/>
        </p:spPr>
        <p:txBody>
          <a:bodyPr wrap="square" lIns="0" tIns="0" rIns="0" bIns="0" rtlCol="0" anchor="ctr"/>
          <a:lstStyle/>
          <a:p>
            <a:pPr indent="0" marL="0">
              <a:buNone/>
            </a:pPr>
            <a:r>
              <a:rPr lang="en-US" sz="1200" b="1" spc="200" kern="0" dirty="0">
                <a:solidFill>
                  <a:srgbClr val="F1C232"/>
                </a:solidFill>
                <a:latin typeface="Calibri" pitchFamily="34" charset="0"/>
                <a:ea typeface="Calibri" pitchFamily="34" charset="-122"/>
                <a:cs typeface="Calibri" pitchFamily="34" charset="-120"/>
              </a:rPr>
              <a:t>THE SITUATION</a:t>
            </a:r>
            <a:endParaRPr lang="en-US" sz="1200" dirty="0"/>
          </a:p>
        </p:txBody>
      </p:sp>
      <p:sp>
        <p:nvSpPr>
          <p:cNvPr id="10" name="Text 6"/>
          <p:cNvSpPr txBox="1"/>
          <p:nvPr/>
        </p:nvSpPr>
        <p:spPr>
          <a:xfrm>
            <a:off x="868680" y="2697480"/>
            <a:ext cx="5394960" cy="32004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Two things happen on the same afternoon. First, a woman calls saying she's the neighbor of Harold Brooks, 'basically his caregiver,' and wants to know when his next visit is and 'what the doctor said about his memory.' She isn't in the chart. Second, you realize a discharge summary you faxed to a specialist office yesterday went to a wrong number — the office called to say they received a document for a patient they don't have.</a:t>
            </a:r>
            <a:endParaRPr lang="en-US" sz="1350" dirty="0"/>
          </a:p>
        </p:txBody>
      </p:sp>
      <p:sp>
        <p:nvSpPr>
          <p:cNvPr id="11" name="Text 7"/>
          <p:cNvSpPr txBox="1"/>
          <p:nvPr/>
        </p:nvSpPr>
        <p:spPr>
          <a:xfrm>
            <a:off x="6949440" y="1737360"/>
            <a:ext cx="4754880" cy="457200"/>
          </a:xfrm>
          <a:prstGeom prst="rect">
            <a:avLst/>
          </a:prstGeom>
          <a:noFill/>
          <a:ln/>
        </p:spPr>
        <p:txBody>
          <a:bodyPr wrap="square" lIns="0" tIns="0" rIns="0" bIns="0" rtlCol="0" anchor="ctr"/>
          <a:lstStyle/>
          <a:p>
            <a:pPr indent="0" marL="0">
              <a:buNone/>
            </a:pPr>
            <a:r>
              <a:rPr lang="en-US" sz="1800" b="1" dirty="0">
                <a:solidFill>
                  <a:srgbClr val="586C47"/>
                </a:solidFill>
                <a:latin typeface="Cambria" pitchFamily="34" charset="0"/>
                <a:ea typeface="Cambria" pitchFamily="34" charset="-122"/>
                <a:cs typeface="Cambria" pitchFamily="34" charset="-120"/>
              </a:rPr>
              <a:t>Pause and think through:</a:t>
            </a:r>
            <a:endParaRPr lang="en-US" sz="1800" dirty="0"/>
          </a:p>
        </p:txBody>
      </p:sp>
      <p:sp>
        <p:nvSpPr>
          <p:cNvPr id="12" name="Shape 8"/>
          <p:cNvSpPr/>
          <p:nvPr/>
        </p:nvSpPr>
        <p:spPr>
          <a:xfrm>
            <a:off x="6949440" y="2377440"/>
            <a:ext cx="365760" cy="365760"/>
          </a:xfrm>
          <a:prstGeom prst="ellipse">
            <a:avLst/>
          </a:prstGeom>
          <a:solidFill>
            <a:srgbClr val="586C47"/>
          </a:solidFill>
          <a:ln w="12700">
            <a:solidFill>
              <a:srgbClr val="586C47"/>
            </a:solidFill>
            <a:prstDash val="solid"/>
          </a:ln>
        </p:spPr>
      </p:sp>
      <p:sp>
        <p:nvSpPr>
          <p:cNvPr id="13" name="Text 9"/>
          <p:cNvSpPr txBox="1"/>
          <p:nvPr/>
        </p:nvSpPr>
        <p:spPr>
          <a:xfrm>
            <a:off x="6949440" y="23774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0"/>
          <p:cNvSpPr txBox="1"/>
          <p:nvPr/>
        </p:nvSpPr>
        <p:spPr>
          <a:xfrm>
            <a:off x="7452360" y="2331720"/>
            <a:ext cx="420624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How do you handle the neighbor's call — what can you say, and what do you document?</a:t>
            </a:r>
            <a:endParaRPr lang="en-US" sz="1300" dirty="0"/>
          </a:p>
        </p:txBody>
      </p:sp>
      <p:sp>
        <p:nvSpPr>
          <p:cNvPr id="15" name="Shape 11"/>
          <p:cNvSpPr/>
          <p:nvPr/>
        </p:nvSpPr>
        <p:spPr>
          <a:xfrm>
            <a:off x="6949440" y="3337560"/>
            <a:ext cx="365760" cy="365760"/>
          </a:xfrm>
          <a:prstGeom prst="ellipse">
            <a:avLst/>
          </a:prstGeom>
          <a:solidFill>
            <a:srgbClr val="586C47"/>
          </a:solidFill>
          <a:ln w="12700">
            <a:solidFill>
              <a:srgbClr val="586C47"/>
            </a:solidFill>
            <a:prstDash val="solid"/>
          </a:ln>
        </p:spPr>
      </p:sp>
      <p:sp>
        <p:nvSpPr>
          <p:cNvPr id="16" name="Text 12"/>
          <p:cNvSpPr txBox="1"/>
          <p:nvPr/>
        </p:nvSpPr>
        <p:spPr>
          <a:xfrm>
            <a:off x="6949440" y="33375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3"/>
          <p:cNvSpPr txBox="1"/>
          <p:nvPr/>
        </p:nvSpPr>
        <p:spPr>
          <a:xfrm>
            <a:off x="7452360" y="3291840"/>
            <a:ext cx="420624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are your immediate steps on the misdirected fax?</a:t>
            </a:r>
            <a:endParaRPr lang="en-US" sz="1300" dirty="0"/>
          </a:p>
        </p:txBody>
      </p:sp>
      <p:sp>
        <p:nvSpPr>
          <p:cNvPr id="18" name="Shape 14"/>
          <p:cNvSpPr/>
          <p:nvPr/>
        </p:nvSpPr>
        <p:spPr>
          <a:xfrm>
            <a:off x="6949440" y="4297680"/>
            <a:ext cx="365760" cy="365760"/>
          </a:xfrm>
          <a:prstGeom prst="ellipse">
            <a:avLst/>
          </a:prstGeom>
          <a:solidFill>
            <a:srgbClr val="586C47"/>
          </a:solidFill>
          <a:ln w="12700">
            <a:solidFill>
              <a:srgbClr val="586C47"/>
            </a:solidFill>
            <a:prstDash val="solid"/>
          </a:ln>
        </p:spPr>
      </p:sp>
      <p:sp>
        <p:nvSpPr>
          <p:cNvPr id="19" name="Text 15"/>
          <p:cNvSpPr txBox="1"/>
          <p:nvPr/>
        </p:nvSpPr>
        <p:spPr>
          <a:xfrm>
            <a:off x="6949440" y="42976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6"/>
          <p:cNvSpPr txBox="1"/>
          <p:nvPr/>
        </p:nvSpPr>
        <p:spPr>
          <a:xfrm>
            <a:off x="7452360" y="4251960"/>
            <a:ext cx="420624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process improvements would you propose?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SCENARIO — A STRONG APPROACH</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Two compliance moments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24</a:t>
            </a:r>
            <a:endParaRPr lang="en-US" sz="900" dirty="0"/>
          </a:p>
        </p:txBody>
      </p:sp>
      <p:sp>
        <p:nvSpPr>
          <p:cNvPr id="7" name="Shape 4"/>
          <p:cNvSpPr/>
          <p:nvPr/>
        </p:nvSpPr>
        <p:spPr>
          <a:xfrm>
            <a:off x="548640" y="1691640"/>
            <a:ext cx="11091672" cy="670560"/>
          </a:xfrm>
          <a:prstGeom prst="roundRect">
            <a:avLst>
              <a:gd name="adj" fmla="val 10909"/>
            </a:avLst>
          </a:prstGeom>
          <a:solidFill>
            <a:srgbClr val="EEF2E8"/>
          </a:solidFill>
          <a:ln w="9525">
            <a:solidFill>
              <a:srgbClr val="EEF2E8"/>
            </a:solidFill>
            <a:prstDash val="solid"/>
          </a:ln>
        </p:spPr>
      </p:sp>
      <p:pic>
        <p:nvPicPr>
          <p:cNvPr id="8" name="Image 1" descr="preencoded.png">    </p:cNvPr>
          <p:cNvPicPr>
            <a:picLocks noChangeAspect="1"/>
          </p:cNvPicPr>
          <p:nvPr/>
        </p:nvPicPr>
        <p:blipFill>
          <a:blip r:embed="rId2"/>
          <a:stretch>
            <a:fillRect/>
          </a:stretch>
        </p:blipFill>
        <p:spPr>
          <a:xfrm>
            <a:off x="731520" y="1862328"/>
            <a:ext cx="329184" cy="329184"/>
          </a:xfrm>
          <a:prstGeom prst="rect">
            <a:avLst/>
          </a:prstGeom>
        </p:spPr>
      </p:pic>
      <p:sp>
        <p:nvSpPr>
          <p:cNvPr id="9" name="Text 5"/>
          <p:cNvSpPr txBox="1"/>
          <p:nvPr/>
        </p:nvSpPr>
        <p:spPr>
          <a:xfrm>
            <a:off x="1234440" y="1737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Verify before anything.  </a:t>
            </a:r>
            <a:pPr indent="0" marL="0">
              <a:buNone/>
            </a:pPr>
            <a:r>
              <a:rPr lang="en-US" sz="1150" dirty="0">
                <a:solidFill>
                  <a:srgbClr val="1F2933"/>
                </a:solidFill>
                <a:latin typeface="Calibri" pitchFamily="34" charset="0"/>
                <a:ea typeface="Calibri" pitchFamily="34" charset="-122"/>
                <a:cs typeface="Calibri" pitchFamily="34" charset="-120"/>
              </a:rPr>
              <a:t>The neighbor isn't in the chart. She can't receive PHI — including whether Harold is a patient. Say you can't confirm or share patient information and offer that the family can contact AbleLiving to add authorized contacts.</a:t>
            </a:r>
            <a:endParaRPr lang="en-US" sz="1150" dirty="0"/>
          </a:p>
        </p:txBody>
      </p:sp>
      <p:sp>
        <p:nvSpPr>
          <p:cNvPr id="10" name="Shape 6"/>
          <p:cNvSpPr/>
          <p:nvPr/>
        </p:nvSpPr>
        <p:spPr>
          <a:xfrm>
            <a:off x="548640" y="2453640"/>
            <a:ext cx="11091672" cy="670560"/>
          </a:xfrm>
          <a:prstGeom prst="roundRect">
            <a:avLst>
              <a:gd name="adj" fmla="val 10909"/>
            </a:avLst>
          </a:prstGeom>
          <a:solidFill>
            <a:srgbClr val="FFFFFF"/>
          </a:solidFill>
          <a:ln w="9525">
            <a:solidFill>
              <a:srgbClr val="D6DEE8"/>
            </a:solidFill>
            <a:prstDash val="solid"/>
          </a:ln>
        </p:spPr>
      </p:sp>
      <p:pic>
        <p:nvPicPr>
          <p:cNvPr id="11" name="Image 2" descr="preencoded.png">    </p:cNvPr>
          <p:cNvPicPr>
            <a:picLocks noChangeAspect="1"/>
          </p:cNvPicPr>
          <p:nvPr/>
        </p:nvPicPr>
        <p:blipFill>
          <a:blip r:embed="rId3"/>
          <a:stretch>
            <a:fillRect/>
          </a:stretch>
        </p:blipFill>
        <p:spPr>
          <a:xfrm>
            <a:off x="731520" y="2624328"/>
            <a:ext cx="329184" cy="329184"/>
          </a:xfrm>
          <a:prstGeom prst="rect">
            <a:avLst/>
          </a:prstGeom>
        </p:spPr>
      </p:pic>
      <p:sp>
        <p:nvSpPr>
          <p:cNvPr id="12" name="Text 7"/>
          <p:cNvSpPr txBox="1"/>
          <p:nvPr/>
        </p:nvSpPr>
        <p:spPr>
          <a:xfrm>
            <a:off x="1234440" y="2499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Be kind and useful within the rule.  </a:t>
            </a:r>
            <a:pPr indent="0" marL="0">
              <a:buNone/>
            </a:pPr>
            <a:r>
              <a:rPr lang="en-US" sz="1150" dirty="0">
                <a:solidFill>
                  <a:srgbClr val="1F2933"/>
                </a:solidFill>
                <a:latin typeface="Calibri" pitchFamily="34" charset="0"/>
                <a:ea typeface="Calibri" pitchFamily="34" charset="-122"/>
                <a:cs typeface="Calibri" pitchFamily="34" charset="-120"/>
              </a:rPr>
              <a:t>Take her name and number; tell her you'll pass along that she called to the appropriate person. Don't confirm anything else.</a:t>
            </a:r>
            <a:endParaRPr lang="en-US" sz="1150" dirty="0"/>
          </a:p>
        </p:txBody>
      </p:sp>
      <p:sp>
        <p:nvSpPr>
          <p:cNvPr id="13" name="Shape 8"/>
          <p:cNvSpPr/>
          <p:nvPr/>
        </p:nvSpPr>
        <p:spPr>
          <a:xfrm>
            <a:off x="548640" y="3215640"/>
            <a:ext cx="11091672" cy="670560"/>
          </a:xfrm>
          <a:prstGeom prst="roundRect">
            <a:avLst>
              <a:gd name="adj" fmla="val 10909"/>
            </a:avLst>
          </a:prstGeom>
          <a:solidFill>
            <a:srgbClr val="EEF2E8"/>
          </a:solidFill>
          <a:ln w="9525">
            <a:solidFill>
              <a:srgbClr val="EEF2E8"/>
            </a:solidFill>
            <a:prstDash val="solid"/>
          </a:ln>
        </p:spPr>
      </p:sp>
      <p:pic>
        <p:nvPicPr>
          <p:cNvPr id="14" name="Image 3" descr="preencoded.png">    </p:cNvPr>
          <p:cNvPicPr>
            <a:picLocks noChangeAspect="1"/>
          </p:cNvPicPr>
          <p:nvPr/>
        </p:nvPicPr>
        <p:blipFill>
          <a:blip r:embed="rId4"/>
          <a:stretch>
            <a:fillRect/>
          </a:stretch>
        </p:blipFill>
        <p:spPr>
          <a:xfrm>
            <a:off x="731520" y="3386328"/>
            <a:ext cx="329184" cy="329184"/>
          </a:xfrm>
          <a:prstGeom prst="rect">
            <a:avLst/>
          </a:prstGeom>
        </p:spPr>
      </p:pic>
      <p:sp>
        <p:nvSpPr>
          <p:cNvPr id="15" name="Text 9"/>
          <p:cNvSpPr txBox="1"/>
          <p:nvPr/>
        </p:nvSpPr>
        <p:spPr>
          <a:xfrm>
            <a:off x="1234440" y="3261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Document the call.  </a:t>
            </a:r>
            <a:pPr indent="0" marL="0">
              <a:buNone/>
            </a:pPr>
            <a:r>
              <a:rPr lang="en-US" sz="1150" dirty="0">
                <a:solidFill>
                  <a:srgbClr val="1F2933"/>
                </a:solidFill>
                <a:latin typeface="Calibri" pitchFamily="34" charset="0"/>
                <a:ea typeface="Calibri" pitchFamily="34" charset="-122"/>
                <a:cs typeface="Calibri" pitchFamily="34" charset="-120"/>
              </a:rPr>
              <a:t>Patient case (if Harold is a patient): caller, claimed relationship, what was requested, what was shared (nothing), guidance given. Route to the caregiver contact to decide on authorization.</a:t>
            </a:r>
            <a:endParaRPr lang="en-US" sz="1150" dirty="0"/>
          </a:p>
        </p:txBody>
      </p:sp>
      <p:sp>
        <p:nvSpPr>
          <p:cNvPr id="16" name="Shape 10"/>
          <p:cNvSpPr/>
          <p:nvPr/>
        </p:nvSpPr>
        <p:spPr>
          <a:xfrm>
            <a:off x="548640" y="3977640"/>
            <a:ext cx="11091672" cy="670560"/>
          </a:xfrm>
          <a:prstGeom prst="roundRect">
            <a:avLst>
              <a:gd name="adj" fmla="val 10909"/>
            </a:avLst>
          </a:prstGeom>
          <a:solidFill>
            <a:srgbClr val="FFFFFF"/>
          </a:solidFill>
          <a:ln w="9525">
            <a:solidFill>
              <a:srgbClr val="D6DEE8"/>
            </a:solidFill>
            <a:prstDash val="solid"/>
          </a:ln>
        </p:spPr>
      </p:sp>
      <p:pic>
        <p:nvPicPr>
          <p:cNvPr id="17" name="Image 4" descr="preencoded.png">    </p:cNvPr>
          <p:cNvPicPr>
            <a:picLocks noChangeAspect="1"/>
          </p:cNvPicPr>
          <p:nvPr/>
        </p:nvPicPr>
        <p:blipFill>
          <a:blip r:embed="rId5"/>
          <a:stretch>
            <a:fillRect/>
          </a:stretch>
        </p:blipFill>
        <p:spPr>
          <a:xfrm>
            <a:off x="731520" y="4148328"/>
            <a:ext cx="329184" cy="329184"/>
          </a:xfrm>
          <a:prstGeom prst="rect">
            <a:avLst/>
          </a:prstGeom>
        </p:spPr>
      </p:pic>
      <p:sp>
        <p:nvSpPr>
          <p:cNvPr id="18" name="Text 11"/>
          <p:cNvSpPr txBox="1"/>
          <p:nvPr/>
        </p:nvSpPr>
        <p:spPr>
          <a:xfrm>
            <a:off x="1234440" y="4023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Contain the fax.  </a:t>
            </a:r>
            <a:pPr indent="0" marL="0">
              <a:buNone/>
            </a:pPr>
            <a:r>
              <a:rPr lang="en-US" sz="1150" dirty="0">
                <a:solidFill>
                  <a:srgbClr val="1F2933"/>
                </a:solidFill>
                <a:latin typeface="Calibri" pitchFamily="34" charset="0"/>
                <a:ea typeface="Calibri" pitchFamily="34" charset="-122"/>
                <a:cs typeface="Calibri" pitchFamily="34" charset="-120"/>
              </a:rPr>
              <a:t>Ask the receiving office to destroy or return the document and confirm in writing. Record the fax number used, the correct number, and the pages sent.</a:t>
            </a:r>
            <a:endParaRPr lang="en-US" sz="1150" dirty="0"/>
          </a:p>
        </p:txBody>
      </p:sp>
      <p:sp>
        <p:nvSpPr>
          <p:cNvPr id="19" name="Shape 12"/>
          <p:cNvSpPr/>
          <p:nvPr/>
        </p:nvSpPr>
        <p:spPr>
          <a:xfrm>
            <a:off x="548640" y="4739640"/>
            <a:ext cx="11091672" cy="670560"/>
          </a:xfrm>
          <a:prstGeom prst="roundRect">
            <a:avLst>
              <a:gd name="adj" fmla="val 10909"/>
            </a:avLst>
          </a:prstGeom>
          <a:solidFill>
            <a:srgbClr val="EEF2E8"/>
          </a:solidFill>
          <a:ln w="9525">
            <a:solidFill>
              <a:srgbClr val="EEF2E8"/>
            </a:solidFill>
            <a:prstDash val="solid"/>
          </a:ln>
        </p:spPr>
      </p:sp>
      <p:pic>
        <p:nvPicPr>
          <p:cNvPr id="20" name="Image 5" descr="preencoded.png">    </p:cNvPr>
          <p:cNvPicPr>
            <a:picLocks noChangeAspect="1"/>
          </p:cNvPicPr>
          <p:nvPr/>
        </p:nvPicPr>
        <p:blipFill>
          <a:blip r:embed="rId6"/>
          <a:stretch>
            <a:fillRect/>
          </a:stretch>
        </p:blipFill>
        <p:spPr>
          <a:xfrm>
            <a:off x="731520" y="4910328"/>
            <a:ext cx="329184" cy="329184"/>
          </a:xfrm>
          <a:prstGeom prst="rect">
            <a:avLst/>
          </a:prstGeom>
        </p:spPr>
      </p:pic>
      <p:sp>
        <p:nvSpPr>
          <p:cNvPr id="21" name="Text 13"/>
          <p:cNvSpPr txBox="1"/>
          <p:nvPr/>
        </p:nvSpPr>
        <p:spPr>
          <a:xfrm>
            <a:off x="1234440" y="4785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Report the incident today.  </a:t>
            </a:r>
            <a:pPr indent="0" marL="0">
              <a:buNone/>
            </a:pPr>
            <a:r>
              <a:rPr lang="en-US" sz="1150" dirty="0">
                <a:solidFill>
                  <a:srgbClr val="1F2933"/>
                </a:solidFill>
                <a:latin typeface="Calibri" pitchFamily="34" charset="0"/>
                <a:ea typeface="Calibri" pitchFamily="34" charset="-122"/>
                <a:cs typeface="Calibri" pitchFamily="34" charset="-120"/>
              </a:rPr>
              <a:t>Supervisor and privacy officer, with the facts. The privacy officer determines breach status and notification.</a:t>
            </a:r>
            <a:endParaRPr lang="en-US" sz="1150" dirty="0"/>
          </a:p>
        </p:txBody>
      </p:sp>
      <p:sp>
        <p:nvSpPr>
          <p:cNvPr id="22" name="Shape 14"/>
          <p:cNvSpPr/>
          <p:nvPr/>
        </p:nvSpPr>
        <p:spPr>
          <a:xfrm>
            <a:off x="548640" y="5501640"/>
            <a:ext cx="11091672" cy="670560"/>
          </a:xfrm>
          <a:prstGeom prst="roundRect">
            <a:avLst>
              <a:gd name="adj" fmla="val 10909"/>
            </a:avLst>
          </a:prstGeom>
          <a:solidFill>
            <a:srgbClr val="FFFFFF"/>
          </a:solidFill>
          <a:ln w="9525">
            <a:solidFill>
              <a:srgbClr val="D6DEE8"/>
            </a:solidFill>
            <a:prstDash val="solid"/>
          </a:ln>
        </p:spPr>
      </p:sp>
      <p:pic>
        <p:nvPicPr>
          <p:cNvPr id="23" name="Image 6" descr="preencoded.png">    </p:cNvPr>
          <p:cNvPicPr>
            <a:picLocks noChangeAspect="1"/>
          </p:cNvPicPr>
          <p:nvPr/>
        </p:nvPicPr>
        <p:blipFill>
          <a:blip r:embed="rId7"/>
          <a:stretch>
            <a:fillRect/>
          </a:stretch>
        </p:blipFill>
        <p:spPr>
          <a:xfrm>
            <a:off x="731520" y="5672328"/>
            <a:ext cx="329184" cy="329184"/>
          </a:xfrm>
          <a:prstGeom prst="rect">
            <a:avLst/>
          </a:prstGeom>
        </p:spPr>
      </p:pic>
      <p:sp>
        <p:nvSpPr>
          <p:cNvPr id="24" name="Text 15"/>
          <p:cNvSpPr txBox="1"/>
          <p:nvPr/>
        </p:nvSpPr>
        <p:spPr>
          <a:xfrm>
            <a:off x="1234440" y="5547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Fix the process.  </a:t>
            </a:r>
            <a:pPr indent="0" marL="0">
              <a:buNone/>
            </a:pPr>
            <a:r>
              <a:rPr lang="en-US" sz="1150" dirty="0">
                <a:solidFill>
                  <a:srgbClr val="1F2933"/>
                </a:solidFill>
                <a:latin typeface="Calibri" pitchFamily="34" charset="0"/>
                <a:ea typeface="Calibri" pitchFamily="34" charset="-122"/>
                <a:cs typeface="Calibri" pitchFamily="34" charset="-120"/>
              </a:rPr>
              <a:t>Verify fax numbers against the referral directory before sending; use the pre-populated directory entry instead of manual entry; confirm receipt for clinical records.</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1</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25</a:t>
            </a:r>
            <a:endParaRPr lang="en-US" sz="900" dirty="0"/>
          </a:p>
        </p:txBody>
      </p:sp>
      <p:sp>
        <p:nvSpPr>
          <p:cNvPr id="7" name="Text 4"/>
          <p:cNvSpPr txBox="1"/>
          <p:nvPr/>
        </p:nvSpPr>
        <p:spPr>
          <a:xfrm>
            <a:off x="548640" y="1691640"/>
            <a:ext cx="11064240" cy="1005840"/>
          </a:xfrm>
          <a:prstGeom prst="rect">
            <a:avLst/>
          </a:prstGeom>
          <a:noFill/>
          <a:ln/>
        </p:spPr>
        <p:txBody>
          <a:bodyPr wrap="square" lIns="0" tIns="0" rIns="0" bIns="0" rtlCol="0" anchor="t"/>
          <a:lstStyle/>
          <a:p>
            <a:pPr indent="0" marL="0">
              <a:buNone/>
            </a:pPr>
            <a:r>
              <a:rPr lang="en-US" sz="1800" b="1" dirty="0">
                <a:solidFill>
                  <a:srgbClr val="1F2933"/>
                </a:solidFill>
                <a:latin typeface="Calibri" pitchFamily="34" charset="0"/>
                <a:ea typeface="Calibri" pitchFamily="34" charset="-122"/>
                <a:cs typeface="Calibri" pitchFamily="34" charset="-120"/>
              </a:rPr>
              <a:t>You notice a colleague's note from last week has the wrong caregiver name. The correct action is:</a:t>
            </a:r>
            <a:endParaRPr lang="en-US" sz="1800" dirty="0"/>
          </a:p>
        </p:txBody>
      </p:sp>
      <p:sp>
        <p:nvSpPr>
          <p:cNvPr id="8" name="Shape 5"/>
          <p:cNvSpPr/>
          <p:nvPr/>
        </p:nvSpPr>
        <p:spPr>
          <a:xfrm>
            <a:off x="548640" y="2880360"/>
            <a:ext cx="11091672" cy="658368"/>
          </a:xfrm>
          <a:prstGeom prst="roundRect">
            <a:avLst>
              <a:gd name="adj" fmla="val 11111"/>
            </a:avLst>
          </a:prstGeom>
          <a:solidFill>
            <a:srgbClr val="FFFFFF"/>
          </a:solidFill>
          <a:ln w="12700">
            <a:solidFill>
              <a:srgbClr val="D6DEE8"/>
            </a:solidFill>
            <a:prstDash val="solid"/>
          </a:ln>
        </p:spPr>
      </p:sp>
      <p:sp>
        <p:nvSpPr>
          <p:cNvPr id="9" name="Shape 6"/>
          <p:cNvSpPr/>
          <p:nvPr/>
        </p:nvSpPr>
        <p:spPr>
          <a:xfrm>
            <a:off x="731520" y="3026664"/>
            <a:ext cx="365760" cy="365760"/>
          </a:xfrm>
          <a:prstGeom prst="ellipse">
            <a:avLst/>
          </a:prstGeom>
          <a:solidFill>
            <a:srgbClr val="EAF1FA"/>
          </a:solidFill>
          <a:ln w="12700">
            <a:solidFill>
              <a:srgbClr val="EAF1FA"/>
            </a:solidFill>
            <a:prstDash val="solid"/>
          </a:ln>
        </p:spPr>
      </p:sp>
      <p:sp>
        <p:nvSpPr>
          <p:cNvPr id="10" name="Text 7"/>
          <p:cNvSpPr txBox="1"/>
          <p:nvPr/>
        </p:nvSpPr>
        <p:spPr>
          <a:xfrm>
            <a:off x="731520" y="302666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A</a:t>
            </a:r>
            <a:endParaRPr lang="en-US" sz="1200" dirty="0"/>
          </a:p>
        </p:txBody>
      </p:sp>
      <p:sp>
        <p:nvSpPr>
          <p:cNvPr id="11" name="Text 8"/>
          <p:cNvSpPr txBox="1"/>
          <p:nvPr/>
        </p:nvSpPr>
        <p:spPr>
          <a:xfrm>
            <a:off x="1280160" y="288036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Edit the note to fix it.</a:t>
            </a:r>
            <a:endParaRPr lang="en-US" sz="1400" dirty="0"/>
          </a:p>
        </p:txBody>
      </p:sp>
      <p:sp>
        <p:nvSpPr>
          <p:cNvPr id="12" name="Shape 9"/>
          <p:cNvSpPr/>
          <p:nvPr/>
        </p:nvSpPr>
        <p:spPr>
          <a:xfrm>
            <a:off x="548640" y="3657600"/>
            <a:ext cx="11091672" cy="658368"/>
          </a:xfrm>
          <a:prstGeom prst="roundRect">
            <a:avLst>
              <a:gd name="adj" fmla="val 11111"/>
            </a:avLst>
          </a:prstGeom>
          <a:solidFill>
            <a:srgbClr val="FFFFFF"/>
          </a:solidFill>
          <a:ln w="12700">
            <a:solidFill>
              <a:srgbClr val="D6DEE8"/>
            </a:solidFill>
            <a:prstDash val="solid"/>
          </a:ln>
        </p:spPr>
      </p:sp>
      <p:sp>
        <p:nvSpPr>
          <p:cNvPr id="13" name="Shape 10"/>
          <p:cNvSpPr/>
          <p:nvPr/>
        </p:nvSpPr>
        <p:spPr>
          <a:xfrm>
            <a:off x="731520" y="3803904"/>
            <a:ext cx="365760" cy="365760"/>
          </a:xfrm>
          <a:prstGeom prst="ellipse">
            <a:avLst/>
          </a:prstGeom>
          <a:solidFill>
            <a:srgbClr val="EAF1FA"/>
          </a:solidFill>
          <a:ln w="12700">
            <a:solidFill>
              <a:srgbClr val="EAF1FA"/>
            </a:solidFill>
            <a:prstDash val="solid"/>
          </a:ln>
        </p:spPr>
      </p:sp>
      <p:sp>
        <p:nvSpPr>
          <p:cNvPr id="14" name="Text 11"/>
          <p:cNvSpPr txBox="1"/>
          <p:nvPr/>
        </p:nvSpPr>
        <p:spPr>
          <a:xfrm>
            <a:off x="731520" y="380390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B</a:t>
            </a:r>
            <a:endParaRPr lang="en-US" sz="1200" dirty="0"/>
          </a:p>
        </p:txBody>
      </p:sp>
      <p:sp>
        <p:nvSpPr>
          <p:cNvPr id="15" name="Text 12"/>
          <p:cNvSpPr txBox="1"/>
          <p:nvPr/>
        </p:nvSpPr>
        <p:spPr>
          <a:xfrm>
            <a:off x="1280160" y="365760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Add your own addendum to their note.</a:t>
            </a:r>
            <a:endParaRPr lang="en-US" sz="1400" dirty="0"/>
          </a:p>
        </p:txBody>
      </p:sp>
      <p:sp>
        <p:nvSpPr>
          <p:cNvPr id="16" name="Shape 13"/>
          <p:cNvSpPr/>
          <p:nvPr/>
        </p:nvSpPr>
        <p:spPr>
          <a:xfrm>
            <a:off x="548640" y="4434840"/>
            <a:ext cx="11091672" cy="658368"/>
          </a:xfrm>
          <a:prstGeom prst="roundRect">
            <a:avLst>
              <a:gd name="adj" fmla="val 11111"/>
            </a:avLst>
          </a:prstGeom>
          <a:solidFill>
            <a:srgbClr val="FFFFFF"/>
          </a:solidFill>
          <a:ln w="12700">
            <a:solidFill>
              <a:srgbClr val="D6DEE8"/>
            </a:solidFill>
            <a:prstDash val="solid"/>
          </a:ln>
        </p:spPr>
      </p:sp>
      <p:sp>
        <p:nvSpPr>
          <p:cNvPr id="17" name="Shape 14"/>
          <p:cNvSpPr/>
          <p:nvPr/>
        </p:nvSpPr>
        <p:spPr>
          <a:xfrm>
            <a:off x="731520" y="4581144"/>
            <a:ext cx="365760" cy="365760"/>
          </a:xfrm>
          <a:prstGeom prst="ellipse">
            <a:avLst/>
          </a:prstGeom>
          <a:solidFill>
            <a:srgbClr val="EAF1FA"/>
          </a:solidFill>
          <a:ln w="12700">
            <a:solidFill>
              <a:srgbClr val="EAF1FA"/>
            </a:solidFill>
            <a:prstDash val="solid"/>
          </a:ln>
        </p:spPr>
      </p:sp>
      <p:sp>
        <p:nvSpPr>
          <p:cNvPr id="18" name="Text 15"/>
          <p:cNvSpPr txBox="1"/>
          <p:nvPr/>
        </p:nvSpPr>
        <p:spPr>
          <a:xfrm>
            <a:off x="731520" y="458114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C</a:t>
            </a:r>
            <a:endParaRPr lang="en-US" sz="1200" dirty="0"/>
          </a:p>
        </p:txBody>
      </p:sp>
      <p:sp>
        <p:nvSpPr>
          <p:cNvPr id="19" name="Text 16"/>
          <p:cNvSpPr txBox="1"/>
          <p:nvPr/>
        </p:nvSpPr>
        <p:spPr>
          <a:xfrm>
            <a:off x="1280160" y="443484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Message the author to correct it; if unavailable, notify your supervisor.</a:t>
            </a:r>
            <a:endParaRPr lang="en-US" sz="1400" dirty="0"/>
          </a:p>
        </p:txBody>
      </p:sp>
      <p:sp>
        <p:nvSpPr>
          <p:cNvPr id="20" name="Shape 17"/>
          <p:cNvSpPr/>
          <p:nvPr/>
        </p:nvSpPr>
        <p:spPr>
          <a:xfrm>
            <a:off x="548640" y="5212080"/>
            <a:ext cx="11091672" cy="658368"/>
          </a:xfrm>
          <a:prstGeom prst="roundRect">
            <a:avLst>
              <a:gd name="adj" fmla="val 11111"/>
            </a:avLst>
          </a:prstGeom>
          <a:solidFill>
            <a:srgbClr val="FFFFFF"/>
          </a:solidFill>
          <a:ln w="12700">
            <a:solidFill>
              <a:srgbClr val="D6DEE8"/>
            </a:solidFill>
            <a:prstDash val="solid"/>
          </a:ln>
        </p:spPr>
      </p:sp>
      <p:sp>
        <p:nvSpPr>
          <p:cNvPr id="21" name="Shape 18"/>
          <p:cNvSpPr/>
          <p:nvPr/>
        </p:nvSpPr>
        <p:spPr>
          <a:xfrm>
            <a:off x="731520" y="5358384"/>
            <a:ext cx="365760" cy="365760"/>
          </a:xfrm>
          <a:prstGeom prst="ellipse">
            <a:avLst/>
          </a:prstGeom>
          <a:solidFill>
            <a:srgbClr val="EAF1FA"/>
          </a:solidFill>
          <a:ln w="12700">
            <a:solidFill>
              <a:srgbClr val="EAF1FA"/>
            </a:solidFill>
            <a:prstDash val="solid"/>
          </a:ln>
        </p:spPr>
      </p:sp>
      <p:sp>
        <p:nvSpPr>
          <p:cNvPr id="22" name="Text 19"/>
          <p:cNvSpPr txBox="1"/>
          <p:nvPr/>
        </p:nvSpPr>
        <p:spPr>
          <a:xfrm>
            <a:off x="731520" y="535838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D</a:t>
            </a:r>
            <a:endParaRPr lang="en-US" sz="1200" dirty="0"/>
          </a:p>
        </p:txBody>
      </p:sp>
      <p:sp>
        <p:nvSpPr>
          <p:cNvPr id="23" name="Text 20"/>
          <p:cNvSpPr txBox="1"/>
          <p:nvPr/>
        </p:nvSpPr>
        <p:spPr>
          <a:xfrm>
            <a:off x="1280160" y="521208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Delete the note and rewrite it.</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1 — answer</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26</a:t>
            </a:r>
            <a:endParaRPr lang="en-US" sz="900" dirty="0"/>
          </a:p>
        </p:txBody>
      </p:sp>
      <p:sp>
        <p:nvSpPr>
          <p:cNvPr id="7" name="Text 4"/>
          <p:cNvSpPr txBox="1"/>
          <p:nvPr/>
        </p:nvSpPr>
        <p:spPr>
          <a:xfrm>
            <a:off x="548640" y="1691640"/>
            <a:ext cx="11064240" cy="822960"/>
          </a:xfrm>
          <a:prstGeom prst="rect">
            <a:avLst/>
          </a:prstGeom>
          <a:noFill/>
          <a:ln/>
        </p:spPr>
        <p:txBody>
          <a:bodyPr wrap="square" lIns="0" tIns="0" rIns="0" bIns="0" rtlCol="0" anchor="t"/>
          <a:lstStyle/>
          <a:p>
            <a:pPr indent="0" marL="0">
              <a:buNone/>
            </a:pPr>
            <a:r>
              <a:rPr lang="en-US" sz="1500" dirty="0">
                <a:solidFill>
                  <a:srgbClr val="5B6773"/>
                </a:solidFill>
                <a:latin typeface="Calibri" pitchFamily="34" charset="0"/>
                <a:ea typeface="Calibri" pitchFamily="34" charset="-122"/>
                <a:cs typeface="Calibri" pitchFamily="34" charset="-120"/>
              </a:rPr>
              <a:t>You notice a colleague's note from last week has the wrong caregiver name. The correct action is:</a:t>
            </a:r>
            <a:endParaRPr lang="en-US" sz="1500" dirty="0"/>
          </a:p>
        </p:txBody>
      </p:sp>
      <p:sp>
        <p:nvSpPr>
          <p:cNvPr id="8" name="Shape 5"/>
          <p:cNvSpPr/>
          <p:nvPr/>
        </p:nvSpPr>
        <p:spPr>
          <a:xfrm>
            <a:off x="548640" y="2606040"/>
            <a:ext cx="6309360" cy="475488"/>
          </a:xfrm>
          <a:prstGeom prst="roundRect">
            <a:avLst>
              <a:gd name="adj" fmla="val 11538"/>
            </a:avLst>
          </a:prstGeom>
          <a:solidFill>
            <a:srgbClr val="FFFFFF"/>
          </a:solidFill>
          <a:ln w="9525">
            <a:solidFill>
              <a:srgbClr val="D6DEE8"/>
            </a:solidFill>
            <a:prstDash val="solid"/>
          </a:ln>
        </p:spPr>
      </p:sp>
      <p:sp>
        <p:nvSpPr>
          <p:cNvPr id="9" name="Text 6"/>
          <p:cNvSpPr txBox="1"/>
          <p:nvPr/>
        </p:nvSpPr>
        <p:spPr>
          <a:xfrm>
            <a:off x="731520" y="2606040"/>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A.  Edit the note to fix it.</a:t>
            </a:r>
            <a:endParaRPr lang="en-US" sz="1200" dirty="0"/>
          </a:p>
        </p:txBody>
      </p:sp>
      <p:sp>
        <p:nvSpPr>
          <p:cNvPr id="10" name="Shape 7"/>
          <p:cNvSpPr/>
          <p:nvPr/>
        </p:nvSpPr>
        <p:spPr>
          <a:xfrm>
            <a:off x="548640" y="3172968"/>
            <a:ext cx="6309360" cy="475488"/>
          </a:xfrm>
          <a:prstGeom prst="roundRect">
            <a:avLst>
              <a:gd name="adj" fmla="val 11538"/>
            </a:avLst>
          </a:prstGeom>
          <a:solidFill>
            <a:srgbClr val="FFFFFF"/>
          </a:solidFill>
          <a:ln w="9525">
            <a:solidFill>
              <a:srgbClr val="D6DEE8"/>
            </a:solidFill>
            <a:prstDash val="solid"/>
          </a:ln>
        </p:spPr>
      </p:sp>
      <p:sp>
        <p:nvSpPr>
          <p:cNvPr id="11" name="Text 8"/>
          <p:cNvSpPr txBox="1"/>
          <p:nvPr/>
        </p:nvSpPr>
        <p:spPr>
          <a:xfrm>
            <a:off x="731520" y="3172968"/>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B.  Add your own addendum to their note.</a:t>
            </a:r>
            <a:endParaRPr lang="en-US" sz="1200" dirty="0"/>
          </a:p>
        </p:txBody>
      </p:sp>
      <p:sp>
        <p:nvSpPr>
          <p:cNvPr id="12" name="Shape 9"/>
          <p:cNvSpPr/>
          <p:nvPr/>
        </p:nvSpPr>
        <p:spPr>
          <a:xfrm>
            <a:off x="548640" y="3739896"/>
            <a:ext cx="6309360" cy="475488"/>
          </a:xfrm>
          <a:prstGeom prst="roundRect">
            <a:avLst>
              <a:gd name="adj" fmla="val 11538"/>
            </a:avLst>
          </a:prstGeom>
          <a:solidFill>
            <a:srgbClr val="EEF2E8"/>
          </a:solidFill>
          <a:ln w="19050">
            <a:solidFill>
              <a:srgbClr val="586C47"/>
            </a:solidFill>
            <a:prstDash val="solid"/>
          </a:ln>
        </p:spPr>
      </p:sp>
      <p:sp>
        <p:nvSpPr>
          <p:cNvPr id="13" name="Text 10"/>
          <p:cNvSpPr txBox="1"/>
          <p:nvPr/>
        </p:nvSpPr>
        <p:spPr>
          <a:xfrm>
            <a:off x="731520" y="3739896"/>
            <a:ext cx="5943600" cy="475488"/>
          </a:xfrm>
          <a:prstGeom prst="rect">
            <a:avLst/>
          </a:prstGeom>
          <a:noFill/>
          <a:ln/>
        </p:spPr>
        <p:txBody>
          <a:bodyPr wrap="square" lIns="0" tIns="0" rIns="0" bIns="0" rtlCol="0" anchor="ctr"/>
          <a:lstStyle/>
          <a:p>
            <a:pPr indent="0" marL="0">
              <a:buNone/>
            </a:pPr>
            <a:r>
              <a:rPr lang="en-US" sz="1200" b="1" dirty="0">
                <a:solidFill>
                  <a:srgbClr val="586C47"/>
                </a:solidFill>
                <a:latin typeface="Calibri" pitchFamily="34" charset="0"/>
                <a:ea typeface="Calibri" pitchFamily="34" charset="-122"/>
                <a:cs typeface="Calibri" pitchFamily="34" charset="-120"/>
              </a:rPr>
              <a:t>C.  Message the author to correct it; if unavailable, notify your supervisor.</a:t>
            </a:r>
            <a:endParaRPr lang="en-US" sz="1200" dirty="0"/>
          </a:p>
        </p:txBody>
      </p:sp>
      <p:sp>
        <p:nvSpPr>
          <p:cNvPr id="14" name="Shape 11"/>
          <p:cNvSpPr/>
          <p:nvPr/>
        </p:nvSpPr>
        <p:spPr>
          <a:xfrm>
            <a:off x="548640" y="4306824"/>
            <a:ext cx="6309360" cy="475488"/>
          </a:xfrm>
          <a:prstGeom prst="roundRect">
            <a:avLst>
              <a:gd name="adj" fmla="val 11538"/>
            </a:avLst>
          </a:prstGeom>
          <a:solidFill>
            <a:srgbClr val="FFFFFF"/>
          </a:solidFill>
          <a:ln w="9525">
            <a:solidFill>
              <a:srgbClr val="D6DEE8"/>
            </a:solidFill>
            <a:prstDash val="solid"/>
          </a:ln>
        </p:spPr>
      </p:sp>
      <p:sp>
        <p:nvSpPr>
          <p:cNvPr id="15" name="Text 12"/>
          <p:cNvSpPr txBox="1"/>
          <p:nvPr/>
        </p:nvSpPr>
        <p:spPr>
          <a:xfrm>
            <a:off x="731520" y="4306824"/>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D.  Delete the note and rewrite it.</a:t>
            </a:r>
            <a:endParaRPr lang="en-US" sz="1200" dirty="0"/>
          </a:p>
        </p:txBody>
      </p:sp>
      <p:sp>
        <p:nvSpPr>
          <p:cNvPr id="16" name="Shape 13"/>
          <p:cNvSpPr/>
          <p:nvPr/>
        </p:nvSpPr>
        <p:spPr>
          <a:xfrm>
            <a:off x="7223760" y="2606040"/>
            <a:ext cx="4434840" cy="3520440"/>
          </a:xfrm>
          <a:prstGeom prst="roundRect">
            <a:avLst>
              <a:gd name="adj" fmla="val 3117"/>
            </a:avLst>
          </a:prstGeom>
          <a:solidFill>
            <a:srgbClr val="586C47"/>
          </a:solidFill>
          <a:ln w="12700">
            <a:solidFill>
              <a:srgbClr val="586C47"/>
            </a:solidFill>
            <a:prstDash val="solid"/>
          </a:ln>
        </p:spPr>
      </p:sp>
      <p:pic>
        <p:nvPicPr>
          <p:cNvPr id="17" name="Image 1" descr="preencoded.png">    </p:cNvPr>
          <p:cNvPicPr>
            <a:picLocks noChangeAspect="1"/>
          </p:cNvPicPr>
          <p:nvPr/>
        </p:nvPicPr>
        <p:blipFill>
          <a:blip r:embed="rId2"/>
          <a:stretch>
            <a:fillRect/>
          </a:stretch>
        </p:blipFill>
        <p:spPr>
          <a:xfrm>
            <a:off x="7498080" y="2880360"/>
            <a:ext cx="457200" cy="457200"/>
          </a:xfrm>
          <a:prstGeom prst="rect">
            <a:avLst/>
          </a:prstGeom>
        </p:spPr>
      </p:pic>
      <p:sp>
        <p:nvSpPr>
          <p:cNvPr id="18" name="Text 14"/>
          <p:cNvSpPr txBox="1"/>
          <p:nvPr/>
        </p:nvSpPr>
        <p:spPr>
          <a:xfrm>
            <a:off x="8092440" y="2880360"/>
            <a:ext cx="33832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Correct answer: C</a:t>
            </a:r>
            <a:endParaRPr lang="en-US" sz="1800" dirty="0"/>
          </a:p>
        </p:txBody>
      </p:sp>
      <p:sp>
        <p:nvSpPr>
          <p:cNvPr id="19" name="Text 15"/>
          <p:cNvSpPr txBox="1"/>
          <p:nvPr/>
        </p:nvSpPr>
        <p:spPr>
          <a:xfrm>
            <a:off x="7498080" y="3520440"/>
            <a:ext cx="3886200" cy="2468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Only the author corrects their own note. Your role is to flag it so the correction is made by the right person with the history intact.</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2</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27</a:t>
            </a:r>
            <a:endParaRPr lang="en-US" sz="900" dirty="0"/>
          </a:p>
        </p:txBody>
      </p:sp>
      <p:sp>
        <p:nvSpPr>
          <p:cNvPr id="7" name="Text 4"/>
          <p:cNvSpPr txBox="1"/>
          <p:nvPr/>
        </p:nvSpPr>
        <p:spPr>
          <a:xfrm>
            <a:off x="548640" y="1691640"/>
            <a:ext cx="11064240" cy="1005840"/>
          </a:xfrm>
          <a:prstGeom prst="rect">
            <a:avLst/>
          </a:prstGeom>
          <a:noFill/>
          <a:ln/>
        </p:spPr>
        <p:txBody>
          <a:bodyPr wrap="square" lIns="0" tIns="0" rIns="0" bIns="0" rtlCol="0" anchor="t"/>
          <a:lstStyle/>
          <a:p>
            <a:pPr indent="0" marL="0">
              <a:buNone/>
            </a:pPr>
            <a:r>
              <a:rPr lang="en-US" sz="1800" b="1" dirty="0">
                <a:solidFill>
                  <a:srgbClr val="1F2933"/>
                </a:solidFill>
                <a:latin typeface="Calibri" pitchFamily="34" charset="0"/>
                <a:ea typeface="Calibri" pitchFamily="34" charset="-122"/>
                <a:cs typeface="Calibri" pitchFamily="34" charset="-120"/>
              </a:rPr>
              <a:t>A former patient's daughter, whom you know well, calls to ask whether her late mother's records show a particular diagnosis. The patient is deceased and the daughter was an authorized contact while alive. You should:</a:t>
            </a:r>
            <a:endParaRPr lang="en-US" sz="1800" dirty="0"/>
          </a:p>
        </p:txBody>
      </p:sp>
      <p:sp>
        <p:nvSpPr>
          <p:cNvPr id="8" name="Shape 5"/>
          <p:cNvSpPr/>
          <p:nvPr/>
        </p:nvSpPr>
        <p:spPr>
          <a:xfrm>
            <a:off x="548640" y="2880360"/>
            <a:ext cx="11091672" cy="658368"/>
          </a:xfrm>
          <a:prstGeom prst="roundRect">
            <a:avLst>
              <a:gd name="adj" fmla="val 11111"/>
            </a:avLst>
          </a:prstGeom>
          <a:solidFill>
            <a:srgbClr val="FFFFFF"/>
          </a:solidFill>
          <a:ln w="12700">
            <a:solidFill>
              <a:srgbClr val="D6DEE8"/>
            </a:solidFill>
            <a:prstDash val="solid"/>
          </a:ln>
        </p:spPr>
      </p:sp>
      <p:sp>
        <p:nvSpPr>
          <p:cNvPr id="9" name="Shape 6"/>
          <p:cNvSpPr/>
          <p:nvPr/>
        </p:nvSpPr>
        <p:spPr>
          <a:xfrm>
            <a:off x="731520" y="3026664"/>
            <a:ext cx="365760" cy="365760"/>
          </a:xfrm>
          <a:prstGeom prst="ellipse">
            <a:avLst/>
          </a:prstGeom>
          <a:solidFill>
            <a:srgbClr val="EAF1FA"/>
          </a:solidFill>
          <a:ln w="12700">
            <a:solidFill>
              <a:srgbClr val="EAF1FA"/>
            </a:solidFill>
            <a:prstDash val="solid"/>
          </a:ln>
        </p:spPr>
      </p:sp>
      <p:sp>
        <p:nvSpPr>
          <p:cNvPr id="10" name="Text 7"/>
          <p:cNvSpPr txBox="1"/>
          <p:nvPr/>
        </p:nvSpPr>
        <p:spPr>
          <a:xfrm>
            <a:off x="731520" y="302666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A</a:t>
            </a:r>
            <a:endParaRPr lang="en-US" sz="1200" dirty="0"/>
          </a:p>
        </p:txBody>
      </p:sp>
      <p:sp>
        <p:nvSpPr>
          <p:cNvPr id="11" name="Text 8"/>
          <p:cNvSpPr txBox="1"/>
          <p:nvPr/>
        </p:nvSpPr>
        <p:spPr>
          <a:xfrm>
            <a:off x="1280160" y="288036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Open the chart and answer; she was authorized.</a:t>
            </a:r>
            <a:endParaRPr lang="en-US" sz="1400" dirty="0"/>
          </a:p>
        </p:txBody>
      </p:sp>
      <p:sp>
        <p:nvSpPr>
          <p:cNvPr id="12" name="Shape 9"/>
          <p:cNvSpPr/>
          <p:nvPr/>
        </p:nvSpPr>
        <p:spPr>
          <a:xfrm>
            <a:off x="548640" y="3657600"/>
            <a:ext cx="11091672" cy="658368"/>
          </a:xfrm>
          <a:prstGeom prst="roundRect">
            <a:avLst>
              <a:gd name="adj" fmla="val 11111"/>
            </a:avLst>
          </a:prstGeom>
          <a:solidFill>
            <a:srgbClr val="FFFFFF"/>
          </a:solidFill>
          <a:ln w="12700">
            <a:solidFill>
              <a:srgbClr val="D6DEE8"/>
            </a:solidFill>
            <a:prstDash val="solid"/>
          </a:ln>
        </p:spPr>
      </p:sp>
      <p:sp>
        <p:nvSpPr>
          <p:cNvPr id="13" name="Shape 10"/>
          <p:cNvSpPr/>
          <p:nvPr/>
        </p:nvSpPr>
        <p:spPr>
          <a:xfrm>
            <a:off x="731520" y="3803904"/>
            <a:ext cx="365760" cy="365760"/>
          </a:xfrm>
          <a:prstGeom prst="ellipse">
            <a:avLst/>
          </a:prstGeom>
          <a:solidFill>
            <a:srgbClr val="EAF1FA"/>
          </a:solidFill>
          <a:ln w="12700">
            <a:solidFill>
              <a:srgbClr val="EAF1FA"/>
            </a:solidFill>
            <a:prstDash val="solid"/>
          </a:ln>
        </p:spPr>
      </p:sp>
      <p:sp>
        <p:nvSpPr>
          <p:cNvPr id="14" name="Text 11"/>
          <p:cNvSpPr txBox="1"/>
          <p:nvPr/>
        </p:nvSpPr>
        <p:spPr>
          <a:xfrm>
            <a:off x="731520" y="380390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B</a:t>
            </a:r>
            <a:endParaRPr lang="en-US" sz="1200" dirty="0"/>
          </a:p>
        </p:txBody>
      </p:sp>
      <p:sp>
        <p:nvSpPr>
          <p:cNvPr id="15" name="Text 12"/>
          <p:cNvSpPr txBox="1"/>
          <p:nvPr/>
        </p:nvSpPr>
        <p:spPr>
          <a:xfrm>
            <a:off x="1280160" y="365760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Explain that access and disclosure follow the records-release process, route her to the release-of-information workflow, and do not open the chart without a work reason.</a:t>
            </a:r>
            <a:endParaRPr lang="en-US" sz="1400" dirty="0"/>
          </a:p>
        </p:txBody>
      </p:sp>
      <p:sp>
        <p:nvSpPr>
          <p:cNvPr id="16" name="Shape 13"/>
          <p:cNvSpPr/>
          <p:nvPr/>
        </p:nvSpPr>
        <p:spPr>
          <a:xfrm>
            <a:off x="548640" y="4434840"/>
            <a:ext cx="11091672" cy="658368"/>
          </a:xfrm>
          <a:prstGeom prst="roundRect">
            <a:avLst>
              <a:gd name="adj" fmla="val 11111"/>
            </a:avLst>
          </a:prstGeom>
          <a:solidFill>
            <a:srgbClr val="FFFFFF"/>
          </a:solidFill>
          <a:ln w="12700">
            <a:solidFill>
              <a:srgbClr val="D6DEE8"/>
            </a:solidFill>
            <a:prstDash val="solid"/>
          </a:ln>
        </p:spPr>
      </p:sp>
      <p:sp>
        <p:nvSpPr>
          <p:cNvPr id="17" name="Shape 14"/>
          <p:cNvSpPr/>
          <p:nvPr/>
        </p:nvSpPr>
        <p:spPr>
          <a:xfrm>
            <a:off x="731520" y="4581144"/>
            <a:ext cx="365760" cy="365760"/>
          </a:xfrm>
          <a:prstGeom prst="ellipse">
            <a:avLst/>
          </a:prstGeom>
          <a:solidFill>
            <a:srgbClr val="EAF1FA"/>
          </a:solidFill>
          <a:ln w="12700">
            <a:solidFill>
              <a:srgbClr val="EAF1FA"/>
            </a:solidFill>
            <a:prstDash val="solid"/>
          </a:ln>
        </p:spPr>
      </p:sp>
      <p:sp>
        <p:nvSpPr>
          <p:cNvPr id="18" name="Text 15"/>
          <p:cNvSpPr txBox="1"/>
          <p:nvPr/>
        </p:nvSpPr>
        <p:spPr>
          <a:xfrm>
            <a:off x="731520" y="458114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C</a:t>
            </a:r>
            <a:endParaRPr lang="en-US" sz="1200" dirty="0"/>
          </a:p>
        </p:txBody>
      </p:sp>
      <p:sp>
        <p:nvSpPr>
          <p:cNvPr id="19" name="Text 16"/>
          <p:cNvSpPr txBox="1"/>
          <p:nvPr/>
        </p:nvSpPr>
        <p:spPr>
          <a:xfrm>
            <a:off x="1280160" y="443484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Answer from memory without opening the chart.</a:t>
            </a:r>
            <a:endParaRPr lang="en-US" sz="1400" dirty="0"/>
          </a:p>
        </p:txBody>
      </p:sp>
      <p:sp>
        <p:nvSpPr>
          <p:cNvPr id="20" name="Shape 17"/>
          <p:cNvSpPr/>
          <p:nvPr/>
        </p:nvSpPr>
        <p:spPr>
          <a:xfrm>
            <a:off x="548640" y="5212080"/>
            <a:ext cx="11091672" cy="658368"/>
          </a:xfrm>
          <a:prstGeom prst="roundRect">
            <a:avLst>
              <a:gd name="adj" fmla="val 11111"/>
            </a:avLst>
          </a:prstGeom>
          <a:solidFill>
            <a:srgbClr val="FFFFFF"/>
          </a:solidFill>
          <a:ln w="12700">
            <a:solidFill>
              <a:srgbClr val="D6DEE8"/>
            </a:solidFill>
            <a:prstDash val="solid"/>
          </a:ln>
        </p:spPr>
      </p:sp>
      <p:sp>
        <p:nvSpPr>
          <p:cNvPr id="21" name="Shape 18"/>
          <p:cNvSpPr/>
          <p:nvPr/>
        </p:nvSpPr>
        <p:spPr>
          <a:xfrm>
            <a:off x="731520" y="5358384"/>
            <a:ext cx="365760" cy="365760"/>
          </a:xfrm>
          <a:prstGeom prst="ellipse">
            <a:avLst/>
          </a:prstGeom>
          <a:solidFill>
            <a:srgbClr val="EAF1FA"/>
          </a:solidFill>
          <a:ln w="12700">
            <a:solidFill>
              <a:srgbClr val="EAF1FA"/>
            </a:solidFill>
            <a:prstDash val="solid"/>
          </a:ln>
        </p:spPr>
      </p:sp>
      <p:sp>
        <p:nvSpPr>
          <p:cNvPr id="22" name="Text 19"/>
          <p:cNvSpPr txBox="1"/>
          <p:nvPr/>
        </p:nvSpPr>
        <p:spPr>
          <a:xfrm>
            <a:off x="731520" y="535838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D</a:t>
            </a:r>
            <a:endParaRPr lang="en-US" sz="1200" dirty="0"/>
          </a:p>
        </p:txBody>
      </p:sp>
      <p:sp>
        <p:nvSpPr>
          <p:cNvPr id="23" name="Text 20"/>
          <p:cNvSpPr txBox="1"/>
          <p:nvPr/>
        </p:nvSpPr>
        <p:spPr>
          <a:xfrm>
            <a:off x="1280160" y="521208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Tell her the diagnosis wasn't in the chart.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2 — answer</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28</a:t>
            </a:r>
            <a:endParaRPr lang="en-US" sz="900" dirty="0"/>
          </a:p>
        </p:txBody>
      </p:sp>
      <p:sp>
        <p:nvSpPr>
          <p:cNvPr id="7" name="Text 4"/>
          <p:cNvSpPr txBox="1"/>
          <p:nvPr/>
        </p:nvSpPr>
        <p:spPr>
          <a:xfrm>
            <a:off x="548640" y="1691640"/>
            <a:ext cx="11064240" cy="822960"/>
          </a:xfrm>
          <a:prstGeom prst="rect">
            <a:avLst/>
          </a:prstGeom>
          <a:noFill/>
          <a:ln/>
        </p:spPr>
        <p:txBody>
          <a:bodyPr wrap="square" lIns="0" tIns="0" rIns="0" bIns="0" rtlCol="0" anchor="t"/>
          <a:lstStyle/>
          <a:p>
            <a:pPr indent="0" marL="0">
              <a:buNone/>
            </a:pPr>
            <a:r>
              <a:rPr lang="en-US" sz="1500" dirty="0">
                <a:solidFill>
                  <a:srgbClr val="5B6773"/>
                </a:solidFill>
                <a:latin typeface="Calibri" pitchFamily="34" charset="0"/>
                <a:ea typeface="Calibri" pitchFamily="34" charset="-122"/>
                <a:cs typeface="Calibri" pitchFamily="34" charset="-120"/>
              </a:rPr>
              <a:t>A former patient's daughter, whom you know well, calls to ask whether her late mother's records show a particular diagnosis. The patient is deceased and the daughter was an authorized contact while alive. You should:</a:t>
            </a:r>
            <a:endParaRPr lang="en-US" sz="1500" dirty="0"/>
          </a:p>
        </p:txBody>
      </p:sp>
      <p:sp>
        <p:nvSpPr>
          <p:cNvPr id="8" name="Shape 5"/>
          <p:cNvSpPr/>
          <p:nvPr/>
        </p:nvSpPr>
        <p:spPr>
          <a:xfrm>
            <a:off x="548640" y="2606040"/>
            <a:ext cx="6309360" cy="475488"/>
          </a:xfrm>
          <a:prstGeom prst="roundRect">
            <a:avLst>
              <a:gd name="adj" fmla="val 11538"/>
            </a:avLst>
          </a:prstGeom>
          <a:solidFill>
            <a:srgbClr val="FFFFFF"/>
          </a:solidFill>
          <a:ln w="9525">
            <a:solidFill>
              <a:srgbClr val="D6DEE8"/>
            </a:solidFill>
            <a:prstDash val="solid"/>
          </a:ln>
        </p:spPr>
      </p:sp>
      <p:sp>
        <p:nvSpPr>
          <p:cNvPr id="9" name="Text 6"/>
          <p:cNvSpPr txBox="1"/>
          <p:nvPr/>
        </p:nvSpPr>
        <p:spPr>
          <a:xfrm>
            <a:off x="731520" y="2606040"/>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A.  Open the chart and answer; she was authorized.</a:t>
            </a:r>
            <a:endParaRPr lang="en-US" sz="1200" dirty="0"/>
          </a:p>
        </p:txBody>
      </p:sp>
      <p:sp>
        <p:nvSpPr>
          <p:cNvPr id="10" name="Shape 7"/>
          <p:cNvSpPr/>
          <p:nvPr/>
        </p:nvSpPr>
        <p:spPr>
          <a:xfrm>
            <a:off x="548640" y="3172968"/>
            <a:ext cx="6309360" cy="475488"/>
          </a:xfrm>
          <a:prstGeom prst="roundRect">
            <a:avLst>
              <a:gd name="adj" fmla="val 11538"/>
            </a:avLst>
          </a:prstGeom>
          <a:solidFill>
            <a:srgbClr val="EEF2E8"/>
          </a:solidFill>
          <a:ln w="19050">
            <a:solidFill>
              <a:srgbClr val="586C47"/>
            </a:solidFill>
            <a:prstDash val="solid"/>
          </a:ln>
        </p:spPr>
      </p:sp>
      <p:sp>
        <p:nvSpPr>
          <p:cNvPr id="11" name="Text 8"/>
          <p:cNvSpPr txBox="1"/>
          <p:nvPr/>
        </p:nvSpPr>
        <p:spPr>
          <a:xfrm>
            <a:off x="731520" y="3172968"/>
            <a:ext cx="5943600" cy="475488"/>
          </a:xfrm>
          <a:prstGeom prst="rect">
            <a:avLst/>
          </a:prstGeom>
          <a:noFill/>
          <a:ln/>
        </p:spPr>
        <p:txBody>
          <a:bodyPr wrap="square" lIns="0" tIns="0" rIns="0" bIns="0" rtlCol="0" anchor="ctr"/>
          <a:lstStyle/>
          <a:p>
            <a:pPr indent="0" marL="0">
              <a:buNone/>
            </a:pPr>
            <a:r>
              <a:rPr lang="en-US" sz="1200" b="1" dirty="0">
                <a:solidFill>
                  <a:srgbClr val="586C47"/>
                </a:solidFill>
                <a:latin typeface="Calibri" pitchFamily="34" charset="0"/>
                <a:ea typeface="Calibri" pitchFamily="34" charset="-122"/>
                <a:cs typeface="Calibri" pitchFamily="34" charset="-120"/>
              </a:rPr>
              <a:t>B.  Explain that access and disclosure follow the records-release process, route her to the release-of-information workflow, and do not open the chart without a work reason.</a:t>
            </a:r>
            <a:endParaRPr lang="en-US" sz="1200" dirty="0"/>
          </a:p>
        </p:txBody>
      </p:sp>
      <p:sp>
        <p:nvSpPr>
          <p:cNvPr id="12" name="Shape 9"/>
          <p:cNvSpPr/>
          <p:nvPr/>
        </p:nvSpPr>
        <p:spPr>
          <a:xfrm>
            <a:off x="548640" y="3739896"/>
            <a:ext cx="6309360" cy="475488"/>
          </a:xfrm>
          <a:prstGeom prst="roundRect">
            <a:avLst>
              <a:gd name="adj" fmla="val 11538"/>
            </a:avLst>
          </a:prstGeom>
          <a:solidFill>
            <a:srgbClr val="FFFFFF"/>
          </a:solidFill>
          <a:ln w="9525">
            <a:solidFill>
              <a:srgbClr val="D6DEE8"/>
            </a:solidFill>
            <a:prstDash val="solid"/>
          </a:ln>
        </p:spPr>
      </p:sp>
      <p:sp>
        <p:nvSpPr>
          <p:cNvPr id="13" name="Text 10"/>
          <p:cNvSpPr txBox="1"/>
          <p:nvPr/>
        </p:nvSpPr>
        <p:spPr>
          <a:xfrm>
            <a:off x="731520" y="3739896"/>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C.  Answer from memory without opening the chart.</a:t>
            </a:r>
            <a:endParaRPr lang="en-US" sz="1200" dirty="0"/>
          </a:p>
        </p:txBody>
      </p:sp>
      <p:sp>
        <p:nvSpPr>
          <p:cNvPr id="14" name="Shape 11"/>
          <p:cNvSpPr/>
          <p:nvPr/>
        </p:nvSpPr>
        <p:spPr>
          <a:xfrm>
            <a:off x="548640" y="4306824"/>
            <a:ext cx="6309360" cy="475488"/>
          </a:xfrm>
          <a:prstGeom prst="roundRect">
            <a:avLst>
              <a:gd name="adj" fmla="val 11538"/>
            </a:avLst>
          </a:prstGeom>
          <a:solidFill>
            <a:srgbClr val="FFFFFF"/>
          </a:solidFill>
          <a:ln w="9525">
            <a:solidFill>
              <a:srgbClr val="D6DEE8"/>
            </a:solidFill>
            <a:prstDash val="solid"/>
          </a:ln>
        </p:spPr>
      </p:sp>
      <p:sp>
        <p:nvSpPr>
          <p:cNvPr id="15" name="Text 12"/>
          <p:cNvSpPr txBox="1"/>
          <p:nvPr/>
        </p:nvSpPr>
        <p:spPr>
          <a:xfrm>
            <a:off x="731520" y="4306824"/>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D.  Tell her the diagnosis wasn't in the chart.</a:t>
            </a:r>
            <a:endParaRPr lang="en-US" sz="1200" dirty="0"/>
          </a:p>
        </p:txBody>
      </p:sp>
      <p:sp>
        <p:nvSpPr>
          <p:cNvPr id="16" name="Shape 13"/>
          <p:cNvSpPr/>
          <p:nvPr/>
        </p:nvSpPr>
        <p:spPr>
          <a:xfrm>
            <a:off x="7223760" y="2606040"/>
            <a:ext cx="4434840" cy="3520440"/>
          </a:xfrm>
          <a:prstGeom prst="roundRect">
            <a:avLst>
              <a:gd name="adj" fmla="val 3117"/>
            </a:avLst>
          </a:prstGeom>
          <a:solidFill>
            <a:srgbClr val="586C47"/>
          </a:solidFill>
          <a:ln w="12700">
            <a:solidFill>
              <a:srgbClr val="586C47"/>
            </a:solidFill>
            <a:prstDash val="solid"/>
          </a:ln>
        </p:spPr>
      </p:sp>
      <p:pic>
        <p:nvPicPr>
          <p:cNvPr id="17" name="Image 1" descr="preencoded.png">    </p:cNvPr>
          <p:cNvPicPr>
            <a:picLocks noChangeAspect="1"/>
          </p:cNvPicPr>
          <p:nvPr/>
        </p:nvPicPr>
        <p:blipFill>
          <a:blip r:embed="rId2"/>
          <a:stretch>
            <a:fillRect/>
          </a:stretch>
        </p:blipFill>
        <p:spPr>
          <a:xfrm>
            <a:off x="7498080" y="2880360"/>
            <a:ext cx="457200" cy="457200"/>
          </a:xfrm>
          <a:prstGeom prst="rect">
            <a:avLst/>
          </a:prstGeom>
        </p:spPr>
      </p:pic>
      <p:sp>
        <p:nvSpPr>
          <p:cNvPr id="18" name="Text 14"/>
          <p:cNvSpPr txBox="1"/>
          <p:nvPr/>
        </p:nvSpPr>
        <p:spPr>
          <a:xfrm>
            <a:off x="8092440" y="2880360"/>
            <a:ext cx="33832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Correct answer: B</a:t>
            </a:r>
            <a:endParaRPr lang="en-US" sz="1800" dirty="0"/>
          </a:p>
        </p:txBody>
      </p:sp>
      <p:sp>
        <p:nvSpPr>
          <p:cNvPr id="19" name="Text 15"/>
          <p:cNvSpPr txBox="1"/>
          <p:nvPr/>
        </p:nvSpPr>
        <p:spPr>
          <a:xfrm>
            <a:off x="7498080" y="3520440"/>
            <a:ext cx="3886200" cy="2468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Authorization while a patient was alive doesn't automatically extend after death, and there's no work reason for you to open the chart. Route to the formal records-release process, which will verify authority and scope.</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3</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29</a:t>
            </a:r>
            <a:endParaRPr lang="en-US" sz="900" dirty="0"/>
          </a:p>
        </p:txBody>
      </p:sp>
      <p:sp>
        <p:nvSpPr>
          <p:cNvPr id="7" name="Text 4"/>
          <p:cNvSpPr txBox="1"/>
          <p:nvPr/>
        </p:nvSpPr>
        <p:spPr>
          <a:xfrm>
            <a:off x="548640" y="1691640"/>
            <a:ext cx="11064240" cy="1005840"/>
          </a:xfrm>
          <a:prstGeom prst="rect">
            <a:avLst/>
          </a:prstGeom>
          <a:noFill/>
          <a:ln/>
        </p:spPr>
        <p:txBody>
          <a:bodyPr wrap="square" lIns="0" tIns="0" rIns="0" bIns="0" rtlCol="0" anchor="t"/>
          <a:lstStyle/>
          <a:p>
            <a:pPr indent="0" marL="0">
              <a:buNone/>
            </a:pPr>
            <a:r>
              <a:rPr lang="en-US" sz="1800" b="1" dirty="0">
                <a:solidFill>
                  <a:srgbClr val="1F2933"/>
                </a:solidFill>
                <a:latin typeface="Calibri" pitchFamily="34" charset="0"/>
                <a:ea typeface="Calibri" pitchFamily="34" charset="-122"/>
                <a:cs typeface="Calibri" pitchFamily="34" charset="-120"/>
              </a:rPr>
              <a:t>An audit request asks for consent and care-plan documentation for three patients in June. You should:</a:t>
            </a:r>
            <a:endParaRPr lang="en-US" sz="1800" dirty="0"/>
          </a:p>
        </p:txBody>
      </p:sp>
      <p:sp>
        <p:nvSpPr>
          <p:cNvPr id="8" name="Shape 5"/>
          <p:cNvSpPr/>
          <p:nvPr/>
        </p:nvSpPr>
        <p:spPr>
          <a:xfrm>
            <a:off x="548640" y="2880360"/>
            <a:ext cx="11091672" cy="658368"/>
          </a:xfrm>
          <a:prstGeom prst="roundRect">
            <a:avLst>
              <a:gd name="adj" fmla="val 11111"/>
            </a:avLst>
          </a:prstGeom>
          <a:solidFill>
            <a:srgbClr val="FFFFFF"/>
          </a:solidFill>
          <a:ln w="12700">
            <a:solidFill>
              <a:srgbClr val="D6DEE8"/>
            </a:solidFill>
            <a:prstDash val="solid"/>
          </a:ln>
        </p:spPr>
      </p:sp>
      <p:sp>
        <p:nvSpPr>
          <p:cNvPr id="9" name="Shape 6"/>
          <p:cNvSpPr/>
          <p:nvPr/>
        </p:nvSpPr>
        <p:spPr>
          <a:xfrm>
            <a:off x="731520" y="3026664"/>
            <a:ext cx="365760" cy="365760"/>
          </a:xfrm>
          <a:prstGeom prst="ellipse">
            <a:avLst/>
          </a:prstGeom>
          <a:solidFill>
            <a:srgbClr val="EAF1FA"/>
          </a:solidFill>
          <a:ln w="12700">
            <a:solidFill>
              <a:srgbClr val="EAF1FA"/>
            </a:solidFill>
            <a:prstDash val="solid"/>
          </a:ln>
        </p:spPr>
      </p:sp>
      <p:sp>
        <p:nvSpPr>
          <p:cNvPr id="10" name="Text 7"/>
          <p:cNvSpPr txBox="1"/>
          <p:nvPr/>
        </p:nvSpPr>
        <p:spPr>
          <a:xfrm>
            <a:off x="731520" y="302666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A</a:t>
            </a:r>
            <a:endParaRPr lang="en-US" sz="1200" dirty="0"/>
          </a:p>
        </p:txBody>
      </p:sp>
      <p:sp>
        <p:nvSpPr>
          <p:cNvPr id="11" name="Text 8"/>
          <p:cNvSpPr txBox="1"/>
          <p:nvPr/>
        </p:nvSpPr>
        <p:spPr>
          <a:xfrm>
            <a:off x="1280160" y="288036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Export the full charts for all three.</a:t>
            </a:r>
            <a:endParaRPr lang="en-US" sz="1400" dirty="0"/>
          </a:p>
        </p:txBody>
      </p:sp>
      <p:sp>
        <p:nvSpPr>
          <p:cNvPr id="12" name="Shape 9"/>
          <p:cNvSpPr/>
          <p:nvPr/>
        </p:nvSpPr>
        <p:spPr>
          <a:xfrm>
            <a:off x="548640" y="3657600"/>
            <a:ext cx="11091672" cy="658368"/>
          </a:xfrm>
          <a:prstGeom prst="roundRect">
            <a:avLst>
              <a:gd name="adj" fmla="val 11111"/>
            </a:avLst>
          </a:prstGeom>
          <a:solidFill>
            <a:srgbClr val="FFFFFF"/>
          </a:solidFill>
          <a:ln w="12700">
            <a:solidFill>
              <a:srgbClr val="D6DEE8"/>
            </a:solidFill>
            <a:prstDash val="solid"/>
          </a:ln>
        </p:spPr>
      </p:sp>
      <p:sp>
        <p:nvSpPr>
          <p:cNvPr id="13" name="Shape 10"/>
          <p:cNvSpPr/>
          <p:nvPr/>
        </p:nvSpPr>
        <p:spPr>
          <a:xfrm>
            <a:off x="731520" y="3803904"/>
            <a:ext cx="365760" cy="365760"/>
          </a:xfrm>
          <a:prstGeom prst="ellipse">
            <a:avLst/>
          </a:prstGeom>
          <a:solidFill>
            <a:srgbClr val="EAF1FA"/>
          </a:solidFill>
          <a:ln w="12700">
            <a:solidFill>
              <a:srgbClr val="EAF1FA"/>
            </a:solidFill>
            <a:prstDash val="solid"/>
          </a:ln>
        </p:spPr>
      </p:sp>
      <p:sp>
        <p:nvSpPr>
          <p:cNvPr id="14" name="Text 11"/>
          <p:cNvSpPr txBox="1"/>
          <p:nvPr/>
        </p:nvSpPr>
        <p:spPr>
          <a:xfrm>
            <a:off x="731520" y="380390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B</a:t>
            </a:r>
            <a:endParaRPr lang="en-US" sz="1200" dirty="0"/>
          </a:p>
        </p:txBody>
      </p:sp>
      <p:sp>
        <p:nvSpPr>
          <p:cNvPr id="15" name="Text 12"/>
          <p:cNvSpPr txBox="1"/>
          <p:nvPr/>
        </p:nvSpPr>
        <p:spPr>
          <a:xfrm>
            <a:off x="1280160" y="365760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Add missing June consent dates now so the records are complete.</a:t>
            </a:r>
            <a:endParaRPr lang="en-US" sz="1400" dirty="0"/>
          </a:p>
        </p:txBody>
      </p:sp>
      <p:sp>
        <p:nvSpPr>
          <p:cNvPr id="16" name="Shape 13"/>
          <p:cNvSpPr/>
          <p:nvPr/>
        </p:nvSpPr>
        <p:spPr>
          <a:xfrm>
            <a:off x="548640" y="4434840"/>
            <a:ext cx="11091672" cy="658368"/>
          </a:xfrm>
          <a:prstGeom prst="roundRect">
            <a:avLst>
              <a:gd name="adj" fmla="val 11111"/>
            </a:avLst>
          </a:prstGeom>
          <a:solidFill>
            <a:srgbClr val="FFFFFF"/>
          </a:solidFill>
          <a:ln w="12700">
            <a:solidFill>
              <a:srgbClr val="D6DEE8"/>
            </a:solidFill>
            <a:prstDash val="solid"/>
          </a:ln>
        </p:spPr>
      </p:sp>
      <p:sp>
        <p:nvSpPr>
          <p:cNvPr id="17" name="Shape 14"/>
          <p:cNvSpPr/>
          <p:nvPr/>
        </p:nvSpPr>
        <p:spPr>
          <a:xfrm>
            <a:off x="731520" y="4581144"/>
            <a:ext cx="365760" cy="365760"/>
          </a:xfrm>
          <a:prstGeom prst="ellipse">
            <a:avLst/>
          </a:prstGeom>
          <a:solidFill>
            <a:srgbClr val="EAF1FA"/>
          </a:solidFill>
          <a:ln w="12700">
            <a:solidFill>
              <a:srgbClr val="EAF1FA"/>
            </a:solidFill>
            <a:prstDash val="solid"/>
          </a:ln>
        </p:spPr>
      </p:sp>
      <p:sp>
        <p:nvSpPr>
          <p:cNvPr id="18" name="Text 15"/>
          <p:cNvSpPr txBox="1"/>
          <p:nvPr/>
        </p:nvSpPr>
        <p:spPr>
          <a:xfrm>
            <a:off x="731520" y="458114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C</a:t>
            </a:r>
            <a:endParaRPr lang="en-US" sz="1200" dirty="0"/>
          </a:p>
        </p:txBody>
      </p:sp>
      <p:sp>
        <p:nvSpPr>
          <p:cNvPr id="19" name="Text 16"/>
          <p:cNvSpPr txBox="1"/>
          <p:nvPr/>
        </p:nvSpPr>
        <p:spPr>
          <a:xfrm>
            <a:off x="1280160" y="443484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Provide exactly the requested documents through your supervisor, and note any gaps honestly.</a:t>
            </a:r>
            <a:endParaRPr lang="en-US" sz="1400" dirty="0"/>
          </a:p>
        </p:txBody>
      </p:sp>
      <p:sp>
        <p:nvSpPr>
          <p:cNvPr id="20" name="Shape 17"/>
          <p:cNvSpPr/>
          <p:nvPr/>
        </p:nvSpPr>
        <p:spPr>
          <a:xfrm>
            <a:off x="548640" y="5212080"/>
            <a:ext cx="11091672" cy="658368"/>
          </a:xfrm>
          <a:prstGeom prst="roundRect">
            <a:avLst>
              <a:gd name="adj" fmla="val 11111"/>
            </a:avLst>
          </a:prstGeom>
          <a:solidFill>
            <a:srgbClr val="FFFFFF"/>
          </a:solidFill>
          <a:ln w="12700">
            <a:solidFill>
              <a:srgbClr val="D6DEE8"/>
            </a:solidFill>
            <a:prstDash val="solid"/>
          </a:ln>
        </p:spPr>
      </p:sp>
      <p:sp>
        <p:nvSpPr>
          <p:cNvPr id="21" name="Shape 18"/>
          <p:cNvSpPr/>
          <p:nvPr/>
        </p:nvSpPr>
        <p:spPr>
          <a:xfrm>
            <a:off x="731520" y="5358384"/>
            <a:ext cx="365760" cy="365760"/>
          </a:xfrm>
          <a:prstGeom prst="ellipse">
            <a:avLst/>
          </a:prstGeom>
          <a:solidFill>
            <a:srgbClr val="EAF1FA"/>
          </a:solidFill>
          <a:ln w="12700">
            <a:solidFill>
              <a:srgbClr val="EAF1FA"/>
            </a:solidFill>
            <a:prstDash val="solid"/>
          </a:ln>
        </p:spPr>
      </p:sp>
      <p:sp>
        <p:nvSpPr>
          <p:cNvPr id="22" name="Text 19"/>
          <p:cNvSpPr txBox="1"/>
          <p:nvPr/>
        </p:nvSpPr>
        <p:spPr>
          <a:xfrm>
            <a:off x="731520" y="535838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D</a:t>
            </a:r>
            <a:endParaRPr lang="en-US" sz="1200" dirty="0"/>
          </a:p>
        </p:txBody>
      </p:sp>
      <p:sp>
        <p:nvSpPr>
          <p:cNvPr id="23" name="Text 20"/>
          <p:cNvSpPr txBox="1"/>
          <p:nvPr/>
        </p:nvSpPr>
        <p:spPr>
          <a:xfrm>
            <a:off x="1280160" y="521208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Ask the auditor to come back later.</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3 — answer</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30</a:t>
            </a:r>
            <a:endParaRPr lang="en-US" sz="900" dirty="0"/>
          </a:p>
        </p:txBody>
      </p:sp>
      <p:sp>
        <p:nvSpPr>
          <p:cNvPr id="7" name="Text 4"/>
          <p:cNvSpPr txBox="1"/>
          <p:nvPr/>
        </p:nvSpPr>
        <p:spPr>
          <a:xfrm>
            <a:off x="548640" y="1691640"/>
            <a:ext cx="11064240" cy="822960"/>
          </a:xfrm>
          <a:prstGeom prst="rect">
            <a:avLst/>
          </a:prstGeom>
          <a:noFill/>
          <a:ln/>
        </p:spPr>
        <p:txBody>
          <a:bodyPr wrap="square" lIns="0" tIns="0" rIns="0" bIns="0" rtlCol="0" anchor="t"/>
          <a:lstStyle/>
          <a:p>
            <a:pPr indent="0" marL="0">
              <a:buNone/>
            </a:pPr>
            <a:r>
              <a:rPr lang="en-US" sz="1500" dirty="0">
                <a:solidFill>
                  <a:srgbClr val="5B6773"/>
                </a:solidFill>
                <a:latin typeface="Calibri" pitchFamily="34" charset="0"/>
                <a:ea typeface="Calibri" pitchFamily="34" charset="-122"/>
                <a:cs typeface="Calibri" pitchFamily="34" charset="-120"/>
              </a:rPr>
              <a:t>An audit request asks for consent and care-plan documentation for three patients in June. You should:</a:t>
            </a:r>
            <a:endParaRPr lang="en-US" sz="1500" dirty="0"/>
          </a:p>
        </p:txBody>
      </p:sp>
      <p:sp>
        <p:nvSpPr>
          <p:cNvPr id="8" name="Shape 5"/>
          <p:cNvSpPr/>
          <p:nvPr/>
        </p:nvSpPr>
        <p:spPr>
          <a:xfrm>
            <a:off x="548640" y="2606040"/>
            <a:ext cx="6309360" cy="475488"/>
          </a:xfrm>
          <a:prstGeom prst="roundRect">
            <a:avLst>
              <a:gd name="adj" fmla="val 11538"/>
            </a:avLst>
          </a:prstGeom>
          <a:solidFill>
            <a:srgbClr val="FFFFFF"/>
          </a:solidFill>
          <a:ln w="9525">
            <a:solidFill>
              <a:srgbClr val="D6DEE8"/>
            </a:solidFill>
            <a:prstDash val="solid"/>
          </a:ln>
        </p:spPr>
      </p:sp>
      <p:sp>
        <p:nvSpPr>
          <p:cNvPr id="9" name="Text 6"/>
          <p:cNvSpPr txBox="1"/>
          <p:nvPr/>
        </p:nvSpPr>
        <p:spPr>
          <a:xfrm>
            <a:off x="731520" y="2606040"/>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A.  Export the full charts for all three.</a:t>
            </a:r>
            <a:endParaRPr lang="en-US" sz="1200" dirty="0"/>
          </a:p>
        </p:txBody>
      </p:sp>
      <p:sp>
        <p:nvSpPr>
          <p:cNvPr id="10" name="Shape 7"/>
          <p:cNvSpPr/>
          <p:nvPr/>
        </p:nvSpPr>
        <p:spPr>
          <a:xfrm>
            <a:off x="548640" y="3172968"/>
            <a:ext cx="6309360" cy="475488"/>
          </a:xfrm>
          <a:prstGeom prst="roundRect">
            <a:avLst>
              <a:gd name="adj" fmla="val 11538"/>
            </a:avLst>
          </a:prstGeom>
          <a:solidFill>
            <a:srgbClr val="FFFFFF"/>
          </a:solidFill>
          <a:ln w="9525">
            <a:solidFill>
              <a:srgbClr val="D6DEE8"/>
            </a:solidFill>
            <a:prstDash val="solid"/>
          </a:ln>
        </p:spPr>
      </p:sp>
      <p:sp>
        <p:nvSpPr>
          <p:cNvPr id="11" name="Text 8"/>
          <p:cNvSpPr txBox="1"/>
          <p:nvPr/>
        </p:nvSpPr>
        <p:spPr>
          <a:xfrm>
            <a:off x="731520" y="3172968"/>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B.  Add missing June consent dates now so the records are complete.</a:t>
            </a:r>
            <a:endParaRPr lang="en-US" sz="1200" dirty="0"/>
          </a:p>
        </p:txBody>
      </p:sp>
      <p:sp>
        <p:nvSpPr>
          <p:cNvPr id="12" name="Shape 9"/>
          <p:cNvSpPr/>
          <p:nvPr/>
        </p:nvSpPr>
        <p:spPr>
          <a:xfrm>
            <a:off x="548640" y="3739896"/>
            <a:ext cx="6309360" cy="475488"/>
          </a:xfrm>
          <a:prstGeom prst="roundRect">
            <a:avLst>
              <a:gd name="adj" fmla="val 11538"/>
            </a:avLst>
          </a:prstGeom>
          <a:solidFill>
            <a:srgbClr val="EEF2E8"/>
          </a:solidFill>
          <a:ln w="19050">
            <a:solidFill>
              <a:srgbClr val="586C47"/>
            </a:solidFill>
            <a:prstDash val="solid"/>
          </a:ln>
        </p:spPr>
      </p:sp>
      <p:sp>
        <p:nvSpPr>
          <p:cNvPr id="13" name="Text 10"/>
          <p:cNvSpPr txBox="1"/>
          <p:nvPr/>
        </p:nvSpPr>
        <p:spPr>
          <a:xfrm>
            <a:off x="731520" y="3739896"/>
            <a:ext cx="5943600" cy="475488"/>
          </a:xfrm>
          <a:prstGeom prst="rect">
            <a:avLst/>
          </a:prstGeom>
          <a:noFill/>
          <a:ln/>
        </p:spPr>
        <p:txBody>
          <a:bodyPr wrap="square" lIns="0" tIns="0" rIns="0" bIns="0" rtlCol="0" anchor="ctr"/>
          <a:lstStyle/>
          <a:p>
            <a:pPr indent="0" marL="0">
              <a:buNone/>
            </a:pPr>
            <a:r>
              <a:rPr lang="en-US" sz="1200" b="1" dirty="0">
                <a:solidFill>
                  <a:srgbClr val="586C47"/>
                </a:solidFill>
                <a:latin typeface="Calibri" pitchFamily="34" charset="0"/>
                <a:ea typeface="Calibri" pitchFamily="34" charset="-122"/>
                <a:cs typeface="Calibri" pitchFamily="34" charset="-120"/>
              </a:rPr>
              <a:t>C.  Provide exactly the requested documents through your supervisor, and note any gaps honestly.</a:t>
            </a:r>
            <a:endParaRPr lang="en-US" sz="1200" dirty="0"/>
          </a:p>
        </p:txBody>
      </p:sp>
      <p:sp>
        <p:nvSpPr>
          <p:cNvPr id="14" name="Shape 11"/>
          <p:cNvSpPr/>
          <p:nvPr/>
        </p:nvSpPr>
        <p:spPr>
          <a:xfrm>
            <a:off x="548640" y="4306824"/>
            <a:ext cx="6309360" cy="475488"/>
          </a:xfrm>
          <a:prstGeom prst="roundRect">
            <a:avLst>
              <a:gd name="adj" fmla="val 11538"/>
            </a:avLst>
          </a:prstGeom>
          <a:solidFill>
            <a:srgbClr val="FFFFFF"/>
          </a:solidFill>
          <a:ln w="9525">
            <a:solidFill>
              <a:srgbClr val="D6DEE8"/>
            </a:solidFill>
            <a:prstDash val="solid"/>
          </a:ln>
        </p:spPr>
      </p:sp>
      <p:sp>
        <p:nvSpPr>
          <p:cNvPr id="15" name="Text 12"/>
          <p:cNvSpPr txBox="1"/>
          <p:nvPr/>
        </p:nvSpPr>
        <p:spPr>
          <a:xfrm>
            <a:off x="731520" y="4306824"/>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D.  Ask the auditor to come back later.</a:t>
            </a:r>
            <a:endParaRPr lang="en-US" sz="1200" dirty="0"/>
          </a:p>
        </p:txBody>
      </p:sp>
      <p:sp>
        <p:nvSpPr>
          <p:cNvPr id="16" name="Shape 13"/>
          <p:cNvSpPr/>
          <p:nvPr/>
        </p:nvSpPr>
        <p:spPr>
          <a:xfrm>
            <a:off x="7223760" y="2606040"/>
            <a:ext cx="4434840" cy="3520440"/>
          </a:xfrm>
          <a:prstGeom prst="roundRect">
            <a:avLst>
              <a:gd name="adj" fmla="val 3117"/>
            </a:avLst>
          </a:prstGeom>
          <a:solidFill>
            <a:srgbClr val="586C47"/>
          </a:solidFill>
          <a:ln w="12700">
            <a:solidFill>
              <a:srgbClr val="586C47"/>
            </a:solidFill>
            <a:prstDash val="solid"/>
          </a:ln>
        </p:spPr>
      </p:sp>
      <p:pic>
        <p:nvPicPr>
          <p:cNvPr id="17" name="Image 1" descr="preencoded.png">    </p:cNvPr>
          <p:cNvPicPr>
            <a:picLocks noChangeAspect="1"/>
          </p:cNvPicPr>
          <p:nvPr/>
        </p:nvPicPr>
        <p:blipFill>
          <a:blip r:embed="rId2"/>
          <a:stretch>
            <a:fillRect/>
          </a:stretch>
        </p:blipFill>
        <p:spPr>
          <a:xfrm>
            <a:off x="7498080" y="2880360"/>
            <a:ext cx="457200" cy="457200"/>
          </a:xfrm>
          <a:prstGeom prst="rect">
            <a:avLst/>
          </a:prstGeom>
        </p:spPr>
      </p:pic>
      <p:sp>
        <p:nvSpPr>
          <p:cNvPr id="18" name="Text 14"/>
          <p:cNvSpPr txBox="1"/>
          <p:nvPr/>
        </p:nvSpPr>
        <p:spPr>
          <a:xfrm>
            <a:off x="8092440" y="2880360"/>
            <a:ext cx="33832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Correct answer: C</a:t>
            </a:r>
            <a:endParaRPr lang="en-US" sz="1800" dirty="0"/>
          </a:p>
        </p:txBody>
      </p:sp>
      <p:sp>
        <p:nvSpPr>
          <p:cNvPr id="19" name="Text 15"/>
          <p:cNvSpPr txBox="1"/>
          <p:nvPr/>
        </p:nvSpPr>
        <p:spPr>
          <a:xfrm>
            <a:off x="7498080" y="3520440"/>
            <a:ext cx="3886200" cy="2468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Respond precisely, through the proper channel, and never alter past records. Gaps are process information; fabricated completeness is fraud.</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MODULE SUMMARY</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Key takeaways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10 · Compliance, Privacy &amp; Quality Assurance in athenaOne</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31</a:t>
            </a:r>
            <a:endParaRPr lang="en-US" sz="900" dirty="0"/>
          </a:p>
        </p:txBody>
      </p:sp>
      <p:sp>
        <p:nvSpPr>
          <p:cNvPr id="7" name="Shape 4"/>
          <p:cNvSpPr/>
          <p:nvPr/>
        </p:nvSpPr>
        <p:spPr>
          <a:xfrm>
            <a:off x="548640" y="1691640"/>
            <a:ext cx="11091672" cy="647700"/>
          </a:xfrm>
          <a:prstGeom prst="roundRect">
            <a:avLst>
              <a:gd name="adj" fmla="val 11294"/>
            </a:avLst>
          </a:prstGeom>
          <a:solidFill>
            <a:srgbClr val="FFFFFF"/>
          </a:solidFill>
          <a:ln w="9525">
            <a:solidFill>
              <a:srgbClr val="D6DEE8"/>
            </a:solidFill>
            <a:prstDash val="solid"/>
          </a:ln>
        </p:spPr>
      </p:sp>
      <p:pic>
        <p:nvPicPr>
          <p:cNvPr id="8" name="Image 1" descr="preencoded.png">    </p:cNvPr>
          <p:cNvPicPr>
            <a:picLocks noChangeAspect="1"/>
          </p:cNvPicPr>
          <p:nvPr/>
        </p:nvPicPr>
        <p:blipFill>
          <a:blip r:embed="rId2"/>
          <a:stretch>
            <a:fillRect/>
          </a:stretch>
        </p:blipFill>
        <p:spPr>
          <a:xfrm>
            <a:off x="777240" y="1841754"/>
            <a:ext cx="347472" cy="347472"/>
          </a:xfrm>
          <a:prstGeom prst="rect">
            <a:avLst/>
          </a:prstGeom>
        </p:spPr>
      </p:pic>
      <p:sp>
        <p:nvSpPr>
          <p:cNvPr id="9" name="Text 5"/>
          <p:cNvSpPr txBox="1"/>
          <p:nvPr/>
        </p:nvSpPr>
        <p:spPr>
          <a:xfrm>
            <a:off x="1325880" y="1691640"/>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Three questions before every access or disclosure: Do I need this? Is this person authorized? Is this the least I can share?</a:t>
            </a:r>
            <a:endParaRPr lang="en-US" sz="1400" dirty="0"/>
          </a:p>
        </p:txBody>
      </p:sp>
      <p:sp>
        <p:nvSpPr>
          <p:cNvPr id="10" name="Shape 6"/>
          <p:cNvSpPr/>
          <p:nvPr/>
        </p:nvSpPr>
        <p:spPr>
          <a:xfrm>
            <a:off x="548640" y="2458212"/>
            <a:ext cx="11091672" cy="647700"/>
          </a:xfrm>
          <a:prstGeom prst="roundRect">
            <a:avLst>
              <a:gd name="adj" fmla="val 11294"/>
            </a:avLst>
          </a:prstGeom>
          <a:solidFill>
            <a:srgbClr val="EAF1FA"/>
          </a:solidFill>
          <a:ln w="9525">
            <a:solidFill>
              <a:srgbClr val="EAF1FA"/>
            </a:solidFill>
            <a:prstDash val="solid"/>
          </a:ln>
        </p:spPr>
      </p:sp>
      <p:pic>
        <p:nvPicPr>
          <p:cNvPr id="11" name="Image 2" descr="preencoded.png">    </p:cNvPr>
          <p:cNvPicPr>
            <a:picLocks noChangeAspect="1"/>
          </p:cNvPicPr>
          <p:nvPr/>
        </p:nvPicPr>
        <p:blipFill>
          <a:blip r:embed="rId3"/>
          <a:stretch>
            <a:fillRect/>
          </a:stretch>
        </p:blipFill>
        <p:spPr>
          <a:xfrm>
            <a:off x="777240" y="2608326"/>
            <a:ext cx="347472" cy="347472"/>
          </a:xfrm>
          <a:prstGeom prst="rect">
            <a:avLst/>
          </a:prstGeom>
        </p:spPr>
      </p:pic>
      <p:sp>
        <p:nvSpPr>
          <p:cNvPr id="12" name="Text 7"/>
          <p:cNvSpPr txBox="1"/>
          <p:nvPr/>
        </p:nvSpPr>
        <p:spPr>
          <a:xfrm>
            <a:off x="1325880" y="2458212"/>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Every view, edit, deletion, and disclosure is logged. Work as if the patient and the auditor will read it — they might.</a:t>
            </a:r>
            <a:endParaRPr lang="en-US" sz="1400" dirty="0"/>
          </a:p>
        </p:txBody>
      </p:sp>
      <p:sp>
        <p:nvSpPr>
          <p:cNvPr id="13" name="Shape 8"/>
          <p:cNvSpPr/>
          <p:nvPr/>
        </p:nvSpPr>
        <p:spPr>
          <a:xfrm>
            <a:off x="548640" y="3224784"/>
            <a:ext cx="11091672" cy="647700"/>
          </a:xfrm>
          <a:prstGeom prst="roundRect">
            <a:avLst>
              <a:gd name="adj" fmla="val 11294"/>
            </a:avLst>
          </a:prstGeom>
          <a:solidFill>
            <a:srgbClr val="FFFFFF"/>
          </a:solidFill>
          <a:ln w="9525">
            <a:solidFill>
              <a:srgbClr val="D6DEE8"/>
            </a:solidFill>
            <a:prstDash val="solid"/>
          </a:ln>
        </p:spPr>
      </p:sp>
      <p:pic>
        <p:nvPicPr>
          <p:cNvPr id="14" name="Image 3" descr="preencoded.png">    </p:cNvPr>
          <p:cNvPicPr>
            <a:picLocks noChangeAspect="1"/>
          </p:cNvPicPr>
          <p:nvPr/>
        </p:nvPicPr>
        <p:blipFill>
          <a:blip r:embed="rId4"/>
          <a:stretch>
            <a:fillRect/>
          </a:stretch>
        </p:blipFill>
        <p:spPr>
          <a:xfrm>
            <a:off x="777240" y="3374898"/>
            <a:ext cx="347472" cy="347472"/>
          </a:xfrm>
          <a:prstGeom prst="rect">
            <a:avLst/>
          </a:prstGeom>
        </p:spPr>
      </p:pic>
      <p:sp>
        <p:nvSpPr>
          <p:cNvPr id="15" name="Text 9"/>
          <p:cNvSpPr txBox="1"/>
          <p:nvPr/>
        </p:nvSpPr>
        <p:spPr>
          <a:xfrm>
            <a:off x="1325880" y="3224784"/>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Corrections add, never erase: addenda, labeled late entries, and move workflows. Never touch someone else's note.</a:t>
            </a:r>
            <a:endParaRPr lang="en-US" sz="1400" dirty="0"/>
          </a:p>
        </p:txBody>
      </p:sp>
      <p:sp>
        <p:nvSpPr>
          <p:cNvPr id="16" name="Shape 10"/>
          <p:cNvSpPr/>
          <p:nvPr/>
        </p:nvSpPr>
        <p:spPr>
          <a:xfrm>
            <a:off x="548640" y="3991356"/>
            <a:ext cx="11091672" cy="647700"/>
          </a:xfrm>
          <a:prstGeom prst="roundRect">
            <a:avLst>
              <a:gd name="adj" fmla="val 11294"/>
            </a:avLst>
          </a:prstGeom>
          <a:solidFill>
            <a:srgbClr val="EAF1FA"/>
          </a:solidFill>
          <a:ln w="9525">
            <a:solidFill>
              <a:srgbClr val="EAF1FA"/>
            </a:solidFill>
            <a:prstDash val="solid"/>
          </a:ln>
        </p:spPr>
      </p:sp>
      <p:pic>
        <p:nvPicPr>
          <p:cNvPr id="17" name="Image 4" descr="preencoded.png">    </p:cNvPr>
          <p:cNvPicPr>
            <a:picLocks noChangeAspect="1"/>
          </p:cNvPicPr>
          <p:nvPr/>
        </p:nvPicPr>
        <p:blipFill>
          <a:blip r:embed="rId5"/>
          <a:stretch>
            <a:fillRect/>
          </a:stretch>
        </p:blipFill>
        <p:spPr>
          <a:xfrm>
            <a:off x="777240" y="4141470"/>
            <a:ext cx="347472" cy="347472"/>
          </a:xfrm>
          <a:prstGeom prst="rect">
            <a:avLst/>
          </a:prstGeom>
        </p:spPr>
      </p:pic>
      <p:sp>
        <p:nvSpPr>
          <p:cNvPr id="18" name="Text 11"/>
          <p:cNvSpPr txBox="1"/>
          <p:nvPr/>
        </p:nvSpPr>
        <p:spPr>
          <a:xfrm>
            <a:off x="1325880" y="3991356"/>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Program audits test the chart against what was billed: consent, eligibility, filed assessment Forms, the Care Plan, Care Management Events and time, caregiver elements.</a:t>
            </a:r>
            <a:endParaRPr lang="en-US" sz="1400" dirty="0"/>
          </a:p>
        </p:txBody>
      </p:sp>
      <p:sp>
        <p:nvSpPr>
          <p:cNvPr id="19" name="Shape 12"/>
          <p:cNvSpPr/>
          <p:nvPr/>
        </p:nvSpPr>
        <p:spPr>
          <a:xfrm>
            <a:off x="548640" y="4757928"/>
            <a:ext cx="11091672" cy="647700"/>
          </a:xfrm>
          <a:prstGeom prst="roundRect">
            <a:avLst>
              <a:gd name="adj" fmla="val 11294"/>
            </a:avLst>
          </a:prstGeom>
          <a:solidFill>
            <a:srgbClr val="FFFFFF"/>
          </a:solidFill>
          <a:ln w="9525">
            <a:solidFill>
              <a:srgbClr val="D6DEE8"/>
            </a:solidFill>
            <a:prstDash val="solid"/>
          </a:ln>
        </p:spPr>
      </p:sp>
      <p:pic>
        <p:nvPicPr>
          <p:cNvPr id="20" name="Image 5" descr="preencoded.png">    </p:cNvPr>
          <p:cNvPicPr>
            <a:picLocks noChangeAspect="1"/>
          </p:cNvPicPr>
          <p:nvPr/>
        </p:nvPicPr>
        <p:blipFill>
          <a:blip r:embed="rId6"/>
          <a:stretch>
            <a:fillRect/>
          </a:stretch>
        </p:blipFill>
        <p:spPr>
          <a:xfrm>
            <a:off x="777240" y="4908042"/>
            <a:ext cx="347472" cy="347472"/>
          </a:xfrm>
          <a:prstGeom prst="rect">
            <a:avLst/>
          </a:prstGeom>
        </p:spPr>
      </p:pic>
      <p:sp>
        <p:nvSpPr>
          <p:cNvPr id="21" name="Text 13"/>
          <p:cNvSpPr txBox="1"/>
          <p:nvPr/>
        </p:nvSpPr>
        <p:spPr>
          <a:xfrm>
            <a:off x="1325880" y="4757928"/>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Report privacy incidents the same day, including your own. Timely reporting is protective; hiding is not.</a:t>
            </a:r>
            <a:endParaRPr lang="en-US" sz="1400" dirty="0"/>
          </a:p>
        </p:txBody>
      </p:sp>
      <p:sp>
        <p:nvSpPr>
          <p:cNvPr id="22" name="Shape 14"/>
          <p:cNvSpPr/>
          <p:nvPr/>
        </p:nvSpPr>
        <p:spPr>
          <a:xfrm>
            <a:off x="548640" y="5524500"/>
            <a:ext cx="11091672" cy="647700"/>
          </a:xfrm>
          <a:prstGeom prst="roundRect">
            <a:avLst>
              <a:gd name="adj" fmla="val 11294"/>
            </a:avLst>
          </a:prstGeom>
          <a:solidFill>
            <a:srgbClr val="EAF1FA"/>
          </a:solidFill>
          <a:ln w="9525">
            <a:solidFill>
              <a:srgbClr val="EAF1FA"/>
            </a:solidFill>
            <a:prstDash val="solid"/>
          </a:ln>
        </p:spPr>
      </p:sp>
      <p:pic>
        <p:nvPicPr>
          <p:cNvPr id="23" name="Image 6" descr="preencoded.png">    </p:cNvPr>
          <p:cNvPicPr>
            <a:picLocks noChangeAspect="1"/>
          </p:cNvPicPr>
          <p:nvPr/>
        </p:nvPicPr>
        <p:blipFill>
          <a:blip r:embed="rId7"/>
          <a:stretch>
            <a:fillRect/>
          </a:stretch>
        </p:blipFill>
        <p:spPr>
          <a:xfrm>
            <a:off x="777240" y="5674614"/>
            <a:ext cx="347472" cy="347472"/>
          </a:xfrm>
          <a:prstGeom prst="rect">
            <a:avLst/>
          </a:prstGeom>
        </p:spPr>
      </p:pic>
      <p:sp>
        <p:nvSpPr>
          <p:cNvPr id="24" name="Text 15"/>
          <p:cNvSpPr txBox="1"/>
          <p:nvPr/>
        </p:nvSpPr>
        <p:spPr>
          <a:xfrm>
            <a:off x="1325880" y="5524500"/>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Audit five of your own charts monthly with the checklist. Fix the process behind each finding.</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4A87"/>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84ACDF">
              <a:alpha val="20000"/>
            </a:srgbClr>
          </a:solidFill>
          <a:ln w="12700">
            <a:solidFill>
              <a:srgbClr val="84ACDF">
                <a:alpha val="20000"/>
              </a:srgbClr>
            </a:solidFill>
            <a:prstDash val="solid"/>
          </a:ln>
        </p:spPr>
      </p:sp>
      <p:sp>
        <p:nvSpPr>
          <p:cNvPr id="3" name="Shape 1"/>
          <p:cNvSpPr/>
          <p:nvPr/>
        </p:nvSpPr>
        <p:spPr>
          <a:xfrm>
            <a:off x="7498080" y="640080"/>
            <a:ext cx="3931920" cy="1691640"/>
          </a:xfrm>
          <a:prstGeom prst="roundRect">
            <a:avLst>
              <a:gd name="adj" fmla="val 8108"/>
            </a:avLst>
          </a:prstGeom>
          <a:solidFill>
            <a:srgbClr val="FFFFFF"/>
          </a:solidFill>
          <a:ln w="12700">
            <a:solidFill>
              <a:srgbClr val="FFFFFF"/>
            </a:solidFill>
            <a:prstDash val="solid"/>
          </a:ln>
        </p:spPr>
      </p:sp>
      <p:pic>
        <p:nvPicPr>
          <p:cNvPr id="4" name="Image 0" descr="/home/claude/build/logo.png">    </p:cNvPr>
          <p:cNvPicPr>
            <a:picLocks noChangeAspect="1"/>
          </p:cNvPicPr>
          <p:nvPr/>
        </p:nvPicPr>
        <p:blipFill>
          <a:blip r:embed="rId1"/>
          <a:stretch>
            <a:fillRect/>
          </a:stretch>
        </p:blipFill>
        <p:spPr>
          <a:xfrm>
            <a:off x="7635240" y="731520"/>
            <a:ext cx="3657600" cy="1508760"/>
          </a:xfrm>
          <a:prstGeom prst="rect">
            <a:avLst/>
          </a:prstGeom>
        </p:spPr>
      </p:pic>
      <p:sp>
        <p:nvSpPr>
          <p:cNvPr id="5" name="Text 2"/>
          <p:cNvSpPr txBox="1"/>
          <p:nvPr/>
        </p:nvSpPr>
        <p:spPr>
          <a:xfrm>
            <a:off x="731520" y="274320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You've completed Module 10</a:t>
            </a:r>
            <a:endParaRPr lang="en-US" sz="4000" dirty="0"/>
          </a:p>
        </p:txBody>
      </p:sp>
      <p:sp>
        <p:nvSpPr>
          <p:cNvPr id="6" name="Text 3"/>
          <p:cNvSpPr txBox="1"/>
          <p:nvPr/>
        </p:nvSpPr>
        <p:spPr>
          <a:xfrm>
            <a:off x="731520" y="3611880"/>
            <a:ext cx="10058400" cy="548640"/>
          </a:xfrm>
          <a:prstGeom prst="rect">
            <a:avLst/>
          </a:prstGeom>
          <a:noFill/>
          <a:ln/>
        </p:spPr>
        <p:txBody>
          <a:bodyPr wrap="square" lIns="0" tIns="0" rIns="0" bIns="0" rtlCol="0" anchor="ctr"/>
          <a:lstStyle/>
          <a:p>
            <a:pPr indent="0" marL="0">
              <a:buNone/>
            </a:pPr>
            <a:r>
              <a:rPr lang="en-US" sz="2000" dirty="0">
                <a:solidFill>
                  <a:srgbClr val="EAF1FA"/>
                </a:solidFill>
                <a:latin typeface="Calibri" pitchFamily="34" charset="0"/>
                <a:ea typeface="Calibri" pitchFamily="34" charset="-122"/>
                <a:cs typeface="Calibri" pitchFamily="34" charset="-120"/>
              </a:rPr>
              <a:t>Compliance, Privacy &amp; Quality Assurance in athenaOne</a:t>
            </a:r>
            <a:endParaRPr lang="en-US" sz="2000" dirty="0"/>
          </a:p>
        </p:txBody>
      </p:sp>
      <p:sp>
        <p:nvSpPr>
          <p:cNvPr id="7" name="Text 4"/>
          <p:cNvSpPr txBox="1"/>
          <p:nvPr/>
        </p:nvSpPr>
        <p:spPr>
          <a:xfrm>
            <a:off x="731520" y="4663440"/>
            <a:ext cx="5486400" cy="320040"/>
          </a:xfrm>
          <a:prstGeom prst="rect">
            <a:avLst/>
          </a:prstGeom>
          <a:noFill/>
          <a:ln/>
        </p:spPr>
        <p:txBody>
          <a:bodyPr wrap="square" lIns="0" tIns="0" rIns="0" bIns="0" rtlCol="0" anchor="ctr"/>
          <a:lstStyle/>
          <a:p>
            <a:pPr indent="0" marL="0">
              <a:buNone/>
            </a:pPr>
            <a:r>
              <a:rPr lang="en-US" sz="1200" b="1" spc="200" kern="0" dirty="0">
                <a:solidFill>
                  <a:srgbClr val="F1C232"/>
                </a:solidFill>
                <a:latin typeface="Calibri" pitchFamily="34" charset="0"/>
                <a:ea typeface="Calibri" pitchFamily="34" charset="-122"/>
                <a:cs typeface="Calibri" pitchFamily="34" charset="-120"/>
              </a:rPr>
              <a:t>UP NEXT</a:t>
            </a:r>
            <a:endParaRPr lang="en-US" sz="1200" dirty="0"/>
          </a:p>
        </p:txBody>
      </p:sp>
      <p:sp>
        <p:nvSpPr>
          <p:cNvPr id="8" name="Text 5"/>
          <p:cNvSpPr txBox="1"/>
          <p:nvPr/>
        </p:nvSpPr>
        <p:spPr>
          <a:xfrm>
            <a:off x="731520" y="4983480"/>
            <a:ext cx="10058400" cy="54864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You've completed the AbleLiving athenaOne Care Navigator curriculum. Thank you for the care you bring to every family.</a:t>
            </a:r>
            <a:endParaRPr lang="en-US" sz="1800" dirty="0"/>
          </a:p>
        </p:txBody>
      </p:sp>
      <p:sp>
        <p:nvSpPr>
          <p:cNvPr id="9" name="Text 6"/>
          <p:cNvSpPr txBox="1"/>
          <p:nvPr/>
        </p:nvSpPr>
        <p:spPr>
          <a:xfrm>
            <a:off x="731520" y="5852160"/>
            <a:ext cx="10515600" cy="548640"/>
          </a:xfrm>
          <a:prstGeom prst="rect">
            <a:avLst/>
          </a:prstGeom>
          <a:noFill/>
          <a:ln/>
        </p:spPr>
        <p:txBody>
          <a:bodyPr wrap="square" lIns="0" tIns="0" rIns="0" bIns="0" rtlCol="0" anchor="ctr"/>
          <a:lstStyle/>
          <a:p>
            <a:pPr indent="0" marL="0">
              <a:buNone/>
            </a:pPr>
            <a:r>
              <a:rPr lang="en-US" sz="1000" i="1" dirty="0">
                <a:solidFill>
                  <a:srgbClr val="84ACDF"/>
                </a:solidFill>
                <a:latin typeface="Calibri" pitchFamily="34" charset="0"/>
                <a:ea typeface="Calibri" pitchFamily="34" charset="-122"/>
                <a:cs typeface="Calibri" pitchFamily="34" charset="-120"/>
              </a:rPr>
              <a:t>Screens shown are illustrative representations of athenaOne workflows (terminology verified against athenahealth O-help and published workflow guides, Sept 2026). Follow AbleLiving policies and athenahealth O-help where they differ.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10: Compliance, Privacy &amp; Quality Assurance in athenaOne</dc:title>
  <dc:subject>PptxGenJS Presentation</dc:subject>
  <dc:creator>AbleLiving Memory Support</dc:creator>
  <cp:lastModifiedBy>AbleLiving Memory Support</cp:lastModifiedBy>
  <cp:revision>1</cp:revision>
  <dcterms:created xsi:type="dcterms:W3CDTF">2026-09-24T23:02:00Z</dcterms:created>
  <dcterms:modified xsi:type="dcterms:W3CDTF">2026-09-24T23:02:00Z</dcterms:modified>
</cp:coreProperties>
</file>