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1.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1.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slideLayout" Target="../slideLayouts/slideLayout1.xml"/><Relationship Id="rId9"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image" Target="../media/image-30-7.png"/><Relationship Id="rId8" Type="http://schemas.openxmlformats.org/officeDocument/2006/relationships/slideLayout" Target="../slideLayouts/slideLayout1.xml"/><Relationship Id="rId9"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4A87"/>
        </a:solidFill>
      </p:bgPr>
    </p:bg>
    <p:spTree>
      <p:nvGrpSpPr>
        <p:cNvPr id="1" name=""/>
        <p:cNvGrpSpPr/>
        <p:nvPr/>
      </p:nvGrpSpPr>
      <p:grpSpPr>
        <a:xfrm>
          <a:off x="0" y="0"/>
          <a:ext cx="0" cy="0"/>
          <a:chOff x="0" y="0"/>
          <a:chExt cx="0" cy="0"/>
        </a:xfrm>
      </p:grpSpPr>
      <p:sp>
        <p:nvSpPr>
          <p:cNvPr id="2" name="Shape 0"/>
          <p:cNvSpPr/>
          <p:nvPr/>
        </p:nvSpPr>
        <p:spPr>
          <a:xfrm>
            <a:off x="8595360" y="-2011680"/>
            <a:ext cx="5943600" cy="5943600"/>
          </a:xfrm>
          <a:prstGeom prst="ellipse">
            <a:avLst/>
          </a:prstGeom>
          <a:solidFill>
            <a:srgbClr val="84ACDF">
              <a:alpha val="20000"/>
            </a:srgbClr>
          </a:solidFill>
          <a:ln w="12700">
            <a:solidFill>
              <a:srgbClr val="84ACDF">
                <a:alpha val="20000"/>
              </a:srgbClr>
            </a:solidFill>
            <a:prstDash val="solid"/>
          </a:ln>
        </p:spPr>
      </p:sp>
      <p:sp>
        <p:nvSpPr>
          <p:cNvPr id="3" name="Shape 1"/>
          <p:cNvSpPr/>
          <p:nvPr/>
        </p:nvSpPr>
        <p:spPr>
          <a:xfrm>
            <a:off x="-1645920" y="4754880"/>
            <a:ext cx="4114800" cy="4114800"/>
          </a:xfrm>
          <a:prstGeom prst="ellipse">
            <a:avLst/>
          </a:prstGeom>
          <a:solidFill>
            <a:srgbClr val="586C47">
              <a:alpha val="30000"/>
            </a:srgbClr>
          </a:solidFill>
          <a:ln w="12700">
            <a:solidFill>
              <a:srgbClr val="586C47">
                <a:alpha val="30000"/>
              </a:srgbClr>
            </a:solidFill>
            <a:prstDash val="solid"/>
          </a:ln>
        </p:spPr>
      </p:sp>
      <p:sp>
        <p:nvSpPr>
          <p:cNvPr id="4" name="Shape 2"/>
          <p:cNvSpPr/>
          <p:nvPr/>
        </p:nvSpPr>
        <p:spPr>
          <a:xfrm>
            <a:off x="731520" y="640080"/>
            <a:ext cx="3931920" cy="1691640"/>
          </a:xfrm>
          <a:prstGeom prst="roundRect">
            <a:avLst>
              <a:gd name="adj" fmla="val 8108"/>
            </a:avLst>
          </a:prstGeom>
          <a:solidFill>
            <a:srgbClr val="FFFFFF"/>
          </a:solidFill>
          <a:ln w="12700">
            <a:solidFill>
              <a:srgbClr val="FFFFFF"/>
            </a:solidFill>
            <a:prstDash val="solid"/>
          </a:ln>
        </p:spPr>
      </p:sp>
      <p:pic>
        <p:nvPicPr>
          <p:cNvPr id="5" name="Image 0" descr="/home/claude/build/logo.png">    </p:cNvPr>
          <p:cNvPicPr>
            <a:picLocks noChangeAspect="1"/>
          </p:cNvPicPr>
          <p:nvPr/>
        </p:nvPicPr>
        <p:blipFill>
          <a:blip r:embed="rId1"/>
          <a:stretch>
            <a:fillRect/>
          </a:stretch>
        </p:blipFill>
        <p:spPr>
          <a:xfrm>
            <a:off x="868680" y="731520"/>
            <a:ext cx="3657600" cy="1508760"/>
          </a:xfrm>
          <a:prstGeom prst="rect">
            <a:avLst/>
          </a:prstGeom>
        </p:spPr>
      </p:pic>
      <p:sp>
        <p:nvSpPr>
          <p:cNvPr id="6" name="Text 3"/>
          <p:cNvSpPr txBox="1"/>
          <p:nvPr/>
        </p:nvSpPr>
        <p:spPr>
          <a:xfrm>
            <a:off x="731520" y="2880360"/>
            <a:ext cx="10058400" cy="320040"/>
          </a:xfrm>
          <a:prstGeom prst="rect">
            <a:avLst/>
          </a:prstGeom>
          <a:noFill/>
          <a:ln/>
        </p:spPr>
        <p:txBody>
          <a:bodyPr wrap="square" lIns="0" tIns="0" rIns="0" bIns="0" rtlCol="0" anchor="ctr"/>
          <a:lstStyle/>
          <a:p>
            <a:pPr indent="0" marL="0">
              <a:buNone/>
            </a:pPr>
            <a:r>
              <a:rPr lang="en-US" sz="1300" b="1" spc="200" kern="0" dirty="0">
                <a:solidFill>
                  <a:srgbClr val="F1C232"/>
                </a:solidFill>
                <a:latin typeface="Calibri" pitchFamily="34" charset="0"/>
                <a:ea typeface="Calibri" pitchFamily="34" charset="-122"/>
                <a:cs typeface="Calibri" pitchFamily="34" charset="-120"/>
              </a:rPr>
              <a:t>ATHENAONE TRAINING SERIES · MODULE 7 OF 10</a:t>
            </a:r>
            <a:endParaRPr lang="en-US" sz="1300" dirty="0"/>
          </a:p>
        </p:txBody>
      </p:sp>
      <p:sp>
        <p:nvSpPr>
          <p:cNvPr id="7" name="Text 4"/>
          <p:cNvSpPr txBox="1"/>
          <p:nvPr/>
        </p:nvSpPr>
        <p:spPr>
          <a:xfrm>
            <a:off x="731520" y="3246120"/>
            <a:ext cx="10515600" cy="137160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Orders, Referrals &amp; Results Tracking</a:t>
            </a:r>
            <a:endParaRPr lang="en-US" sz="4400" dirty="0"/>
          </a:p>
        </p:txBody>
      </p:sp>
      <p:sp>
        <p:nvSpPr>
          <p:cNvPr id="8" name="Text 5"/>
          <p:cNvSpPr txBox="1"/>
          <p:nvPr/>
        </p:nvSpPr>
        <p:spPr>
          <a:xfrm>
            <a:off x="731520" y="4617720"/>
            <a:ext cx="9601200" cy="822960"/>
          </a:xfrm>
          <a:prstGeom prst="rect">
            <a:avLst/>
          </a:prstGeom>
          <a:noFill/>
          <a:ln/>
        </p:spPr>
        <p:txBody>
          <a:bodyPr wrap="square" lIns="0" tIns="0" rIns="0" bIns="0" rtlCol="0" anchor="ctr"/>
          <a:lstStyle/>
          <a:p>
            <a:pPr indent="0" marL="0">
              <a:buNone/>
            </a:pPr>
            <a:r>
              <a:rPr lang="en-US" sz="1800" dirty="0">
                <a:solidFill>
                  <a:srgbClr val="EAF1FA"/>
                </a:solidFill>
                <a:latin typeface="Calibri" pitchFamily="34" charset="0"/>
                <a:ea typeface="Calibri" pitchFamily="34" charset="-122"/>
                <a:cs typeface="Calibri" pitchFamily="34" charset="-120"/>
              </a:rPr>
              <a:t>Closing the loop: outgoing referrals, home-based labs and imaging, outside records, and the open-order worklist.</a:t>
            </a:r>
            <a:endParaRPr lang="en-US" sz="1800" dirty="0"/>
          </a:p>
        </p:txBody>
      </p:sp>
      <p:sp>
        <p:nvSpPr>
          <p:cNvPr id="9" name="Text 6"/>
          <p:cNvSpPr txBox="1"/>
          <p:nvPr/>
        </p:nvSpPr>
        <p:spPr>
          <a:xfrm>
            <a:off x="731520" y="5989320"/>
            <a:ext cx="10058400" cy="365760"/>
          </a:xfrm>
          <a:prstGeom prst="rect">
            <a:avLst/>
          </a:prstGeom>
          <a:noFill/>
          <a:ln/>
        </p:spPr>
        <p:txBody>
          <a:bodyPr wrap="square" lIns="0" tIns="0" rIns="0" bIns="0" rtlCol="0" anchor="ctr"/>
          <a:lstStyle/>
          <a:p>
            <a:pPr indent="0" marL="0">
              <a:buNone/>
            </a:pPr>
            <a:r>
              <a:rPr lang="en-US" sz="1200" dirty="0">
                <a:solidFill>
                  <a:srgbClr val="84ACDF"/>
                </a:solidFill>
                <a:latin typeface="Calibri" pitchFamily="34" charset="0"/>
                <a:ea typeface="Calibri" pitchFamily="34" charset="-122"/>
                <a:cs typeface="Calibri" pitchFamily="34" charset="-120"/>
              </a:rPr>
              <a:t>Care Navigator Curriculum  ·  Approximately 60 minutes  ·  View-only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WHAT WE'LL COVER</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Module roadmap</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7 · Orders, Referrals &amp; Results Tracking</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2</a:t>
            </a:r>
            <a:endParaRPr lang="en-US" sz="900" dirty="0"/>
          </a:p>
        </p:txBody>
      </p:sp>
      <p:sp>
        <p:nvSpPr>
          <p:cNvPr id="7" name="Shape 4"/>
          <p:cNvSpPr/>
          <p:nvPr/>
        </p:nvSpPr>
        <p:spPr>
          <a:xfrm>
            <a:off x="640080" y="1673352"/>
            <a:ext cx="457200" cy="457200"/>
          </a:xfrm>
          <a:prstGeom prst="ellipse">
            <a:avLst/>
          </a:prstGeom>
          <a:solidFill>
            <a:srgbClr val="1E4A87"/>
          </a:solidFill>
          <a:ln w="12700">
            <a:solidFill>
              <a:srgbClr val="1E4A87"/>
            </a:solidFill>
            <a:prstDash val="solid"/>
          </a:ln>
        </p:spPr>
      </p:sp>
      <p:sp>
        <p:nvSpPr>
          <p:cNvPr id="8" name="Text 5"/>
          <p:cNvSpPr txBox="1"/>
          <p:nvPr/>
        </p:nvSpPr>
        <p:spPr>
          <a:xfrm>
            <a:off x="640080" y="167335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6"/>
          <p:cNvSpPr txBox="1"/>
          <p:nvPr/>
        </p:nvSpPr>
        <p:spPr>
          <a:xfrm>
            <a:off x="1280160" y="1600200"/>
            <a:ext cx="7315200" cy="603504"/>
          </a:xfrm>
          <a:prstGeom prst="rect">
            <a:avLst/>
          </a:prstGeom>
          <a:noFill/>
          <a:ln/>
        </p:spPr>
        <p:txBody>
          <a:bodyPr wrap="square" lIns="0" tIns="0" rIns="0" bIns="0" rtlCol="0" anchor="ctr"/>
          <a:lstStyle/>
          <a:p>
            <a:pPr indent="0" marL="0">
              <a:buNone/>
            </a:pPr>
            <a:r>
              <a:rPr lang="en-US" sz="1800" dirty="0">
                <a:solidFill>
                  <a:srgbClr val="1F2933"/>
                </a:solidFill>
                <a:latin typeface="Calibri" pitchFamily="34" charset="0"/>
                <a:ea typeface="Calibri" pitchFamily="34" charset="-122"/>
                <a:cs typeface="Calibri" pitchFamily="34" charset="-120"/>
              </a:rPr>
              <a:t>Why open loops are dangerous in memory care</a:t>
            </a:r>
            <a:endParaRPr lang="en-US" sz="1800" dirty="0"/>
          </a:p>
        </p:txBody>
      </p:sp>
      <p:sp>
        <p:nvSpPr>
          <p:cNvPr id="10" name="Text 7"/>
          <p:cNvSpPr txBox="1"/>
          <p:nvPr/>
        </p:nvSpPr>
        <p:spPr>
          <a:xfrm>
            <a:off x="8778240" y="1600200"/>
            <a:ext cx="1097280" cy="603504"/>
          </a:xfrm>
          <a:prstGeom prst="rect">
            <a:avLst/>
          </a:prstGeom>
          <a:noFill/>
          <a:ln/>
        </p:spPr>
        <p:txBody>
          <a:bodyPr wrap="square" lIns="0" tIns="0" rIns="0" bIns="0" rtlCol="0" anchor="ctr"/>
          <a:lstStyle/>
          <a:p>
            <a:pPr algn="r" indent="0" marL="0">
              <a:buNone/>
            </a:pPr>
            <a:r>
              <a:rPr lang="en-US" sz="1400" dirty="0">
                <a:solidFill>
                  <a:srgbClr val="5B6773"/>
                </a:solidFill>
                <a:latin typeface="Calibri" pitchFamily="34" charset="0"/>
                <a:ea typeface="Calibri" pitchFamily="34" charset="-122"/>
                <a:cs typeface="Calibri" pitchFamily="34" charset="-120"/>
              </a:rPr>
              <a:t>5 min</a:t>
            </a:r>
            <a:endParaRPr lang="en-US" sz="1400" dirty="0"/>
          </a:p>
        </p:txBody>
      </p:sp>
      <p:sp>
        <p:nvSpPr>
          <p:cNvPr id="11" name="Shape 8"/>
          <p:cNvSpPr/>
          <p:nvPr/>
        </p:nvSpPr>
        <p:spPr>
          <a:xfrm>
            <a:off x="1280160" y="2258568"/>
            <a:ext cx="8595360" cy="0"/>
          </a:xfrm>
          <a:prstGeom prst="line">
            <a:avLst/>
          </a:prstGeom>
          <a:noFill/>
          <a:ln w="9525">
            <a:solidFill>
              <a:srgbClr val="D6DEE8"/>
            </a:solidFill>
            <a:prstDash val="solid"/>
          </a:ln>
        </p:spPr>
      </p:sp>
      <p:sp>
        <p:nvSpPr>
          <p:cNvPr id="12" name="Shape 9"/>
          <p:cNvSpPr/>
          <p:nvPr/>
        </p:nvSpPr>
        <p:spPr>
          <a:xfrm>
            <a:off x="640080" y="2386584"/>
            <a:ext cx="457200" cy="457200"/>
          </a:xfrm>
          <a:prstGeom prst="ellipse">
            <a:avLst/>
          </a:prstGeom>
          <a:solidFill>
            <a:srgbClr val="1E4A87"/>
          </a:solidFill>
          <a:ln w="12700">
            <a:solidFill>
              <a:srgbClr val="1E4A87"/>
            </a:solidFill>
            <a:prstDash val="solid"/>
          </a:ln>
        </p:spPr>
      </p:sp>
      <p:sp>
        <p:nvSpPr>
          <p:cNvPr id="13" name="Text 10"/>
          <p:cNvSpPr txBox="1"/>
          <p:nvPr/>
        </p:nvSpPr>
        <p:spPr>
          <a:xfrm>
            <a:off x="640080" y="238658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1"/>
          <p:cNvSpPr txBox="1"/>
          <p:nvPr/>
        </p:nvSpPr>
        <p:spPr>
          <a:xfrm>
            <a:off x="1280160" y="2313432"/>
            <a:ext cx="7315200" cy="603504"/>
          </a:xfrm>
          <a:prstGeom prst="rect">
            <a:avLst/>
          </a:prstGeom>
          <a:noFill/>
          <a:ln/>
        </p:spPr>
        <p:txBody>
          <a:bodyPr wrap="square" lIns="0" tIns="0" rIns="0" bIns="0" rtlCol="0" anchor="ctr"/>
          <a:lstStyle/>
          <a:p>
            <a:pPr indent="0" marL="0">
              <a:buNone/>
            </a:pPr>
            <a:r>
              <a:rPr lang="en-US" sz="1800" dirty="0">
                <a:solidFill>
                  <a:srgbClr val="1F2933"/>
                </a:solidFill>
                <a:latin typeface="Calibri" pitchFamily="34" charset="0"/>
                <a:ea typeface="Calibri" pitchFamily="34" charset="-122"/>
                <a:cs typeface="Calibri" pitchFamily="34" charset="-120"/>
              </a:rPr>
              <a:t>Orders and referrals: what they are and where they live</a:t>
            </a:r>
            <a:endParaRPr lang="en-US" sz="1800" dirty="0"/>
          </a:p>
        </p:txBody>
      </p:sp>
      <p:sp>
        <p:nvSpPr>
          <p:cNvPr id="15" name="Text 12"/>
          <p:cNvSpPr txBox="1"/>
          <p:nvPr/>
        </p:nvSpPr>
        <p:spPr>
          <a:xfrm>
            <a:off x="8778240" y="2313432"/>
            <a:ext cx="1097280" cy="603504"/>
          </a:xfrm>
          <a:prstGeom prst="rect">
            <a:avLst/>
          </a:prstGeom>
          <a:noFill/>
          <a:ln/>
        </p:spPr>
        <p:txBody>
          <a:bodyPr wrap="square" lIns="0" tIns="0" rIns="0" bIns="0" rtlCol="0" anchor="ctr"/>
          <a:lstStyle/>
          <a:p>
            <a:pPr algn="r" indent="0" marL="0">
              <a:buNone/>
            </a:pPr>
            <a:r>
              <a:rPr lang="en-US" sz="1400" dirty="0">
                <a:solidFill>
                  <a:srgbClr val="5B6773"/>
                </a:solidFill>
                <a:latin typeface="Calibri" pitchFamily="34" charset="0"/>
                <a:ea typeface="Calibri" pitchFamily="34" charset="-122"/>
                <a:cs typeface="Calibri" pitchFamily="34" charset="-120"/>
              </a:rPr>
              <a:t>10 min</a:t>
            </a:r>
            <a:endParaRPr lang="en-US" sz="1400" dirty="0"/>
          </a:p>
        </p:txBody>
      </p:sp>
      <p:sp>
        <p:nvSpPr>
          <p:cNvPr id="16" name="Shape 13"/>
          <p:cNvSpPr/>
          <p:nvPr/>
        </p:nvSpPr>
        <p:spPr>
          <a:xfrm>
            <a:off x="1280160" y="2971800"/>
            <a:ext cx="8595360" cy="0"/>
          </a:xfrm>
          <a:prstGeom prst="line">
            <a:avLst/>
          </a:prstGeom>
          <a:noFill/>
          <a:ln w="9525">
            <a:solidFill>
              <a:srgbClr val="D6DEE8"/>
            </a:solidFill>
            <a:prstDash val="solid"/>
          </a:ln>
        </p:spPr>
      </p:sp>
      <p:sp>
        <p:nvSpPr>
          <p:cNvPr id="17" name="Shape 14"/>
          <p:cNvSpPr/>
          <p:nvPr/>
        </p:nvSpPr>
        <p:spPr>
          <a:xfrm>
            <a:off x="640080" y="3099816"/>
            <a:ext cx="457200" cy="457200"/>
          </a:xfrm>
          <a:prstGeom prst="ellipse">
            <a:avLst/>
          </a:prstGeom>
          <a:solidFill>
            <a:srgbClr val="1E4A87"/>
          </a:solidFill>
          <a:ln w="12700">
            <a:solidFill>
              <a:srgbClr val="1E4A87"/>
            </a:solidFill>
            <a:prstDash val="solid"/>
          </a:ln>
        </p:spPr>
      </p:sp>
      <p:sp>
        <p:nvSpPr>
          <p:cNvPr id="18" name="Text 15"/>
          <p:cNvSpPr txBox="1"/>
          <p:nvPr/>
        </p:nvSpPr>
        <p:spPr>
          <a:xfrm>
            <a:off x="640080" y="309981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6"/>
          <p:cNvSpPr txBox="1"/>
          <p:nvPr/>
        </p:nvSpPr>
        <p:spPr>
          <a:xfrm>
            <a:off x="1280160" y="3026664"/>
            <a:ext cx="7315200" cy="603504"/>
          </a:xfrm>
          <a:prstGeom prst="rect">
            <a:avLst/>
          </a:prstGeom>
          <a:noFill/>
          <a:ln/>
        </p:spPr>
        <p:txBody>
          <a:bodyPr wrap="square" lIns="0" tIns="0" rIns="0" bIns="0" rtlCol="0" anchor="ctr"/>
          <a:lstStyle/>
          <a:p>
            <a:pPr indent="0" marL="0">
              <a:buNone/>
            </a:pPr>
            <a:r>
              <a:rPr lang="en-US" sz="1800" dirty="0">
                <a:solidFill>
                  <a:srgbClr val="1F2933"/>
                </a:solidFill>
                <a:latin typeface="Calibri" pitchFamily="34" charset="0"/>
                <a:ea typeface="Calibri" pitchFamily="34" charset="-122"/>
                <a:cs typeface="Calibri" pitchFamily="34" charset="-120"/>
              </a:rPr>
              <a:t>Coordinating an outgoing referral end to end</a:t>
            </a:r>
            <a:endParaRPr lang="en-US" sz="1800" dirty="0"/>
          </a:p>
        </p:txBody>
      </p:sp>
      <p:sp>
        <p:nvSpPr>
          <p:cNvPr id="20" name="Text 17"/>
          <p:cNvSpPr txBox="1"/>
          <p:nvPr/>
        </p:nvSpPr>
        <p:spPr>
          <a:xfrm>
            <a:off x="8778240" y="3026664"/>
            <a:ext cx="1097280" cy="603504"/>
          </a:xfrm>
          <a:prstGeom prst="rect">
            <a:avLst/>
          </a:prstGeom>
          <a:noFill/>
          <a:ln/>
        </p:spPr>
        <p:txBody>
          <a:bodyPr wrap="square" lIns="0" tIns="0" rIns="0" bIns="0" rtlCol="0" anchor="ctr"/>
          <a:lstStyle/>
          <a:p>
            <a:pPr algn="r" indent="0" marL="0">
              <a:buNone/>
            </a:pPr>
            <a:r>
              <a:rPr lang="en-US" sz="1400" dirty="0">
                <a:solidFill>
                  <a:srgbClr val="5B6773"/>
                </a:solidFill>
                <a:latin typeface="Calibri" pitchFamily="34" charset="0"/>
                <a:ea typeface="Calibri" pitchFamily="34" charset="-122"/>
                <a:cs typeface="Calibri" pitchFamily="34" charset="-120"/>
              </a:rPr>
              <a:t>15 min</a:t>
            </a:r>
            <a:endParaRPr lang="en-US" sz="1400" dirty="0"/>
          </a:p>
        </p:txBody>
      </p:sp>
      <p:sp>
        <p:nvSpPr>
          <p:cNvPr id="21" name="Shape 18"/>
          <p:cNvSpPr/>
          <p:nvPr/>
        </p:nvSpPr>
        <p:spPr>
          <a:xfrm>
            <a:off x="1280160" y="3685032"/>
            <a:ext cx="8595360" cy="0"/>
          </a:xfrm>
          <a:prstGeom prst="line">
            <a:avLst/>
          </a:prstGeom>
          <a:noFill/>
          <a:ln w="9525">
            <a:solidFill>
              <a:srgbClr val="D6DEE8"/>
            </a:solidFill>
            <a:prstDash val="solid"/>
          </a:ln>
        </p:spPr>
      </p:sp>
      <p:sp>
        <p:nvSpPr>
          <p:cNvPr id="22" name="Shape 19"/>
          <p:cNvSpPr/>
          <p:nvPr/>
        </p:nvSpPr>
        <p:spPr>
          <a:xfrm>
            <a:off x="640080" y="3813048"/>
            <a:ext cx="457200" cy="457200"/>
          </a:xfrm>
          <a:prstGeom prst="ellipse">
            <a:avLst/>
          </a:prstGeom>
          <a:solidFill>
            <a:srgbClr val="1E4A87"/>
          </a:solidFill>
          <a:ln w="12700">
            <a:solidFill>
              <a:srgbClr val="1E4A87"/>
            </a:solidFill>
            <a:prstDash val="solid"/>
          </a:ln>
        </p:spPr>
      </p:sp>
      <p:sp>
        <p:nvSpPr>
          <p:cNvPr id="23" name="Text 20"/>
          <p:cNvSpPr txBox="1"/>
          <p:nvPr/>
        </p:nvSpPr>
        <p:spPr>
          <a:xfrm>
            <a:off x="640080" y="381304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4" name="Text 21"/>
          <p:cNvSpPr txBox="1"/>
          <p:nvPr/>
        </p:nvSpPr>
        <p:spPr>
          <a:xfrm>
            <a:off x="1280160" y="3739896"/>
            <a:ext cx="7315200" cy="603504"/>
          </a:xfrm>
          <a:prstGeom prst="rect">
            <a:avLst/>
          </a:prstGeom>
          <a:noFill/>
          <a:ln/>
        </p:spPr>
        <p:txBody>
          <a:bodyPr wrap="square" lIns="0" tIns="0" rIns="0" bIns="0" rtlCol="0" anchor="ctr"/>
          <a:lstStyle/>
          <a:p>
            <a:pPr indent="0" marL="0">
              <a:buNone/>
            </a:pPr>
            <a:r>
              <a:rPr lang="en-US" sz="1800" dirty="0">
                <a:solidFill>
                  <a:srgbClr val="1F2933"/>
                </a:solidFill>
                <a:latin typeface="Calibri" pitchFamily="34" charset="0"/>
                <a:ea typeface="Calibri" pitchFamily="34" charset="-122"/>
                <a:cs typeface="Calibri" pitchFamily="34" charset="-120"/>
              </a:rPr>
              <a:t>Home-based labs, imaging, and DME</a:t>
            </a:r>
            <a:endParaRPr lang="en-US" sz="1800" dirty="0"/>
          </a:p>
        </p:txBody>
      </p:sp>
      <p:sp>
        <p:nvSpPr>
          <p:cNvPr id="25" name="Text 22"/>
          <p:cNvSpPr txBox="1"/>
          <p:nvPr/>
        </p:nvSpPr>
        <p:spPr>
          <a:xfrm>
            <a:off x="8778240" y="3739896"/>
            <a:ext cx="1097280" cy="603504"/>
          </a:xfrm>
          <a:prstGeom prst="rect">
            <a:avLst/>
          </a:prstGeom>
          <a:noFill/>
          <a:ln/>
        </p:spPr>
        <p:txBody>
          <a:bodyPr wrap="square" lIns="0" tIns="0" rIns="0" bIns="0" rtlCol="0" anchor="ctr"/>
          <a:lstStyle/>
          <a:p>
            <a:pPr algn="r" indent="0" marL="0">
              <a:buNone/>
            </a:pPr>
            <a:r>
              <a:rPr lang="en-US" sz="1400" dirty="0">
                <a:solidFill>
                  <a:srgbClr val="5B6773"/>
                </a:solidFill>
                <a:latin typeface="Calibri" pitchFamily="34" charset="0"/>
                <a:ea typeface="Calibri" pitchFamily="34" charset="-122"/>
                <a:cs typeface="Calibri" pitchFamily="34" charset="-120"/>
              </a:rPr>
              <a:t>10 min</a:t>
            </a:r>
            <a:endParaRPr lang="en-US" sz="1400" dirty="0"/>
          </a:p>
        </p:txBody>
      </p:sp>
      <p:sp>
        <p:nvSpPr>
          <p:cNvPr id="26" name="Shape 23"/>
          <p:cNvSpPr/>
          <p:nvPr/>
        </p:nvSpPr>
        <p:spPr>
          <a:xfrm>
            <a:off x="1280160" y="4398264"/>
            <a:ext cx="8595360" cy="0"/>
          </a:xfrm>
          <a:prstGeom prst="line">
            <a:avLst/>
          </a:prstGeom>
          <a:noFill/>
          <a:ln w="9525">
            <a:solidFill>
              <a:srgbClr val="D6DEE8"/>
            </a:solidFill>
            <a:prstDash val="solid"/>
          </a:ln>
        </p:spPr>
      </p:sp>
      <p:sp>
        <p:nvSpPr>
          <p:cNvPr id="27" name="Shape 24"/>
          <p:cNvSpPr/>
          <p:nvPr/>
        </p:nvSpPr>
        <p:spPr>
          <a:xfrm>
            <a:off x="640080" y="4526280"/>
            <a:ext cx="457200" cy="457200"/>
          </a:xfrm>
          <a:prstGeom prst="ellipse">
            <a:avLst/>
          </a:prstGeom>
          <a:solidFill>
            <a:srgbClr val="1E4A87"/>
          </a:solidFill>
          <a:ln w="12700">
            <a:solidFill>
              <a:srgbClr val="1E4A87"/>
            </a:solidFill>
            <a:prstDash val="solid"/>
          </a:ln>
        </p:spPr>
      </p:sp>
      <p:sp>
        <p:nvSpPr>
          <p:cNvPr id="28" name="Text 25"/>
          <p:cNvSpPr txBox="1"/>
          <p:nvPr/>
        </p:nvSpPr>
        <p:spPr>
          <a:xfrm>
            <a:off x="640080" y="45262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6"/>
          <p:cNvSpPr txBox="1"/>
          <p:nvPr/>
        </p:nvSpPr>
        <p:spPr>
          <a:xfrm>
            <a:off x="1280160" y="4453128"/>
            <a:ext cx="7315200" cy="603504"/>
          </a:xfrm>
          <a:prstGeom prst="rect">
            <a:avLst/>
          </a:prstGeom>
          <a:noFill/>
          <a:ln/>
        </p:spPr>
        <p:txBody>
          <a:bodyPr wrap="square" lIns="0" tIns="0" rIns="0" bIns="0" rtlCol="0" anchor="ctr"/>
          <a:lstStyle/>
          <a:p>
            <a:pPr indent="0" marL="0">
              <a:buNone/>
            </a:pPr>
            <a:r>
              <a:rPr lang="en-US" sz="1800" dirty="0">
                <a:solidFill>
                  <a:srgbClr val="1F2933"/>
                </a:solidFill>
                <a:latin typeface="Calibri" pitchFamily="34" charset="0"/>
                <a:ea typeface="Calibri" pitchFamily="34" charset="-122"/>
                <a:cs typeface="Calibri" pitchFamily="34" charset="-120"/>
              </a:rPr>
              <a:t>Results, outside records, and the open-order worklist</a:t>
            </a:r>
            <a:endParaRPr lang="en-US" sz="1800" dirty="0"/>
          </a:p>
        </p:txBody>
      </p:sp>
      <p:sp>
        <p:nvSpPr>
          <p:cNvPr id="30" name="Text 27"/>
          <p:cNvSpPr txBox="1"/>
          <p:nvPr/>
        </p:nvSpPr>
        <p:spPr>
          <a:xfrm>
            <a:off x="8778240" y="4453128"/>
            <a:ext cx="1097280" cy="603504"/>
          </a:xfrm>
          <a:prstGeom prst="rect">
            <a:avLst/>
          </a:prstGeom>
          <a:noFill/>
          <a:ln/>
        </p:spPr>
        <p:txBody>
          <a:bodyPr wrap="square" lIns="0" tIns="0" rIns="0" bIns="0" rtlCol="0" anchor="ctr"/>
          <a:lstStyle/>
          <a:p>
            <a:pPr algn="r" indent="0" marL="0">
              <a:buNone/>
            </a:pPr>
            <a:r>
              <a:rPr lang="en-US" sz="1400" dirty="0">
                <a:solidFill>
                  <a:srgbClr val="5B6773"/>
                </a:solidFill>
                <a:latin typeface="Calibri" pitchFamily="34" charset="0"/>
                <a:ea typeface="Calibri" pitchFamily="34" charset="-122"/>
                <a:cs typeface="Calibri" pitchFamily="34" charset="-120"/>
              </a:rPr>
              <a:t>10 min</a:t>
            </a:r>
            <a:endParaRPr lang="en-US" sz="1400" dirty="0"/>
          </a:p>
        </p:txBody>
      </p:sp>
      <p:sp>
        <p:nvSpPr>
          <p:cNvPr id="31" name="Shape 28"/>
          <p:cNvSpPr/>
          <p:nvPr/>
        </p:nvSpPr>
        <p:spPr>
          <a:xfrm>
            <a:off x="1280160" y="5111496"/>
            <a:ext cx="8595360" cy="0"/>
          </a:xfrm>
          <a:prstGeom prst="line">
            <a:avLst/>
          </a:prstGeom>
          <a:noFill/>
          <a:ln w="9525">
            <a:solidFill>
              <a:srgbClr val="D6DEE8"/>
            </a:solidFill>
            <a:prstDash val="solid"/>
          </a:ln>
        </p:spPr>
      </p:sp>
      <p:sp>
        <p:nvSpPr>
          <p:cNvPr id="32" name="Shape 29"/>
          <p:cNvSpPr/>
          <p:nvPr/>
        </p:nvSpPr>
        <p:spPr>
          <a:xfrm>
            <a:off x="640080" y="5239512"/>
            <a:ext cx="457200" cy="457200"/>
          </a:xfrm>
          <a:prstGeom prst="ellipse">
            <a:avLst/>
          </a:prstGeom>
          <a:solidFill>
            <a:srgbClr val="1E4A87"/>
          </a:solidFill>
          <a:ln w="12700">
            <a:solidFill>
              <a:srgbClr val="1E4A87"/>
            </a:solidFill>
            <a:prstDash val="solid"/>
          </a:ln>
        </p:spPr>
      </p:sp>
      <p:sp>
        <p:nvSpPr>
          <p:cNvPr id="33" name="Text 30"/>
          <p:cNvSpPr txBox="1"/>
          <p:nvPr/>
        </p:nvSpPr>
        <p:spPr>
          <a:xfrm>
            <a:off x="640080" y="523951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4" name="Text 31"/>
          <p:cNvSpPr txBox="1"/>
          <p:nvPr/>
        </p:nvSpPr>
        <p:spPr>
          <a:xfrm>
            <a:off x="1280160" y="5166360"/>
            <a:ext cx="7315200" cy="603504"/>
          </a:xfrm>
          <a:prstGeom prst="rect">
            <a:avLst/>
          </a:prstGeom>
          <a:noFill/>
          <a:ln/>
        </p:spPr>
        <p:txBody>
          <a:bodyPr wrap="square" lIns="0" tIns="0" rIns="0" bIns="0" rtlCol="0" anchor="ctr"/>
          <a:lstStyle/>
          <a:p>
            <a:pPr indent="0" marL="0">
              <a:buNone/>
            </a:pPr>
            <a:r>
              <a:rPr lang="en-US" sz="1800" dirty="0">
                <a:solidFill>
                  <a:srgbClr val="1F2933"/>
                </a:solidFill>
                <a:latin typeface="Calibri" pitchFamily="34" charset="0"/>
                <a:ea typeface="Calibri" pitchFamily="34" charset="-122"/>
                <a:cs typeface="Calibri" pitchFamily="34" charset="-120"/>
              </a:rPr>
              <a:t>Scenario, knowledge checks, and takeaways</a:t>
            </a:r>
            <a:endParaRPr lang="en-US" sz="1800" dirty="0"/>
          </a:p>
        </p:txBody>
      </p:sp>
      <p:sp>
        <p:nvSpPr>
          <p:cNvPr id="35" name="Text 32"/>
          <p:cNvSpPr txBox="1"/>
          <p:nvPr/>
        </p:nvSpPr>
        <p:spPr>
          <a:xfrm>
            <a:off x="8778240" y="5166360"/>
            <a:ext cx="1097280" cy="603504"/>
          </a:xfrm>
          <a:prstGeom prst="rect">
            <a:avLst/>
          </a:prstGeom>
          <a:noFill/>
          <a:ln/>
        </p:spPr>
        <p:txBody>
          <a:bodyPr wrap="square" lIns="0" tIns="0" rIns="0" bIns="0" rtlCol="0" anchor="ctr"/>
          <a:lstStyle/>
          <a:p>
            <a:pPr algn="r" indent="0" marL="0">
              <a:buNone/>
            </a:pPr>
            <a:r>
              <a:rPr lang="en-US" sz="1400" dirty="0">
                <a:solidFill>
                  <a:srgbClr val="5B6773"/>
                </a:solidFill>
                <a:latin typeface="Calibri" pitchFamily="34" charset="0"/>
                <a:ea typeface="Calibri" pitchFamily="34" charset="-122"/>
                <a:cs typeface="Calibri" pitchFamily="34" charset="-120"/>
              </a:rPr>
              <a:t>10 min</a:t>
            </a:r>
            <a:endParaRPr lang="en-US" sz="1400" dirty="0"/>
          </a:p>
        </p:txBody>
      </p:sp>
      <p:sp>
        <p:nvSpPr>
          <p:cNvPr id="36" name="Shape 33"/>
          <p:cNvSpPr/>
          <p:nvPr/>
        </p:nvSpPr>
        <p:spPr>
          <a:xfrm>
            <a:off x="10241280" y="2194560"/>
            <a:ext cx="1463040" cy="1280160"/>
          </a:xfrm>
          <a:prstGeom prst="roundRect">
            <a:avLst>
              <a:gd name="adj" fmla="val 7143"/>
            </a:avLst>
          </a:prstGeom>
          <a:solidFill>
            <a:srgbClr val="EEF2E8"/>
          </a:solidFill>
          <a:ln w="12700">
            <a:solidFill>
              <a:srgbClr val="EEF2E8"/>
            </a:solidFill>
            <a:prstDash val="solid"/>
          </a:ln>
        </p:spPr>
      </p:sp>
      <p:sp>
        <p:nvSpPr>
          <p:cNvPr id="37" name="Text 34"/>
          <p:cNvSpPr txBox="1"/>
          <p:nvPr/>
        </p:nvSpPr>
        <p:spPr>
          <a:xfrm>
            <a:off x="10241280" y="2286000"/>
            <a:ext cx="1463040" cy="685800"/>
          </a:xfrm>
          <a:prstGeom prst="rect">
            <a:avLst/>
          </a:prstGeom>
          <a:noFill/>
          <a:ln/>
        </p:spPr>
        <p:txBody>
          <a:bodyPr wrap="square" lIns="0" tIns="0" rIns="0" bIns="0" rtlCol="0" anchor="ctr"/>
          <a:lstStyle/>
          <a:p>
            <a:pPr algn="ctr" indent="0" marL="0">
              <a:buNone/>
            </a:pPr>
            <a:r>
              <a:rPr lang="en-US" sz="3600" b="1" dirty="0">
                <a:solidFill>
                  <a:srgbClr val="586C47"/>
                </a:solidFill>
                <a:latin typeface="Cambria" pitchFamily="34" charset="0"/>
                <a:ea typeface="Cambria" pitchFamily="34" charset="-122"/>
                <a:cs typeface="Cambria" pitchFamily="34" charset="-120"/>
              </a:rPr>
              <a:t>60</a:t>
            </a:r>
            <a:endParaRPr lang="en-US" sz="3600" dirty="0"/>
          </a:p>
        </p:txBody>
      </p:sp>
      <p:sp>
        <p:nvSpPr>
          <p:cNvPr id="38" name="Text 35"/>
          <p:cNvSpPr txBox="1"/>
          <p:nvPr/>
        </p:nvSpPr>
        <p:spPr>
          <a:xfrm>
            <a:off x="10241280" y="2926080"/>
            <a:ext cx="1463040" cy="365760"/>
          </a:xfrm>
          <a:prstGeom prst="rect">
            <a:avLst/>
          </a:prstGeom>
          <a:noFill/>
          <a:ln/>
        </p:spPr>
        <p:txBody>
          <a:bodyPr wrap="square" lIns="0" tIns="0" rIns="0" bIns="0" rtlCol="0" anchor="ctr"/>
          <a:lstStyle/>
          <a:p>
            <a:pPr algn="ctr" indent="0" marL="0">
              <a:buNone/>
            </a:pPr>
            <a:r>
              <a:rPr lang="en-US" sz="1200" dirty="0">
                <a:solidFill>
                  <a:srgbClr val="586C47"/>
                </a:solidFill>
                <a:latin typeface="Calibri" pitchFamily="34" charset="0"/>
                <a:ea typeface="Calibri" pitchFamily="34" charset="-122"/>
                <a:cs typeface="Calibri" pitchFamily="34" charset="-120"/>
              </a:rPr>
              <a:t>minutes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LEARNING OBJECTIVES</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By the end of this module, you will be able to…</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7 · Orders, Referrals &amp; Results Tracking</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3</a:t>
            </a:r>
            <a:endParaRPr lang="en-US" sz="900" dirty="0"/>
          </a:p>
        </p:txBody>
      </p:sp>
      <p:sp>
        <p:nvSpPr>
          <p:cNvPr id="7" name="Shape 4"/>
          <p:cNvSpPr/>
          <p:nvPr/>
        </p:nvSpPr>
        <p:spPr>
          <a:xfrm>
            <a:off x="548640" y="1691640"/>
            <a:ext cx="5349240" cy="1051560"/>
          </a:xfrm>
          <a:prstGeom prst="roundRect">
            <a:avLst>
              <a:gd name="adj" fmla="val 8696"/>
            </a:avLst>
          </a:prstGeom>
          <a:solidFill>
            <a:srgbClr val="EAF1FA"/>
          </a:solidFill>
          <a:ln w="12700">
            <a:solidFill>
              <a:srgbClr val="EAF1FA"/>
            </a:solidFill>
            <a:prstDash val="solid"/>
          </a:ln>
        </p:spPr>
      </p:sp>
      <p:sp>
        <p:nvSpPr>
          <p:cNvPr id="8" name="Shape 5"/>
          <p:cNvSpPr/>
          <p:nvPr/>
        </p:nvSpPr>
        <p:spPr>
          <a:xfrm>
            <a:off x="731520" y="1920240"/>
            <a:ext cx="594360" cy="594360"/>
          </a:xfrm>
          <a:prstGeom prst="ellipse">
            <a:avLst/>
          </a:prstGeom>
          <a:solidFill>
            <a:srgbClr val="FFFFFF"/>
          </a:solidFill>
          <a:ln w="12700">
            <a:solidFill>
              <a:srgbClr val="FFFFFF"/>
            </a:solidFill>
            <a:prstDash val="solid"/>
          </a:ln>
        </p:spPr>
      </p:sp>
      <p:pic>
        <p:nvPicPr>
          <p:cNvPr id="9" name="Image 1" descr="preencoded.png">    </p:cNvPr>
          <p:cNvPicPr>
            <a:picLocks noChangeAspect="1"/>
          </p:cNvPicPr>
          <p:nvPr/>
        </p:nvPicPr>
        <p:blipFill>
          <a:blip r:embed="rId2"/>
          <a:stretch>
            <a:fillRect/>
          </a:stretch>
        </p:blipFill>
        <p:spPr>
          <a:xfrm>
            <a:off x="859536" y="2048256"/>
            <a:ext cx="338328" cy="338328"/>
          </a:xfrm>
          <a:prstGeom prst="rect">
            <a:avLst/>
          </a:prstGeom>
        </p:spPr>
      </p:pic>
      <p:sp>
        <p:nvSpPr>
          <p:cNvPr id="10" name="Text 6"/>
          <p:cNvSpPr txBox="1"/>
          <p:nvPr/>
        </p:nvSpPr>
        <p:spPr>
          <a:xfrm>
            <a:off x="1508760" y="1783080"/>
            <a:ext cx="4206240" cy="86868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Describe the lifecycle of an order and a referral in athenaOne from creation to closure.</a:t>
            </a:r>
            <a:endParaRPr lang="en-US" sz="1400" dirty="0"/>
          </a:p>
        </p:txBody>
      </p:sp>
      <p:sp>
        <p:nvSpPr>
          <p:cNvPr id="11" name="Shape 7"/>
          <p:cNvSpPr/>
          <p:nvPr/>
        </p:nvSpPr>
        <p:spPr>
          <a:xfrm>
            <a:off x="6263640" y="1691640"/>
            <a:ext cx="5349240" cy="1051560"/>
          </a:xfrm>
          <a:prstGeom prst="roundRect">
            <a:avLst>
              <a:gd name="adj" fmla="val 8696"/>
            </a:avLst>
          </a:prstGeom>
          <a:solidFill>
            <a:srgbClr val="EAF1FA"/>
          </a:solidFill>
          <a:ln w="12700">
            <a:solidFill>
              <a:srgbClr val="EAF1FA"/>
            </a:solidFill>
            <a:prstDash val="solid"/>
          </a:ln>
        </p:spPr>
      </p:sp>
      <p:sp>
        <p:nvSpPr>
          <p:cNvPr id="12" name="Shape 8"/>
          <p:cNvSpPr/>
          <p:nvPr/>
        </p:nvSpPr>
        <p:spPr>
          <a:xfrm>
            <a:off x="6446520" y="1920240"/>
            <a:ext cx="594360" cy="594360"/>
          </a:xfrm>
          <a:prstGeom prst="ellipse">
            <a:avLst/>
          </a:prstGeom>
          <a:solidFill>
            <a:srgbClr val="FFFFFF"/>
          </a:solidFill>
          <a:ln w="12700">
            <a:solidFill>
              <a:srgbClr val="FFFFFF"/>
            </a:solidFill>
            <a:prstDash val="solid"/>
          </a:ln>
        </p:spPr>
      </p:sp>
      <p:pic>
        <p:nvPicPr>
          <p:cNvPr id="13" name="Image 2" descr="preencoded.png">    </p:cNvPr>
          <p:cNvPicPr>
            <a:picLocks noChangeAspect="1"/>
          </p:cNvPicPr>
          <p:nvPr/>
        </p:nvPicPr>
        <p:blipFill>
          <a:blip r:embed="rId3"/>
          <a:stretch>
            <a:fillRect/>
          </a:stretch>
        </p:blipFill>
        <p:spPr>
          <a:xfrm>
            <a:off x="6574536" y="2048256"/>
            <a:ext cx="338328" cy="338328"/>
          </a:xfrm>
          <a:prstGeom prst="rect">
            <a:avLst/>
          </a:prstGeom>
        </p:spPr>
      </p:pic>
      <p:sp>
        <p:nvSpPr>
          <p:cNvPr id="14" name="Text 9"/>
          <p:cNvSpPr txBox="1"/>
          <p:nvPr/>
        </p:nvSpPr>
        <p:spPr>
          <a:xfrm>
            <a:off x="7223760" y="1783080"/>
            <a:ext cx="4206240" cy="86868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Coordinate an outgoing referral: authorization, scheduling, records, and caregiver logistics.</a:t>
            </a:r>
            <a:endParaRPr lang="en-US" sz="1400" dirty="0"/>
          </a:p>
        </p:txBody>
      </p:sp>
      <p:sp>
        <p:nvSpPr>
          <p:cNvPr id="15" name="Shape 10"/>
          <p:cNvSpPr/>
          <p:nvPr/>
        </p:nvSpPr>
        <p:spPr>
          <a:xfrm>
            <a:off x="548640" y="3017520"/>
            <a:ext cx="5349240" cy="1051560"/>
          </a:xfrm>
          <a:prstGeom prst="roundRect">
            <a:avLst>
              <a:gd name="adj" fmla="val 8696"/>
            </a:avLst>
          </a:prstGeom>
          <a:solidFill>
            <a:srgbClr val="EAF1FA"/>
          </a:solidFill>
          <a:ln w="12700">
            <a:solidFill>
              <a:srgbClr val="EAF1FA"/>
            </a:solidFill>
            <a:prstDash val="solid"/>
          </a:ln>
        </p:spPr>
      </p:sp>
      <p:sp>
        <p:nvSpPr>
          <p:cNvPr id="16" name="Shape 11"/>
          <p:cNvSpPr/>
          <p:nvPr/>
        </p:nvSpPr>
        <p:spPr>
          <a:xfrm>
            <a:off x="731520" y="3246120"/>
            <a:ext cx="594360" cy="594360"/>
          </a:xfrm>
          <a:prstGeom prst="ellipse">
            <a:avLst/>
          </a:prstGeom>
          <a:solidFill>
            <a:srgbClr val="FFFFFF"/>
          </a:solidFill>
          <a:ln w="12700">
            <a:solidFill>
              <a:srgbClr val="FFFFFF"/>
            </a:solidFill>
            <a:prstDash val="solid"/>
          </a:ln>
        </p:spPr>
      </p:sp>
      <p:pic>
        <p:nvPicPr>
          <p:cNvPr id="17" name="Image 3" descr="preencoded.png">    </p:cNvPr>
          <p:cNvPicPr>
            <a:picLocks noChangeAspect="1"/>
          </p:cNvPicPr>
          <p:nvPr/>
        </p:nvPicPr>
        <p:blipFill>
          <a:blip r:embed="rId4"/>
          <a:stretch>
            <a:fillRect/>
          </a:stretch>
        </p:blipFill>
        <p:spPr>
          <a:xfrm>
            <a:off x="859536" y="3374136"/>
            <a:ext cx="338328" cy="338328"/>
          </a:xfrm>
          <a:prstGeom prst="rect">
            <a:avLst/>
          </a:prstGeom>
        </p:spPr>
      </p:pic>
      <p:sp>
        <p:nvSpPr>
          <p:cNvPr id="18" name="Text 12"/>
          <p:cNvSpPr txBox="1"/>
          <p:nvPr/>
        </p:nvSpPr>
        <p:spPr>
          <a:xfrm>
            <a:off x="1508760" y="3108960"/>
            <a:ext cx="4206240" cy="86868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Arrange home-based labs, mobile imaging, and durable medical equipment and track them to completion.</a:t>
            </a:r>
            <a:endParaRPr lang="en-US" sz="1400" dirty="0"/>
          </a:p>
        </p:txBody>
      </p:sp>
      <p:sp>
        <p:nvSpPr>
          <p:cNvPr id="19" name="Shape 13"/>
          <p:cNvSpPr/>
          <p:nvPr/>
        </p:nvSpPr>
        <p:spPr>
          <a:xfrm>
            <a:off x="6263640" y="3017520"/>
            <a:ext cx="5349240" cy="1051560"/>
          </a:xfrm>
          <a:prstGeom prst="roundRect">
            <a:avLst>
              <a:gd name="adj" fmla="val 8696"/>
            </a:avLst>
          </a:prstGeom>
          <a:solidFill>
            <a:srgbClr val="EAF1FA"/>
          </a:solidFill>
          <a:ln w="12700">
            <a:solidFill>
              <a:srgbClr val="EAF1FA"/>
            </a:solidFill>
            <a:prstDash val="solid"/>
          </a:ln>
        </p:spPr>
      </p:sp>
      <p:sp>
        <p:nvSpPr>
          <p:cNvPr id="20" name="Shape 14"/>
          <p:cNvSpPr/>
          <p:nvPr/>
        </p:nvSpPr>
        <p:spPr>
          <a:xfrm>
            <a:off x="6446520" y="3246120"/>
            <a:ext cx="594360" cy="594360"/>
          </a:xfrm>
          <a:prstGeom prst="ellipse">
            <a:avLst/>
          </a:prstGeom>
          <a:solidFill>
            <a:srgbClr val="FFFFFF"/>
          </a:solidFill>
          <a:ln w="12700">
            <a:solidFill>
              <a:srgbClr val="FFFFFF"/>
            </a:solidFill>
            <a:prstDash val="solid"/>
          </a:ln>
        </p:spPr>
      </p:sp>
      <p:pic>
        <p:nvPicPr>
          <p:cNvPr id="21" name="Image 4" descr="preencoded.png">    </p:cNvPr>
          <p:cNvPicPr>
            <a:picLocks noChangeAspect="1"/>
          </p:cNvPicPr>
          <p:nvPr/>
        </p:nvPicPr>
        <p:blipFill>
          <a:blip r:embed="rId5"/>
          <a:stretch>
            <a:fillRect/>
          </a:stretch>
        </p:blipFill>
        <p:spPr>
          <a:xfrm>
            <a:off x="6574536" y="3374136"/>
            <a:ext cx="338328" cy="338328"/>
          </a:xfrm>
          <a:prstGeom prst="rect">
            <a:avLst/>
          </a:prstGeom>
        </p:spPr>
      </p:pic>
      <p:sp>
        <p:nvSpPr>
          <p:cNvPr id="22" name="Text 15"/>
          <p:cNvSpPr txBox="1"/>
          <p:nvPr/>
        </p:nvSpPr>
        <p:spPr>
          <a:xfrm>
            <a:off x="7223760" y="3108960"/>
            <a:ext cx="4206240" cy="86868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Recognize when results or consult notes have arrived and route them for provider review.</a:t>
            </a:r>
            <a:endParaRPr lang="en-US" sz="1400" dirty="0"/>
          </a:p>
        </p:txBody>
      </p:sp>
      <p:sp>
        <p:nvSpPr>
          <p:cNvPr id="23" name="Shape 16"/>
          <p:cNvSpPr/>
          <p:nvPr/>
        </p:nvSpPr>
        <p:spPr>
          <a:xfrm>
            <a:off x="548640" y="4343400"/>
            <a:ext cx="5349240" cy="1051560"/>
          </a:xfrm>
          <a:prstGeom prst="roundRect">
            <a:avLst>
              <a:gd name="adj" fmla="val 8696"/>
            </a:avLst>
          </a:prstGeom>
          <a:solidFill>
            <a:srgbClr val="EAF1FA"/>
          </a:solidFill>
          <a:ln w="12700">
            <a:solidFill>
              <a:srgbClr val="EAF1FA"/>
            </a:solidFill>
            <a:prstDash val="solid"/>
          </a:ln>
        </p:spPr>
      </p:sp>
      <p:sp>
        <p:nvSpPr>
          <p:cNvPr id="24" name="Shape 17"/>
          <p:cNvSpPr/>
          <p:nvPr/>
        </p:nvSpPr>
        <p:spPr>
          <a:xfrm>
            <a:off x="731520" y="4572000"/>
            <a:ext cx="594360" cy="594360"/>
          </a:xfrm>
          <a:prstGeom prst="ellipse">
            <a:avLst/>
          </a:prstGeom>
          <a:solidFill>
            <a:srgbClr val="FFFFFF"/>
          </a:solidFill>
          <a:ln w="12700">
            <a:solidFill>
              <a:srgbClr val="FFFFFF"/>
            </a:solidFill>
            <a:prstDash val="solid"/>
          </a:ln>
        </p:spPr>
      </p:sp>
      <p:pic>
        <p:nvPicPr>
          <p:cNvPr id="25" name="Image 5" descr="preencoded.png">    </p:cNvPr>
          <p:cNvPicPr>
            <a:picLocks noChangeAspect="1"/>
          </p:cNvPicPr>
          <p:nvPr/>
        </p:nvPicPr>
        <p:blipFill>
          <a:blip r:embed="rId6"/>
          <a:stretch>
            <a:fillRect/>
          </a:stretch>
        </p:blipFill>
        <p:spPr>
          <a:xfrm>
            <a:off x="859536" y="4700016"/>
            <a:ext cx="338328" cy="338328"/>
          </a:xfrm>
          <a:prstGeom prst="rect">
            <a:avLst/>
          </a:prstGeom>
        </p:spPr>
      </p:pic>
      <p:sp>
        <p:nvSpPr>
          <p:cNvPr id="26" name="Text 18"/>
          <p:cNvSpPr txBox="1"/>
          <p:nvPr/>
        </p:nvSpPr>
        <p:spPr>
          <a:xfrm>
            <a:off x="1508760" y="4434840"/>
            <a:ext cx="4206240" cy="86868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Work the open-order and referral worklists to prevent items from aging out.</a:t>
            </a:r>
            <a:endParaRPr lang="en-US" sz="1400" dirty="0"/>
          </a:p>
        </p:txBody>
      </p:sp>
      <p:sp>
        <p:nvSpPr>
          <p:cNvPr id="27" name="Shape 19"/>
          <p:cNvSpPr/>
          <p:nvPr/>
        </p:nvSpPr>
        <p:spPr>
          <a:xfrm>
            <a:off x="6263640" y="4343400"/>
            <a:ext cx="5349240" cy="1051560"/>
          </a:xfrm>
          <a:prstGeom prst="roundRect">
            <a:avLst>
              <a:gd name="adj" fmla="val 8696"/>
            </a:avLst>
          </a:prstGeom>
          <a:solidFill>
            <a:srgbClr val="EAF1FA"/>
          </a:solidFill>
          <a:ln w="12700">
            <a:solidFill>
              <a:srgbClr val="EAF1FA"/>
            </a:solidFill>
            <a:prstDash val="solid"/>
          </a:ln>
        </p:spPr>
      </p:sp>
      <p:sp>
        <p:nvSpPr>
          <p:cNvPr id="28" name="Shape 20"/>
          <p:cNvSpPr/>
          <p:nvPr/>
        </p:nvSpPr>
        <p:spPr>
          <a:xfrm>
            <a:off x="6446520" y="4572000"/>
            <a:ext cx="594360" cy="594360"/>
          </a:xfrm>
          <a:prstGeom prst="ellipse">
            <a:avLst/>
          </a:prstGeom>
          <a:solidFill>
            <a:srgbClr val="FFFFFF"/>
          </a:solidFill>
          <a:ln w="12700">
            <a:solidFill>
              <a:srgbClr val="FFFFFF"/>
            </a:solidFill>
            <a:prstDash val="solid"/>
          </a:ln>
        </p:spPr>
      </p:sp>
      <p:pic>
        <p:nvPicPr>
          <p:cNvPr id="29" name="Image 6" descr="preencoded.png">    </p:cNvPr>
          <p:cNvPicPr>
            <a:picLocks noChangeAspect="1"/>
          </p:cNvPicPr>
          <p:nvPr/>
        </p:nvPicPr>
        <p:blipFill>
          <a:blip r:embed="rId7"/>
          <a:stretch>
            <a:fillRect/>
          </a:stretch>
        </p:blipFill>
        <p:spPr>
          <a:xfrm>
            <a:off x="6574536" y="4700016"/>
            <a:ext cx="338328" cy="338328"/>
          </a:xfrm>
          <a:prstGeom prst="rect">
            <a:avLst/>
          </a:prstGeom>
        </p:spPr>
      </p:pic>
      <p:sp>
        <p:nvSpPr>
          <p:cNvPr id="30" name="Text 21"/>
          <p:cNvSpPr txBox="1"/>
          <p:nvPr/>
        </p:nvSpPr>
        <p:spPr>
          <a:xfrm>
            <a:off x="7223760" y="4434840"/>
            <a:ext cx="4206240" cy="86868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Document closure and update the care plan when a referral changes the plan.</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AF1FA"/>
        </a:solidFill>
      </p:bgPr>
    </p:bg>
    <p:spTree>
      <p:nvGrpSpPr>
        <p:cNvPr id="1" name=""/>
        <p:cNvGrpSpPr/>
        <p:nvPr/>
      </p:nvGrpSpPr>
      <p:grpSpPr>
        <a:xfrm>
          <a:off x="0" y="0"/>
          <a:ext cx="0" cy="0"/>
          <a:chOff x="0" y="0"/>
          <a:chExt cx="0" cy="0"/>
        </a:xfrm>
      </p:grpSpPr>
      <p:sp>
        <p:nvSpPr>
          <p:cNvPr id="2" name="Shape 0"/>
          <p:cNvSpPr/>
          <p:nvPr/>
        </p:nvSpPr>
        <p:spPr>
          <a:xfrm>
            <a:off x="8412480" y="1097280"/>
            <a:ext cx="4572000" cy="4572000"/>
          </a:xfrm>
          <a:prstGeom prst="ellipse">
            <a:avLst/>
          </a:prstGeom>
          <a:solidFill>
            <a:srgbClr val="84ACDF">
              <a:alpha val="35000"/>
            </a:srgbClr>
          </a:solidFill>
          <a:ln w="12700">
            <a:solidFill>
              <a:srgbClr val="84ACDF">
                <a:alpha val="35000"/>
              </a:srgbClr>
            </a:solidFill>
            <a:prstDash val="solid"/>
          </a:ln>
        </p:spPr>
      </p:sp>
      <p:pic>
        <p:nvPicPr>
          <p:cNvPr id="3"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4" name="Text 1"/>
          <p:cNvSpPr txBox="1"/>
          <p:nvPr/>
        </p:nvSpPr>
        <p:spPr>
          <a:xfrm>
            <a:off x="731520" y="2011680"/>
            <a:ext cx="5486400" cy="365760"/>
          </a:xfrm>
          <a:prstGeom prst="rect">
            <a:avLst/>
          </a:prstGeom>
          <a:noFill/>
          <a:ln/>
        </p:spPr>
        <p:txBody>
          <a:bodyPr wrap="square" lIns="0" tIns="0" rIns="0" bIns="0" rtlCol="0" anchor="ctr"/>
          <a:lstStyle/>
          <a:p>
            <a:pPr indent="0" marL="0">
              <a:buNone/>
            </a:pPr>
            <a:r>
              <a:rPr lang="en-US" sz="1400" b="1" spc="300" kern="0" dirty="0">
                <a:solidFill>
                  <a:srgbClr val="586C47"/>
                </a:solidFill>
                <a:latin typeface="Calibri" pitchFamily="34" charset="0"/>
                <a:ea typeface="Calibri" pitchFamily="34" charset="-122"/>
                <a:cs typeface="Calibri" pitchFamily="34" charset="-120"/>
              </a:rPr>
              <a:t>PART 1</a:t>
            </a:r>
            <a:endParaRPr lang="en-US" sz="1400" dirty="0"/>
          </a:p>
        </p:txBody>
      </p:sp>
      <p:sp>
        <p:nvSpPr>
          <p:cNvPr id="5" name="Text 2"/>
          <p:cNvSpPr txBox="1"/>
          <p:nvPr/>
        </p:nvSpPr>
        <p:spPr>
          <a:xfrm>
            <a:off x="731520" y="2423160"/>
            <a:ext cx="7772400" cy="1463040"/>
          </a:xfrm>
          <a:prstGeom prst="rect">
            <a:avLst/>
          </a:prstGeom>
          <a:noFill/>
          <a:ln/>
        </p:spPr>
        <p:txBody>
          <a:bodyPr wrap="square" lIns="0" tIns="0" rIns="0" bIns="0" rtlCol="0" anchor="t"/>
          <a:lstStyle/>
          <a:p>
            <a:pPr indent="0" marL="0">
              <a:buNone/>
            </a:pPr>
            <a:r>
              <a:rPr lang="en-US" sz="4000" b="1" dirty="0">
                <a:solidFill>
                  <a:srgbClr val="1E4A87"/>
                </a:solidFill>
                <a:latin typeface="Cambria" pitchFamily="34" charset="0"/>
                <a:ea typeface="Cambria" pitchFamily="34" charset="-122"/>
                <a:cs typeface="Cambria" pitchFamily="34" charset="-120"/>
              </a:rPr>
              <a:t>Why open loops are dangerous in memory care</a:t>
            </a:r>
            <a:endParaRPr lang="en-US" sz="4000" dirty="0"/>
          </a:p>
        </p:txBody>
      </p:sp>
      <p:sp>
        <p:nvSpPr>
          <p:cNvPr id="6" name="Text 3"/>
          <p:cNvSpPr txBox="1"/>
          <p:nvPr/>
        </p:nvSpPr>
        <p:spPr>
          <a:xfrm>
            <a:off x="731520" y="3977640"/>
            <a:ext cx="7315200" cy="1097280"/>
          </a:xfrm>
          <a:prstGeom prst="rect">
            <a:avLst/>
          </a:prstGeom>
          <a:noFill/>
          <a:ln/>
        </p:spPr>
        <p:txBody>
          <a:bodyPr wrap="square" lIns="0" tIns="0" rIns="0" bIns="0" rtlCol="0" anchor="ctr"/>
          <a:lstStyle/>
          <a:p>
            <a:pPr indent="0" marL="0">
              <a:buNone/>
            </a:pPr>
            <a:r>
              <a:rPr lang="en-US" sz="1600" dirty="0">
                <a:solidFill>
                  <a:srgbClr val="5B6773"/>
                </a:solidFill>
                <a:latin typeface="Calibri" pitchFamily="34" charset="0"/>
                <a:ea typeface="Calibri" pitchFamily="34" charset="-122"/>
                <a:cs typeface="Calibri" pitchFamily="34" charset="-120"/>
              </a:rPr>
              <a:t>A patient who can't remember the referral, a caregiver stretched thin, and a specialist office that assumes someone else is following up.</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FAILURE POINTS</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How referrals fail</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7 · Orders, Referrals &amp; Results Tracking</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5</a:t>
            </a:r>
            <a:endParaRPr lang="en-US" sz="900" dirty="0"/>
          </a:p>
        </p:txBody>
      </p:sp>
      <p:sp>
        <p:nvSpPr>
          <p:cNvPr id="7" name="Shape 4"/>
          <p:cNvSpPr/>
          <p:nvPr/>
        </p:nvSpPr>
        <p:spPr>
          <a:xfrm>
            <a:off x="548640" y="1691640"/>
            <a:ext cx="5408676" cy="2080260"/>
          </a:xfrm>
          <a:prstGeom prst="roundRect">
            <a:avLst>
              <a:gd name="adj" fmla="val 4396"/>
            </a:avLst>
          </a:prstGeom>
          <a:solidFill>
            <a:srgbClr val="EAF1FA"/>
          </a:solidFill>
          <a:ln w="12700">
            <a:solidFill>
              <a:srgbClr val="EAF1FA"/>
            </a:solidFill>
            <a:prstDash val="solid"/>
          </a:ln>
        </p:spPr>
      </p:sp>
      <p:sp>
        <p:nvSpPr>
          <p:cNvPr id="8" name="Shape 5"/>
          <p:cNvSpPr/>
          <p:nvPr/>
        </p:nvSpPr>
        <p:spPr>
          <a:xfrm>
            <a:off x="777240" y="1920240"/>
            <a:ext cx="548640" cy="548640"/>
          </a:xfrm>
          <a:prstGeom prst="ellipse">
            <a:avLst/>
          </a:prstGeom>
          <a:solidFill>
            <a:srgbClr val="FFFFFF"/>
          </a:solidFill>
          <a:ln w="12700">
            <a:solidFill>
              <a:srgbClr val="FFFFFF"/>
            </a:solidFill>
            <a:prstDash val="solid"/>
          </a:ln>
        </p:spPr>
      </p:sp>
      <p:pic>
        <p:nvPicPr>
          <p:cNvPr id="9" name="Image 1" descr="preencoded.png">    </p:cNvPr>
          <p:cNvPicPr>
            <a:picLocks noChangeAspect="1"/>
          </p:cNvPicPr>
          <p:nvPr/>
        </p:nvPicPr>
        <p:blipFill>
          <a:blip r:embed="rId2"/>
          <a:stretch>
            <a:fillRect/>
          </a:stretch>
        </p:blipFill>
        <p:spPr>
          <a:xfrm>
            <a:off x="896112" y="2039112"/>
            <a:ext cx="310896" cy="310896"/>
          </a:xfrm>
          <a:prstGeom prst="rect">
            <a:avLst/>
          </a:prstGeom>
        </p:spPr>
      </p:pic>
      <p:sp>
        <p:nvSpPr>
          <p:cNvPr id="10" name="Text 6"/>
          <p:cNvSpPr txBox="1"/>
          <p:nvPr/>
        </p:nvSpPr>
        <p:spPr>
          <a:xfrm>
            <a:off x="1463040" y="1892808"/>
            <a:ext cx="4311396"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Never scheduled</a:t>
            </a:r>
            <a:endParaRPr lang="en-US" sz="1500" dirty="0"/>
          </a:p>
        </p:txBody>
      </p:sp>
      <p:sp>
        <p:nvSpPr>
          <p:cNvPr id="11" name="Text 7"/>
          <p:cNvSpPr txBox="1"/>
          <p:nvPr/>
        </p:nvSpPr>
        <p:spPr>
          <a:xfrm>
            <a:off x="777240" y="2606040"/>
            <a:ext cx="4951476"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The specialist calls the patient, who doesn't remember; nobody calls the caregiver. Weeks pass.</a:t>
            </a:r>
            <a:endParaRPr lang="en-US" sz="1150" dirty="0"/>
          </a:p>
        </p:txBody>
      </p:sp>
      <p:sp>
        <p:nvSpPr>
          <p:cNvPr id="12" name="Shape 8"/>
          <p:cNvSpPr/>
          <p:nvPr/>
        </p:nvSpPr>
        <p:spPr>
          <a:xfrm>
            <a:off x="6231636" y="1691640"/>
            <a:ext cx="5408676" cy="2080260"/>
          </a:xfrm>
          <a:prstGeom prst="roundRect">
            <a:avLst>
              <a:gd name="adj" fmla="val 4396"/>
            </a:avLst>
          </a:prstGeom>
          <a:solidFill>
            <a:srgbClr val="EAF1FA"/>
          </a:solidFill>
          <a:ln w="12700">
            <a:solidFill>
              <a:srgbClr val="EAF1FA"/>
            </a:solidFill>
            <a:prstDash val="solid"/>
          </a:ln>
        </p:spPr>
      </p:sp>
      <p:sp>
        <p:nvSpPr>
          <p:cNvPr id="13" name="Shape 9"/>
          <p:cNvSpPr/>
          <p:nvPr/>
        </p:nvSpPr>
        <p:spPr>
          <a:xfrm>
            <a:off x="6460236" y="1920240"/>
            <a:ext cx="548640" cy="548640"/>
          </a:xfrm>
          <a:prstGeom prst="ellipse">
            <a:avLst/>
          </a:prstGeom>
          <a:solidFill>
            <a:srgbClr val="FFFFFF"/>
          </a:solidFill>
          <a:ln w="12700">
            <a:solidFill>
              <a:srgbClr val="FFFFFF"/>
            </a:solidFill>
            <a:prstDash val="solid"/>
          </a:ln>
        </p:spPr>
      </p:sp>
      <p:pic>
        <p:nvPicPr>
          <p:cNvPr id="14" name="Image 2" descr="preencoded.png">    </p:cNvPr>
          <p:cNvPicPr>
            <a:picLocks noChangeAspect="1"/>
          </p:cNvPicPr>
          <p:nvPr/>
        </p:nvPicPr>
        <p:blipFill>
          <a:blip r:embed="rId3"/>
          <a:stretch>
            <a:fillRect/>
          </a:stretch>
        </p:blipFill>
        <p:spPr>
          <a:xfrm>
            <a:off x="6579108" y="2039112"/>
            <a:ext cx="310896" cy="310896"/>
          </a:xfrm>
          <a:prstGeom prst="rect">
            <a:avLst/>
          </a:prstGeom>
        </p:spPr>
      </p:pic>
      <p:sp>
        <p:nvSpPr>
          <p:cNvPr id="15" name="Text 10"/>
          <p:cNvSpPr txBox="1"/>
          <p:nvPr/>
        </p:nvSpPr>
        <p:spPr>
          <a:xfrm>
            <a:off x="7146036" y="1892808"/>
            <a:ext cx="4311396"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Scheduled but unreachable</a:t>
            </a:r>
            <a:endParaRPr lang="en-US" sz="1500" dirty="0"/>
          </a:p>
        </p:txBody>
      </p:sp>
      <p:sp>
        <p:nvSpPr>
          <p:cNvPr id="16" name="Text 11"/>
          <p:cNvSpPr txBox="1"/>
          <p:nvPr/>
        </p:nvSpPr>
        <p:spPr>
          <a:xfrm>
            <a:off x="6460236" y="2606040"/>
            <a:ext cx="4951476"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The appointment is 40 minutes away at 8 AM. Transportation and caregiver time were never considered.</a:t>
            </a:r>
            <a:endParaRPr lang="en-US" sz="1150" dirty="0"/>
          </a:p>
        </p:txBody>
      </p:sp>
      <p:sp>
        <p:nvSpPr>
          <p:cNvPr id="17" name="Shape 12"/>
          <p:cNvSpPr/>
          <p:nvPr/>
        </p:nvSpPr>
        <p:spPr>
          <a:xfrm>
            <a:off x="548640" y="4046220"/>
            <a:ext cx="5408676" cy="2080260"/>
          </a:xfrm>
          <a:prstGeom prst="roundRect">
            <a:avLst>
              <a:gd name="adj" fmla="val 4396"/>
            </a:avLst>
          </a:prstGeom>
          <a:solidFill>
            <a:srgbClr val="EAF1FA"/>
          </a:solidFill>
          <a:ln w="12700">
            <a:solidFill>
              <a:srgbClr val="EAF1FA"/>
            </a:solidFill>
            <a:prstDash val="solid"/>
          </a:ln>
        </p:spPr>
      </p:sp>
      <p:sp>
        <p:nvSpPr>
          <p:cNvPr id="18" name="Shape 13"/>
          <p:cNvSpPr/>
          <p:nvPr/>
        </p:nvSpPr>
        <p:spPr>
          <a:xfrm>
            <a:off x="777240" y="4274820"/>
            <a:ext cx="548640" cy="548640"/>
          </a:xfrm>
          <a:prstGeom prst="ellipse">
            <a:avLst/>
          </a:prstGeom>
          <a:solidFill>
            <a:srgbClr val="FFFFFF"/>
          </a:solidFill>
          <a:ln w="12700">
            <a:solidFill>
              <a:srgbClr val="FFFFFF"/>
            </a:solidFill>
            <a:prstDash val="solid"/>
          </a:ln>
        </p:spPr>
      </p:sp>
      <p:pic>
        <p:nvPicPr>
          <p:cNvPr id="19" name="Image 3" descr="preencoded.png">    </p:cNvPr>
          <p:cNvPicPr>
            <a:picLocks noChangeAspect="1"/>
          </p:cNvPicPr>
          <p:nvPr/>
        </p:nvPicPr>
        <p:blipFill>
          <a:blip r:embed="rId4"/>
          <a:stretch>
            <a:fillRect/>
          </a:stretch>
        </p:blipFill>
        <p:spPr>
          <a:xfrm>
            <a:off x="896112" y="4393692"/>
            <a:ext cx="310896" cy="310896"/>
          </a:xfrm>
          <a:prstGeom prst="rect">
            <a:avLst/>
          </a:prstGeom>
        </p:spPr>
      </p:pic>
      <p:sp>
        <p:nvSpPr>
          <p:cNvPr id="20" name="Text 14"/>
          <p:cNvSpPr txBox="1"/>
          <p:nvPr/>
        </p:nvSpPr>
        <p:spPr>
          <a:xfrm>
            <a:off x="1463040" y="4247388"/>
            <a:ext cx="4311396"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Completed but invisible</a:t>
            </a:r>
            <a:endParaRPr lang="en-US" sz="1500" dirty="0"/>
          </a:p>
        </p:txBody>
      </p:sp>
      <p:sp>
        <p:nvSpPr>
          <p:cNvPr id="21" name="Text 15"/>
          <p:cNvSpPr txBox="1"/>
          <p:nvPr/>
        </p:nvSpPr>
        <p:spPr>
          <a:xfrm>
            <a:off x="777240" y="4960620"/>
            <a:ext cx="4951476"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The visit happened; the consult note never came back. The provider makes decisions without it.</a:t>
            </a:r>
            <a:endParaRPr lang="en-US" sz="1150" dirty="0"/>
          </a:p>
        </p:txBody>
      </p:sp>
      <p:sp>
        <p:nvSpPr>
          <p:cNvPr id="22" name="Shape 16"/>
          <p:cNvSpPr/>
          <p:nvPr/>
        </p:nvSpPr>
        <p:spPr>
          <a:xfrm>
            <a:off x="6231636" y="4046220"/>
            <a:ext cx="5408676" cy="2080260"/>
          </a:xfrm>
          <a:prstGeom prst="roundRect">
            <a:avLst>
              <a:gd name="adj" fmla="val 4396"/>
            </a:avLst>
          </a:prstGeom>
          <a:solidFill>
            <a:srgbClr val="EEF2E8"/>
          </a:solidFill>
          <a:ln w="12700">
            <a:solidFill>
              <a:srgbClr val="EEF2E8"/>
            </a:solidFill>
            <a:prstDash val="solid"/>
          </a:ln>
        </p:spPr>
      </p:sp>
      <p:sp>
        <p:nvSpPr>
          <p:cNvPr id="23" name="Shape 17"/>
          <p:cNvSpPr/>
          <p:nvPr/>
        </p:nvSpPr>
        <p:spPr>
          <a:xfrm>
            <a:off x="6460236" y="4274820"/>
            <a:ext cx="548640" cy="548640"/>
          </a:xfrm>
          <a:prstGeom prst="ellipse">
            <a:avLst/>
          </a:prstGeom>
          <a:solidFill>
            <a:srgbClr val="FFFFFF"/>
          </a:solidFill>
          <a:ln w="12700">
            <a:solidFill>
              <a:srgbClr val="FFFFFF"/>
            </a:solidFill>
            <a:prstDash val="solid"/>
          </a:ln>
        </p:spPr>
      </p:sp>
      <p:pic>
        <p:nvPicPr>
          <p:cNvPr id="24" name="Image 4" descr="preencoded.png">    </p:cNvPr>
          <p:cNvPicPr>
            <a:picLocks noChangeAspect="1"/>
          </p:cNvPicPr>
          <p:nvPr/>
        </p:nvPicPr>
        <p:blipFill>
          <a:blip r:embed="rId5"/>
          <a:stretch>
            <a:fillRect/>
          </a:stretch>
        </p:blipFill>
        <p:spPr>
          <a:xfrm>
            <a:off x="6579108" y="4393692"/>
            <a:ext cx="310896" cy="310896"/>
          </a:xfrm>
          <a:prstGeom prst="rect">
            <a:avLst/>
          </a:prstGeom>
        </p:spPr>
      </p:pic>
      <p:sp>
        <p:nvSpPr>
          <p:cNvPr id="25" name="Text 18"/>
          <p:cNvSpPr txBox="1"/>
          <p:nvPr/>
        </p:nvSpPr>
        <p:spPr>
          <a:xfrm>
            <a:off x="7146036" y="4247388"/>
            <a:ext cx="4311396"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Result received, no action</a:t>
            </a:r>
            <a:endParaRPr lang="en-US" sz="1500" dirty="0"/>
          </a:p>
        </p:txBody>
      </p:sp>
      <p:sp>
        <p:nvSpPr>
          <p:cNvPr id="26" name="Text 19"/>
          <p:cNvSpPr txBox="1"/>
          <p:nvPr/>
        </p:nvSpPr>
        <p:spPr>
          <a:xfrm>
            <a:off x="6460236" y="4960620"/>
            <a:ext cx="4951476"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The note arrived and was filed. Nobody read the recommendation, and the care plan didn't change.</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YOUR ROLE</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The navigator's job in one sentence</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7 · Orders, Referrals &amp; Results Tracking</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6</a:t>
            </a:r>
            <a:endParaRPr lang="en-US" sz="900" dirty="0"/>
          </a:p>
        </p:txBody>
      </p:sp>
      <p:sp>
        <p:nvSpPr>
          <p:cNvPr id="7" name="Text 4"/>
          <p:cNvSpPr txBox="1"/>
          <p:nvPr/>
        </p:nvSpPr>
        <p:spPr>
          <a:xfrm>
            <a:off x="548640" y="1691640"/>
            <a:ext cx="6217920" cy="4389120"/>
          </a:xfrm>
          <a:prstGeom prst="rect">
            <a:avLst/>
          </a:prstGeom>
          <a:noFill/>
          <a:ln/>
        </p:spPr>
        <p:txBody>
          <a:bodyPr wrap="square" lIns="0" tIns="0" rIns="0" bIns="0" rtlCol="0" anchor="t"/>
          <a:lstStyle/>
          <a:p>
            <a:pPr marL="228600" indent="-228600">
              <a:spcAft>
                <a:spcPts val="800"/>
              </a:spcAft>
              <a:buSzPct val="100000"/>
              <a:buChar char="•"/>
            </a:pPr>
            <a:r>
              <a:rPr lang="en-US" sz="1400" dirty="0">
                <a:solidFill>
                  <a:srgbClr val="1F2933"/>
                </a:solidFill>
                <a:latin typeface="Calibri" pitchFamily="34" charset="0"/>
                <a:ea typeface="Calibri" pitchFamily="34" charset="-122"/>
                <a:cs typeface="Calibri" pitchFamily="34" charset="-120"/>
              </a:rPr>
              <a:t>Make sure every order or referral the provider places actually happens</a:t>
            </a:r>
            <a:endParaRPr lang="en-US" sz="1400" dirty="0"/>
          </a:p>
          <a:p>
            <a:pPr marL="228600" indent="-228600">
              <a:spcAft>
                <a:spcPts val="800"/>
              </a:spcAft>
              <a:buSzPct val="100000"/>
              <a:buChar char="•"/>
            </a:pPr>
            <a:r>
              <a:rPr lang="en-US" sz="1400" dirty="0">
                <a:solidFill>
                  <a:srgbClr val="1F2933"/>
                </a:solidFill>
                <a:latin typeface="Calibri" pitchFamily="34" charset="0"/>
                <a:ea typeface="Calibri" pitchFamily="34" charset="-122"/>
                <a:cs typeface="Calibri" pitchFamily="34" charset="-120"/>
              </a:rPr>
              <a:t>…in a way the patient and caregiver can manage</a:t>
            </a:r>
            <a:endParaRPr lang="en-US" sz="1400" dirty="0"/>
          </a:p>
          <a:p>
            <a:pPr marL="228600" indent="-228600">
              <a:spcAft>
                <a:spcPts val="800"/>
              </a:spcAft>
              <a:buSzPct val="100000"/>
              <a:buChar char="•"/>
            </a:pPr>
            <a:r>
              <a:rPr lang="en-US" sz="1400" dirty="0">
                <a:solidFill>
                  <a:srgbClr val="1F2933"/>
                </a:solidFill>
                <a:latin typeface="Calibri" pitchFamily="34" charset="0"/>
                <a:ea typeface="Calibri" pitchFamily="34" charset="-122"/>
                <a:cs typeface="Calibri" pitchFamily="34" charset="-120"/>
              </a:rPr>
              <a:t>…with the result back in the chart, reviewed by the provider</a:t>
            </a:r>
            <a:endParaRPr lang="en-US" sz="1400" dirty="0"/>
          </a:p>
          <a:p>
            <a:pPr marL="228600" indent="-228600">
              <a:spcAft>
                <a:spcPts val="800"/>
              </a:spcAft>
              <a:buSzPct val="100000"/>
              <a:buChar char="•"/>
            </a:pPr>
            <a:r>
              <a:rPr lang="en-US" sz="1400" dirty="0">
                <a:solidFill>
                  <a:srgbClr val="1F2933"/>
                </a:solidFill>
                <a:latin typeface="Calibri" pitchFamily="34" charset="0"/>
                <a:ea typeface="Calibri" pitchFamily="34" charset="-122"/>
                <a:cs typeface="Calibri" pitchFamily="34" charset="-120"/>
              </a:rPr>
              <a:t>…and reflected in the care plan when it changes something</a:t>
            </a:r>
            <a:endParaRPr lang="en-US" sz="1400" dirty="0"/>
          </a:p>
          <a:p>
            <a:pPr marL="228600" indent="-228600">
              <a:spcAft>
                <a:spcPts val="800"/>
              </a:spcAft>
              <a:buSzPct val="100000"/>
              <a:buChar char="•"/>
            </a:pPr>
            <a:r>
              <a:rPr lang="en-US" sz="1400" dirty="0">
                <a:solidFill>
                  <a:srgbClr val="1F2933"/>
                </a:solidFill>
                <a:latin typeface="Calibri" pitchFamily="34" charset="0"/>
                <a:ea typeface="Calibri" pitchFamily="34" charset="-122"/>
                <a:cs typeface="Calibri" pitchFamily="34" charset="-120"/>
              </a:rPr>
              <a:t>You don't decide what to order. You make sure what's ordered gets done and seen.</a:t>
            </a:r>
            <a:endParaRPr lang="en-US" sz="1400" dirty="0"/>
          </a:p>
        </p:txBody>
      </p:sp>
      <p:sp>
        <p:nvSpPr>
          <p:cNvPr id="8" name="Shape 5"/>
          <p:cNvSpPr/>
          <p:nvPr/>
        </p:nvSpPr>
        <p:spPr>
          <a:xfrm>
            <a:off x="7223760" y="1691640"/>
            <a:ext cx="4434840" cy="4389120"/>
          </a:xfrm>
          <a:prstGeom prst="roundRect">
            <a:avLst>
              <a:gd name="adj" fmla="val 2500"/>
            </a:avLst>
          </a:prstGeom>
          <a:solidFill>
            <a:srgbClr val="1E4A87"/>
          </a:solidFill>
          <a:ln w="12700">
            <a:solidFill>
              <a:srgbClr val="1E4A87"/>
            </a:solidFill>
            <a:prstDash val="solid"/>
          </a:ln>
        </p:spPr>
      </p:sp>
      <p:pic>
        <p:nvPicPr>
          <p:cNvPr id="9" name="Image 1" descr="preencoded.png">    </p:cNvPr>
          <p:cNvPicPr>
            <a:picLocks noChangeAspect="1"/>
          </p:cNvPicPr>
          <p:nvPr/>
        </p:nvPicPr>
        <p:blipFill>
          <a:blip r:embed="rId2"/>
          <a:stretch>
            <a:fillRect/>
          </a:stretch>
        </p:blipFill>
        <p:spPr>
          <a:xfrm>
            <a:off x="7543800" y="2011680"/>
            <a:ext cx="548640" cy="548640"/>
          </a:xfrm>
          <a:prstGeom prst="rect">
            <a:avLst/>
          </a:prstGeom>
        </p:spPr>
      </p:pic>
      <p:sp>
        <p:nvSpPr>
          <p:cNvPr id="10" name="Text 6"/>
          <p:cNvSpPr txBox="1"/>
          <p:nvPr/>
        </p:nvSpPr>
        <p:spPr>
          <a:xfrm>
            <a:off x="7543800" y="2697480"/>
            <a:ext cx="3794760" cy="731520"/>
          </a:xfrm>
          <a:prstGeom prst="rect">
            <a:avLst/>
          </a:prstGeom>
          <a:noFill/>
          <a:ln/>
        </p:spPr>
        <p:txBody>
          <a:bodyPr wrap="square" lIns="0" tIns="0" rIns="0" bIns="0" rtlCol="0" anchor="t"/>
          <a:lstStyle/>
          <a:p>
            <a:pPr indent="0" marL="0">
              <a:buNone/>
            </a:pPr>
            <a:r>
              <a:rPr lang="en-US" sz="2000" b="1" dirty="0">
                <a:solidFill>
                  <a:srgbClr val="FFFFFF"/>
                </a:solidFill>
                <a:latin typeface="Cambria" pitchFamily="34" charset="0"/>
                <a:ea typeface="Cambria" pitchFamily="34" charset="-122"/>
                <a:cs typeface="Cambria" pitchFamily="34" charset="-120"/>
              </a:rPr>
              <a:t>The loop</a:t>
            </a:r>
            <a:endParaRPr lang="en-US" sz="2000" dirty="0"/>
          </a:p>
        </p:txBody>
      </p:sp>
      <p:sp>
        <p:nvSpPr>
          <p:cNvPr id="11" name="Text 7"/>
          <p:cNvSpPr txBox="1"/>
          <p:nvPr/>
        </p:nvSpPr>
        <p:spPr>
          <a:xfrm>
            <a:off x="7543800" y="3474720"/>
            <a:ext cx="3794760" cy="2286000"/>
          </a:xfrm>
          <a:prstGeom prst="rect">
            <a:avLst/>
          </a:prstGeom>
          <a:noFill/>
          <a:ln/>
        </p:spPr>
        <p:txBody>
          <a:bodyPr wrap="square" lIns="0" tIns="0" rIns="0" bIns="0" rtlCol="0" anchor="t"/>
          <a:lstStyle/>
          <a:p>
            <a:pPr indent="0" marL="0">
              <a:buNone/>
            </a:pPr>
            <a:r>
              <a:rPr lang="en-US" sz="1250" dirty="0">
                <a:solidFill>
                  <a:srgbClr val="EAF1FA"/>
                </a:solidFill>
                <a:latin typeface="Calibri" pitchFamily="34" charset="0"/>
                <a:ea typeface="Calibri" pitchFamily="34" charset="-122"/>
                <a:cs typeface="Calibri" pitchFamily="34" charset="-120"/>
              </a:rPr>
              <a:t>Ordered → coordinated → scheduled → completed → result received → reviewed → acted on → closed.</a:t>
            </a:r>
            <a:endParaRPr lang="en-US" sz="1250" dirty="0"/>
          </a:p>
          <a:p>
            <a:pPr indent="0" marL="0">
              <a:buNone/>
            </a:pPr>
            <a:endParaRPr lang="en-US" sz="1250" dirty="0"/>
          </a:p>
          <a:p>
            <a:pPr indent="0" marL="0">
              <a:buNone/>
            </a:pPr>
            <a:r>
              <a:rPr lang="en-US" sz="1250" dirty="0">
                <a:solidFill>
                  <a:srgbClr val="EAF1FA"/>
                </a:solidFill>
                <a:latin typeface="Calibri" pitchFamily="34" charset="0"/>
                <a:ea typeface="Calibri" pitchFamily="34" charset="-122"/>
                <a:cs typeface="Calibri" pitchFamily="34" charset="-120"/>
              </a:rPr>
              <a:t>Your worklist shows every loop still open.</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AF1FA"/>
        </a:solidFill>
      </p:bgPr>
    </p:bg>
    <p:spTree>
      <p:nvGrpSpPr>
        <p:cNvPr id="1" name=""/>
        <p:cNvGrpSpPr/>
        <p:nvPr/>
      </p:nvGrpSpPr>
      <p:grpSpPr>
        <a:xfrm>
          <a:off x="0" y="0"/>
          <a:ext cx="0" cy="0"/>
          <a:chOff x="0" y="0"/>
          <a:chExt cx="0" cy="0"/>
        </a:xfrm>
      </p:grpSpPr>
      <p:sp>
        <p:nvSpPr>
          <p:cNvPr id="2" name="Shape 0"/>
          <p:cNvSpPr/>
          <p:nvPr/>
        </p:nvSpPr>
        <p:spPr>
          <a:xfrm>
            <a:off x="8412480" y="1097280"/>
            <a:ext cx="4572000" cy="4572000"/>
          </a:xfrm>
          <a:prstGeom prst="ellipse">
            <a:avLst/>
          </a:prstGeom>
          <a:solidFill>
            <a:srgbClr val="84ACDF">
              <a:alpha val="35000"/>
            </a:srgbClr>
          </a:solidFill>
          <a:ln w="12700">
            <a:solidFill>
              <a:srgbClr val="84ACDF">
                <a:alpha val="35000"/>
              </a:srgbClr>
            </a:solidFill>
            <a:prstDash val="solid"/>
          </a:ln>
        </p:spPr>
      </p:sp>
      <p:pic>
        <p:nvPicPr>
          <p:cNvPr id="3"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4" name="Text 1"/>
          <p:cNvSpPr txBox="1"/>
          <p:nvPr/>
        </p:nvSpPr>
        <p:spPr>
          <a:xfrm>
            <a:off x="731520" y="2011680"/>
            <a:ext cx="5486400" cy="365760"/>
          </a:xfrm>
          <a:prstGeom prst="rect">
            <a:avLst/>
          </a:prstGeom>
          <a:noFill/>
          <a:ln/>
        </p:spPr>
        <p:txBody>
          <a:bodyPr wrap="square" lIns="0" tIns="0" rIns="0" bIns="0" rtlCol="0" anchor="ctr"/>
          <a:lstStyle/>
          <a:p>
            <a:pPr indent="0" marL="0">
              <a:buNone/>
            </a:pPr>
            <a:r>
              <a:rPr lang="en-US" sz="1400" b="1" spc="300" kern="0" dirty="0">
                <a:solidFill>
                  <a:srgbClr val="586C47"/>
                </a:solidFill>
                <a:latin typeface="Calibri" pitchFamily="34" charset="0"/>
                <a:ea typeface="Calibri" pitchFamily="34" charset="-122"/>
                <a:cs typeface="Calibri" pitchFamily="34" charset="-120"/>
              </a:rPr>
              <a:t>PART 2</a:t>
            </a:r>
            <a:endParaRPr lang="en-US" sz="1400" dirty="0"/>
          </a:p>
        </p:txBody>
      </p:sp>
      <p:sp>
        <p:nvSpPr>
          <p:cNvPr id="5" name="Text 2"/>
          <p:cNvSpPr txBox="1"/>
          <p:nvPr/>
        </p:nvSpPr>
        <p:spPr>
          <a:xfrm>
            <a:off x="731520" y="2423160"/>
            <a:ext cx="7772400" cy="1463040"/>
          </a:xfrm>
          <a:prstGeom prst="rect">
            <a:avLst/>
          </a:prstGeom>
          <a:noFill/>
          <a:ln/>
        </p:spPr>
        <p:txBody>
          <a:bodyPr wrap="square" lIns="0" tIns="0" rIns="0" bIns="0" rtlCol="0" anchor="t"/>
          <a:lstStyle/>
          <a:p>
            <a:pPr indent="0" marL="0">
              <a:buNone/>
            </a:pPr>
            <a:r>
              <a:rPr lang="en-US" sz="4000" b="1" dirty="0">
                <a:solidFill>
                  <a:srgbClr val="1E4A87"/>
                </a:solidFill>
                <a:latin typeface="Cambria" pitchFamily="34" charset="0"/>
                <a:ea typeface="Cambria" pitchFamily="34" charset="-122"/>
                <a:cs typeface="Cambria" pitchFamily="34" charset="-120"/>
              </a:rPr>
              <a:t>Orders and referrals: what they are and where they live</a:t>
            </a:r>
            <a:endParaRPr lang="en-US" sz="4000" dirty="0"/>
          </a:p>
        </p:txBody>
      </p:sp>
      <p:sp>
        <p:nvSpPr>
          <p:cNvPr id="6" name="Text 3"/>
          <p:cNvSpPr txBox="1"/>
          <p:nvPr/>
        </p:nvSpPr>
        <p:spPr>
          <a:xfrm>
            <a:off x="731520" y="3977640"/>
            <a:ext cx="7315200" cy="1097280"/>
          </a:xfrm>
          <a:prstGeom prst="rect">
            <a:avLst/>
          </a:prstGeom>
          <a:noFill/>
          <a:ln/>
        </p:spPr>
        <p:txBody>
          <a:bodyPr wrap="square" lIns="0" tIns="0" rIns="0" bIns="0" rtlCol="0" anchor="ctr"/>
          <a:lstStyle/>
          <a:p>
            <a:pPr indent="0" marL="0">
              <a:buNone/>
            </a:pPr>
            <a:r>
              <a:rPr lang="en-US" sz="1600" dirty="0">
                <a:solidFill>
                  <a:srgbClr val="5B6773"/>
                </a:solidFill>
                <a:latin typeface="Calibri" pitchFamily="34" charset="0"/>
                <a:ea typeface="Calibri" pitchFamily="34" charset="-122"/>
                <a:cs typeface="Calibri" pitchFamily="34" charset="-120"/>
              </a:rPr>
              <a:t>Vocabulary and geography.</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ORDERS</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Types of orders you'll coordinate</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7 · Orders, Referrals &amp; Results Tracking</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8</a:t>
            </a:r>
            <a:endParaRPr lang="en-US" sz="900" dirty="0"/>
          </a:p>
        </p:txBody>
      </p:sp>
      <p:sp>
        <p:nvSpPr>
          <p:cNvPr id="7" name="Shape 4"/>
          <p:cNvSpPr/>
          <p:nvPr/>
        </p:nvSpPr>
        <p:spPr>
          <a:xfrm>
            <a:off x="548640" y="1691640"/>
            <a:ext cx="3514344" cy="2080260"/>
          </a:xfrm>
          <a:prstGeom prst="roundRect">
            <a:avLst>
              <a:gd name="adj" fmla="val 4396"/>
            </a:avLst>
          </a:prstGeom>
          <a:solidFill>
            <a:srgbClr val="EAF1FA"/>
          </a:solidFill>
          <a:ln w="12700">
            <a:solidFill>
              <a:srgbClr val="EAF1FA"/>
            </a:solidFill>
            <a:prstDash val="solid"/>
          </a:ln>
        </p:spPr>
      </p:sp>
      <p:sp>
        <p:nvSpPr>
          <p:cNvPr id="8" name="Shape 5"/>
          <p:cNvSpPr/>
          <p:nvPr/>
        </p:nvSpPr>
        <p:spPr>
          <a:xfrm>
            <a:off x="777240" y="1920240"/>
            <a:ext cx="548640" cy="548640"/>
          </a:xfrm>
          <a:prstGeom prst="ellipse">
            <a:avLst/>
          </a:prstGeom>
          <a:solidFill>
            <a:srgbClr val="FFFFFF"/>
          </a:solidFill>
          <a:ln w="12700">
            <a:solidFill>
              <a:srgbClr val="FFFFFF"/>
            </a:solidFill>
            <a:prstDash val="solid"/>
          </a:ln>
        </p:spPr>
      </p:sp>
      <p:pic>
        <p:nvPicPr>
          <p:cNvPr id="9" name="Image 1" descr="preencoded.png">    </p:cNvPr>
          <p:cNvPicPr>
            <a:picLocks noChangeAspect="1"/>
          </p:cNvPicPr>
          <p:nvPr/>
        </p:nvPicPr>
        <p:blipFill>
          <a:blip r:embed="rId2"/>
          <a:stretch>
            <a:fillRect/>
          </a:stretch>
        </p:blipFill>
        <p:spPr>
          <a:xfrm>
            <a:off x="896112" y="2039112"/>
            <a:ext cx="310896" cy="310896"/>
          </a:xfrm>
          <a:prstGeom prst="rect">
            <a:avLst/>
          </a:prstGeom>
        </p:spPr>
      </p:pic>
      <p:sp>
        <p:nvSpPr>
          <p:cNvPr id="10" name="Text 6"/>
          <p:cNvSpPr txBox="1"/>
          <p:nvPr/>
        </p:nvSpPr>
        <p:spPr>
          <a:xfrm>
            <a:off x="1463040" y="1892808"/>
            <a:ext cx="2417064"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Labs</a:t>
            </a:r>
            <a:endParaRPr lang="en-US" sz="1500" dirty="0"/>
          </a:p>
        </p:txBody>
      </p:sp>
      <p:sp>
        <p:nvSpPr>
          <p:cNvPr id="11" name="Text 7"/>
          <p:cNvSpPr txBox="1"/>
          <p:nvPr/>
        </p:nvSpPr>
        <p:spPr>
          <a:xfrm>
            <a:off x="777240" y="2606040"/>
            <a:ext cx="3057144"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Blood and urine tests. For homebound patients, drawn by a mobile phlebotomy service or at the home visit.</a:t>
            </a:r>
            <a:endParaRPr lang="en-US" sz="1150" dirty="0"/>
          </a:p>
        </p:txBody>
      </p:sp>
      <p:sp>
        <p:nvSpPr>
          <p:cNvPr id="12" name="Shape 8"/>
          <p:cNvSpPr/>
          <p:nvPr/>
        </p:nvSpPr>
        <p:spPr>
          <a:xfrm>
            <a:off x="4337304" y="1691640"/>
            <a:ext cx="3514344" cy="2080260"/>
          </a:xfrm>
          <a:prstGeom prst="roundRect">
            <a:avLst>
              <a:gd name="adj" fmla="val 4396"/>
            </a:avLst>
          </a:prstGeom>
          <a:solidFill>
            <a:srgbClr val="EAF1FA"/>
          </a:solidFill>
          <a:ln w="12700">
            <a:solidFill>
              <a:srgbClr val="EAF1FA"/>
            </a:solidFill>
            <a:prstDash val="solid"/>
          </a:ln>
        </p:spPr>
      </p:sp>
      <p:sp>
        <p:nvSpPr>
          <p:cNvPr id="13" name="Shape 9"/>
          <p:cNvSpPr/>
          <p:nvPr/>
        </p:nvSpPr>
        <p:spPr>
          <a:xfrm>
            <a:off x="4565904" y="1920240"/>
            <a:ext cx="548640" cy="548640"/>
          </a:xfrm>
          <a:prstGeom prst="ellipse">
            <a:avLst/>
          </a:prstGeom>
          <a:solidFill>
            <a:srgbClr val="FFFFFF"/>
          </a:solidFill>
          <a:ln w="12700">
            <a:solidFill>
              <a:srgbClr val="FFFFFF"/>
            </a:solidFill>
            <a:prstDash val="solid"/>
          </a:ln>
        </p:spPr>
      </p:sp>
      <p:pic>
        <p:nvPicPr>
          <p:cNvPr id="14" name="Image 2" descr="preencoded.png">    </p:cNvPr>
          <p:cNvPicPr>
            <a:picLocks noChangeAspect="1"/>
          </p:cNvPicPr>
          <p:nvPr/>
        </p:nvPicPr>
        <p:blipFill>
          <a:blip r:embed="rId3"/>
          <a:stretch>
            <a:fillRect/>
          </a:stretch>
        </p:blipFill>
        <p:spPr>
          <a:xfrm>
            <a:off x="4684776" y="2039112"/>
            <a:ext cx="310896" cy="310896"/>
          </a:xfrm>
          <a:prstGeom prst="rect">
            <a:avLst/>
          </a:prstGeom>
        </p:spPr>
      </p:pic>
      <p:sp>
        <p:nvSpPr>
          <p:cNvPr id="15" name="Text 10"/>
          <p:cNvSpPr txBox="1"/>
          <p:nvPr/>
        </p:nvSpPr>
        <p:spPr>
          <a:xfrm>
            <a:off x="5251704" y="1892808"/>
            <a:ext cx="2417064"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Imaging</a:t>
            </a:r>
            <a:endParaRPr lang="en-US" sz="1500" dirty="0"/>
          </a:p>
        </p:txBody>
      </p:sp>
      <p:sp>
        <p:nvSpPr>
          <p:cNvPr id="16" name="Text 11"/>
          <p:cNvSpPr txBox="1"/>
          <p:nvPr/>
        </p:nvSpPr>
        <p:spPr>
          <a:xfrm>
            <a:off x="4565904" y="2606040"/>
            <a:ext cx="3057144"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X-ray, ultrasound, occasionally mobile services at home; CT/MRI usually require a facility trip and careful planning.</a:t>
            </a:r>
            <a:endParaRPr lang="en-US" sz="1150" dirty="0"/>
          </a:p>
        </p:txBody>
      </p:sp>
      <p:sp>
        <p:nvSpPr>
          <p:cNvPr id="17" name="Shape 12"/>
          <p:cNvSpPr/>
          <p:nvPr/>
        </p:nvSpPr>
        <p:spPr>
          <a:xfrm>
            <a:off x="8125968" y="1691640"/>
            <a:ext cx="3514344" cy="2080260"/>
          </a:xfrm>
          <a:prstGeom prst="roundRect">
            <a:avLst>
              <a:gd name="adj" fmla="val 4396"/>
            </a:avLst>
          </a:prstGeom>
          <a:solidFill>
            <a:srgbClr val="EAF1FA"/>
          </a:solidFill>
          <a:ln w="12700">
            <a:solidFill>
              <a:srgbClr val="EAF1FA"/>
            </a:solidFill>
            <a:prstDash val="solid"/>
          </a:ln>
        </p:spPr>
      </p:sp>
      <p:sp>
        <p:nvSpPr>
          <p:cNvPr id="18" name="Shape 13"/>
          <p:cNvSpPr/>
          <p:nvPr/>
        </p:nvSpPr>
        <p:spPr>
          <a:xfrm>
            <a:off x="8354568" y="1920240"/>
            <a:ext cx="548640" cy="548640"/>
          </a:xfrm>
          <a:prstGeom prst="ellipse">
            <a:avLst/>
          </a:prstGeom>
          <a:solidFill>
            <a:srgbClr val="FFFFFF"/>
          </a:solidFill>
          <a:ln w="12700">
            <a:solidFill>
              <a:srgbClr val="FFFFFF"/>
            </a:solidFill>
            <a:prstDash val="solid"/>
          </a:ln>
        </p:spPr>
      </p:sp>
      <p:pic>
        <p:nvPicPr>
          <p:cNvPr id="19" name="Image 3" descr="preencoded.png">    </p:cNvPr>
          <p:cNvPicPr>
            <a:picLocks noChangeAspect="1"/>
          </p:cNvPicPr>
          <p:nvPr/>
        </p:nvPicPr>
        <p:blipFill>
          <a:blip r:embed="rId4"/>
          <a:stretch>
            <a:fillRect/>
          </a:stretch>
        </p:blipFill>
        <p:spPr>
          <a:xfrm>
            <a:off x="8473440" y="2039112"/>
            <a:ext cx="310896" cy="310896"/>
          </a:xfrm>
          <a:prstGeom prst="rect">
            <a:avLst/>
          </a:prstGeom>
        </p:spPr>
      </p:pic>
      <p:sp>
        <p:nvSpPr>
          <p:cNvPr id="20" name="Text 14"/>
          <p:cNvSpPr txBox="1"/>
          <p:nvPr/>
        </p:nvSpPr>
        <p:spPr>
          <a:xfrm>
            <a:off x="9040368" y="1892808"/>
            <a:ext cx="2417064"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Specialist referrals</a:t>
            </a:r>
            <a:endParaRPr lang="en-US" sz="1500" dirty="0"/>
          </a:p>
        </p:txBody>
      </p:sp>
      <p:sp>
        <p:nvSpPr>
          <p:cNvPr id="21" name="Text 15"/>
          <p:cNvSpPr txBox="1"/>
          <p:nvPr/>
        </p:nvSpPr>
        <p:spPr>
          <a:xfrm>
            <a:off x="8354568" y="2606040"/>
            <a:ext cx="3057144"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Neurology, geriatric psychiatry, cardiology, wound care, etc. Some payers require authorization or a referral on file.</a:t>
            </a:r>
            <a:endParaRPr lang="en-US" sz="1150" dirty="0"/>
          </a:p>
        </p:txBody>
      </p:sp>
      <p:sp>
        <p:nvSpPr>
          <p:cNvPr id="22" name="Shape 16"/>
          <p:cNvSpPr/>
          <p:nvPr/>
        </p:nvSpPr>
        <p:spPr>
          <a:xfrm>
            <a:off x="548640" y="4046220"/>
            <a:ext cx="3514344" cy="2080260"/>
          </a:xfrm>
          <a:prstGeom prst="roundRect">
            <a:avLst>
              <a:gd name="adj" fmla="val 4396"/>
            </a:avLst>
          </a:prstGeom>
          <a:solidFill>
            <a:srgbClr val="EAF1FA"/>
          </a:solidFill>
          <a:ln w="12700">
            <a:solidFill>
              <a:srgbClr val="EAF1FA"/>
            </a:solidFill>
            <a:prstDash val="solid"/>
          </a:ln>
        </p:spPr>
      </p:sp>
      <p:sp>
        <p:nvSpPr>
          <p:cNvPr id="23" name="Shape 17"/>
          <p:cNvSpPr/>
          <p:nvPr/>
        </p:nvSpPr>
        <p:spPr>
          <a:xfrm>
            <a:off x="777240" y="4274820"/>
            <a:ext cx="548640" cy="548640"/>
          </a:xfrm>
          <a:prstGeom prst="ellipse">
            <a:avLst/>
          </a:prstGeom>
          <a:solidFill>
            <a:srgbClr val="FFFFFF"/>
          </a:solidFill>
          <a:ln w="12700">
            <a:solidFill>
              <a:srgbClr val="FFFFFF"/>
            </a:solidFill>
            <a:prstDash val="solid"/>
          </a:ln>
        </p:spPr>
      </p:sp>
      <p:pic>
        <p:nvPicPr>
          <p:cNvPr id="24" name="Image 4" descr="preencoded.png">    </p:cNvPr>
          <p:cNvPicPr>
            <a:picLocks noChangeAspect="1"/>
          </p:cNvPicPr>
          <p:nvPr/>
        </p:nvPicPr>
        <p:blipFill>
          <a:blip r:embed="rId5"/>
          <a:stretch>
            <a:fillRect/>
          </a:stretch>
        </p:blipFill>
        <p:spPr>
          <a:xfrm>
            <a:off x="896112" y="4393692"/>
            <a:ext cx="310896" cy="310896"/>
          </a:xfrm>
          <a:prstGeom prst="rect">
            <a:avLst/>
          </a:prstGeom>
        </p:spPr>
      </p:pic>
      <p:sp>
        <p:nvSpPr>
          <p:cNvPr id="25" name="Text 18"/>
          <p:cNvSpPr txBox="1"/>
          <p:nvPr/>
        </p:nvSpPr>
        <p:spPr>
          <a:xfrm>
            <a:off x="1463040" y="4247388"/>
            <a:ext cx="2417064"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Home health and therapy</a:t>
            </a:r>
            <a:endParaRPr lang="en-US" sz="1500" dirty="0"/>
          </a:p>
        </p:txBody>
      </p:sp>
      <p:sp>
        <p:nvSpPr>
          <p:cNvPr id="26" name="Text 19"/>
          <p:cNvSpPr txBox="1"/>
          <p:nvPr/>
        </p:nvSpPr>
        <p:spPr>
          <a:xfrm>
            <a:off x="777240" y="4960620"/>
            <a:ext cx="3057144"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Skilled nursing, PT/OT/speech at home. Requires a face-to-face and an agency that accepts the payer.</a:t>
            </a:r>
            <a:endParaRPr lang="en-US" sz="1150" dirty="0"/>
          </a:p>
        </p:txBody>
      </p:sp>
      <p:sp>
        <p:nvSpPr>
          <p:cNvPr id="27" name="Shape 20"/>
          <p:cNvSpPr/>
          <p:nvPr/>
        </p:nvSpPr>
        <p:spPr>
          <a:xfrm>
            <a:off x="4337304" y="4046220"/>
            <a:ext cx="3514344" cy="2080260"/>
          </a:xfrm>
          <a:prstGeom prst="roundRect">
            <a:avLst>
              <a:gd name="adj" fmla="val 4396"/>
            </a:avLst>
          </a:prstGeom>
          <a:solidFill>
            <a:srgbClr val="EAF1FA"/>
          </a:solidFill>
          <a:ln w="12700">
            <a:solidFill>
              <a:srgbClr val="EAF1FA"/>
            </a:solidFill>
            <a:prstDash val="solid"/>
          </a:ln>
        </p:spPr>
      </p:sp>
      <p:sp>
        <p:nvSpPr>
          <p:cNvPr id="28" name="Shape 21"/>
          <p:cNvSpPr/>
          <p:nvPr/>
        </p:nvSpPr>
        <p:spPr>
          <a:xfrm>
            <a:off x="4565904" y="4274820"/>
            <a:ext cx="548640" cy="548640"/>
          </a:xfrm>
          <a:prstGeom prst="ellipse">
            <a:avLst/>
          </a:prstGeom>
          <a:solidFill>
            <a:srgbClr val="FFFFFF"/>
          </a:solidFill>
          <a:ln w="12700">
            <a:solidFill>
              <a:srgbClr val="FFFFFF"/>
            </a:solidFill>
            <a:prstDash val="solid"/>
          </a:ln>
        </p:spPr>
      </p:sp>
      <p:pic>
        <p:nvPicPr>
          <p:cNvPr id="29" name="Image 5" descr="preencoded.png">    </p:cNvPr>
          <p:cNvPicPr>
            <a:picLocks noChangeAspect="1"/>
          </p:cNvPicPr>
          <p:nvPr/>
        </p:nvPicPr>
        <p:blipFill>
          <a:blip r:embed="rId6"/>
          <a:stretch>
            <a:fillRect/>
          </a:stretch>
        </p:blipFill>
        <p:spPr>
          <a:xfrm>
            <a:off x="4684776" y="4393692"/>
            <a:ext cx="310896" cy="310896"/>
          </a:xfrm>
          <a:prstGeom prst="rect">
            <a:avLst/>
          </a:prstGeom>
        </p:spPr>
      </p:pic>
      <p:sp>
        <p:nvSpPr>
          <p:cNvPr id="30" name="Text 22"/>
          <p:cNvSpPr txBox="1"/>
          <p:nvPr/>
        </p:nvSpPr>
        <p:spPr>
          <a:xfrm>
            <a:off x="5251704" y="4247388"/>
            <a:ext cx="2417064"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DME and supplies</a:t>
            </a:r>
            <a:endParaRPr lang="en-US" sz="1500" dirty="0"/>
          </a:p>
        </p:txBody>
      </p:sp>
      <p:sp>
        <p:nvSpPr>
          <p:cNvPr id="31" name="Text 23"/>
          <p:cNvSpPr txBox="1"/>
          <p:nvPr/>
        </p:nvSpPr>
        <p:spPr>
          <a:xfrm>
            <a:off x="4565904" y="4960620"/>
            <a:ext cx="3057144"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Hospital beds, walkers, oxygen, incontinence supplies. Vendor, documentation, and delivery coordination.</a:t>
            </a:r>
            <a:endParaRPr lang="en-US" sz="1150" dirty="0"/>
          </a:p>
        </p:txBody>
      </p:sp>
      <p:sp>
        <p:nvSpPr>
          <p:cNvPr id="32" name="Shape 24"/>
          <p:cNvSpPr/>
          <p:nvPr/>
        </p:nvSpPr>
        <p:spPr>
          <a:xfrm>
            <a:off x="8125968" y="4046220"/>
            <a:ext cx="3514344" cy="2080260"/>
          </a:xfrm>
          <a:prstGeom prst="roundRect">
            <a:avLst>
              <a:gd name="adj" fmla="val 4396"/>
            </a:avLst>
          </a:prstGeom>
          <a:solidFill>
            <a:srgbClr val="EEF2E8"/>
          </a:solidFill>
          <a:ln w="12700">
            <a:solidFill>
              <a:srgbClr val="EEF2E8"/>
            </a:solidFill>
            <a:prstDash val="solid"/>
          </a:ln>
        </p:spPr>
      </p:sp>
      <p:sp>
        <p:nvSpPr>
          <p:cNvPr id="33" name="Shape 25"/>
          <p:cNvSpPr/>
          <p:nvPr/>
        </p:nvSpPr>
        <p:spPr>
          <a:xfrm>
            <a:off x="8354568" y="4274820"/>
            <a:ext cx="548640" cy="548640"/>
          </a:xfrm>
          <a:prstGeom prst="ellipse">
            <a:avLst/>
          </a:prstGeom>
          <a:solidFill>
            <a:srgbClr val="FFFFFF"/>
          </a:solidFill>
          <a:ln w="12700">
            <a:solidFill>
              <a:srgbClr val="FFFFFF"/>
            </a:solidFill>
            <a:prstDash val="solid"/>
          </a:ln>
        </p:spPr>
      </p:sp>
      <p:pic>
        <p:nvPicPr>
          <p:cNvPr id="34" name="Image 6" descr="preencoded.png">    </p:cNvPr>
          <p:cNvPicPr>
            <a:picLocks noChangeAspect="1"/>
          </p:cNvPicPr>
          <p:nvPr/>
        </p:nvPicPr>
        <p:blipFill>
          <a:blip r:embed="rId7"/>
          <a:stretch>
            <a:fillRect/>
          </a:stretch>
        </p:blipFill>
        <p:spPr>
          <a:xfrm>
            <a:off x="8473440" y="4393692"/>
            <a:ext cx="310896" cy="310896"/>
          </a:xfrm>
          <a:prstGeom prst="rect">
            <a:avLst/>
          </a:prstGeom>
        </p:spPr>
      </p:pic>
      <p:sp>
        <p:nvSpPr>
          <p:cNvPr id="35" name="Text 26"/>
          <p:cNvSpPr txBox="1"/>
          <p:nvPr/>
        </p:nvSpPr>
        <p:spPr>
          <a:xfrm>
            <a:off x="9040368" y="4247388"/>
            <a:ext cx="2417064"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Hospice and palliative care</a:t>
            </a:r>
            <a:endParaRPr lang="en-US" sz="1500" dirty="0"/>
          </a:p>
        </p:txBody>
      </p:sp>
      <p:sp>
        <p:nvSpPr>
          <p:cNvPr id="36" name="Text 27"/>
          <p:cNvSpPr txBox="1"/>
          <p:nvPr/>
        </p:nvSpPr>
        <p:spPr>
          <a:xfrm>
            <a:off x="8354568" y="4960620"/>
            <a:ext cx="3057144"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Referrals with significant family conversations; usually led by the provider with your logistical support.</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CHART</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Finding orders and referrals in the chart</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7 · Orders, Referrals &amp; Results Tracking</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9</a:t>
            </a:r>
            <a:endParaRPr lang="en-US" sz="900" dirty="0"/>
          </a:p>
        </p:txBody>
      </p:sp>
      <p:sp>
        <p:nvSpPr>
          <p:cNvPr id="7" name="Shape 4"/>
          <p:cNvSpPr/>
          <p:nvPr/>
        </p:nvSpPr>
        <p:spPr>
          <a:xfrm>
            <a:off x="548640" y="1719072"/>
            <a:ext cx="347472" cy="347472"/>
          </a:xfrm>
          <a:prstGeom prst="ellipse">
            <a:avLst/>
          </a:prstGeom>
          <a:solidFill>
            <a:srgbClr val="1E4A87"/>
          </a:solidFill>
          <a:ln w="12700">
            <a:solidFill>
              <a:srgbClr val="1E4A87"/>
            </a:solidFill>
            <a:prstDash val="solid"/>
          </a:ln>
        </p:spPr>
      </p:sp>
      <p:sp>
        <p:nvSpPr>
          <p:cNvPr id="8" name="Text 5"/>
          <p:cNvSpPr txBox="1"/>
          <p:nvPr/>
        </p:nvSpPr>
        <p:spPr>
          <a:xfrm>
            <a:off x="548640" y="171907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6"/>
          <p:cNvSpPr txBox="1"/>
          <p:nvPr/>
        </p:nvSpPr>
        <p:spPr>
          <a:xfrm>
            <a:off x="1005840" y="1691640"/>
            <a:ext cx="4754880" cy="777240"/>
          </a:xfrm>
          <a:prstGeom prst="rect">
            <a:avLst/>
          </a:prstGeom>
          <a:noFill/>
          <a:ln/>
        </p:spPr>
        <p:txBody>
          <a:bodyPr wrap="square" lIns="0" tIns="0" rIns="0" bIns="0" rtlCol="0" anchor="t"/>
          <a:lstStyle/>
          <a:p>
            <a:pPr indent="0" marL="0">
              <a:buNone/>
            </a:pPr>
            <a:r>
              <a:rPr lang="en-US" sz="1250" b="1" dirty="0">
                <a:solidFill>
                  <a:srgbClr val="1E4A87"/>
                </a:solidFill>
                <a:latin typeface="Calibri" pitchFamily="34" charset="0"/>
                <a:ea typeface="Calibri" pitchFamily="34" charset="-122"/>
                <a:cs typeface="Calibri" pitchFamily="34" charset="-120"/>
              </a:rPr>
              <a:t>Open the chart; orders appear in the timeline and the Orders section. </a:t>
            </a:r>
            <a:pPr indent="0" marL="0">
              <a:buNone/>
            </a:pPr>
            <a:r>
              <a:rPr lang="en-US" sz="1250" dirty="0">
                <a:solidFill>
                  <a:srgbClr val="1F2933"/>
                </a:solidFill>
                <a:latin typeface="Calibri" pitchFamily="34" charset="0"/>
                <a:ea typeface="Calibri" pitchFamily="34" charset="-122"/>
                <a:cs typeface="Calibri" pitchFamily="34" charset="-120"/>
              </a:rPr>
              <a:t>Filter by status. Providers place them via Create Order Group; each order is a document with its own status.</a:t>
            </a:r>
            <a:endParaRPr lang="en-US" sz="1250" dirty="0"/>
          </a:p>
        </p:txBody>
      </p:sp>
      <p:sp>
        <p:nvSpPr>
          <p:cNvPr id="10" name="Shape 7"/>
          <p:cNvSpPr/>
          <p:nvPr/>
        </p:nvSpPr>
        <p:spPr>
          <a:xfrm>
            <a:off x="548640" y="2542032"/>
            <a:ext cx="347472" cy="347472"/>
          </a:xfrm>
          <a:prstGeom prst="ellipse">
            <a:avLst/>
          </a:prstGeom>
          <a:solidFill>
            <a:srgbClr val="1E4A87"/>
          </a:solidFill>
          <a:ln w="12700">
            <a:solidFill>
              <a:srgbClr val="1E4A87"/>
            </a:solidFill>
            <a:prstDash val="solid"/>
          </a:ln>
        </p:spPr>
      </p:sp>
      <p:sp>
        <p:nvSpPr>
          <p:cNvPr id="11" name="Text 8"/>
          <p:cNvSpPr txBox="1"/>
          <p:nvPr/>
        </p:nvSpPr>
        <p:spPr>
          <a:xfrm>
            <a:off x="548640" y="254203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Text 9"/>
          <p:cNvSpPr txBox="1"/>
          <p:nvPr/>
        </p:nvSpPr>
        <p:spPr>
          <a:xfrm>
            <a:off x="1005840" y="2514600"/>
            <a:ext cx="4754880" cy="777240"/>
          </a:xfrm>
          <a:prstGeom prst="rect">
            <a:avLst/>
          </a:prstGeom>
          <a:noFill/>
          <a:ln/>
        </p:spPr>
        <p:txBody>
          <a:bodyPr wrap="square" lIns="0" tIns="0" rIns="0" bIns="0" rtlCol="0" anchor="t"/>
          <a:lstStyle/>
          <a:p>
            <a:pPr indent="0" marL="0">
              <a:buNone/>
            </a:pPr>
            <a:r>
              <a:rPr lang="en-US" sz="1250" b="1" dirty="0">
                <a:solidFill>
                  <a:srgbClr val="1E4A87"/>
                </a:solidFill>
                <a:latin typeface="Calibri" pitchFamily="34" charset="0"/>
                <a:ea typeface="Calibri" pitchFamily="34" charset="-122"/>
                <a:cs typeface="Calibri" pitchFamily="34" charset="-120"/>
              </a:rPr>
              <a:t>Open an order to see its details. </a:t>
            </a:r>
            <a:pPr indent="0" marL="0">
              <a:buNone/>
            </a:pPr>
            <a:r>
              <a:rPr lang="en-US" sz="1250" dirty="0">
                <a:solidFill>
                  <a:srgbClr val="1F2933"/>
                </a:solidFill>
                <a:latin typeface="Calibri" pitchFamily="34" charset="0"/>
                <a:ea typeface="Calibri" pitchFamily="34" charset="-122"/>
                <a:cs typeface="Calibri" pitchFamily="34" charset="-120"/>
              </a:rPr>
              <a:t>Ordering provider, date, diagnosis, instructions, and status (e.g., Submitted, Closed). A referral is an order of class Referral.</a:t>
            </a:r>
            <a:endParaRPr lang="en-US" sz="1250" dirty="0"/>
          </a:p>
        </p:txBody>
      </p:sp>
      <p:sp>
        <p:nvSpPr>
          <p:cNvPr id="13" name="Shape 10"/>
          <p:cNvSpPr/>
          <p:nvPr/>
        </p:nvSpPr>
        <p:spPr>
          <a:xfrm>
            <a:off x="548640" y="3364992"/>
            <a:ext cx="347472" cy="347472"/>
          </a:xfrm>
          <a:prstGeom prst="ellipse">
            <a:avLst/>
          </a:prstGeom>
          <a:solidFill>
            <a:srgbClr val="1E4A87"/>
          </a:solidFill>
          <a:ln w="12700">
            <a:solidFill>
              <a:srgbClr val="1E4A87"/>
            </a:solidFill>
            <a:prstDash val="solid"/>
          </a:ln>
        </p:spPr>
      </p:sp>
      <p:sp>
        <p:nvSpPr>
          <p:cNvPr id="14" name="Text 11"/>
          <p:cNvSpPr txBox="1"/>
          <p:nvPr/>
        </p:nvSpPr>
        <p:spPr>
          <a:xfrm>
            <a:off x="548640" y="336499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5" name="Text 12"/>
          <p:cNvSpPr txBox="1"/>
          <p:nvPr/>
        </p:nvSpPr>
        <p:spPr>
          <a:xfrm>
            <a:off x="1005840" y="3337560"/>
            <a:ext cx="4754880" cy="777240"/>
          </a:xfrm>
          <a:prstGeom prst="rect">
            <a:avLst/>
          </a:prstGeom>
          <a:noFill/>
          <a:ln/>
        </p:spPr>
        <p:txBody>
          <a:bodyPr wrap="square" lIns="0" tIns="0" rIns="0" bIns="0" rtlCol="0" anchor="t"/>
          <a:lstStyle/>
          <a:p>
            <a:pPr indent="0" marL="0">
              <a:buNone/>
            </a:pPr>
            <a:r>
              <a:rPr lang="en-US" sz="1250" b="1" dirty="0">
                <a:solidFill>
                  <a:srgbClr val="1E4A87"/>
                </a:solidFill>
                <a:latin typeface="Calibri" pitchFamily="34" charset="0"/>
                <a:ea typeface="Calibri" pitchFamily="34" charset="-122"/>
                <a:cs typeface="Calibri" pitchFamily="34" charset="-120"/>
              </a:rPr>
              <a:t>Check the referral section for outgoing referrals. </a:t>
            </a:r>
            <a:pPr indent="0" marL="0">
              <a:buNone/>
            </a:pPr>
            <a:r>
              <a:rPr lang="en-US" sz="1250" dirty="0">
                <a:solidFill>
                  <a:srgbClr val="1F2933"/>
                </a:solidFill>
                <a:latin typeface="Calibri" pitchFamily="34" charset="0"/>
                <a:ea typeface="Calibri" pitchFamily="34" charset="-122"/>
                <a:cs typeface="Calibri" pitchFamily="34" charset="-120"/>
              </a:rPr>
              <a:t>Specialist, reason, authorization status, appointment date if known.</a:t>
            </a:r>
            <a:endParaRPr lang="en-US" sz="1250" dirty="0"/>
          </a:p>
        </p:txBody>
      </p:sp>
      <p:sp>
        <p:nvSpPr>
          <p:cNvPr id="16" name="Shape 13"/>
          <p:cNvSpPr/>
          <p:nvPr/>
        </p:nvSpPr>
        <p:spPr>
          <a:xfrm>
            <a:off x="548640" y="4187952"/>
            <a:ext cx="347472" cy="347472"/>
          </a:xfrm>
          <a:prstGeom prst="ellipse">
            <a:avLst/>
          </a:prstGeom>
          <a:solidFill>
            <a:srgbClr val="1E4A87"/>
          </a:solidFill>
          <a:ln w="12700">
            <a:solidFill>
              <a:srgbClr val="1E4A87"/>
            </a:solidFill>
            <a:prstDash val="solid"/>
          </a:ln>
        </p:spPr>
      </p:sp>
      <p:sp>
        <p:nvSpPr>
          <p:cNvPr id="17" name="Text 14"/>
          <p:cNvSpPr txBox="1"/>
          <p:nvPr/>
        </p:nvSpPr>
        <p:spPr>
          <a:xfrm>
            <a:off x="548640" y="418795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8" name="Text 15"/>
          <p:cNvSpPr txBox="1"/>
          <p:nvPr/>
        </p:nvSpPr>
        <p:spPr>
          <a:xfrm>
            <a:off x="1005840" y="4160520"/>
            <a:ext cx="4754880" cy="777240"/>
          </a:xfrm>
          <a:prstGeom prst="rect">
            <a:avLst/>
          </a:prstGeom>
          <a:noFill/>
          <a:ln/>
        </p:spPr>
        <p:txBody>
          <a:bodyPr wrap="square" lIns="0" tIns="0" rIns="0" bIns="0" rtlCol="0" anchor="t"/>
          <a:lstStyle/>
          <a:p>
            <a:pPr indent="0" marL="0">
              <a:buNone/>
            </a:pPr>
            <a:r>
              <a:rPr lang="en-US" sz="1250" b="1" dirty="0">
                <a:solidFill>
                  <a:srgbClr val="1E4A87"/>
                </a:solidFill>
                <a:latin typeface="Calibri" pitchFamily="34" charset="0"/>
                <a:ea typeface="Calibri" pitchFamily="34" charset="-122"/>
                <a:cs typeface="Calibri" pitchFamily="34" charset="-120"/>
              </a:rPr>
              <a:t>Look at the linked documents. </a:t>
            </a:r>
            <a:pPr indent="0" marL="0">
              <a:buNone/>
            </a:pPr>
            <a:r>
              <a:rPr lang="en-US" sz="1250" dirty="0">
                <a:solidFill>
                  <a:srgbClr val="1F2933"/>
                </a:solidFill>
                <a:latin typeface="Calibri" pitchFamily="34" charset="0"/>
                <a:ea typeface="Calibri" pitchFamily="34" charset="-122"/>
                <a:cs typeface="Calibri" pitchFamily="34" charset="-120"/>
              </a:rPr>
              <a:t>Results and consult notes attach to the order when the Clinical Inbox document is matched to it. Unmatched results sit in the Lab &amp; Imaging bucket.</a:t>
            </a:r>
            <a:endParaRPr lang="en-US" sz="1250" dirty="0"/>
          </a:p>
        </p:txBody>
      </p:sp>
      <p:sp>
        <p:nvSpPr>
          <p:cNvPr id="19" name="Shape 16"/>
          <p:cNvSpPr/>
          <p:nvPr/>
        </p:nvSpPr>
        <p:spPr>
          <a:xfrm>
            <a:off x="548640" y="5010912"/>
            <a:ext cx="347472" cy="347472"/>
          </a:xfrm>
          <a:prstGeom prst="ellipse">
            <a:avLst/>
          </a:prstGeom>
          <a:solidFill>
            <a:srgbClr val="1E4A87"/>
          </a:solidFill>
          <a:ln w="12700">
            <a:solidFill>
              <a:srgbClr val="1E4A87"/>
            </a:solidFill>
            <a:prstDash val="solid"/>
          </a:ln>
        </p:spPr>
      </p:sp>
      <p:sp>
        <p:nvSpPr>
          <p:cNvPr id="20" name="Text 17"/>
          <p:cNvSpPr txBox="1"/>
          <p:nvPr/>
        </p:nvSpPr>
        <p:spPr>
          <a:xfrm>
            <a:off x="548640" y="501091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1" name="Text 18"/>
          <p:cNvSpPr txBox="1"/>
          <p:nvPr/>
        </p:nvSpPr>
        <p:spPr>
          <a:xfrm>
            <a:off x="1005840" y="4983480"/>
            <a:ext cx="4754880" cy="777240"/>
          </a:xfrm>
          <a:prstGeom prst="rect">
            <a:avLst/>
          </a:prstGeom>
          <a:noFill/>
          <a:ln/>
        </p:spPr>
        <p:txBody>
          <a:bodyPr wrap="square" lIns="0" tIns="0" rIns="0" bIns="0" rtlCol="0" anchor="t"/>
          <a:lstStyle/>
          <a:p>
            <a:pPr indent="0" marL="0">
              <a:buNone/>
            </a:pPr>
            <a:r>
              <a:rPr lang="en-US" sz="1250" b="1" dirty="0">
                <a:solidFill>
                  <a:srgbClr val="1E4A87"/>
                </a:solidFill>
                <a:latin typeface="Calibri" pitchFamily="34" charset="0"/>
                <a:ea typeface="Calibri" pitchFamily="34" charset="-122"/>
                <a:cs typeface="Calibri" pitchFamily="34" charset="-120"/>
              </a:rPr>
              <a:t>Note the age. </a:t>
            </a:r>
            <a:pPr indent="0" marL="0">
              <a:buNone/>
            </a:pPr>
            <a:r>
              <a:rPr lang="en-US" sz="1250" dirty="0">
                <a:solidFill>
                  <a:srgbClr val="1F2933"/>
                </a:solidFill>
                <a:latin typeface="Calibri" pitchFamily="34" charset="0"/>
                <a:ea typeface="Calibri" pitchFamily="34" charset="-122"/>
                <a:cs typeface="Calibri" pitchFamily="34" charset="-120"/>
              </a:rPr>
              <a:t>Days since ordered is the key number on the worklist.</a:t>
            </a:r>
            <a:endParaRPr lang="en-US" sz="1250" dirty="0"/>
          </a:p>
        </p:txBody>
      </p:sp>
      <p:sp>
        <p:nvSpPr>
          <p:cNvPr id="22" name="Shape 19"/>
          <p:cNvSpPr/>
          <p:nvPr/>
        </p:nvSpPr>
        <p:spPr>
          <a:xfrm>
            <a:off x="6309360" y="1691640"/>
            <a:ext cx="5349240" cy="4480560"/>
          </a:xfrm>
          <a:prstGeom prst="roundRect">
            <a:avLst>
              <a:gd name="adj" fmla="val 1633"/>
            </a:avLst>
          </a:prstGeom>
          <a:solidFill>
            <a:srgbClr val="F7F9FC"/>
          </a:solidFill>
          <a:ln w="12700">
            <a:solidFill>
              <a:srgbClr val="D6DEE8"/>
            </a:solidFill>
            <a:prstDash val="solid"/>
          </a:ln>
          <a:effectLst>
            <a:outerShdw sx="100000" sy="100000" kx="0" ky="0" algn="bl" rotWithShape="0" blurRad="76200" dist="25400" dir="5400000">
              <a:srgbClr val="000000">
                <a:alpha val="12000"/>
              </a:srgbClr>
            </a:outerShdw>
          </a:effectLst>
        </p:spPr>
      </p:sp>
      <p:sp>
        <p:nvSpPr>
          <p:cNvPr id="23" name="Shape 20"/>
          <p:cNvSpPr/>
          <p:nvPr/>
        </p:nvSpPr>
        <p:spPr>
          <a:xfrm>
            <a:off x="6309360" y="1691640"/>
            <a:ext cx="5349240" cy="411480"/>
          </a:xfrm>
          <a:prstGeom prst="rect">
            <a:avLst/>
          </a:prstGeom>
          <a:solidFill>
            <a:srgbClr val="1E4A87"/>
          </a:solidFill>
          <a:ln w="12700">
            <a:solidFill>
              <a:srgbClr val="1E4A87"/>
            </a:solidFill>
            <a:prstDash val="solid"/>
          </a:ln>
        </p:spPr>
      </p:sp>
      <p:sp>
        <p:nvSpPr>
          <p:cNvPr id="24" name="Text 21"/>
          <p:cNvSpPr txBox="1"/>
          <p:nvPr/>
        </p:nvSpPr>
        <p:spPr>
          <a:xfrm>
            <a:off x="6492240" y="1691640"/>
            <a:ext cx="4983480" cy="41148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Clinical Inbox · Orders &amp; Referrals · Open (4)</a:t>
            </a:r>
            <a:endParaRPr lang="en-US" sz="1100" dirty="0"/>
          </a:p>
        </p:txBody>
      </p:sp>
      <p:sp>
        <p:nvSpPr>
          <p:cNvPr id="25" name="Text 22"/>
          <p:cNvSpPr txBox="1"/>
          <p:nvPr/>
        </p:nvSpPr>
        <p:spPr>
          <a:xfrm>
            <a:off x="6492240" y="1691640"/>
            <a:ext cx="4983480" cy="411480"/>
          </a:xfrm>
          <a:prstGeom prst="rect">
            <a:avLst/>
          </a:prstGeom>
          <a:noFill/>
          <a:ln/>
        </p:spPr>
        <p:txBody>
          <a:bodyPr wrap="square" lIns="0" tIns="0" rIns="0" bIns="0" rtlCol="0" anchor="ctr"/>
          <a:lstStyle/>
          <a:p>
            <a:pPr algn="r" indent="0" marL="0">
              <a:buNone/>
            </a:pPr>
            <a:r>
              <a:rPr lang="en-US" sz="800" dirty="0">
                <a:solidFill>
                  <a:srgbClr val="84ACDF"/>
                </a:solidFill>
                <a:latin typeface="Calibri" pitchFamily="34" charset="0"/>
                <a:ea typeface="Calibri" pitchFamily="34" charset="-122"/>
                <a:cs typeface="Calibri" pitchFamily="34" charset="-120"/>
              </a:rPr>
              <a:t>athenaOne · illustrative screen</a:t>
            </a:r>
            <a:endParaRPr lang="en-US" sz="800" dirty="0"/>
          </a:p>
        </p:txBody>
      </p:sp>
      <p:sp>
        <p:nvSpPr>
          <p:cNvPr id="26" name="Text 23"/>
          <p:cNvSpPr txBox="1"/>
          <p:nvPr/>
        </p:nvSpPr>
        <p:spPr>
          <a:xfrm>
            <a:off x="6537960" y="2286000"/>
            <a:ext cx="1737360" cy="310896"/>
          </a:xfrm>
          <a:prstGeom prst="rect">
            <a:avLst/>
          </a:prstGeom>
          <a:noFill/>
          <a:ln/>
        </p:spPr>
        <p:txBody>
          <a:bodyPr wrap="square" lIns="0" tIns="0" rIns="0" bIns="0" rtlCol="0" anchor="ctr"/>
          <a:lstStyle/>
          <a:p>
            <a:pPr indent="0" marL="0">
              <a:buNone/>
            </a:pPr>
            <a:r>
              <a:rPr lang="en-US" sz="1000" dirty="0">
                <a:solidFill>
                  <a:srgbClr val="5B6773"/>
                </a:solidFill>
                <a:latin typeface="Calibri" pitchFamily="34" charset="0"/>
                <a:ea typeface="Calibri" pitchFamily="34" charset="-122"/>
                <a:cs typeface="Calibri" pitchFamily="34" charset="-120"/>
              </a:rPr>
              <a:t>Referral</a:t>
            </a:r>
            <a:endParaRPr lang="en-US" sz="1000" dirty="0"/>
          </a:p>
        </p:txBody>
      </p:sp>
      <p:sp>
        <p:nvSpPr>
          <p:cNvPr id="27" name="Shape 24"/>
          <p:cNvSpPr/>
          <p:nvPr/>
        </p:nvSpPr>
        <p:spPr>
          <a:xfrm>
            <a:off x="8275320" y="2304288"/>
            <a:ext cx="3108960" cy="274320"/>
          </a:xfrm>
          <a:prstGeom prst="rect">
            <a:avLst/>
          </a:prstGeom>
          <a:solidFill>
            <a:srgbClr val="FFF6D6"/>
          </a:solidFill>
          <a:ln w="15875">
            <a:solidFill>
              <a:srgbClr val="F1C232"/>
            </a:solidFill>
            <a:prstDash val="solid"/>
          </a:ln>
        </p:spPr>
      </p:sp>
      <p:sp>
        <p:nvSpPr>
          <p:cNvPr id="28" name="Text 25"/>
          <p:cNvSpPr txBox="1"/>
          <p:nvPr/>
        </p:nvSpPr>
        <p:spPr>
          <a:xfrm>
            <a:off x="8366760" y="2304288"/>
            <a:ext cx="2971800" cy="274320"/>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Neurology — memory eval · ordered 09/02 · 22 days</a:t>
            </a:r>
            <a:endParaRPr lang="en-US" sz="1000" dirty="0"/>
          </a:p>
        </p:txBody>
      </p:sp>
      <p:sp>
        <p:nvSpPr>
          <p:cNvPr id="29" name="Text 26"/>
          <p:cNvSpPr txBox="1"/>
          <p:nvPr/>
        </p:nvSpPr>
        <p:spPr>
          <a:xfrm>
            <a:off x="6537960" y="2651760"/>
            <a:ext cx="1737360" cy="310896"/>
          </a:xfrm>
          <a:prstGeom prst="rect">
            <a:avLst/>
          </a:prstGeom>
          <a:noFill/>
          <a:ln/>
        </p:spPr>
        <p:txBody>
          <a:bodyPr wrap="square" lIns="0" tIns="0" rIns="0" bIns="0" rtlCol="0" anchor="ctr"/>
          <a:lstStyle/>
          <a:p>
            <a:pPr indent="0" marL="0">
              <a:buNone/>
            </a:pPr>
            <a:r>
              <a:rPr lang="en-US" sz="1000" dirty="0">
                <a:solidFill>
                  <a:srgbClr val="5B6773"/>
                </a:solidFill>
                <a:latin typeface="Calibri" pitchFamily="34" charset="0"/>
                <a:ea typeface="Calibri" pitchFamily="34" charset="-122"/>
                <a:cs typeface="Calibri" pitchFamily="34" charset="-120"/>
              </a:rPr>
              <a:t>Status</a:t>
            </a:r>
            <a:endParaRPr lang="en-US" sz="1000" dirty="0"/>
          </a:p>
        </p:txBody>
      </p:sp>
      <p:sp>
        <p:nvSpPr>
          <p:cNvPr id="30" name="Shape 27"/>
          <p:cNvSpPr/>
          <p:nvPr/>
        </p:nvSpPr>
        <p:spPr>
          <a:xfrm>
            <a:off x="8275320" y="2670048"/>
            <a:ext cx="3108960" cy="274320"/>
          </a:xfrm>
          <a:prstGeom prst="rect">
            <a:avLst/>
          </a:prstGeom>
          <a:solidFill>
            <a:srgbClr val="FFFFFF"/>
          </a:solidFill>
          <a:ln w="9525">
            <a:solidFill>
              <a:srgbClr val="D6DEE8"/>
            </a:solidFill>
            <a:prstDash val="solid"/>
          </a:ln>
        </p:spPr>
      </p:sp>
      <p:sp>
        <p:nvSpPr>
          <p:cNvPr id="31" name="Text 28"/>
          <p:cNvSpPr txBox="1"/>
          <p:nvPr/>
        </p:nvSpPr>
        <p:spPr>
          <a:xfrm>
            <a:off x="8366760" y="2670048"/>
            <a:ext cx="2971800" cy="274320"/>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Authorized · Not yet scheduled</a:t>
            </a:r>
            <a:endParaRPr lang="en-US" sz="1000" dirty="0"/>
          </a:p>
        </p:txBody>
      </p:sp>
      <p:sp>
        <p:nvSpPr>
          <p:cNvPr id="32" name="Text 29"/>
          <p:cNvSpPr txBox="1"/>
          <p:nvPr/>
        </p:nvSpPr>
        <p:spPr>
          <a:xfrm>
            <a:off x="6537960" y="3017520"/>
            <a:ext cx="1737360" cy="310896"/>
          </a:xfrm>
          <a:prstGeom prst="rect">
            <a:avLst/>
          </a:prstGeom>
          <a:noFill/>
          <a:ln/>
        </p:spPr>
        <p:txBody>
          <a:bodyPr wrap="square" lIns="0" tIns="0" rIns="0" bIns="0" rtlCol="0" anchor="ctr"/>
          <a:lstStyle/>
          <a:p>
            <a:pPr indent="0" marL="0">
              <a:buNone/>
            </a:pPr>
            <a:r>
              <a:rPr lang="en-US" sz="1000" dirty="0">
                <a:solidFill>
                  <a:srgbClr val="5B6773"/>
                </a:solidFill>
                <a:latin typeface="Calibri" pitchFamily="34" charset="0"/>
                <a:ea typeface="Calibri" pitchFamily="34" charset="-122"/>
                <a:cs typeface="Calibri" pitchFamily="34" charset="-120"/>
              </a:rPr>
              <a:t>Lab</a:t>
            </a:r>
            <a:endParaRPr lang="en-US" sz="1000" dirty="0"/>
          </a:p>
        </p:txBody>
      </p:sp>
      <p:sp>
        <p:nvSpPr>
          <p:cNvPr id="33" name="Shape 30"/>
          <p:cNvSpPr/>
          <p:nvPr/>
        </p:nvSpPr>
        <p:spPr>
          <a:xfrm>
            <a:off x="8275320" y="3035808"/>
            <a:ext cx="3108960" cy="274320"/>
          </a:xfrm>
          <a:prstGeom prst="rect">
            <a:avLst/>
          </a:prstGeom>
          <a:solidFill>
            <a:srgbClr val="FFFFFF"/>
          </a:solidFill>
          <a:ln w="9525">
            <a:solidFill>
              <a:srgbClr val="D6DEE8"/>
            </a:solidFill>
            <a:prstDash val="solid"/>
          </a:ln>
        </p:spPr>
      </p:sp>
      <p:sp>
        <p:nvSpPr>
          <p:cNvPr id="34" name="Text 31"/>
          <p:cNvSpPr txBox="1"/>
          <p:nvPr/>
        </p:nvSpPr>
        <p:spPr>
          <a:xfrm>
            <a:off x="8366760" y="3035808"/>
            <a:ext cx="2971800" cy="274320"/>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CBC, CMP, TSH · ordered 09/18 · mobile draw 09/26</a:t>
            </a:r>
            <a:endParaRPr lang="en-US" sz="1000" dirty="0"/>
          </a:p>
        </p:txBody>
      </p:sp>
      <p:sp>
        <p:nvSpPr>
          <p:cNvPr id="35" name="Text 32"/>
          <p:cNvSpPr txBox="1"/>
          <p:nvPr/>
        </p:nvSpPr>
        <p:spPr>
          <a:xfrm>
            <a:off x="6537960" y="3383280"/>
            <a:ext cx="1737360" cy="310896"/>
          </a:xfrm>
          <a:prstGeom prst="rect">
            <a:avLst/>
          </a:prstGeom>
          <a:noFill/>
          <a:ln/>
        </p:spPr>
        <p:txBody>
          <a:bodyPr wrap="square" lIns="0" tIns="0" rIns="0" bIns="0" rtlCol="0" anchor="ctr"/>
          <a:lstStyle/>
          <a:p>
            <a:pPr indent="0" marL="0">
              <a:buNone/>
            </a:pPr>
            <a:r>
              <a:rPr lang="en-US" sz="1000" dirty="0">
                <a:solidFill>
                  <a:srgbClr val="5B6773"/>
                </a:solidFill>
                <a:latin typeface="Calibri" pitchFamily="34" charset="0"/>
                <a:ea typeface="Calibri" pitchFamily="34" charset="-122"/>
                <a:cs typeface="Calibri" pitchFamily="34" charset="-120"/>
              </a:rPr>
              <a:t>DME</a:t>
            </a:r>
            <a:endParaRPr lang="en-US" sz="1000" dirty="0"/>
          </a:p>
        </p:txBody>
      </p:sp>
      <p:sp>
        <p:nvSpPr>
          <p:cNvPr id="36" name="Shape 33"/>
          <p:cNvSpPr/>
          <p:nvPr/>
        </p:nvSpPr>
        <p:spPr>
          <a:xfrm>
            <a:off x="8275320" y="3401568"/>
            <a:ext cx="3108960" cy="274320"/>
          </a:xfrm>
          <a:prstGeom prst="rect">
            <a:avLst/>
          </a:prstGeom>
          <a:solidFill>
            <a:srgbClr val="FFF6D6"/>
          </a:solidFill>
          <a:ln w="15875">
            <a:solidFill>
              <a:srgbClr val="F1C232"/>
            </a:solidFill>
            <a:prstDash val="solid"/>
          </a:ln>
        </p:spPr>
      </p:sp>
      <p:sp>
        <p:nvSpPr>
          <p:cNvPr id="37" name="Text 34"/>
          <p:cNvSpPr txBox="1"/>
          <p:nvPr/>
        </p:nvSpPr>
        <p:spPr>
          <a:xfrm>
            <a:off x="8366760" y="3401568"/>
            <a:ext cx="2971800" cy="274320"/>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Hospital bed · ordered 09/20 · vendor: pending docs</a:t>
            </a:r>
            <a:endParaRPr lang="en-US" sz="1000" dirty="0"/>
          </a:p>
        </p:txBody>
      </p:sp>
      <p:sp>
        <p:nvSpPr>
          <p:cNvPr id="38" name="Text 35"/>
          <p:cNvSpPr txBox="1"/>
          <p:nvPr/>
        </p:nvSpPr>
        <p:spPr>
          <a:xfrm>
            <a:off x="6537960" y="3749040"/>
            <a:ext cx="1737360" cy="310896"/>
          </a:xfrm>
          <a:prstGeom prst="rect">
            <a:avLst/>
          </a:prstGeom>
          <a:noFill/>
          <a:ln/>
        </p:spPr>
        <p:txBody>
          <a:bodyPr wrap="square" lIns="0" tIns="0" rIns="0" bIns="0" rtlCol="0" anchor="ctr"/>
          <a:lstStyle/>
          <a:p>
            <a:pPr indent="0" marL="0">
              <a:buNone/>
            </a:pPr>
            <a:r>
              <a:rPr lang="en-US" sz="1000" dirty="0">
                <a:solidFill>
                  <a:srgbClr val="5B6773"/>
                </a:solidFill>
                <a:latin typeface="Calibri" pitchFamily="34" charset="0"/>
                <a:ea typeface="Calibri" pitchFamily="34" charset="-122"/>
                <a:cs typeface="Calibri" pitchFamily="34" charset="-120"/>
              </a:rPr>
              <a:t>Home health</a:t>
            </a:r>
            <a:endParaRPr lang="en-US" sz="1000" dirty="0"/>
          </a:p>
        </p:txBody>
      </p:sp>
      <p:sp>
        <p:nvSpPr>
          <p:cNvPr id="39" name="Shape 36"/>
          <p:cNvSpPr/>
          <p:nvPr/>
        </p:nvSpPr>
        <p:spPr>
          <a:xfrm>
            <a:off x="8275320" y="3767328"/>
            <a:ext cx="3108960" cy="274320"/>
          </a:xfrm>
          <a:prstGeom prst="rect">
            <a:avLst/>
          </a:prstGeom>
          <a:solidFill>
            <a:srgbClr val="FFFFFF"/>
          </a:solidFill>
          <a:ln w="9525">
            <a:solidFill>
              <a:srgbClr val="D6DEE8"/>
            </a:solidFill>
            <a:prstDash val="solid"/>
          </a:ln>
        </p:spPr>
      </p:sp>
      <p:sp>
        <p:nvSpPr>
          <p:cNvPr id="40" name="Text 37"/>
          <p:cNvSpPr txBox="1"/>
          <p:nvPr/>
        </p:nvSpPr>
        <p:spPr>
          <a:xfrm>
            <a:off x="8366760" y="3767328"/>
            <a:ext cx="2971800" cy="274320"/>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PT eval · ordered 09/22 · agency accepted 09/23</a:t>
            </a:r>
            <a:endParaRPr lang="en-US" sz="1000" dirty="0"/>
          </a:p>
        </p:txBody>
      </p:sp>
      <p:sp>
        <p:nvSpPr>
          <p:cNvPr id="41" name="Text 38"/>
          <p:cNvSpPr txBox="1"/>
          <p:nvPr/>
        </p:nvSpPr>
        <p:spPr>
          <a:xfrm>
            <a:off x="6537960" y="4114800"/>
            <a:ext cx="4892040" cy="457200"/>
          </a:xfrm>
          <a:prstGeom prst="rect">
            <a:avLst/>
          </a:prstGeom>
          <a:noFill/>
          <a:ln/>
        </p:spPr>
        <p:txBody>
          <a:bodyPr wrap="square" lIns="0" tIns="0" rIns="0" bIns="0" rtlCol="0" anchor="t"/>
          <a:lstStyle/>
          <a:p>
            <a:pPr indent="0" marL="0">
              <a:buNone/>
            </a:pPr>
            <a:r>
              <a:rPr lang="en-US" sz="950" i="1" dirty="0">
                <a:solidFill>
                  <a:srgbClr val="5B6773"/>
                </a:solidFill>
                <a:latin typeface="Calibri" pitchFamily="34" charset="0"/>
                <a:ea typeface="Calibri" pitchFamily="34" charset="-122"/>
                <a:cs typeface="Calibri" pitchFamily="34" charset="-120"/>
              </a:rPr>
              <a:t>Two items need action today: the 22-day-old referral and the DME documentation.</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AF1FA"/>
        </a:solidFill>
      </p:bgPr>
    </p:bg>
    <p:spTree>
      <p:nvGrpSpPr>
        <p:cNvPr id="1" name=""/>
        <p:cNvGrpSpPr/>
        <p:nvPr/>
      </p:nvGrpSpPr>
      <p:grpSpPr>
        <a:xfrm>
          <a:off x="0" y="0"/>
          <a:ext cx="0" cy="0"/>
          <a:chOff x="0" y="0"/>
          <a:chExt cx="0" cy="0"/>
        </a:xfrm>
      </p:grpSpPr>
      <p:sp>
        <p:nvSpPr>
          <p:cNvPr id="2" name="Shape 0"/>
          <p:cNvSpPr/>
          <p:nvPr/>
        </p:nvSpPr>
        <p:spPr>
          <a:xfrm>
            <a:off x="8412480" y="1097280"/>
            <a:ext cx="4572000" cy="4572000"/>
          </a:xfrm>
          <a:prstGeom prst="ellipse">
            <a:avLst/>
          </a:prstGeom>
          <a:solidFill>
            <a:srgbClr val="84ACDF">
              <a:alpha val="35000"/>
            </a:srgbClr>
          </a:solidFill>
          <a:ln w="12700">
            <a:solidFill>
              <a:srgbClr val="84ACDF">
                <a:alpha val="35000"/>
              </a:srgbClr>
            </a:solidFill>
            <a:prstDash val="solid"/>
          </a:ln>
        </p:spPr>
      </p:sp>
      <p:pic>
        <p:nvPicPr>
          <p:cNvPr id="3"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4" name="Text 1"/>
          <p:cNvSpPr txBox="1"/>
          <p:nvPr/>
        </p:nvSpPr>
        <p:spPr>
          <a:xfrm>
            <a:off x="731520" y="2011680"/>
            <a:ext cx="5486400" cy="365760"/>
          </a:xfrm>
          <a:prstGeom prst="rect">
            <a:avLst/>
          </a:prstGeom>
          <a:noFill/>
          <a:ln/>
        </p:spPr>
        <p:txBody>
          <a:bodyPr wrap="square" lIns="0" tIns="0" rIns="0" bIns="0" rtlCol="0" anchor="ctr"/>
          <a:lstStyle/>
          <a:p>
            <a:pPr indent="0" marL="0">
              <a:buNone/>
            </a:pPr>
            <a:r>
              <a:rPr lang="en-US" sz="1400" b="1" spc="300" kern="0" dirty="0">
                <a:solidFill>
                  <a:srgbClr val="586C47"/>
                </a:solidFill>
                <a:latin typeface="Calibri" pitchFamily="34" charset="0"/>
                <a:ea typeface="Calibri" pitchFamily="34" charset="-122"/>
                <a:cs typeface="Calibri" pitchFamily="34" charset="-120"/>
              </a:rPr>
              <a:t>PART 3</a:t>
            </a:r>
            <a:endParaRPr lang="en-US" sz="1400" dirty="0"/>
          </a:p>
        </p:txBody>
      </p:sp>
      <p:sp>
        <p:nvSpPr>
          <p:cNvPr id="5" name="Text 2"/>
          <p:cNvSpPr txBox="1"/>
          <p:nvPr/>
        </p:nvSpPr>
        <p:spPr>
          <a:xfrm>
            <a:off x="731520" y="2423160"/>
            <a:ext cx="7772400" cy="1463040"/>
          </a:xfrm>
          <a:prstGeom prst="rect">
            <a:avLst/>
          </a:prstGeom>
          <a:noFill/>
          <a:ln/>
        </p:spPr>
        <p:txBody>
          <a:bodyPr wrap="square" lIns="0" tIns="0" rIns="0" bIns="0" rtlCol="0" anchor="t"/>
          <a:lstStyle/>
          <a:p>
            <a:pPr indent="0" marL="0">
              <a:buNone/>
            </a:pPr>
            <a:r>
              <a:rPr lang="en-US" sz="4000" b="1" dirty="0">
                <a:solidFill>
                  <a:srgbClr val="1E4A87"/>
                </a:solidFill>
                <a:latin typeface="Cambria" pitchFamily="34" charset="0"/>
                <a:ea typeface="Cambria" pitchFamily="34" charset="-122"/>
                <a:cs typeface="Cambria" pitchFamily="34" charset="-120"/>
              </a:rPr>
              <a:t>Coordinating an outgoing referral end to end</a:t>
            </a:r>
            <a:endParaRPr lang="en-US" sz="4000" dirty="0"/>
          </a:p>
        </p:txBody>
      </p:sp>
      <p:sp>
        <p:nvSpPr>
          <p:cNvPr id="6" name="Text 3"/>
          <p:cNvSpPr txBox="1"/>
          <p:nvPr/>
        </p:nvSpPr>
        <p:spPr>
          <a:xfrm>
            <a:off x="731520" y="3977640"/>
            <a:ext cx="7315200" cy="1097280"/>
          </a:xfrm>
          <a:prstGeom prst="rect">
            <a:avLst/>
          </a:prstGeom>
          <a:noFill/>
          <a:ln/>
        </p:spPr>
        <p:txBody>
          <a:bodyPr wrap="square" lIns="0" tIns="0" rIns="0" bIns="0" rtlCol="0" anchor="ctr"/>
          <a:lstStyle/>
          <a:p>
            <a:pPr indent="0" marL="0">
              <a:buNone/>
            </a:pPr>
            <a:r>
              <a:rPr lang="en-US" sz="1600" dirty="0">
                <a:solidFill>
                  <a:srgbClr val="5B6773"/>
                </a:solidFill>
                <a:latin typeface="Calibri" pitchFamily="34" charset="0"/>
                <a:ea typeface="Calibri" pitchFamily="34" charset="-122"/>
                <a:cs typeface="Calibri" pitchFamily="34" charset="-120"/>
              </a:rPr>
              <a:t>The full workflow.</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REFERRALS</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Referral coordination</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7 · Orders, Referrals &amp; Results Tracking</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11</a:t>
            </a:r>
            <a:endParaRPr lang="en-US" sz="900" dirty="0"/>
          </a:p>
        </p:txBody>
      </p:sp>
      <p:sp>
        <p:nvSpPr>
          <p:cNvPr id="7" name="Shape 4"/>
          <p:cNvSpPr/>
          <p:nvPr/>
        </p:nvSpPr>
        <p:spPr>
          <a:xfrm>
            <a:off x="548640" y="1737360"/>
            <a:ext cx="1658112" cy="4297680"/>
          </a:xfrm>
          <a:prstGeom prst="roundRect">
            <a:avLst>
              <a:gd name="adj" fmla="val 5515"/>
            </a:avLst>
          </a:prstGeom>
          <a:solidFill>
            <a:srgbClr val="FFFFFF"/>
          </a:solidFill>
          <a:ln w="12700">
            <a:solidFill>
              <a:srgbClr val="D6DEE8"/>
            </a:solidFill>
            <a:prstDash val="solid"/>
          </a:ln>
          <a:effectLst>
            <a:outerShdw sx="100000" sy="100000" kx="0" ky="0" algn="bl" rotWithShape="0" blurRad="76200" dist="25400" dir="5400000">
              <a:srgbClr val="000000">
                <a:alpha val="12000"/>
              </a:srgbClr>
            </a:outerShdw>
          </a:effectLst>
        </p:spPr>
      </p:sp>
      <p:sp>
        <p:nvSpPr>
          <p:cNvPr id="8" name="Shape 5"/>
          <p:cNvSpPr/>
          <p:nvPr/>
        </p:nvSpPr>
        <p:spPr>
          <a:xfrm>
            <a:off x="777240" y="1965960"/>
            <a:ext cx="548640" cy="548640"/>
          </a:xfrm>
          <a:prstGeom prst="ellipse">
            <a:avLst/>
          </a:prstGeom>
          <a:solidFill>
            <a:srgbClr val="1E4A87"/>
          </a:solidFill>
          <a:ln w="12700">
            <a:solidFill>
              <a:srgbClr val="1E4A87"/>
            </a:solidFill>
            <a:prstDash val="solid"/>
          </a:ln>
        </p:spPr>
      </p:sp>
      <p:sp>
        <p:nvSpPr>
          <p:cNvPr id="9" name="Text 6"/>
          <p:cNvSpPr txBox="1"/>
          <p:nvPr/>
        </p:nvSpPr>
        <p:spPr>
          <a:xfrm>
            <a:off x="777240" y="19659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0" name="Text 7"/>
          <p:cNvSpPr txBox="1"/>
          <p:nvPr/>
        </p:nvSpPr>
        <p:spPr>
          <a:xfrm>
            <a:off x="777240" y="2651760"/>
            <a:ext cx="1200912" cy="731520"/>
          </a:xfrm>
          <a:prstGeom prst="rect">
            <a:avLst/>
          </a:prstGeom>
          <a:noFill/>
          <a:ln/>
        </p:spPr>
        <p:txBody>
          <a:bodyPr wrap="square" lIns="0" tIns="0" rIns="0" bIns="0" rtlCol="0" anchor="t"/>
          <a:lstStyle/>
          <a:p>
            <a:pPr indent="0" marL="0">
              <a:buNone/>
            </a:pPr>
            <a:r>
              <a:rPr lang="en-US" sz="1400" b="1" dirty="0">
                <a:solidFill>
                  <a:srgbClr val="1E4A87"/>
                </a:solidFill>
                <a:latin typeface="Calibri" pitchFamily="34" charset="0"/>
                <a:ea typeface="Calibri" pitchFamily="34" charset="-122"/>
                <a:cs typeface="Calibri" pitchFamily="34" charset="-120"/>
              </a:rPr>
              <a:t>Confirm what's needed</a:t>
            </a:r>
            <a:endParaRPr lang="en-US" sz="1400" dirty="0"/>
          </a:p>
        </p:txBody>
      </p:sp>
      <p:sp>
        <p:nvSpPr>
          <p:cNvPr id="11" name="Text 8"/>
          <p:cNvSpPr txBox="1"/>
          <p:nvPr/>
        </p:nvSpPr>
        <p:spPr>
          <a:xfrm>
            <a:off x="777240" y="3429000"/>
            <a:ext cx="1200912" cy="237744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Read the order: specialty, reason, urgency. Check whether the payer requires authorization or a referral (Module 4). Route to billing if so.</a:t>
            </a:r>
            <a:endParaRPr lang="en-US" sz="1150" dirty="0"/>
          </a:p>
        </p:txBody>
      </p:sp>
      <p:sp>
        <p:nvSpPr>
          <p:cNvPr id="12" name="Shape 9"/>
          <p:cNvSpPr/>
          <p:nvPr/>
        </p:nvSpPr>
        <p:spPr>
          <a:xfrm>
            <a:off x="2435352" y="1737360"/>
            <a:ext cx="1658112" cy="4297680"/>
          </a:xfrm>
          <a:prstGeom prst="roundRect">
            <a:avLst>
              <a:gd name="adj" fmla="val 5515"/>
            </a:avLst>
          </a:prstGeom>
          <a:solidFill>
            <a:srgbClr val="FFFFFF"/>
          </a:solidFill>
          <a:ln w="12700">
            <a:solidFill>
              <a:srgbClr val="D6DEE8"/>
            </a:solidFill>
            <a:prstDash val="solid"/>
          </a:ln>
          <a:effectLst>
            <a:outerShdw sx="100000" sy="100000" kx="0" ky="0" algn="bl" rotWithShape="0" blurRad="76200" dist="25400" dir="5400000">
              <a:srgbClr val="000000">
                <a:alpha val="12000"/>
              </a:srgbClr>
            </a:outerShdw>
          </a:effectLst>
        </p:spPr>
      </p:sp>
      <p:sp>
        <p:nvSpPr>
          <p:cNvPr id="13" name="Shape 10"/>
          <p:cNvSpPr/>
          <p:nvPr/>
        </p:nvSpPr>
        <p:spPr>
          <a:xfrm>
            <a:off x="2663952" y="1965960"/>
            <a:ext cx="548640" cy="548640"/>
          </a:xfrm>
          <a:prstGeom prst="ellipse">
            <a:avLst/>
          </a:prstGeom>
          <a:solidFill>
            <a:srgbClr val="1E4A87"/>
          </a:solidFill>
          <a:ln w="12700">
            <a:solidFill>
              <a:srgbClr val="1E4A87"/>
            </a:solidFill>
            <a:prstDash val="solid"/>
          </a:ln>
        </p:spPr>
      </p:sp>
      <p:sp>
        <p:nvSpPr>
          <p:cNvPr id="14" name="Text 11"/>
          <p:cNvSpPr txBox="1"/>
          <p:nvPr/>
        </p:nvSpPr>
        <p:spPr>
          <a:xfrm>
            <a:off x="2663952" y="19659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5" name="Text 12"/>
          <p:cNvSpPr txBox="1"/>
          <p:nvPr/>
        </p:nvSpPr>
        <p:spPr>
          <a:xfrm>
            <a:off x="2663952" y="2651760"/>
            <a:ext cx="1200912" cy="731520"/>
          </a:xfrm>
          <a:prstGeom prst="rect">
            <a:avLst/>
          </a:prstGeom>
          <a:noFill/>
          <a:ln/>
        </p:spPr>
        <p:txBody>
          <a:bodyPr wrap="square" lIns="0" tIns="0" rIns="0" bIns="0" rtlCol="0" anchor="t"/>
          <a:lstStyle/>
          <a:p>
            <a:pPr indent="0" marL="0">
              <a:buNone/>
            </a:pPr>
            <a:r>
              <a:rPr lang="en-US" sz="1400" b="1" dirty="0">
                <a:solidFill>
                  <a:srgbClr val="1E4A87"/>
                </a:solidFill>
                <a:latin typeface="Calibri" pitchFamily="34" charset="0"/>
                <a:ea typeface="Calibri" pitchFamily="34" charset="-122"/>
                <a:cs typeface="Calibri" pitchFamily="34" charset="-120"/>
              </a:rPr>
              <a:t>Choose a workable option</a:t>
            </a:r>
            <a:endParaRPr lang="en-US" sz="1400" dirty="0"/>
          </a:p>
        </p:txBody>
      </p:sp>
      <p:sp>
        <p:nvSpPr>
          <p:cNvPr id="16" name="Text 13"/>
          <p:cNvSpPr txBox="1"/>
          <p:nvPr/>
        </p:nvSpPr>
        <p:spPr>
          <a:xfrm>
            <a:off x="2663952" y="3429000"/>
            <a:ext cx="1200912" cy="237744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In-network, close to home, accepts the payer, and — for a person with dementia — patient and calm. Ask the caregiver about transportation.</a:t>
            </a:r>
            <a:endParaRPr lang="en-US" sz="1150" dirty="0"/>
          </a:p>
        </p:txBody>
      </p:sp>
      <p:sp>
        <p:nvSpPr>
          <p:cNvPr id="17" name="Shape 14"/>
          <p:cNvSpPr/>
          <p:nvPr/>
        </p:nvSpPr>
        <p:spPr>
          <a:xfrm>
            <a:off x="4322064" y="1737360"/>
            <a:ext cx="1658112" cy="4297680"/>
          </a:xfrm>
          <a:prstGeom prst="roundRect">
            <a:avLst>
              <a:gd name="adj" fmla="val 5515"/>
            </a:avLst>
          </a:prstGeom>
          <a:solidFill>
            <a:srgbClr val="FFFFFF"/>
          </a:solidFill>
          <a:ln w="12700">
            <a:solidFill>
              <a:srgbClr val="D6DEE8"/>
            </a:solidFill>
            <a:prstDash val="solid"/>
          </a:ln>
          <a:effectLst>
            <a:outerShdw sx="100000" sy="100000" kx="0" ky="0" algn="bl" rotWithShape="0" blurRad="76200" dist="25400" dir="5400000">
              <a:srgbClr val="000000">
                <a:alpha val="12000"/>
              </a:srgbClr>
            </a:outerShdw>
          </a:effectLst>
        </p:spPr>
      </p:sp>
      <p:sp>
        <p:nvSpPr>
          <p:cNvPr id="18" name="Shape 15"/>
          <p:cNvSpPr/>
          <p:nvPr/>
        </p:nvSpPr>
        <p:spPr>
          <a:xfrm>
            <a:off x="4550664" y="1965960"/>
            <a:ext cx="548640" cy="548640"/>
          </a:xfrm>
          <a:prstGeom prst="ellipse">
            <a:avLst/>
          </a:prstGeom>
          <a:solidFill>
            <a:srgbClr val="1E4A87"/>
          </a:solidFill>
          <a:ln w="12700">
            <a:solidFill>
              <a:srgbClr val="1E4A87"/>
            </a:solidFill>
            <a:prstDash val="solid"/>
          </a:ln>
        </p:spPr>
      </p:sp>
      <p:sp>
        <p:nvSpPr>
          <p:cNvPr id="19" name="Text 16"/>
          <p:cNvSpPr txBox="1"/>
          <p:nvPr/>
        </p:nvSpPr>
        <p:spPr>
          <a:xfrm>
            <a:off x="4550664" y="19659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0" name="Text 17"/>
          <p:cNvSpPr txBox="1"/>
          <p:nvPr/>
        </p:nvSpPr>
        <p:spPr>
          <a:xfrm>
            <a:off x="4550664" y="2651760"/>
            <a:ext cx="1200912" cy="731520"/>
          </a:xfrm>
          <a:prstGeom prst="rect">
            <a:avLst/>
          </a:prstGeom>
          <a:noFill/>
          <a:ln/>
        </p:spPr>
        <p:txBody>
          <a:bodyPr wrap="square" lIns="0" tIns="0" rIns="0" bIns="0" rtlCol="0" anchor="t"/>
          <a:lstStyle/>
          <a:p>
            <a:pPr indent="0" marL="0">
              <a:buNone/>
            </a:pPr>
            <a:r>
              <a:rPr lang="en-US" sz="1400" b="1" dirty="0">
                <a:solidFill>
                  <a:srgbClr val="1E4A87"/>
                </a:solidFill>
                <a:latin typeface="Calibri" pitchFamily="34" charset="0"/>
                <a:ea typeface="Calibri" pitchFamily="34" charset="-122"/>
                <a:cs typeface="Calibri" pitchFamily="34" charset="-120"/>
              </a:rPr>
              <a:t>Send the referral packet</a:t>
            </a:r>
            <a:endParaRPr lang="en-US" sz="1400" dirty="0"/>
          </a:p>
        </p:txBody>
      </p:sp>
      <p:sp>
        <p:nvSpPr>
          <p:cNvPr id="21" name="Text 18"/>
          <p:cNvSpPr txBox="1"/>
          <p:nvPr/>
        </p:nvSpPr>
        <p:spPr>
          <a:xfrm>
            <a:off x="4550664" y="3429000"/>
            <a:ext cx="1200912" cy="237744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Referral form, recent notes, medication list, relevant results, and the caregiver's contact information as the point of contact.</a:t>
            </a:r>
            <a:endParaRPr lang="en-US" sz="1150" dirty="0"/>
          </a:p>
        </p:txBody>
      </p:sp>
      <p:sp>
        <p:nvSpPr>
          <p:cNvPr id="22" name="Shape 19"/>
          <p:cNvSpPr/>
          <p:nvPr/>
        </p:nvSpPr>
        <p:spPr>
          <a:xfrm>
            <a:off x="6208776" y="1737360"/>
            <a:ext cx="1658112" cy="4297680"/>
          </a:xfrm>
          <a:prstGeom prst="roundRect">
            <a:avLst>
              <a:gd name="adj" fmla="val 5515"/>
            </a:avLst>
          </a:prstGeom>
          <a:solidFill>
            <a:srgbClr val="FFFFFF"/>
          </a:solidFill>
          <a:ln w="12700">
            <a:solidFill>
              <a:srgbClr val="D6DEE8"/>
            </a:solidFill>
            <a:prstDash val="solid"/>
          </a:ln>
          <a:effectLst>
            <a:outerShdw sx="100000" sy="100000" kx="0" ky="0" algn="bl" rotWithShape="0" blurRad="76200" dist="25400" dir="5400000">
              <a:srgbClr val="000000">
                <a:alpha val="12000"/>
              </a:srgbClr>
            </a:outerShdw>
          </a:effectLst>
        </p:spPr>
      </p:sp>
      <p:sp>
        <p:nvSpPr>
          <p:cNvPr id="23" name="Shape 20"/>
          <p:cNvSpPr/>
          <p:nvPr/>
        </p:nvSpPr>
        <p:spPr>
          <a:xfrm>
            <a:off x="6437376" y="1965960"/>
            <a:ext cx="548640" cy="548640"/>
          </a:xfrm>
          <a:prstGeom prst="ellipse">
            <a:avLst/>
          </a:prstGeom>
          <a:solidFill>
            <a:srgbClr val="1E4A87"/>
          </a:solidFill>
          <a:ln w="12700">
            <a:solidFill>
              <a:srgbClr val="1E4A87"/>
            </a:solidFill>
            <a:prstDash val="solid"/>
          </a:ln>
        </p:spPr>
      </p:sp>
      <p:sp>
        <p:nvSpPr>
          <p:cNvPr id="24" name="Text 21"/>
          <p:cNvSpPr txBox="1"/>
          <p:nvPr/>
        </p:nvSpPr>
        <p:spPr>
          <a:xfrm>
            <a:off x="6437376" y="19659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5" name="Text 22"/>
          <p:cNvSpPr txBox="1"/>
          <p:nvPr/>
        </p:nvSpPr>
        <p:spPr>
          <a:xfrm>
            <a:off x="6437376" y="2651760"/>
            <a:ext cx="1200912" cy="731520"/>
          </a:xfrm>
          <a:prstGeom prst="rect">
            <a:avLst/>
          </a:prstGeom>
          <a:noFill/>
          <a:ln/>
        </p:spPr>
        <p:txBody>
          <a:bodyPr wrap="square" lIns="0" tIns="0" rIns="0" bIns="0" rtlCol="0" anchor="t"/>
          <a:lstStyle/>
          <a:p>
            <a:pPr indent="0" marL="0">
              <a:buNone/>
            </a:pPr>
            <a:r>
              <a:rPr lang="en-US" sz="1400" b="1" dirty="0">
                <a:solidFill>
                  <a:srgbClr val="1E4A87"/>
                </a:solidFill>
                <a:latin typeface="Calibri" pitchFamily="34" charset="0"/>
                <a:ea typeface="Calibri" pitchFamily="34" charset="-122"/>
                <a:cs typeface="Calibri" pitchFamily="34" charset="-120"/>
              </a:rPr>
              <a:t>Schedule with the caregiver, not the patient</a:t>
            </a:r>
            <a:endParaRPr lang="en-US" sz="1400" dirty="0"/>
          </a:p>
        </p:txBody>
      </p:sp>
      <p:sp>
        <p:nvSpPr>
          <p:cNvPr id="26" name="Text 23"/>
          <p:cNvSpPr txBox="1"/>
          <p:nvPr/>
        </p:nvSpPr>
        <p:spPr>
          <a:xfrm>
            <a:off x="6437376" y="3429000"/>
            <a:ext cx="1200912" cy="237744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Three-way call or confirm by callback. Record date, time, address, and prep instructions in the referral and the patient case.</a:t>
            </a:r>
            <a:endParaRPr lang="en-US" sz="1150" dirty="0"/>
          </a:p>
        </p:txBody>
      </p:sp>
      <p:sp>
        <p:nvSpPr>
          <p:cNvPr id="27" name="Shape 24"/>
          <p:cNvSpPr/>
          <p:nvPr/>
        </p:nvSpPr>
        <p:spPr>
          <a:xfrm>
            <a:off x="8095488" y="1737360"/>
            <a:ext cx="1658112" cy="4297680"/>
          </a:xfrm>
          <a:prstGeom prst="roundRect">
            <a:avLst>
              <a:gd name="adj" fmla="val 5515"/>
            </a:avLst>
          </a:prstGeom>
          <a:solidFill>
            <a:srgbClr val="FFFFFF"/>
          </a:solidFill>
          <a:ln w="12700">
            <a:solidFill>
              <a:srgbClr val="D6DEE8"/>
            </a:solidFill>
            <a:prstDash val="solid"/>
          </a:ln>
          <a:effectLst>
            <a:outerShdw sx="100000" sy="100000" kx="0" ky="0" algn="bl" rotWithShape="0" blurRad="76200" dist="25400" dir="5400000">
              <a:srgbClr val="000000">
                <a:alpha val="12000"/>
              </a:srgbClr>
            </a:outerShdw>
          </a:effectLst>
        </p:spPr>
      </p:sp>
      <p:sp>
        <p:nvSpPr>
          <p:cNvPr id="28" name="Shape 25"/>
          <p:cNvSpPr/>
          <p:nvPr/>
        </p:nvSpPr>
        <p:spPr>
          <a:xfrm>
            <a:off x="8324088" y="1965960"/>
            <a:ext cx="548640" cy="548640"/>
          </a:xfrm>
          <a:prstGeom prst="ellipse">
            <a:avLst/>
          </a:prstGeom>
          <a:solidFill>
            <a:srgbClr val="1E4A87"/>
          </a:solidFill>
          <a:ln w="12700">
            <a:solidFill>
              <a:srgbClr val="1E4A87"/>
            </a:solidFill>
            <a:prstDash val="solid"/>
          </a:ln>
        </p:spPr>
      </p:sp>
      <p:sp>
        <p:nvSpPr>
          <p:cNvPr id="29" name="Text 26"/>
          <p:cNvSpPr txBox="1"/>
          <p:nvPr/>
        </p:nvSpPr>
        <p:spPr>
          <a:xfrm>
            <a:off x="8324088" y="19659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0" name="Text 27"/>
          <p:cNvSpPr txBox="1"/>
          <p:nvPr/>
        </p:nvSpPr>
        <p:spPr>
          <a:xfrm>
            <a:off x="8324088" y="2651760"/>
            <a:ext cx="1200912" cy="731520"/>
          </a:xfrm>
          <a:prstGeom prst="rect">
            <a:avLst/>
          </a:prstGeom>
          <a:noFill/>
          <a:ln/>
        </p:spPr>
        <p:txBody>
          <a:bodyPr wrap="square" lIns="0" tIns="0" rIns="0" bIns="0" rtlCol="0" anchor="t"/>
          <a:lstStyle/>
          <a:p>
            <a:pPr indent="0" marL="0">
              <a:buNone/>
            </a:pPr>
            <a:r>
              <a:rPr lang="en-US" sz="1400" b="1" dirty="0">
                <a:solidFill>
                  <a:srgbClr val="1E4A87"/>
                </a:solidFill>
                <a:latin typeface="Calibri" pitchFamily="34" charset="0"/>
                <a:ea typeface="Calibri" pitchFamily="34" charset="-122"/>
                <a:cs typeface="Calibri" pitchFamily="34" charset="-120"/>
              </a:rPr>
              <a:t>Prepare the family</a:t>
            </a:r>
            <a:endParaRPr lang="en-US" sz="1400" dirty="0"/>
          </a:p>
        </p:txBody>
      </p:sp>
      <p:sp>
        <p:nvSpPr>
          <p:cNvPr id="31" name="Text 28"/>
          <p:cNvSpPr txBox="1"/>
          <p:nvPr/>
        </p:nvSpPr>
        <p:spPr>
          <a:xfrm>
            <a:off x="8324088" y="3429000"/>
            <a:ext cx="1200912" cy="237744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What to bring, what to expect, transportation confirmed, a reminder call two days before.</a:t>
            </a:r>
            <a:endParaRPr lang="en-US" sz="1150" dirty="0"/>
          </a:p>
        </p:txBody>
      </p:sp>
      <p:sp>
        <p:nvSpPr>
          <p:cNvPr id="32" name="Shape 29"/>
          <p:cNvSpPr/>
          <p:nvPr/>
        </p:nvSpPr>
        <p:spPr>
          <a:xfrm>
            <a:off x="9982200" y="1737360"/>
            <a:ext cx="1658112" cy="4297680"/>
          </a:xfrm>
          <a:prstGeom prst="roundRect">
            <a:avLst>
              <a:gd name="adj" fmla="val 5515"/>
            </a:avLst>
          </a:prstGeom>
          <a:solidFill>
            <a:srgbClr val="FFFFFF"/>
          </a:solidFill>
          <a:ln w="12700">
            <a:solidFill>
              <a:srgbClr val="D6DEE8"/>
            </a:solidFill>
            <a:prstDash val="solid"/>
          </a:ln>
          <a:effectLst>
            <a:outerShdw sx="100000" sy="100000" kx="0" ky="0" algn="bl" rotWithShape="0" blurRad="76200" dist="25400" dir="5400000">
              <a:srgbClr val="000000">
                <a:alpha val="12000"/>
              </a:srgbClr>
            </a:outerShdw>
          </a:effectLst>
        </p:spPr>
      </p:sp>
      <p:sp>
        <p:nvSpPr>
          <p:cNvPr id="33" name="Shape 30"/>
          <p:cNvSpPr/>
          <p:nvPr/>
        </p:nvSpPr>
        <p:spPr>
          <a:xfrm>
            <a:off x="10210800" y="1965960"/>
            <a:ext cx="548640" cy="548640"/>
          </a:xfrm>
          <a:prstGeom prst="ellipse">
            <a:avLst/>
          </a:prstGeom>
          <a:solidFill>
            <a:srgbClr val="586C47"/>
          </a:solidFill>
          <a:ln w="12700">
            <a:solidFill>
              <a:srgbClr val="586C47"/>
            </a:solidFill>
            <a:prstDash val="solid"/>
          </a:ln>
        </p:spPr>
      </p:sp>
      <p:sp>
        <p:nvSpPr>
          <p:cNvPr id="34" name="Text 31"/>
          <p:cNvSpPr txBox="1"/>
          <p:nvPr/>
        </p:nvSpPr>
        <p:spPr>
          <a:xfrm>
            <a:off x="10210800" y="19659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35" name="Text 32"/>
          <p:cNvSpPr txBox="1"/>
          <p:nvPr/>
        </p:nvSpPr>
        <p:spPr>
          <a:xfrm>
            <a:off x="10210800" y="2651760"/>
            <a:ext cx="1200912" cy="731520"/>
          </a:xfrm>
          <a:prstGeom prst="rect">
            <a:avLst/>
          </a:prstGeom>
          <a:noFill/>
          <a:ln/>
        </p:spPr>
        <p:txBody>
          <a:bodyPr wrap="square" lIns="0" tIns="0" rIns="0" bIns="0" rtlCol="0" anchor="t"/>
          <a:lstStyle/>
          <a:p>
            <a:pPr indent="0" marL="0">
              <a:buNone/>
            </a:pPr>
            <a:r>
              <a:rPr lang="en-US" sz="1400" b="1" dirty="0">
                <a:solidFill>
                  <a:srgbClr val="1E4A87"/>
                </a:solidFill>
                <a:latin typeface="Calibri" pitchFamily="34" charset="0"/>
                <a:ea typeface="Calibri" pitchFamily="34" charset="-122"/>
                <a:cs typeface="Calibri" pitchFamily="34" charset="-120"/>
              </a:rPr>
              <a:t>Track to closure</a:t>
            </a:r>
            <a:endParaRPr lang="en-US" sz="1400" dirty="0"/>
          </a:p>
        </p:txBody>
      </p:sp>
      <p:sp>
        <p:nvSpPr>
          <p:cNvPr id="36" name="Text 33"/>
          <p:cNvSpPr txBox="1"/>
          <p:nvPr/>
        </p:nvSpPr>
        <p:spPr>
          <a:xfrm>
            <a:off x="10210800" y="3429000"/>
            <a:ext cx="1200912" cy="237744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After the visit date, request the consult note if it hasn't arrived. Route for provider review. Update the care plan. Close.</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REFERRALS</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Updating the referral record</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7 · Orders, Referrals &amp; Results Tracking</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12</a:t>
            </a:r>
            <a:endParaRPr lang="en-US" sz="900" dirty="0"/>
          </a:p>
        </p:txBody>
      </p:sp>
      <p:sp>
        <p:nvSpPr>
          <p:cNvPr id="7" name="Shape 4"/>
          <p:cNvSpPr/>
          <p:nvPr/>
        </p:nvSpPr>
        <p:spPr>
          <a:xfrm>
            <a:off x="548640" y="1719072"/>
            <a:ext cx="347472" cy="347472"/>
          </a:xfrm>
          <a:prstGeom prst="ellipse">
            <a:avLst/>
          </a:prstGeom>
          <a:solidFill>
            <a:srgbClr val="1E4A87"/>
          </a:solidFill>
          <a:ln w="12700">
            <a:solidFill>
              <a:srgbClr val="1E4A87"/>
            </a:solidFill>
            <a:prstDash val="solid"/>
          </a:ln>
        </p:spPr>
      </p:sp>
      <p:sp>
        <p:nvSpPr>
          <p:cNvPr id="8" name="Text 5"/>
          <p:cNvSpPr txBox="1"/>
          <p:nvPr/>
        </p:nvSpPr>
        <p:spPr>
          <a:xfrm>
            <a:off x="548640" y="171907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6"/>
          <p:cNvSpPr txBox="1"/>
          <p:nvPr/>
        </p:nvSpPr>
        <p:spPr>
          <a:xfrm>
            <a:off x="1005840" y="1691640"/>
            <a:ext cx="4754880" cy="777240"/>
          </a:xfrm>
          <a:prstGeom prst="rect">
            <a:avLst/>
          </a:prstGeom>
          <a:noFill/>
          <a:ln/>
        </p:spPr>
        <p:txBody>
          <a:bodyPr wrap="square" lIns="0" tIns="0" rIns="0" bIns="0" rtlCol="0" anchor="t"/>
          <a:lstStyle/>
          <a:p>
            <a:pPr indent="0" marL="0">
              <a:buNone/>
            </a:pPr>
            <a:r>
              <a:rPr lang="en-US" sz="1250" b="1" dirty="0">
                <a:solidFill>
                  <a:srgbClr val="1E4A87"/>
                </a:solidFill>
                <a:latin typeface="Calibri" pitchFamily="34" charset="0"/>
                <a:ea typeface="Calibri" pitchFamily="34" charset="-122"/>
                <a:cs typeface="Calibri" pitchFamily="34" charset="-120"/>
              </a:rPr>
              <a:t>Open the referral order from the Clinical Inbox Referrals bucket. </a:t>
            </a:r>
            <a:pPr indent="0" marL="0">
              <a:buNone/>
            </a:pPr>
            <a:r>
              <a:rPr lang="en-US" sz="1250" dirty="0">
                <a:solidFill>
                  <a:srgbClr val="1F2933"/>
                </a:solidFill>
                <a:latin typeface="Calibri" pitchFamily="34" charset="0"/>
                <a:ea typeface="Calibri" pitchFamily="34" charset="-122"/>
                <a:cs typeface="Calibri" pitchFamily="34" charset="-120"/>
              </a:rPr>
              <a:t>Verify the patient.</a:t>
            </a:r>
            <a:endParaRPr lang="en-US" sz="1250" dirty="0"/>
          </a:p>
        </p:txBody>
      </p:sp>
      <p:sp>
        <p:nvSpPr>
          <p:cNvPr id="10" name="Shape 7"/>
          <p:cNvSpPr/>
          <p:nvPr/>
        </p:nvSpPr>
        <p:spPr>
          <a:xfrm>
            <a:off x="548640" y="2542032"/>
            <a:ext cx="347472" cy="347472"/>
          </a:xfrm>
          <a:prstGeom prst="ellipse">
            <a:avLst/>
          </a:prstGeom>
          <a:solidFill>
            <a:srgbClr val="1E4A87"/>
          </a:solidFill>
          <a:ln w="12700">
            <a:solidFill>
              <a:srgbClr val="1E4A87"/>
            </a:solidFill>
            <a:prstDash val="solid"/>
          </a:ln>
        </p:spPr>
      </p:sp>
      <p:sp>
        <p:nvSpPr>
          <p:cNvPr id="11" name="Text 8"/>
          <p:cNvSpPr txBox="1"/>
          <p:nvPr/>
        </p:nvSpPr>
        <p:spPr>
          <a:xfrm>
            <a:off x="548640" y="254203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Text 9"/>
          <p:cNvSpPr txBox="1"/>
          <p:nvPr/>
        </p:nvSpPr>
        <p:spPr>
          <a:xfrm>
            <a:off x="1005840" y="2514600"/>
            <a:ext cx="4754880" cy="777240"/>
          </a:xfrm>
          <a:prstGeom prst="rect">
            <a:avLst/>
          </a:prstGeom>
          <a:noFill/>
          <a:ln/>
        </p:spPr>
        <p:txBody>
          <a:bodyPr wrap="square" lIns="0" tIns="0" rIns="0" bIns="0" rtlCol="0" anchor="t"/>
          <a:lstStyle/>
          <a:p>
            <a:pPr indent="0" marL="0">
              <a:buNone/>
            </a:pPr>
            <a:r>
              <a:rPr lang="en-US" sz="1250" b="1" dirty="0">
                <a:solidFill>
                  <a:srgbClr val="1E4A87"/>
                </a:solidFill>
                <a:latin typeface="Calibri" pitchFamily="34" charset="0"/>
                <a:ea typeface="Calibri" pitchFamily="34" charset="-122"/>
                <a:cs typeface="Calibri" pitchFamily="34" charset="-120"/>
              </a:rPr>
              <a:t>Record authorization details. </a:t>
            </a:r>
            <a:pPr indent="0" marL="0">
              <a:buNone/>
            </a:pPr>
            <a:r>
              <a:rPr lang="en-US" sz="1250" dirty="0">
                <a:solidFill>
                  <a:srgbClr val="1F2933"/>
                </a:solidFill>
                <a:latin typeface="Calibri" pitchFamily="34" charset="0"/>
                <a:ea typeface="Calibri" pitchFamily="34" charset="-122"/>
                <a:cs typeface="Calibri" pitchFamily="34" charset="-120"/>
              </a:rPr>
              <a:t>Number, dates, visits approved — from billing.</a:t>
            </a:r>
            <a:endParaRPr lang="en-US" sz="1250" dirty="0"/>
          </a:p>
        </p:txBody>
      </p:sp>
      <p:sp>
        <p:nvSpPr>
          <p:cNvPr id="13" name="Shape 10"/>
          <p:cNvSpPr/>
          <p:nvPr/>
        </p:nvSpPr>
        <p:spPr>
          <a:xfrm>
            <a:off x="548640" y="3364992"/>
            <a:ext cx="347472" cy="347472"/>
          </a:xfrm>
          <a:prstGeom prst="ellipse">
            <a:avLst/>
          </a:prstGeom>
          <a:solidFill>
            <a:srgbClr val="1E4A87"/>
          </a:solidFill>
          <a:ln w="12700">
            <a:solidFill>
              <a:srgbClr val="1E4A87"/>
            </a:solidFill>
            <a:prstDash val="solid"/>
          </a:ln>
        </p:spPr>
      </p:sp>
      <p:sp>
        <p:nvSpPr>
          <p:cNvPr id="14" name="Text 11"/>
          <p:cNvSpPr txBox="1"/>
          <p:nvPr/>
        </p:nvSpPr>
        <p:spPr>
          <a:xfrm>
            <a:off x="548640" y="336499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5" name="Text 12"/>
          <p:cNvSpPr txBox="1"/>
          <p:nvPr/>
        </p:nvSpPr>
        <p:spPr>
          <a:xfrm>
            <a:off x="1005840" y="3337560"/>
            <a:ext cx="4754880" cy="777240"/>
          </a:xfrm>
          <a:prstGeom prst="rect">
            <a:avLst/>
          </a:prstGeom>
          <a:noFill/>
          <a:ln/>
        </p:spPr>
        <p:txBody>
          <a:bodyPr wrap="square" lIns="0" tIns="0" rIns="0" bIns="0" rtlCol="0" anchor="t"/>
          <a:lstStyle/>
          <a:p>
            <a:pPr indent="0" marL="0">
              <a:buNone/>
            </a:pPr>
            <a:r>
              <a:rPr lang="en-US" sz="1250" b="1" dirty="0">
                <a:solidFill>
                  <a:srgbClr val="1E4A87"/>
                </a:solidFill>
                <a:latin typeface="Calibri" pitchFamily="34" charset="0"/>
                <a:ea typeface="Calibri" pitchFamily="34" charset="-122"/>
                <a:cs typeface="Calibri" pitchFamily="34" charset="-120"/>
              </a:rPr>
              <a:t>Enter the receiving office and appointment. </a:t>
            </a:r>
            <a:pPr indent="0" marL="0">
              <a:buNone/>
            </a:pPr>
            <a:r>
              <a:rPr lang="en-US" sz="1250" dirty="0">
                <a:solidFill>
                  <a:srgbClr val="1F2933"/>
                </a:solidFill>
                <a:latin typeface="Calibri" pitchFamily="34" charset="0"/>
                <a:ea typeface="Calibri" pitchFamily="34" charset="-122"/>
                <a:cs typeface="Calibri" pitchFamily="34" charset="-120"/>
              </a:rPr>
              <a:t>Practice, provider, date/time, address, phone.</a:t>
            </a:r>
            <a:endParaRPr lang="en-US" sz="1250" dirty="0"/>
          </a:p>
        </p:txBody>
      </p:sp>
      <p:sp>
        <p:nvSpPr>
          <p:cNvPr id="16" name="Shape 13"/>
          <p:cNvSpPr/>
          <p:nvPr/>
        </p:nvSpPr>
        <p:spPr>
          <a:xfrm>
            <a:off x="548640" y="4187952"/>
            <a:ext cx="347472" cy="347472"/>
          </a:xfrm>
          <a:prstGeom prst="ellipse">
            <a:avLst/>
          </a:prstGeom>
          <a:solidFill>
            <a:srgbClr val="1E4A87"/>
          </a:solidFill>
          <a:ln w="12700">
            <a:solidFill>
              <a:srgbClr val="1E4A87"/>
            </a:solidFill>
            <a:prstDash val="solid"/>
          </a:ln>
        </p:spPr>
      </p:sp>
      <p:sp>
        <p:nvSpPr>
          <p:cNvPr id="17" name="Text 14"/>
          <p:cNvSpPr txBox="1"/>
          <p:nvPr/>
        </p:nvSpPr>
        <p:spPr>
          <a:xfrm>
            <a:off x="548640" y="418795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8" name="Text 15"/>
          <p:cNvSpPr txBox="1"/>
          <p:nvPr/>
        </p:nvSpPr>
        <p:spPr>
          <a:xfrm>
            <a:off x="1005840" y="4160520"/>
            <a:ext cx="4754880" cy="777240"/>
          </a:xfrm>
          <a:prstGeom prst="rect">
            <a:avLst/>
          </a:prstGeom>
          <a:noFill/>
          <a:ln/>
        </p:spPr>
        <p:txBody>
          <a:bodyPr wrap="square" lIns="0" tIns="0" rIns="0" bIns="0" rtlCol="0" anchor="t"/>
          <a:lstStyle/>
          <a:p>
            <a:pPr indent="0" marL="0">
              <a:buNone/>
            </a:pPr>
            <a:r>
              <a:rPr lang="en-US" sz="1250" b="1" dirty="0">
                <a:solidFill>
                  <a:srgbClr val="1E4A87"/>
                </a:solidFill>
                <a:latin typeface="Calibri" pitchFamily="34" charset="0"/>
                <a:ea typeface="Calibri" pitchFamily="34" charset="-122"/>
                <a:cs typeface="Calibri" pitchFamily="34" charset="-120"/>
              </a:rPr>
              <a:t>Add caregiver logistics. </a:t>
            </a:r>
            <a:pPr indent="0" marL="0">
              <a:buNone/>
            </a:pPr>
            <a:r>
              <a:rPr lang="en-US" sz="1250" dirty="0">
                <a:solidFill>
                  <a:srgbClr val="1F2933"/>
                </a:solidFill>
                <a:latin typeface="Calibri" pitchFamily="34" charset="0"/>
                <a:ea typeface="Calibri" pitchFamily="34" charset="-122"/>
                <a:cs typeface="Calibri" pitchFamily="34" charset="-120"/>
              </a:rPr>
              <a:t>Who's taking the patient, transportation arranged, reminder date.</a:t>
            </a:r>
            <a:endParaRPr lang="en-US" sz="1250" dirty="0"/>
          </a:p>
        </p:txBody>
      </p:sp>
      <p:sp>
        <p:nvSpPr>
          <p:cNvPr id="19" name="Shape 16"/>
          <p:cNvSpPr/>
          <p:nvPr/>
        </p:nvSpPr>
        <p:spPr>
          <a:xfrm>
            <a:off x="548640" y="5010912"/>
            <a:ext cx="347472" cy="347472"/>
          </a:xfrm>
          <a:prstGeom prst="ellipse">
            <a:avLst/>
          </a:prstGeom>
          <a:solidFill>
            <a:srgbClr val="1E4A87"/>
          </a:solidFill>
          <a:ln w="12700">
            <a:solidFill>
              <a:srgbClr val="1E4A87"/>
            </a:solidFill>
            <a:prstDash val="solid"/>
          </a:ln>
        </p:spPr>
      </p:sp>
      <p:sp>
        <p:nvSpPr>
          <p:cNvPr id="20" name="Text 17"/>
          <p:cNvSpPr txBox="1"/>
          <p:nvPr/>
        </p:nvSpPr>
        <p:spPr>
          <a:xfrm>
            <a:off x="548640" y="501091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1" name="Text 18"/>
          <p:cNvSpPr txBox="1"/>
          <p:nvPr/>
        </p:nvSpPr>
        <p:spPr>
          <a:xfrm>
            <a:off x="1005840" y="4983480"/>
            <a:ext cx="4754880" cy="777240"/>
          </a:xfrm>
          <a:prstGeom prst="rect">
            <a:avLst/>
          </a:prstGeom>
          <a:noFill/>
          <a:ln/>
        </p:spPr>
        <p:txBody>
          <a:bodyPr wrap="square" lIns="0" tIns="0" rIns="0" bIns="0" rtlCol="0" anchor="t"/>
          <a:lstStyle/>
          <a:p>
            <a:pPr indent="0" marL="0">
              <a:buNone/>
            </a:pPr>
            <a:r>
              <a:rPr lang="en-US" sz="1250" b="1" dirty="0">
                <a:solidFill>
                  <a:srgbClr val="1E4A87"/>
                </a:solidFill>
                <a:latin typeface="Calibri" pitchFamily="34" charset="0"/>
                <a:ea typeface="Calibri" pitchFamily="34" charset="-122"/>
                <a:cs typeface="Calibri" pitchFamily="34" charset="-120"/>
              </a:rPr>
              <a:t>Add a note and keep the order open. </a:t>
            </a:r>
            <a:pPr indent="0" marL="0">
              <a:buNone/>
            </a:pPr>
            <a:r>
              <a:rPr lang="en-US" sz="1250" dirty="0">
                <a:solidFill>
                  <a:srgbClr val="1F2933"/>
                </a:solidFill>
                <a:latin typeface="Calibri" pitchFamily="34" charset="0"/>
                <a:ea typeface="Calibri" pitchFamily="34" charset="-122"/>
                <a:cs typeface="Calibri" pitchFamily="34" charset="-120"/>
              </a:rPr>
              <a:t>Visit date + 7 days to check for the consult note. Close the order only when the note is back and reviewed.</a:t>
            </a:r>
            <a:endParaRPr lang="en-US" sz="1250" dirty="0"/>
          </a:p>
        </p:txBody>
      </p:sp>
      <p:sp>
        <p:nvSpPr>
          <p:cNvPr id="22" name="Shape 19"/>
          <p:cNvSpPr/>
          <p:nvPr/>
        </p:nvSpPr>
        <p:spPr>
          <a:xfrm>
            <a:off x="6309360" y="1691640"/>
            <a:ext cx="5349240" cy="4480560"/>
          </a:xfrm>
          <a:prstGeom prst="roundRect">
            <a:avLst>
              <a:gd name="adj" fmla="val 1633"/>
            </a:avLst>
          </a:prstGeom>
          <a:solidFill>
            <a:srgbClr val="F7F9FC"/>
          </a:solidFill>
          <a:ln w="12700">
            <a:solidFill>
              <a:srgbClr val="D6DEE8"/>
            </a:solidFill>
            <a:prstDash val="solid"/>
          </a:ln>
          <a:effectLst>
            <a:outerShdw sx="100000" sy="100000" kx="0" ky="0" algn="bl" rotWithShape="0" blurRad="76200" dist="25400" dir="5400000">
              <a:srgbClr val="000000">
                <a:alpha val="12000"/>
              </a:srgbClr>
            </a:outerShdw>
          </a:effectLst>
        </p:spPr>
      </p:sp>
      <p:sp>
        <p:nvSpPr>
          <p:cNvPr id="23" name="Shape 20"/>
          <p:cNvSpPr/>
          <p:nvPr/>
        </p:nvSpPr>
        <p:spPr>
          <a:xfrm>
            <a:off x="6309360" y="1691640"/>
            <a:ext cx="5349240" cy="411480"/>
          </a:xfrm>
          <a:prstGeom prst="rect">
            <a:avLst/>
          </a:prstGeom>
          <a:solidFill>
            <a:srgbClr val="1E4A87"/>
          </a:solidFill>
          <a:ln w="12700">
            <a:solidFill>
              <a:srgbClr val="1E4A87"/>
            </a:solidFill>
            <a:prstDash val="solid"/>
          </a:ln>
        </p:spPr>
      </p:sp>
      <p:sp>
        <p:nvSpPr>
          <p:cNvPr id="24" name="Text 21"/>
          <p:cNvSpPr txBox="1"/>
          <p:nvPr/>
        </p:nvSpPr>
        <p:spPr>
          <a:xfrm>
            <a:off x="6492240" y="1691640"/>
            <a:ext cx="4983480" cy="41148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Referral · Neurology — memory evaluation</a:t>
            </a:r>
            <a:endParaRPr lang="en-US" sz="1100" dirty="0"/>
          </a:p>
        </p:txBody>
      </p:sp>
      <p:sp>
        <p:nvSpPr>
          <p:cNvPr id="25" name="Text 22"/>
          <p:cNvSpPr txBox="1"/>
          <p:nvPr/>
        </p:nvSpPr>
        <p:spPr>
          <a:xfrm>
            <a:off x="6492240" y="1691640"/>
            <a:ext cx="4983480" cy="411480"/>
          </a:xfrm>
          <a:prstGeom prst="rect">
            <a:avLst/>
          </a:prstGeom>
          <a:noFill/>
          <a:ln/>
        </p:spPr>
        <p:txBody>
          <a:bodyPr wrap="square" lIns="0" tIns="0" rIns="0" bIns="0" rtlCol="0" anchor="ctr"/>
          <a:lstStyle/>
          <a:p>
            <a:pPr algn="r" indent="0" marL="0">
              <a:buNone/>
            </a:pPr>
            <a:r>
              <a:rPr lang="en-US" sz="800" dirty="0">
                <a:solidFill>
                  <a:srgbClr val="84ACDF"/>
                </a:solidFill>
                <a:latin typeface="Calibri" pitchFamily="34" charset="0"/>
                <a:ea typeface="Calibri" pitchFamily="34" charset="-122"/>
                <a:cs typeface="Calibri" pitchFamily="34" charset="-120"/>
              </a:rPr>
              <a:t>athenaOne · illustrative screen</a:t>
            </a:r>
            <a:endParaRPr lang="en-US" sz="800" dirty="0"/>
          </a:p>
        </p:txBody>
      </p:sp>
      <p:sp>
        <p:nvSpPr>
          <p:cNvPr id="26" name="Text 23"/>
          <p:cNvSpPr txBox="1"/>
          <p:nvPr/>
        </p:nvSpPr>
        <p:spPr>
          <a:xfrm>
            <a:off x="6537960" y="2286000"/>
            <a:ext cx="1737360" cy="310896"/>
          </a:xfrm>
          <a:prstGeom prst="rect">
            <a:avLst/>
          </a:prstGeom>
          <a:noFill/>
          <a:ln/>
        </p:spPr>
        <p:txBody>
          <a:bodyPr wrap="square" lIns="0" tIns="0" rIns="0" bIns="0" rtlCol="0" anchor="ctr"/>
          <a:lstStyle/>
          <a:p>
            <a:pPr indent="0" marL="0">
              <a:buNone/>
            </a:pPr>
            <a:r>
              <a:rPr lang="en-US" sz="1000" dirty="0">
                <a:solidFill>
                  <a:srgbClr val="5B6773"/>
                </a:solidFill>
                <a:latin typeface="Calibri" pitchFamily="34" charset="0"/>
                <a:ea typeface="Calibri" pitchFamily="34" charset="-122"/>
                <a:cs typeface="Calibri" pitchFamily="34" charset="-120"/>
              </a:rPr>
              <a:t>Ordered by</a:t>
            </a:r>
            <a:endParaRPr lang="en-US" sz="1000" dirty="0"/>
          </a:p>
        </p:txBody>
      </p:sp>
      <p:sp>
        <p:nvSpPr>
          <p:cNvPr id="27" name="Shape 24"/>
          <p:cNvSpPr/>
          <p:nvPr/>
        </p:nvSpPr>
        <p:spPr>
          <a:xfrm>
            <a:off x="8275320" y="2304288"/>
            <a:ext cx="3108960" cy="274320"/>
          </a:xfrm>
          <a:prstGeom prst="rect">
            <a:avLst/>
          </a:prstGeom>
          <a:solidFill>
            <a:srgbClr val="FFFFFF"/>
          </a:solidFill>
          <a:ln w="9525">
            <a:solidFill>
              <a:srgbClr val="D6DEE8"/>
            </a:solidFill>
            <a:prstDash val="solid"/>
          </a:ln>
        </p:spPr>
      </p:sp>
      <p:sp>
        <p:nvSpPr>
          <p:cNvPr id="28" name="Text 25"/>
          <p:cNvSpPr txBox="1"/>
          <p:nvPr/>
        </p:nvSpPr>
        <p:spPr>
          <a:xfrm>
            <a:off x="8366760" y="2304288"/>
            <a:ext cx="2971800" cy="274320"/>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Dr. Patel · 09/02/2026 · Dx: cognitive decline</a:t>
            </a:r>
            <a:endParaRPr lang="en-US" sz="1000" dirty="0"/>
          </a:p>
        </p:txBody>
      </p:sp>
      <p:sp>
        <p:nvSpPr>
          <p:cNvPr id="29" name="Text 26"/>
          <p:cNvSpPr txBox="1"/>
          <p:nvPr/>
        </p:nvSpPr>
        <p:spPr>
          <a:xfrm>
            <a:off x="6537960" y="2651760"/>
            <a:ext cx="1737360" cy="310896"/>
          </a:xfrm>
          <a:prstGeom prst="rect">
            <a:avLst/>
          </a:prstGeom>
          <a:noFill/>
          <a:ln/>
        </p:spPr>
        <p:txBody>
          <a:bodyPr wrap="square" lIns="0" tIns="0" rIns="0" bIns="0" rtlCol="0" anchor="ctr"/>
          <a:lstStyle/>
          <a:p>
            <a:pPr indent="0" marL="0">
              <a:buNone/>
            </a:pPr>
            <a:r>
              <a:rPr lang="en-US" sz="1000" dirty="0">
                <a:solidFill>
                  <a:srgbClr val="5B6773"/>
                </a:solidFill>
                <a:latin typeface="Calibri" pitchFamily="34" charset="0"/>
                <a:ea typeface="Calibri" pitchFamily="34" charset="-122"/>
                <a:cs typeface="Calibri" pitchFamily="34" charset="-120"/>
              </a:rPr>
              <a:t>Authorization</a:t>
            </a:r>
            <a:endParaRPr lang="en-US" sz="1000" dirty="0"/>
          </a:p>
        </p:txBody>
      </p:sp>
      <p:sp>
        <p:nvSpPr>
          <p:cNvPr id="30" name="Shape 27"/>
          <p:cNvSpPr/>
          <p:nvPr/>
        </p:nvSpPr>
        <p:spPr>
          <a:xfrm>
            <a:off x="8275320" y="2670048"/>
            <a:ext cx="3108960" cy="274320"/>
          </a:xfrm>
          <a:prstGeom prst="rect">
            <a:avLst/>
          </a:prstGeom>
          <a:solidFill>
            <a:srgbClr val="FFFFFF"/>
          </a:solidFill>
          <a:ln w="9525">
            <a:solidFill>
              <a:srgbClr val="D6DEE8"/>
            </a:solidFill>
            <a:prstDash val="solid"/>
          </a:ln>
        </p:spPr>
      </p:sp>
      <p:sp>
        <p:nvSpPr>
          <p:cNvPr id="31" name="Text 28"/>
          <p:cNvSpPr txBox="1"/>
          <p:nvPr/>
        </p:nvSpPr>
        <p:spPr>
          <a:xfrm>
            <a:off x="8366760" y="2670048"/>
            <a:ext cx="2971800" cy="274320"/>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Humana #A7731 · valid 09/10–12/09 · 1 visit</a:t>
            </a:r>
            <a:endParaRPr lang="en-US" sz="1000" dirty="0"/>
          </a:p>
        </p:txBody>
      </p:sp>
      <p:sp>
        <p:nvSpPr>
          <p:cNvPr id="32" name="Text 29"/>
          <p:cNvSpPr txBox="1"/>
          <p:nvPr/>
        </p:nvSpPr>
        <p:spPr>
          <a:xfrm>
            <a:off x="6537960" y="3017520"/>
            <a:ext cx="1737360" cy="310896"/>
          </a:xfrm>
          <a:prstGeom prst="rect">
            <a:avLst/>
          </a:prstGeom>
          <a:noFill/>
          <a:ln/>
        </p:spPr>
        <p:txBody>
          <a:bodyPr wrap="square" lIns="0" tIns="0" rIns="0" bIns="0" rtlCol="0" anchor="ctr"/>
          <a:lstStyle/>
          <a:p>
            <a:pPr indent="0" marL="0">
              <a:buNone/>
            </a:pPr>
            <a:r>
              <a:rPr lang="en-US" sz="1000" dirty="0">
                <a:solidFill>
                  <a:srgbClr val="5B6773"/>
                </a:solidFill>
                <a:latin typeface="Calibri" pitchFamily="34" charset="0"/>
                <a:ea typeface="Calibri" pitchFamily="34" charset="-122"/>
                <a:cs typeface="Calibri" pitchFamily="34" charset="-120"/>
              </a:rPr>
              <a:t>Receiving office</a:t>
            </a:r>
            <a:endParaRPr lang="en-US" sz="1000" dirty="0"/>
          </a:p>
        </p:txBody>
      </p:sp>
      <p:sp>
        <p:nvSpPr>
          <p:cNvPr id="33" name="Shape 30"/>
          <p:cNvSpPr/>
          <p:nvPr/>
        </p:nvSpPr>
        <p:spPr>
          <a:xfrm>
            <a:off x="8275320" y="3035808"/>
            <a:ext cx="3108960" cy="274320"/>
          </a:xfrm>
          <a:prstGeom prst="rect">
            <a:avLst/>
          </a:prstGeom>
          <a:solidFill>
            <a:srgbClr val="FFFFFF"/>
          </a:solidFill>
          <a:ln w="9525">
            <a:solidFill>
              <a:srgbClr val="D6DEE8"/>
            </a:solidFill>
            <a:prstDash val="solid"/>
          </a:ln>
        </p:spPr>
      </p:sp>
      <p:sp>
        <p:nvSpPr>
          <p:cNvPr id="34" name="Text 31"/>
          <p:cNvSpPr txBox="1"/>
          <p:nvPr/>
        </p:nvSpPr>
        <p:spPr>
          <a:xfrm>
            <a:off x="8366760" y="3035808"/>
            <a:ext cx="2971800" cy="274320"/>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Bayshore Neurology · Dr. Kim · (813) 555-0180</a:t>
            </a:r>
            <a:endParaRPr lang="en-US" sz="1000" dirty="0"/>
          </a:p>
        </p:txBody>
      </p:sp>
      <p:sp>
        <p:nvSpPr>
          <p:cNvPr id="35" name="Text 32"/>
          <p:cNvSpPr txBox="1"/>
          <p:nvPr/>
        </p:nvSpPr>
        <p:spPr>
          <a:xfrm>
            <a:off x="6537960" y="3383280"/>
            <a:ext cx="1737360" cy="310896"/>
          </a:xfrm>
          <a:prstGeom prst="rect">
            <a:avLst/>
          </a:prstGeom>
          <a:noFill/>
          <a:ln/>
        </p:spPr>
        <p:txBody>
          <a:bodyPr wrap="square" lIns="0" tIns="0" rIns="0" bIns="0" rtlCol="0" anchor="ctr"/>
          <a:lstStyle/>
          <a:p>
            <a:pPr indent="0" marL="0">
              <a:buNone/>
            </a:pPr>
            <a:r>
              <a:rPr lang="en-US" sz="1000" dirty="0">
                <a:solidFill>
                  <a:srgbClr val="5B6773"/>
                </a:solidFill>
                <a:latin typeface="Calibri" pitchFamily="34" charset="0"/>
                <a:ea typeface="Calibri" pitchFamily="34" charset="-122"/>
                <a:cs typeface="Calibri" pitchFamily="34" charset="-120"/>
              </a:rPr>
              <a:t>Appointment</a:t>
            </a:r>
            <a:endParaRPr lang="en-US" sz="1000" dirty="0"/>
          </a:p>
        </p:txBody>
      </p:sp>
      <p:sp>
        <p:nvSpPr>
          <p:cNvPr id="36" name="Shape 33"/>
          <p:cNvSpPr/>
          <p:nvPr/>
        </p:nvSpPr>
        <p:spPr>
          <a:xfrm>
            <a:off x="8275320" y="3401568"/>
            <a:ext cx="3108960" cy="274320"/>
          </a:xfrm>
          <a:prstGeom prst="rect">
            <a:avLst/>
          </a:prstGeom>
          <a:solidFill>
            <a:srgbClr val="FFF6D6"/>
          </a:solidFill>
          <a:ln w="15875">
            <a:solidFill>
              <a:srgbClr val="F1C232"/>
            </a:solidFill>
            <a:prstDash val="solid"/>
          </a:ln>
        </p:spPr>
      </p:sp>
      <p:sp>
        <p:nvSpPr>
          <p:cNvPr id="37" name="Text 34"/>
          <p:cNvSpPr txBox="1"/>
          <p:nvPr/>
        </p:nvSpPr>
        <p:spPr>
          <a:xfrm>
            <a:off x="8366760" y="3401568"/>
            <a:ext cx="2971800" cy="274320"/>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10/14/2026 · 10:00 AM</a:t>
            </a:r>
            <a:endParaRPr lang="en-US" sz="1000" dirty="0"/>
          </a:p>
        </p:txBody>
      </p:sp>
      <p:sp>
        <p:nvSpPr>
          <p:cNvPr id="38" name="Text 35"/>
          <p:cNvSpPr txBox="1"/>
          <p:nvPr/>
        </p:nvSpPr>
        <p:spPr>
          <a:xfrm>
            <a:off x="6537960" y="3749040"/>
            <a:ext cx="1737360" cy="310896"/>
          </a:xfrm>
          <a:prstGeom prst="rect">
            <a:avLst/>
          </a:prstGeom>
          <a:noFill/>
          <a:ln/>
        </p:spPr>
        <p:txBody>
          <a:bodyPr wrap="square" lIns="0" tIns="0" rIns="0" bIns="0" rtlCol="0" anchor="ctr"/>
          <a:lstStyle/>
          <a:p>
            <a:pPr indent="0" marL="0">
              <a:buNone/>
            </a:pPr>
            <a:r>
              <a:rPr lang="en-US" sz="1000" dirty="0">
                <a:solidFill>
                  <a:srgbClr val="5B6773"/>
                </a:solidFill>
                <a:latin typeface="Calibri" pitchFamily="34" charset="0"/>
                <a:ea typeface="Calibri" pitchFamily="34" charset="-122"/>
                <a:cs typeface="Calibri" pitchFamily="34" charset="-120"/>
              </a:rPr>
              <a:t>Logistics</a:t>
            </a:r>
            <a:endParaRPr lang="en-US" sz="1000" dirty="0"/>
          </a:p>
        </p:txBody>
      </p:sp>
      <p:sp>
        <p:nvSpPr>
          <p:cNvPr id="39" name="Shape 36"/>
          <p:cNvSpPr/>
          <p:nvPr/>
        </p:nvSpPr>
        <p:spPr>
          <a:xfrm>
            <a:off x="8275320" y="3767328"/>
            <a:ext cx="3108960" cy="274320"/>
          </a:xfrm>
          <a:prstGeom prst="rect">
            <a:avLst/>
          </a:prstGeom>
          <a:solidFill>
            <a:srgbClr val="FFFFFF"/>
          </a:solidFill>
          <a:ln w="9525">
            <a:solidFill>
              <a:srgbClr val="D6DEE8"/>
            </a:solidFill>
            <a:prstDash val="solid"/>
          </a:ln>
        </p:spPr>
      </p:sp>
      <p:sp>
        <p:nvSpPr>
          <p:cNvPr id="40" name="Text 37"/>
          <p:cNvSpPr txBox="1"/>
          <p:nvPr/>
        </p:nvSpPr>
        <p:spPr>
          <a:xfrm>
            <a:off x="8366760" y="3767328"/>
            <a:ext cx="2971800" cy="274320"/>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Susan driving; reminder call 10/12</a:t>
            </a:r>
            <a:endParaRPr lang="en-US" sz="1000" dirty="0"/>
          </a:p>
        </p:txBody>
      </p:sp>
      <p:sp>
        <p:nvSpPr>
          <p:cNvPr id="41" name="Text 38"/>
          <p:cNvSpPr txBox="1"/>
          <p:nvPr/>
        </p:nvSpPr>
        <p:spPr>
          <a:xfrm>
            <a:off x="6537960" y="4114800"/>
            <a:ext cx="1737360" cy="310896"/>
          </a:xfrm>
          <a:prstGeom prst="rect">
            <a:avLst/>
          </a:prstGeom>
          <a:noFill/>
          <a:ln/>
        </p:spPr>
        <p:txBody>
          <a:bodyPr wrap="square" lIns="0" tIns="0" rIns="0" bIns="0" rtlCol="0" anchor="ctr"/>
          <a:lstStyle/>
          <a:p>
            <a:pPr indent="0" marL="0">
              <a:buNone/>
            </a:pPr>
            <a:r>
              <a:rPr lang="en-US" sz="1000" dirty="0">
                <a:solidFill>
                  <a:srgbClr val="5B6773"/>
                </a:solidFill>
                <a:latin typeface="Calibri" pitchFamily="34" charset="0"/>
                <a:ea typeface="Calibri" pitchFamily="34" charset="-122"/>
                <a:cs typeface="Calibri" pitchFamily="34" charset="-120"/>
              </a:rPr>
              <a:t>Follow-up</a:t>
            </a:r>
            <a:endParaRPr lang="en-US" sz="1000" dirty="0"/>
          </a:p>
        </p:txBody>
      </p:sp>
      <p:sp>
        <p:nvSpPr>
          <p:cNvPr id="42" name="Shape 39"/>
          <p:cNvSpPr/>
          <p:nvPr/>
        </p:nvSpPr>
        <p:spPr>
          <a:xfrm>
            <a:off x="8275320" y="4133088"/>
            <a:ext cx="3108960" cy="274320"/>
          </a:xfrm>
          <a:prstGeom prst="rect">
            <a:avLst/>
          </a:prstGeom>
          <a:solidFill>
            <a:srgbClr val="FFF6D6"/>
          </a:solidFill>
          <a:ln w="15875">
            <a:solidFill>
              <a:srgbClr val="F1C232"/>
            </a:solidFill>
            <a:prstDash val="solid"/>
          </a:ln>
        </p:spPr>
      </p:sp>
      <p:sp>
        <p:nvSpPr>
          <p:cNvPr id="43" name="Text 40"/>
          <p:cNvSpPr txBox="1"/>
          <p:nvPr/>
        </p:nvSpPr>
        <p:spPr>
          <a:xfrm>
            <a:off x="8366760" y="4133088"/>
            <a:ext cx="2971800" cy="274320"/>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10/21 — check for consult note</a:t>
            </a:r>
            <a:endParaRPr lang="en-US" sz="1000" dirty="0"/>
          </a:p>
        </p:txBody>
      </p:sp>
      <p:sp>
        <p:nvSpPr>
          <p:cNvPr id="44" name="Shape 41"/>
          <p:cNvSpPr/>
          <p:nvPr/>
        </p:nvSpPr>
        <p:spPr>
          <a:xfrm>
            <a:off x="6537960" y="4526280"/>
            <a:ext cx="1554480" cy="329184"/>
          </a:xfrm>
          <a:prstGeom prst="roundRect">
            <a:avLst>
              <a:gd name="adj" fmla="val 13889"/>
            </a:avLst>
          </a:prstGeom>
          <a:solidFill>
            <a:srgbClr val="1E4A87"/>
          </a:solidFill>
          <a:ln w="12700">
            <a:solidFill>
              <a:srgbClr val="1E4A87"/>
            </a:solidFill>
            <a:prstDash val="solid"/>
          </a:ln>
        </p:spPr>
      </p:sp>
      <p:sp>
        <p:nvSpPr>
          <p:cNvPr id="45" name="Text 42"/>
          <p:cNvSpPr txBox="1"/>
          <p:nvPr/>
        </p:nvSpPr>
        <p:spPr>
          <a:xfrm>
            <a:off x="6537960" y="4526280"/>
            <a:ext cx="1554480"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Save</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TIPS &amp; PITFALLS</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Referrals</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7 · Orders, Referrals &amp; Results Tracking</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13</a:t>
            </a:r>
            <a:endParaRPr lang="en-US" sz="900" dirty="0"/>
          </a:p>
        </p:txBody>
      </p:sp>
      <p:sp>
        <p:nvSpPr>
          <p:cNvPr id="7" name="Shape 4"/>
          <p:cNvSpPr/>
          <p:nvPr/>
        </p:nvSpPr>
        <p:spPr>
          <a:xfrm>
            <a:off x="548640" y="1691640"/>
            <a:ext cx="5394960" cy="4434840"/>
          </a:xfrm>
          <a:prstGeom prst="roundRect">
            <a:avLst>
              <a:gd name="adj" fmla="val 2062"/>
            </a:avLst>
          </a:prstGeom>
          <a:solidFill>
            <a:srgbClr val="EEF2E8"/>
          </a:solidFill>
          <a:ln w="12700">
            <a:solidFill>
              <a:srgbClr val="EEF2E8"/>
            </a:solidFill>
            <a:prstDash val="solid"/>
          </a:ln>
        </p:spPr>
      </p:sp>
      <p:pic>
        <p:nvPicPr>
          <p:cNvPr id="8" name="Image 1" descr="preencoded.png">    </p:cNvPr>
          <p:cNvPicPr>
            <a:picLocks noChangeAspect="1"/>
          </p:cNvPicPr>
          <p:nvPr/>
        </p:nvPicPr>
        <p:blipFill>
          <a:blip r:embed="rId2"/>
          <a:stretch>
            <a:fillRect/>
          </a:stretch>
        </p:blipFill>
        <p:spPr>
          <a:xfrm>
            <a:off x="822960" y="1965960"/>
            <a:ext cx="411480" cy="411480"/>
          </a:xfrm>
          <a:prstGeom prst="rect">
            <a:avLst/>
          </a:prstGeom>
        </p:spPr>
      </p:pic>
      <p:sp>
        <p:nvSpPr>
          <p:cNvPr id="9" name="Text 5"/>
          <p:cNvSpPr txBox="1"/>
          <p:nvPr/>
        </p:nvSpPr>
        <p:spPr>
          <a:xfrm>
            <a:off x="1371600" y="1920240"/>
            <a:ext cx="4389120" cy="502920"/>
          </a:xfrm>
          <a:prstGeom prst="rect">
            <a:avLst/>
          </a:prstGeom>
          <a:noFill/>
          <a:ln/>
        </p:spPr>
        <p:txBody>
          <a:bodyPr wrap="square" lIns="0" tIns="0" rIns="0" bIns="0" rtlCol="0" anchor="ctr"/>
          <a:lstStyle/>
          <a:p>
            <a:pPr indent="0" marL="0">
              <a:buNone/>
            </a:pPr>
            <a:r>
              <a:rPr lang="en-US" sz="2000" b="1" dirty="0">
                <a:solidFill>
                  <a:srgbClr val="586C47"/>
                </a:solidFill>
                <a:latin typeface="Cambria" pitchFamily="34" charset="0"/>
                <a:ea typeface="Cambria" pitchFamily="34" charset="-122"/>
                <a:cs typeface="Cambria" pitchFamily="34" charset="-120"/>
              </a:rPr>
              <a:t>Do this</a:t>
            </a:r>
            <a:endParaRPr lang="en-US" sz="2000" dirty="0"/>
          </a:p>
        </p:txBody>
      </p:sp>
      <p:sp>
        <p:nvSpPr>
          <p:cNvPr id="10" name="Text 6"/>
          <p:cNvSpPr txBox="1"/>
          <p:nvPr/>
        </p:nvSpPr>
        <p:spPr>
          <a:xfrm>
            <a:off x="822960" y="2606040"/>
            <a:ext cx="4846320" cy="3337560"/>
          </a:xfrm>
          <a:prstGeom prst="rect">
            <a:avLst/>
          </a:prstGeom>
          <a:noFill/>
          <a:ln/>
        </p:spPr>
        <p:txBody>
          <a:bodyPr wrap="square" lIns="0" tIns="0" rIns="0" bIns="0" rtlCol="0" anchor="t"/>
          <a:lstStyle/>
          <a:p>
            <a:pPr marL="203200" indent="-2032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Ask the specialist office to put the caregiver — not the patient — as the contact for scheduling and reminders.</a:t>
            </a:r>
            <a:endParaRPr lang="en-US" sz="1250" dirty="0"/>
          </a:p>
          <a:p>
            <a:pPr marL="203200" indent="-2032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Send the medication list and the latest cognitive assessment with every referral; specialists ask for both.</a:t>
            </a:r>
            <a:endParaRPr lang="en-US" sz="1250" dirty="0"/>
          </a:p>
          <a:p>
            <a:pPr marL="203200" indent="-2032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For a patient with dementia, request the first morning slot to avoid long waits in an unfamiliar place.</a:t>
            </a:r>
            <a:endParaRPr lang="en-US" sz="1250" dirty="0"/>
          </a:p>
          <a:p>
            <a:pPr marL="203200" indent="-2032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Keep a list of specialist offices that are known to be good with cognitively impaired patients.</a:t>
            </a:r>
            <a:endParaRPr lang="en-US" sz="1250" dirty="0"/>
          </a:p>
        </p:txBody>
      </p:sp>
      <p:sp>
        <p:nvSpPr>
          <p:cNvPr id="11" name="Shape 7"/>
          <p:cNvSpPr/>
          <p:nvPr/>
        </p:nvSpPr>
        <p:spPr>
          <a:xfrm>
            <a:off x="6245352" y="1691640"/>
            <a:ext cx="5394960" cy="4434840"/>
          </a:xfrm>
          <a:prstGeom prst="roundRect">
            <a:avLst>
              <a:gd name="adj" fmla="val 2062"/>
            </a:avLst>
          </a:prstGeom>
          <a:solidFill>
            <a:srgbClr val="FBEDEA"/>
          </a:solidFill>
          <a:ln w="12700">
            <a:solidFill>
              <a:srgbClr val="FBEDEA"/>
            </a:solidFill>
            <a:prstDash val="solid"/>
          </a:ln>
        </p:spPr>
      </p:sp>
      <p:pic>
        <p:nvPicPr>
          <p:cNvPr id="12" name="Image 2" descr="preencoded.png">    </p:cNvPr>
          <p:cNvPicPr>
            <a:picLocks noChangeAspect="1"/>
          </p:cNvPicPr>
          <p:nvPr/>
        </p:nvPicPr>
        <p:blipFill>
          <a:blip r:embed="rId3"/>
          <a:stretch>
            <a:fillRect/>
          </a:stretch>
        </p:blipFill>
        <p:spPr>
          <a:xfrm>
            <a:off x="6519672" y="1965960"/>
            <a:ext cx="411480" cy="411480"/>
          </a:xfrm>
          <a:prstGeom prst="rect">
            <a:avLst/>
          </a:prstGeom>
        </p:spPr>
      </p:pic>
      <p:sp>
        <p:nvSpPr>
          <p:cNvPr id="13" name="Text 8"/>
          <p:cNvSpPr txBox="1"/>
          <p:nvPr/>
        </p:nvSpPr>
        <p:spPr>
          <a:xfrm>
            <a:off x="7068312" y="1920240"/>
            <a:ext cx="4389120" cy="502920"/>
          </a:xfrm>
          <a:prstGeom prst="rect">
            <a:avLst/>
          </a:prstGeom>
          <a:noFill/>
          <a:ln/>
        </p:spPr>
        <p:txBody>
          <a:bodyPr wrap="square" lIns="0" tIns="0" rIns="0" bIns="0" rtlCol="0" anchor="ctr"/>
          <a:lstStyle/>
          <a:p>
            <a:pPr indent="0" marL="0">
              <a:buNone/>
            </a:pPr>
            <a:r>
              <a:rPr lang="en-US" sz="2000" b="1" dirty="0">
                <a:solidFill>
                  <a:srgbClr val="A33A2B"/>
                </a:solidFill>
                <a:latin typeface="Cambria" pitchFamily="34" charset="0"/>
                <a:ea typeface="Cambria" pitchFamily="34" charset="-122"/>
                <a:cs typeface="Cambria" pitchFamily="34" charset="-120"/>
              </a:rPr>
              <a:t>Watch out for</a:t>
            </a:r>
            <a:endParaRPr lang="en-US" sz="2000" dirty="0"/>
          </a:p>
        </p:txBody>
      </p:sp>
      <p:sp>
        <p:nvSpPr>
          <p:cNvPr id="14" name="Text 9"/>
          <p:cNvSpPr txBox="1"/>
          <p:nvPr/>
        </p:nvSpPr>
        <p:spPr>
          <a:xfrm>
            <a:off x="6519672" y="2606040"/>
            <a:ext cx="4846320" cy="3337560"/>
          </a:xfrm>
          <a:prstGeom prst="rect">
            <a:avLst/>
          </a:prstGeom>
          <a:noFill/>
          <a:ln/>
        </p:spPr>
        <p:txBody>
          <a:bodyPr wrap="square" lIns="0" tIns="0" rIns="0" bIns="0" rtlCol="0" anchor="t"/>
          <a:lstStyle/>
          <a:p>
            <a:pPr marL="203200" indent="-2032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Sending a referral and assuming the office will call the family.</a:t>
            </a:r>
            <a:endParaRPr lang="en-US" sz="1250" dirty="0"/>
          </a:p>
          <a:p>
            <a:pPr marL="203200" indent="-2032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Scheduling without asking how the patient will get there.</a:t>
            </a:r>
            <a:endParaRPr lang="en-US" sz="1250" dirty="0"/>
          </a:p>
          <a:p>
            <a:pPr marL="203200" indent="-2032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Letting an authorization expire while waiting for an appointment.</a:t>
            </a:r>
            <a:endParaRPr lang="en-US" sz="1250" dirty="0"/>
          </a:p>
          <a:p>
            <a:pPr marL="203200" indent="-2032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Closing the referral when the appointment is scheduled rather than when the note is back and reviewed.</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AF1FA"/>
        </a:solidFill>
      </p:bgPr>
    </p:bg>
    <p:spTree>
      <p:nvGrpSpPr>
        <p:cNvPr id="1" name=""/>
        <p:cNvGrpSpPr/>
        <p:nvPr/>
      </p:nvGrpSpPr>
      <p:grpSpPr>
        <a:xfrm>
          <a:off x="0" y="0"/>
          <a:ext cx="0" cy="0"/>
          <a:chOff x="0" y="0"/>
          <a:chExt cx="0" cy="0"/>
        </a:xfrm>
      </p:grpSpPr>
      <p:sp>
        <p:nvSpPr>
          <p:cNvPr id="2" name="Shape 0"/>
          <p:cNvSpPr/>
          <p:nvPr/>
        </p:nvSpPr>
        <p:spPr>
          <a:xfrm>
            <a:off x="8412480" y="1097280"/>
            <a:ext cx="4572000" cy="4572000"/>
          </a:xfrm>
          <a:prstGeom prst="ellipse">
            <a:avLst/>
          </a:prstGeom>
          <a:solidFill>
            <a:srgbClr val="84ACDF">
              <a:alpha val="35000"/>
            </a:srgbClr>
          </a:solidFill>
          <a:ln w="12700">
            <a:solidFill>
              <a:srgbClr val="84ACDF">
                <a:alpha val="35000"/>
              </a:srgbClr>
            </a:solidFill>
            <a:prstDash val="solid"/>
          </a:ln>
        </p:spPr>
      </p:sp>
      <p:pic>
        <p:nvPicPr>
          <p:cNvPr id="3"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4" name="Text 1"/>
          <p:cNvSpPr txBox="1"/>
          <p:nvPr/>
        </p:nvSpPr>
        <p:spPr>
          <a:xfrm>
            <a:off x="731520" y="2011680"/>
            <a:ext cx="5486400" cy="365760"/>
          </a:xfrm>
          <a:prstGeom prst="rect">
            <a:avLst/>
          </a:prstGeom>
          <a:noFill/>
          <a:ln/>
        </p:spPr>
        <p:txBody>
          <a:bodyPr wrap="square" lIns="0" tIns="0" rIns="0" bIns="0" rtlCol="0" anchor="ctr"/>
          <a:lstStyle/>
          <a:p>
            <a:pPr indent="0" marL="0">
              <a:buNone/>
            </a:pPr>
            <a:r>
              <a:rPr lang="en-US" sz="1400" b="1" spc="300" kern="0" dirty="0">
                <a:solidFill>
                  <a:srgbClr val="586C47"/>
                </a:solidFill>
                <a:latin typeface="Calibri" pitchFamily="34" charset="0"/>
                <a:ea typeface="Calibri" pitchFamily="34" charset="-122"/>
                <a:cs typeface="Calibri" pitchFamily="34" charset="-120"/>
              </a:rPr>
              <a:t>PART 4</a:t>
            </a:r>
            <a:endParaRPr lang="en-US" sz="1400" dirty="0"/>
          </a:p>
        </p:txBody>
      </p:sp>
      <p:sp>
        <p:nvSpPr>
          <p:cNvPr id="5" name="Text 2"/>
          <p:cNvSpPr txBox="1"/>
          <p:nvPr/>
        </p:nvSpPr>
        <p:spPr>
          <a:xfrm>
            <a:off x="731520" y="2423160"/>
            <a:ext cx="7772400" cy="1463040"/>
          </a:xfrm>
          <a:prstGeom prst="rect">
            <a:avLst/>
          </a:prstGeom>
          <a:noFill/>
          <a:ln/>
        </p:spPr>
        <p:txBody>
          <a:bodyPr wrap="square" lIns="0" tIns="0" rIns="0" bIns="0" rtlCol="0" anchor="t"/>
          <a:lstStyle/>
          <a:p>
            <a:pPr indent="0" marL="0">
              <a:buNone/>
            </a:pPr>
            <a:r>
              <a:rPr lang="en-US" sz="4000" b="1" dirty="0">
                <a:solidFill>
                  <a:srgbClr val="1E4A87"/>
                </a:solidFill>
                <a:latin typeface="Cambria" pitchFamily="34" charset="0"/>
                <a:ea typeface="Cambria" pitchFamily="34" charset="-122"/>
                <a:cs typeface="Cambria" pitchFamily="34" charset="-120"/>
              </a:rPr>
              <a:t>Home-based labs, imaging, and DME</a:t>
            </a:r>
            <a:endParaRPr lang="en-US" sz="4000" dirty="0"/>
          </a:p>
        </p:txBody>
      </p:sp>
      <p:sp>
        <p:nvSpPr>
          <p:cNvPr id="6" name="Text 3"/>
          <p:cNvSpPr txBox="1"/>
          <p:nvPr/>
        </p:nvSpPr>
        <p:spPr>
          <a:xfrm>
            <a:off x="731520" y="3977640"/>
            <a:ext cx="7315200" cy="1097280"/>
          </a:xfrm>
          <a:prstGeom prst="rect">
            <a:avLst/>
          </a:prstGeom>
          <a:noFill/>
          <a:ln/>
        </p:spPr>
        <p:txBody>
          <a:bodyPr wrap="square" lIns="0" tIns="0" rIns="0" bIns="0" rtlCol="0" anchor="ctr"/>
          <a:lstStyle/>
          <a:p>
            <a:pPr indent="0" marL="0">
              <a:buNone/>
            </a:pPr>
            <a:r>
              <a:rPr lang="en-US" sz="1600" dirty="0">
                <a:solidFill>
                  <a:srgbClr val="5B6773"/>
                </a:solidFill>
                <a:latin typeface="Calibri" pitchFamily="34" charset="0"/>
                <a:ea typeface="Calibri" pitchFamily="34" charset="-122"/>
                <a:cs typeface="Calibri" pitchFamily="34" charset="-120"/>
              </a:rPr>
              <a:t>Bringing the service to the patient takes more coordination, not less.</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HOME-BASED</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Coordinating home-based services</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7 · Orders, Referrals &amp; Results Tracking</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15</a:t>
            </a:r>
            <a:endParaRPr lang="en-US" sz="900" dirty="0"/>
          </a:p>
        </p:txBody>
      </p:sp>
      <p:sp>
        <p:nvSpPr>
          <p:cNvPr id="7" name="Shape 4"/>
          <p:cNvSpPr/>
          <p:nvPr/>
        </p:nvSpPr>
        <p:spPr>
          <a:xfrm>
            <a:off x="548640" y="1691640"/>
            <a:ext cx="5408676" cy="2080260"/>
          </a:xfrm>
          <a:prstGeom prst="roundRect">
            <a:avLst>
              <a:gd name="adj" fmla="val 4396"/>
            </a:avLst>
          </a:prstGeom>
          <a:solidFill>
            <a:srgbClr val="EAF1FA"/>
          </a:solidFill>
          <a:ln w="12700">
            <a:solidFill>
              <a:srgbClr val="EAF1FA"/>
            </a:solidFill>
            <a:prstDash val="solid"/>
          </a:ln>
        </p:spPr>
      </p:sp>
      <p:sp>
        <p:nvSpPr>
          <p:cNvPr id="8" name="Shape 5"/>
          <p:cNvSpPr/>
          <p:nvPr/>
        </p:nvSpPr>
        <p:spPr>
          <a:xfrm>
            <a:off x="777240" y="1920240"/>
            <a:ext cx="548640" cy="548640"/>
          </a:xfrm>
          <a:prstGeom prst="ellipse">
            <a:avLst/>
          </a:prstGeom>
          <a:solidFill>
            <a:srgbClr val="FFFFFF"/>
          </a:solidFill>
          <a:ln w="12700">
            <a:solidFill>
              <a:srgbClr val="FFFFFF"/>
            </a:solidFill>
            <a:prstDash val="solid"/>
          </a:ln>
        </p:spPr>
      </p:sp>
      <p:pic>
        <p:nvPicPr>
          <p:cNvPr id="9" name="Image 1" descr="preencoded.png">    </p:cNvPr>
          <p:cNvPicPr>
            <a:picLocks noChangeAspect="1"/>
          </p:cNvPicPr>
          <p:nvPr/>
        </p:nvPicPr>
        <p:blipFill>
          <a:blip r:embed="rId2"/>
          <a:stretch>
            <a:fillRect/>
          </a:stretch>
        </p:blipFill>
        <p:spPr>
          <a:xfrm>
            <a:off x="896112" y="2039112"/>
            <a:ext cx="310896" cy="310896"/>
          </a:xfrm>
          <a:prstGeom prst="rect">
            <a:avLst/>
          </a:prstGeom>
        </p:spPr>
      </p:pic>
      <p:sp>
        <p:nvSpPr>
          <p:cNvPr id="10" name="Text 6"/>
          <p:cNvSpPr txBox="1"/>
          <p:nvPr/>
        </p:nvSpPr>
        <p:spPr>
          <a:xfrm>
            <a:off x="1463040" y="1892808"/>
            <a:ext cx="4311396"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Mobile phlebotomy</a:t>
            </a:r>
            <a:endParaRPr lang="en-US" sz="1500" dirty="0"/>
          </a:p>
        </p:txBody>
      </p:sp>
      <p:sp>
        <p:nvSpPr>
          <p:cNvPr id="11" name="Text 7"/>
          <p:cNvSpPr txBox="1"/>
          <p:nvPr/>
        </p:nvSpPr>
        <p:spPr>
          <a:xfrm>
            <a:off x="777240" y="2606040"/>
            <a:ext cx="4951476"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Confirm the vendor accepts the payer and serves the zip code. Send the order and the diagnosis codes. Confirm the draw date with the caregiver — fasting instructions matter. Track the result.</a:t>
            </a:r>
            <a:endParaRPr lang="en-US" sz="1150" dirty="0"/>
          </a:p>
        </p:txBody>
      </p:sp>
      <p:sp>
        <p:nvSpPr>
          <p:cNvPr id="12" name="Shape 8"/>
          <p:cNvSpPr/>
          <p:nvPr/>
        </p:nvSpPr>
        <p:spPr>
          <a:xfrm>
            <a:off x="6231636" y="1691640"/>
            <a:ext cx="5408676" cy="2080260"/>
          </a:xfrm>
          <a:prstGeom prst="roundRect">
            <a:avLst>
              <a:gd name="adj" fmla="val 4396"/>
            </a:avLst>
          </a:prstGeom>
          <a:solidFill>
            <a:srgbClr val="EAF1FA"/>
          </a:solidFill>
          <a:ln w="12700">
            <a:solidFill>
              <a:srgbClr val="EAF1FA"/>
            </a:solidFill>
            <a:prstDash val="solid"/>
          </a:ln>
        </p:spPr>
      </p:sp>
      <p:sp>
        <p:nvSpPr>
          <p:cNvPr id="13" name="Shape 9"/>
          <p:cNvSpPr/>
          <p:nvPr/>
        </p:nvSpPr>
        <p:spPr>
          <a:xfrm>
            <a:off x="6460236" y="1920240"/>
            <a:ext cx="548640" cy="548640"/>
          </a:xfrm>
          <a:prstGeom prst="ellipse">
            <a:avLst/>
          </a:prstGeom>
          <a:solidFill>
            <a:srgbClr val="FFFFFF"/>
          </a:solidFill>
          <a:ln w="12700">
            <a:solidFill>
              <a:srgbClr val="FFFFFF"/>
            </a:solidFill>
            <a:prstDash val="solid"/>
          </a:ln>
        </p:spPr>
      </p:sp>
      <p:pic>
        <p:nvPicPr>
          <p:cNvPr id="14" name="Image 2" descr="preencoded.png">    </p:cNvPr>
          <p:cNvPicPr>
            <a:picLocks noChangeAspect="1"/>
          </p:cNvPicPr>
          <p:nvPr/>
        </p:nvPicPr>
        <p:blipFill>
          <a:blip r:embed="rId3"/>
          <a:stretch>
            <a:fillRect/>
          </a:stretch>
        </p:blipFill>
        <p:spPr>
          <a:xfrm>
            <a:off x="6579108" y="2039112"/>
            <a:ext cx="310896" cy="310896"/>
          </a:xfrm>
          <a:prstGeom prst="rect">
            <a:avLst/>
          </a:prstGeom>
        </p:spPr>
      </p:pic>
      <p:sp>
        <p:nvSpPr>
          <p:cNvPr id="15" name="Text 10"/>
          <p:cNvSpPr txBox="1"/>
          <p:nvPr/>
        </p:nvSpPr>
        <p:spPr>
          <a:xfrm>
            <a:off x="7146036" y="1892808"/>
            <a:ext cx="4311396"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Mobile imaging</a:t>
            </a:r>
            <a:endParaRPr lang="en-US" sz="1500" dirty="0"/>
          </a:p>
        </p:txBody>
      </p:sp>
      <p:sp>
        <p:nvSpPr>
          <p:cNvPr id="16" name="Text 11"/>
          <p:cNvSpPr txBox="1"/>
          <p:nvPr/>
        </p:nvSpPr>
        <p:spPr>
          <a:xfrm>
            <a:off x="6460236" y="2606040"/>
            <a:ext cx="4951476"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Available for X-ray and some ultrasound. For CT/MRI, plan the facility trip: sedation considerations are the provider's call; transportation, timing, and caregiver presence are yours.</a:t>
            </a:r>
            <a:endParaRPr lang="en-US" sz="1150" dirty="0"/>
          </a:p>
        </p:txBody>
      </p:sp>
      <p:sp>
        <p:nvSpPr>
          <p:cNvPr id="17" name="Shape 12"/>
          <p:cNvSpPr/>
          <p:nvPr/>
        </p:nvSpPr>
        <p:spPr>
          <a:xfrm>
            <a:off x="548640" y="4046220"/>
            <a:ext cx="5408676" cy="2080260"/>
          </a:xfrm>
          <a:prstGeom prst="roundRect">
            <a:avLst>
              <a:gd name="adj" fmla="val 4396"/>
            </a:avLst>
          </a:prstGeom>
          <a:solidFill>
            <a:srgbClr val="EAF1FA"/>
          </a:solidFill>
          <a:ln w="12700">
            <a:solidFill>
              <a:srgbClr val="EAF1FA"/>
            </a:solidFill>
            <a:prstDash val="solid"/>
          </a:ln>
        </p:spPr>
      </p:sp>
      <p:sp>
        <p:nvSpPr>
          <p:cNvPr id="18" name="Shape 13"/>
          <p:cNvSpPr/>
          <p:nvPr/>
        </p:nvSpPr>
        <p:spPr>
          <a:xfrm>
            <a:off x="777240" y="4274820"/>
            <a:ext cx="548640" cy="548640"/>
          </a:xfrm>
          <a:prstGeom prst="ellipse">
            <a:avLst/>
          </a:prstGeom>
          <a:solidFill>
            <a:srgbClr val="FFFFFF"/>
          </a:solidFill>
          <a:ln w="12700">
            <a:solidFill>
              <a:srgbClr val="FFFFFF"/>
            </a:solidFill>
            <a:prstDash val="solid"/>
          </a:ln>
        </p:spPr>
      </p:sp>
      <p:pic>
        <p:nvPicPr>
          <p:cNvPr id="19" name="Image 3" descr="preencoded.png">    </p:cNvPr>
          <p:cNvPicPr>
            <a:picLocks noChangeAspect="1"/>
          </p:cNvPicPr>
          <p:nvPr/>
        </p:nvPicPr>
        <p:blipFill>
          <a:blip r:embed="rId4"/>
          <a:stretch>
            <a:fillRect/>
          </a:stretch>
        </p:blipFill>
        <p:spPr>
          <a:xfrm>
            <a:off x="896112" y="4393692"/>
            <a:ext cx="310896" cy="310896"/>
          </a:xfrm>
          <a:prstGeom prst="rect">
            <a:avLst/>
          </a:prstGeom>
        </p:spPr>
      </p:pic>
      <p:sp>
        <p:nvSpPr>
          <p:cNvPr id="20" name="Text 14"/>
          <p:cNvSpPr txBox="1"/>
          <p:nvPr/>
        </p:nvSpPr>
        <p:spPr>
          <a:xfrm>
            <a:off x="1463040" y="4247388"/>
            <a:ext cx="4311396"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DME</a:t>
            </a:r>
            <a:endParaRPr lang="en-US" sz="1500" dirty="0"/>
          </a:p>
        </p:txBody>
      </p:sp>
      <p:sp>
        <p:nvSpPr>
          <p:cNvPr id="21" name="Text 15"/>
          <p:cNvSpPr txBox="1"/>
          <p:nvPr/>
        </p:nvSpPr>
        <p:spPr>
          <a:xfrm>
            <a:off x="777240" y="4960620"/>
            <a:ext cx="4951476"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Vendors need the order, face-to-face documentation, and sometimes prior authorization. Confirm delivery and setup; verify the family knows how to use it safely.</a:t>
            </a:r>
            <a:endParaRPr lang="en-US" sz="1150" dirty="0"/>
          </a:p>
        </p:txBody>
      </p:sp>
      <p:sp>
        <p:nvSpPr>
          <p:cNvPr id="22" name="Shape 16"/>
          <p:cNvSpPr/>
          <p:nvPr/>
        </p:nvSpPr>
        <p:spPr>
          <a:xfrm>
            <a:off x="6231636" y="4046220"/>
            <a:ext cx="5408676" cy="2080260"/>
          </a:xfrm>
          <a:prstGeom prst="roundRect">
            <a:avLst>
              <a:gd name="adj" fmla="val 4396"/>
            </a:avLst>
          </a:prstGeom>
          <a:solidFill>
            <a:srgbClr val="EEF2E8"/>
          </a:solidFill>
          <a:ln w="12700">
            <a:solidFill>
              <a:srgbClr val="EEF2E8"/>
            </a:solidFill>
            <a:prstDash val="solid"/>
          </a:ln>
        </p:spPr>
      </p:sp>
      <p:sp>
        <p:nvSpPr>
          <p:cNvPr id="23" name="Shape 17"/>
          <p:cNvSpPr/>
          <p:nvPr/>
        </p:nvSpPr>
        <p:spPr>
          <a:xfrm>
            <a:off x="6460236" y="4274820"/>
            <a:ext cx="548640" cy="548640"/>
          </a:xfrm>
          <a:prstGeom prst="ellipse">
            <a:avLst/>
          </a:prstGeom>
          <a:solidFill>
            <a:srgbClr val="FFFFFF"/>
          </a:solidFill>
          <a:ln w="12700">
            <a:solidFill>
              <a:srgbClr val="FFFFFF"/>
            </a:solidFill>
            <a:prstDash val="solid"/>
          </a:ln>
        </p:spPr>
      </p:sp>
      <p:pic>
        <p:nvPicPr>
          <p:cNvPr id="24" name="Image 4" descr="preencoded.png">    </p:cNvPr>
          <p:cNvPicPr>
            <a:picLocks noChangeAspect="1"/>
          </p:cNvPicPr>
          <p:nvPr/>
        </p:nvPicPr>
        <p:blipFill>
          <a:blip r:embed="rId5"/>
          <a:stretch>
            <a:fillRect/>
          </a:stretch>
        </p:blipFill>
        <p:spPr>
          <a:xfrm>
            <a:off x="6579108" y="4393692"/>
            <a:ext cx="310896" cy="310896"/>
          </a:xfrm>
          <a:prstGeom prst="rect">
            <a:avLst/>
          </a:prstGeom>
        </p:spPr>
      </p:pic>
      <p:sp>
        <p:nvSpPr>
          <p:cNvPr id="25" name="Text 18"/>
          <p:cNvSpPr txBox="1"/>
          <p:nvPr/>
        </p:nvSpPr>
        <p:spPr>
          <a:xfrm>
            <a:off x="7146036" y="4247388"/>
            <a:ext cx="4311396"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Home health</a:t>
            </a:r>
            <a:endParaRPr lang="en-US" sz="1500" dirty="0"/>
          </a:p>
        </p:txBody>
      </p:sp>
      <p:sp>
        <p:nvSpPr>
          <p:cNvPr id="26" name="Text 19"/>
          <p:cNvSpPr txBox="1"/>
          <p:nvPr/>
        </p:nvSpPr>
        <p:spPr>
          <a:xfrm>
            <a:off x="6460236" y="4960620"/>
            <a:ext cx="4951476"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Confirm the agency accepted the referral, the start-of-care date, and that the caregiver knows who is coming. Request visit notes back to the chart.</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EQUIPMENT</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The DME workflow</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7 · Orders, Referrals &amp; Results Tracking</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16</a:t>
            </a:r>
            <a:endParaRPr lang="en-US" sz="900" dirty="0"/>
          </a:p>
        </p:txBody>
      </p:sp>
      <p:sp>
        <p:nvSpPr>
          <p:cNvPr id="7" name="Shape 4"/>
          <p:cNvSpPr/>
          <p:nvPr/>
        </p:nvSpPr>
        <p:spPr>
          <a:xfrm>
            <a:off x="548640" y="1737360"/>
            <a:ext cx="2035454" cy="4297680"/>
          </a:xfrm>
          <a:prstGeom prst="roundRect">
            <a:avLst>
              <a:gd name="adj" fmla="val 4492"/>
            </a:avLst>
          </a:prstGeom>
          <a:solidFill>
            <a:srgbClr val="FFFFFF"/>
          </a:solidFill>
          <a:ln w="12700">
            <a:solidFill>
              <a:srgbClr val="D6DEE8"/>
            </a:solidFill>
            <a:prstDash val="solid"/>
          </a:ln>
          <a:effectLst>
            <a:outerShdw sx="100000" sy="100000" kx="0" ky="0" algn="bl" rotWithShape="0" blurRad="76200" dist="25400" dir="5400000">
              <a:srgbClr val="000000">
                <a:alpha val="12000"/>
              </a:srgbClr>
            </a:outerShdw>
          </a:effectLst>
        </p:spPr>
      </p:sp>
      <p:sp>
        <p:nvSpPr>
          <p:cNvPr id="8" name="Shape 5"/>
          <p:cNvSpPr/>
          <p:nvPr/>
        </p:nvSpPr>
        <p:spPr>
          <a:xfrm>
            <a:off x="777240" y="1965960"/>
            <a:ext cx="548640" cy="548640"/>
          </a:xfrm>
          <a:prstGeom prst="ellipse">
            <a:avLst/>
          </a:prstGeom>
          <a:solidFill>
            <a:srgbClr val="1E4A87"/>
          </a:solidFill>
          <a:ln w="12700">
            <a:solidFill>
              <a:srgbClr val="1E4A87"/>
            </a:solidFill>
            <a:prstDash val="solid"/>
          </a:ln>
        </p:spPr>
      </p:sp>
      <p:sp>
        <p:nvSpPr>
          <p:cNvPr id="9" name="Text 6"/>
          <p:cNvSpPr txBox="1"/>
          <p:nvPr/>
        </p:nvSpPr>
        <p:spPr>
          <a:xfrm>
            <a:off x="777240" y="19659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0" name="Text 7"/>
          <p:cNvSpPr txBox="1"/>
          <p:nvPr/>
        </p:nvSpPr>
        <p:spPr>
          <a:xfrm>
            <a:off x="777240" y="2651760"/>
            <a:ext cx="1578254" cy="731520"/>
          </a:xfrm>
          <a:prstGeom prst="rect">
            <a:avLst/>
          </a:prstGeom>
          <a:noFill/>
          <a:ln/>
        </p:spPr>
        <p:txBody>
          <a:bodyPr wrap="square" lIns="0" tIns="0" rIns="0" bIns="0" rtlCol="0" anchor="t"/>
          <a:lstStyle/>
          <a:p>
            <a:pPr indent="0" marL="0">
              <a:buNone/>
            </a:pPr>
            <a:r>
              <a:rPr lang="en-US" sz="1400" b="1" dirty="0">
                <a:solidFill>
                  <a:srgbClr val="1E4A87"/>
                </a:solidFill>
                <a:latin typeface="Calibri" pitchFamily="34" charset="0"/>
                <a:ea typeface="Calibri" pitchFamily="34" charset="-122"/>
                <a:cs typeface="Calibri" pitchFamily="34" charset="-120"/>
              </a:rPr>
              <a:t>Confirm the order and documentation</a:t>
            </a:r>
            <a:endParaRPr lang="en-US" sz="1400" dirty="0"/>
          </a:p>
        </p:txBody>
      </p:sp>
      <p:sp>
        <p:nvSpPr>
          <p:cNvPr id="11" name="Text 8"/>
          <p:cNvSpPr txBox="1"/>
          <p:nvPr/>
        </p:nvSpPr>
        <p:spPr>
          <a:xfrm>
            <a:off x="777240" y="3429000"/>
            <a:ext cx="1578254" cy="237744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The provider's order plus supporting note. Missing documentation is the number-one cause of delay.</a:t>
            </a:r>
            <a:endParaRPr lang="en-US" sz="1150" dirty="0"/>
          </a:p>
        </p:txBody>
      </p:sp>
      <p:sp>
        <p:nvSpPr>
          <p:cNvPr id="12" name="Shape 9"/>
          <p:cNvSpPr/>
          <p:nvPr/>
        </p:nvSpPr>
        <p:spPr>
          <a:xfrm>
            <a:off x="2812694" y="1737360"/>
            <a:ext cx="2035454" cy="4297680"/>
          </a:xfrm>
          <a:prstGeom prst="roundRect">
            <a:avLst>
              <a:gd name="adj" fmla="val 4492"/>
            </a:avLst>
          </a:prstGeom>
          <a:solidFill>
            <a:srgbClr val="FFFFFF"/>
          </a:solidFill>
          <a:ln w="12700">
            <a:solidFill>
              <a:srgbClr val="D6DEE8"/>
            </a:solidFill>
            <a:prstDash val="solid"/>
          </a:ln>
          <a:effectLst>
            <a:outerShdw sx="100000" sy="100000" kx="0" ky="0" algn="bl" rotWithShape="0" blurRad="76200" dist="25400" dir="5400000">
              <a:srgbClr val="000000">
                <a:alpha val="12000"/>
              </a:srgbClr>
            </a:outerShdw>
          </a:effectLst>
        </p:spPr>
      </p:sp>
      <p:sp>
        <p:nvSpPr>
          <p:cNvPr id="13" name="Shape 10"/>
          <p:cNvSpPr/>
          <p:nvPr/>
        </p:nvSpPr>
        <p:spPr>
          <a:xfrm>
            <a:off x="3041294" y="1965960"/>
            <a:ext cx="548640" cy="548640"/>
          </a:xfrm>
          <a:prstGeom prst="ellipse">
            <a:avLst/>
          </a:prstGeom>
          <a:solidFill>
            <a:srgbClr val="1E4A87"/>
          </a:solidFill>
          <a:ln w="12700">
            <a:solidFill>
              <a:srgbClr val="1E4A87"/>
            </a:solidFill>
            <a:prstDash val="solid"/>
          </a:ln>
        </p:spPr>
      </p:sp>
      <p:sp>
        <p:nvSpPr>
          <p:cNvPr id="14" name="Text 11"/>
          <p:cNvSpPr txBox="1"/>
          <p:nvPr/>
        </p:nvSpPr>
        <p:spPr>
          <a:xfrm>
            <a:off x="3041294" y="19659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5" name="Text 12"/>
          <p:cNvSpPr txBox="1"/>
          <p:nvPr/>
        </p:nvSpPr>
        <p:spPr>
          <a:xfrm>
            <a:off x="3041294" y="2651760"/>
            <a:ext cx="1578254" cy="731520"/>
          </a:xfrm>
          <a:prstGeom prst="rect">
            <a:avLst/>
          </a:prstGeom>
          <a:noFill/>
          <a:ln/>
        </p:spPr>
        <p:txBody>
          <a:bodyPr wrap="square" lIns="0" tIns="0" rIns="0" bIns="0" rtlCol="0" anchor="t"/>
          <a:lstStyle/>
          <a:p>
            <a:pPr indent="0" marL="0">
              <a:buNone/>
            </a:pPr>
            <a:r>
              <a:rPr lang="en-US" sz="1400" b="1" dirty="0">
                <a:solidFill>
                  <a:srgbClr val="1E4A87"/>
                </a:solidFill>
                <a:latin typeface="Calibri" pitchFamily="34" charset="0"/>
                <a:ea typeface="Calibri" pitchFamily="34" charset="-122"/>
                <a:cs typeface="Calibri" pitchFamily="34" charset="-120"/>
              </a:rPr>
              <a:t>Pick a vendor</a:t>
            </a:r>
            <a:endParaRPr lang="en-US" sz="1400" dirty="0"/>
          </a:p>
        </p:txBody>
      </p:sp>
      <p:sp>
        <p:nvSpPr>
          <p:cNvPr id="16" name="Text 13"/>
          <p:cNvSpPr txBox="1"/>
          <p:nvPr/>
        </p:nvSpPr>
        <p:spPr>
          <a:xfrm>
            <a:off x="3041294" y="3429000"/>
            <a:ext cx="1578254" cy="237744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In-network, serves the area, reasonable delivery time. Confirm any prior authorization with billing.</a:t>
            </a:r>
            <a:endParaRPr lang="en-US" sz="1150" dirty="0"/>
          </a:p>
        </p:txBody>
      </p:sp>
      <p:sp>
        <p:nvSpPr>
          <p:cNvPr id="17" name="Shape 14"/>
          <p:cNvSpPr/>
          <p:nvPr/>
        </p:nvSpPr>
        <p:spPr>
          <a:xfrm>
            <a:off x="5076749" y="1737360"/>
            <a:ext cx="2035454" cy="4297680"/>
          </a:xfrm>
          <a:prstGeom prst="roundRect">
            <a:avLst>
              <a:gd name="adj" fmla="val 4492"/>
            </a:avLst>
          </a:prstGeom>
          <a:solidFill>
            <a:srgbClr val="FFFFFF"/>
          </a:solidFill>
          <a:ln w="12700">
            <a:solidFill>
              <a:srgbClr val="D6DEE8"/>
            </a:solidFill>
            <a:prstDash val="solid"/>
          </a:ln>
          <a:effectLst>
            <a:outerShdw sx="100000" sy="100000" kx="0" ky="0" algn="bl" rotWithShape="0" blurRad="76200" dist="25400" dir="5400000">
              <a:srgbClr val="000000">
                <a:alpha val="12000"/>
              </a:srgbClr>
            </a:outerShdw>
          </a:effectLst>
        </p:spPr>
      </p:sp>
      <p:sp>
        <p:nvSpPr>
          <p:cNvPr id="18" name="Shape 15"/>
          <p:cNvSpPr/>
          <p:nvPr/>
        </p:nvSpPr>
        <p:spPr>
          <a:xfrm>
            <a:off x="5305349" y="1965960"/>
            <a:ext cx="548640" cy="548640"/>
          </a:xfrm>
          <a:prstGeom prst="ellipse">
            <a:avLst/>
          </a:prstGeom>
          <a:solidFill>
            <a:srgbClr val="1E4A87"/>
          </a:solidFill>
          <a:ln w="12700">
            <a:solidFill>
              <a:srgbClr val="1E4A87"/>
            </a:solidFill>
            <a:prstDash val="solid"/>
          </a:ln>
        </p:spPr>
      </p:sp>
      <p:sp>
        <p:nvSpPr>
          <p:cNvPr id="19" name="Text 16"/>
          <p:cNvSpPr txBox="1"/>
          <p:nvPr/>
        </p:nvSpPr>
        <p:spPr>
          <a:xfrm>
            <a:off x="5305349" y="19659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0" name="Text 17"/>
          <p:cNvSpPr txBox="1"/>
          <p:nvPr/>
        </p:nvSpPr>
        <p:spPr>
          <a:xfrm>
            <a:off x="5305349" y="2651760"/>
            <a:ext cx="1578254" cy="731520"/>
          </a:xfrm>
          <a:prstGeom prst="rect">
            <a:avLst/>
          </a:prstGeom>
          <a:noFill/>
          <a:ln/>
        </p:spPr>
        <p:txBody>
          <a:bodyPr wrap="square" lIns="0" tIns="0" rIns="0" bIns="0" rtlCol="0" anchor="t"/>
          <a:lstStyle/>
          <a:p>
            <a:pPr indent="0" marL="0">
              <a:buNone/>
            </a:pPr>
            <a:r>
              <a:rPr lang="en-US" sz="1400" b="1" dirty="0">
                <a:solidFill>
                  <a:srgbClr val="1E4A87"/>
                </a:solidFill>
                <a:latin typeface="Calibri" pitchFamily="34" charset="0"/>
                <a:ea typeface="Calibri" pitchFamily="34" charset="-122"/>
                <a:cs typeface="Calibri" pitchFamily="34" charset="-120"/>
              </a:rPr>
              <a:t>Send and log</a:t>
            </a:r>
            <a:endParaRPr lang="en-US" sz="1400" dirty="0"/>
          </a:p>
        </p:txBody>
      </p:sp>
      <p:sp>
        <p:nvSpPr>
          <p:cNvPr id="21" name="Text 18"/>
          <p:cNvSpPr txBox="1"/>
          <p:nvPr/>
        </p:nvSpPr>
        <p:spPr>
          <a:xfrm>
            <a:off x="5305349" y="3429000"/>
            <a:ext cx="1578254" cy="237744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Fax or portal submission; record date, vendor, and confirmation number in the order.</a:t>
            </a:r>
            <a:endParaRPr lang="en-US" sz="1150" dirty="0"/>
          </a:p>
        </p:txBody>
      </p:sp>
      <p:sp>
        <p:nvSpPr>
          <p:cNvPr id="22" name="Shape 19"/>
          <p:cNvSpPr/>
          <p:nvPr/>
        </p:nvSpPr>
        <p:spPr>
          <a:xfrm>
            <a:off x="7340803" y="1737360"/>
            <a:ext cx="2035454" cy="4297680"/>
          </a:xfrm>
          <a:prstGeom prst="roundRect">
            <a:avLst>
              <a:gd name="adj" fmla="val 4492"/>
            </a:avLst>
          </a:prstGeom>
          <a:solidFill>
            <a:srgbClr val="FFFFFF"/>
          </a:solidFill>
          <a:ln w="12700">
            <a:solidFill>
              <a:srgbClr val="D6DEE8"/>
            </a:solidFill>
            <a:prstDash val="solid"/>
          </a:ln>
          <a:effectLst>
            <a:outerShdw sx="100000" sy="100000" kx="0" ky="0" algn="bl" rotWithShape="0" blurRad="76200" dist="25400" dir="5400000">
              <a:srgbClr val="000000">
                <a:alpha val="12000"/>
              </a:srgbClr>
            </a:outerShdw>
          </a:effectLst>
        </p:spPr>
      </p:sp>
      <p:sp>
        <p:nvSpPr>
          <p:cNvPr id="23" name="Shape 20"/>
          <p:cNvSpPr/>
          <p:nvPr/>
        </p:nvSpPr>
        <p:spPr>
          <a:xfrm>
            <a:off x="7569403" y="1965960"/>
            <a:ext cx="548640" cy="548640"/>
          </a:xfrm>
          <a:prstGeom prst="ellipse">
            <a:avLst/>
          </a:prstGeom>
          <a:solidFill>
            <a:srgbClr val="1E4A87"/>
          </a:solidFill>
          <a:ln w="12700">
            <a:solidFill>
              <a:srgbClr val="1E4A87"/>
            </a:solidFill>
            <a:prstDash val="solid"/>
          </a:ln>
        </p:spPr>
      </p:sp>
      <p:sp>
        <p:nvSpPr>
          <p:cNvPr id="24" name="Text 21"/>
          <p:cNvSpPr txBox="1"/>
          <p:nvPr/>
        </p:nvSpPr>
        <p:spPr>
          <a:xfrm>
            <a:off x="7569403" y="19659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5" name="Text 22"/>
          <p:cNvSpPr txBox="1"/>
          <p:nvPr/>
        </p:nvSpPr>
        <p:spPr>
          <a:xfrm>
            <a:off x="7569403" y="2651760"/>
            <a:ext cx="1578254" cy="731520"/>
          </a:xfrm>
          <a:prstGeom prst="rect">
            <a:avLst/>
          </a:prstGeom>
          <a:noFill/>
          <a:ln/>
        </p:spPr>
        <p:txBody>
          <a:bodyPr wrap="square" lIns="0" tIns="0" rIns="0" bIns="0" rtlCol="0" anchor="t"/>
          <a:lstStyle/>
          <a:p>
            <a:pPr indent="0" marL="0">
              <a:buNone/>
            </a:pPr>
            <a:r>
              <a:rPr lang="en-US" sz="1400" b="1" dirty="0">
                <a:solidFill>
                  <a:srgbClr val="1E4A87"/>
                </a:solidFill>
                <a:latin typeface="Calibri" pitchFamily="34" charset="0"/>
                <a:ea typeface="Calibri" pitchFamily="34" charset="-122"/>
                <a:cs typeface="Calibri" pitchFamily="34" charset="-120"/>
              </a:rPr>
              <a:t>Confirm delivery</a:t>
            </a:r>
            <a:endParaRPr lang="en-US" sz="1400" dirty="0"/>
          </a:p>
        </p:txBody>
      </p:sp>
      <p:sp>
        <p:nvSpPr>
          <p:cNvPr id="26" name="Text 23"/>
          <p:cNvSpPr txBox="1"/>
          <p:nvPr/>
        </p:nvSpPr>
        <p:spPr>
          <a:xfrm>
            <a:off x="7569403" y="3429000"/>
            <a:ext cx="1578254" cy="237744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Call the caregiver after the delivery date. Is it set up? Do they know how to use it? Any safety concerns?</a:t>
            </a:r>
            <a:endParaRPr lang="en-US" sz="1150" dirty="0"/>
          </a:p>
        </p:txBody>
      </p:sp>
      <p:sp>
        <p:nvSpPr>
          <p:cNvPr id="27" name="Shape 24"/>
          <p:cNvSpPr/>
          <p:nvPr/>
        </p:nvSpPr>
        <p:spPr>
          <a:xfrm>
            <a:off x="9604858" y="1737360"/>
            <a:ext cx="2035454" cy="4297680"/>
          </a:xfrm>
          <a:prstGeom prst="roundRect">
            <a:avLst>
              <a:gd name="adj" fmla="val 4492"/>
            </a:avLst>
          </a:prstGeom>
          <a:solidFill>
            <a:srgbClr val="FFFFFF"/>
          </a:solidFill>
          <a:ln w="12700">
            <a:solidFill>
              <a:srgbClr val="D6DEE8"/>
            </a:solidFill>
            <a:prstDash val="solid"/>
          </a:ln>
          <a:effectLst>
            <a:outerShdw sx="100000" sy="100000" kx="0" ky="0" algn="bl" rotWithShape="0" blurRad="76200" dist="25400" dir="5400000">
              <a:srgbClr val="000000">
                <a:alpha val="12000"/>
              </a:srgbClr>
            </a:outerShdw>
          </a:effectLst>
        </p:spPr>
      </p:sp>
      <p:sp>
        <p:nvSpPr>
          <p:cNvPr id="28" name="Shape 25"/>
          <p:cNvSpPr/>
          <p:nvPr/>
        </p:nvSpPr>
        <p:spPr>
          <a:xfrm>
            <a:off x="9833458" y="1965960"/>
            <a:ext cx="548640" cy="548640"/>
          </a:xfrm>
          <a:prstGeom prst="ellipse">
            <a:avLst/>
          </a:prstGeom>
          <a:solidFill>
            <a:srgbClr val="586C47"/>
          </a:solidFill>
          <a:ln w="12700">
            <a:solidFill>
              <a:srgbClr val="586C47"/>
            </a:solidFill>
            <a:prstDash val="solid"/>
          </a:ln>
        </p:spPr>
      </p:sp>
      <p:sp>
        <p:nvSpPr>
          <p:cNvPr id="29" name="Text 26"/>
          <p:cNvSpPr txBox="1"/>
          <p:nvPr/>
        </p:nvSpPr>
        <p:spPr>
          <a:xfrm>
            <a:off x="9833458" y="19659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0" name="Text 27"/>
          <p:cNvSpPr txBox="1"/>
          <p:nvPr/>
        </p:nvSpPr>
        <p:spPr>
          <a:xfrm>
            <a:off x="9833458" y="2651760"/>
            <a:ext cx="1578254" cy="731520"/>
          </a:xfrm>
          <a:prstGeom prst="rect">
            <a:avLst/>
          </a:prstGeom>
          <a:noFill/>
          <a:ln/>
        </p:spPr>
        <p:txBody>
          <a:bodyPr wrap="square" lIns="0" tIns="0" rIns="0" bIns="0" rtlCol="0" anchor="t"/>
          <a:lstStyle/>
          <a:p>
            <a:pPr indent="0" marL="0">
              <a:buNone/>
            </a:pPr>
            <a:r>
              <a:rPr lang="en-US" sz="1400" b="1" dirty="0">
                <a:solidFill>
                  <a:srgbClr val="1E4A87"/>
                </a:solidFill>
                <a:latin typeface="Calibri" pitchFamily="34" charset="0"/>
                <a:ea typeface="Calibri" pitchFamily="34" charset="-122"/>
                <a:cs typeface="Calibri" pitchFamily="34" charset="-120"/>
              </a:rPr>
              <a:t>Close and update</a:t>
            </a:r>
            <a:endParaRPr lang="en-US" sz="1400" dirty="0"/>
          </a:p>
        </p:txBody>
      </p:sp>
      <p:sp>
        <p:nvSpPr>
          <p:cNvPr id="31" name="Text 28"/>
          <p:cNvSpPr txBox="1"/>
          <p:nvPr/>
        </p:nvSpPr>
        <p:spPr>
          <a:xfrm>
            <a:off x="9833458" y="3429000"/>
            <a:ext cx="1578254" cy="237744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Mark completed; update the care plan safety section if the equipment addresses a problem (e.g., hospital bed for fall risk).</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AF1FA"/>
        </a:solidFill>
      </p:bgPr>
    </p:bg>
    <p:spTree>
      <p:nvGrpSpPr>
        <p:cNvPr id="1" name=""/>
        <p:cNvGrpSpPr/>
        <p:nvPr/>
      </p:nvGrpSpPr>
      <p:grpSpPr>
        <a:xfrm>
          <a:off x="0" y="0"/>
          <a:ext cx="0" cy="0"/>
          <a:chOff x="0" y="0"/>
          <a:chExt cx="0" cy="0"/>
        </a:xfrm>
      </p:grpSpPr>
      <p:sp>
        <p:nvSpPr>
          <p:cNvPr id="2" name="Shape 0"/>
          <p:cNvSpPr/>
          <p:nvPr/>
        </p:nvSpPr>
        <p:spPr>
          <a:xfrm>
            <a:off x="8412480" y="1097280"/>
            <a:ext cx="4572000" cy="4572000"/>
          </a:xfrm>
          <a:prstGeom prst="ellipse">
            <a:avLst/>
          </a:prstGeom>
          <a:solidFill>
            <a:srgbClr val="84ACDF">
              <a:alpha val="35000"/>
            </a:srgbClr>
          </a:solidFill>
          <a:ln w="12700">
            <a:solidFill>
              <a:srgbClr val="84ACDF">
                <a:alpha val="35000"/>
              </a:srgbClr>
            </a:solidFill>
            <a:prstDash val="solid"/>
          </a:ln>
        </p:spPr>
      </p:sp>
      <p:pic>
        <p:nvPicPr>
          <p:cNvPr id="3"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4" name="Text 1"/>
          <p:cNvSpPr txBox="1"/>
          <p:nvPr/>
        </p:nvSpPr>
        <p:spPr>
          <a:xfrm>
            <a:off x="731520" y="2011680"/>
            <a:ext cx="5486400" cy="365760"/>
          </a:xfrm>
          <a:prstGeom prst="rect">
            <a:avLst/>
          </a:prstGeom>
          <a:noFill/>
          <a:ln/>
        </p:spPr>
        <p:txBody>
          <a:bodyPr wrap="square" lIns="0" tIns="0" rIns="0" bIns="0" rtlCol="0" anchor="ctr"/>
          <a:lstStyle/>
          <a:p>
            <a:pPr indent="0" marL="0">
              <a:buNone/>
            </a:pPr>
            <a:r>
              <a:rPr lang="en-US" sz="1400" b="1" spc="300" kern="0" dirty="0">
                <a:solidFill>
                  <a:srgbClr val="586C47"/>
                </a:solidFill>
                <a:latin typeface="Calibri" pitchFamily="34" charset="0"/>
                <a:ea typeface="Calibri" pitchFamily="34" charset="-122"/>
                <a:cs typeface="Calibri" pitchFamily="34" charset="-120"/>
              </a:rPr>
              <a:t>PART 5</a:t>
            </a:r>
            <a:endParaRPr lang="en-US" sz="1400" dirty="0"/>
          </a:p>
        </p:txBody>
      </p:sp>
      <p:sp>
        <p:nvSpPr>
          <p:cNvPr id="5" name="Text 2"/>
          <p:cNvSpPr txBox="1"/>
          <p:nvPr/>
        </p:nvSpPr>
        <p:spPr>
          <a:xfrm>
            <a:off x="731520" y="2423160"/>
            <a:ext cx="7772400" cy="1463040"/>
          </a:xfrm>
          <a:prstGeom prst="rect">
            <a:avLst/>
          </a:prstGeom>
          <a:noFill/>
          <a:ln/>
        </p:spPr>
        <p:txBody>
          <a:bodyPr wrap="square" lIns="0" tIns="0" rIns="0" bIns="0" rtlCol="0" anchor="t"/>
          <a:lstStyle/>
          <a:p>
            <a:pPr indent="0" marL="0">
              <a:buNone/>
            </a:pPr>
            <a:r>
              <a:rPr lang="en-US" sz="4000" b="1" dirty="0">
                <a:solidFill>
                  <a:srgbClr val="1E4A87"/>
                </a:solidFill>
                <a:latin typeface="Cambria" pitchFamily="34" charset="0"/>
                <a:ea typeface="Cambria" pitchFamily="34" charset="-122"/>
                <a:cs typeface="Cambria" pitchFamily="34" charset="-120"/>
              </a:rPr>
              <a:t>Results, outside records, and the open-order worklist</a:t>
            </a:r>
            <a:endParaRPr lang="en-US" sz="4000" dirty="0"/>
          </a:p>
        </p:txBody>
      </p:sp>
      <p:sp>
        <p:nvSpPr>
          <p:cNvPr id="6" name="Text 3"/>
          <p:cNvSpPr txBox="1"/>
          <p:nvPr/>
        </p:nvSpPr>
        <p:spPr>
          <a:xfrm>
            <a:off x="731520" y="3977640"/>
            <a:ext cx="7315200" cy="1097280"/>
          </a:xfrm>
          <a:prstGeom prst="rect">
            <a:avLst/>
          </a:prstGeom>
          <a:noFill/>
          <a:ln/>
        </p:spPr>
        <p:txBody>
          <a:bodyPr wrap="square" lIns="0" tIns="0" rIns="0" bIns="0" rtlCol="0" anchor="ctr"/>
          <a:lstStyle/>
          <a:p>
            <a:pPr indent="0" marL="0">
              <a:buNone/>
            </a:pPr>
            <a:r>
              <a:rPr lang="en-US" sz="1600" dirty="0">
                <a:solidFill>
                  <a:srgbClr val="5B6773"/>
                </a:solidFill>
                <a:latin typeface="Calibri" pitchFamily="34" charset="0"/>
                <a:ea typeface="Calibri" pitchFamily="34" charset="-122"/>
                <a:cs typeface="Calibri" pitchFamily="34" charset="-120"/>
              </a:rPr>
              <a:t>Catching what comes back — and chasing what doesn't.</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RESULTS</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When something comes back</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7 · Orders, Referrals &amp; Results Tracking</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18</a:t>
            </a:r>
            <a:endParaRPr lang="en-US" sz="900" dirty="0"/>
          </a:p>
        </p:txBody>
      </p:sp>
      <p:sp>
        <p:nvSpPr>
          <p:cNvPr id="7" name="Shape 4"/>
          <p:cNvSpPr/>
          <p:nvPr/>
        </p:nvSpPr>
        <p:spPr>
          <a:xfrm>
            <a:off x="548640" y="1691640"/>
            <a:ext cx="5408676" cy="2080260"/>
          </a:xfrm>
          <a:prstGeom prst="roundRect">
            <a:avLst>
              <a:gd name="adj" fmla="val 4396"/>
            </a:avLst>
          </a:prstGeom>
          <a:solidFill>
            <a:srgbClr val="EAF1FA"/>
          </a:solidFill>
          <a:ln w="12700">
            <a:solidFill>
              <a:srgbClr val="EAF1FA"/>
            </a:solidFill>
            <a:prstDash val="solid"/>
          </a:ln>
        </p:spPr>
      </p:sp>
      <p:sp>
        <p:nvSpPr>
          <p:cNvPr id="8" name="Shape 5"/>
          <p:cNvSpPr/>
          <p:nvPr/>
        </p:nvSpPr>
        <p:spPr>
          <a:xfrm>
            <a:off x="777240" y="1920240"/>
            <a:ext cx="548640" cy="548640"/>
          </a:xfrm>
          <a:prstGeom prst="ellipse">
            <a:avLst/>
          </a:prstGeom>
          <a:solidFill>
            <a:srgbClr val="FFFFFF"/>
          </a:solidFill>
          <a:ln w="12700">
            <a:solidFill>
              <a:srgbClr val="FFFFFF"/>
            </a:solidFill>
            <a:prstDash val="solid"/>
          </a:ln>
        </p:spPr>
      </p:sp>
      <p:pic>
        <p:nvPicPr>
          <p:cNvPr id="9" name="Image 1" descr="preencoded.png">    </p:cNvPr>
          <p:cNvPicPr>
            <a:picLocks noChangeAspect="1"/>
          </p:cNvPicPr>
          <p:nvPr/>
        </p:nvPicPr>
        <p:blipFill>
          <a:blip r:embed="rId2"/>
          <a:stretch>
            <a:fillRect/>
          </a:stretch>
        </p:blipFill>
        <p:spPr>
          <a:xfrm>
            <a:off x="896112" y="2039112"/>
            <a:ext cx="310896" cy="310896"/>
          </a:xfrm>
          <a:prstGeom prst="rect">
            <a:avLst/>
          </a:prstGeom>
        </p:spPr>
      </p:pic>
      <p:sp>
        <p:nvSpPr>
          <p:cNvPr id="10" name="Text 6"/>
          <p:cNvSpPr txBox="1"/>
          <p:nvPr/>
        </p:nvSpPr>
        <p:spPr>
          <a:xfrm>
            <a:off x="1463040" y="1892808"/>
            <a:ext cx="4311396"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Electronic results</a:t>
            </a:r>
            <a:endParaRPr lang="en-US" sz="1500" dirty="0"/>
          </a:p>
        </p:txBody>
      </p:sp>
      <p:sp>
        <p:nvSpPr>
          <p:cNvPr id="11" name="Text 7"/>
          <p:cNvSpPr txBox="1"/>
          <p:nvPr/>
        </p:nvSpPr>
        <p:spPr>
          <a:xfrm>
            <a:off x="777240" y="2606040"/>
            <a:ext cx="4951476"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Lab and some imaging results interface to the order and route to the provider's Clinical Inbox. Both the order task and the result task must be closed or they linger in the Lab &amp; Imaging bucket.</a:t>
            </a:r>
            <a:endParaRPr lang="en-US" sz="1150" dirty="0"/>
          </a:p>
        </p:txBody>
      </p:sp>
      <p:sp>
        <p:nvSpPr>
          <p:cNvPr id="12" name="Shape 8"/>
          <p:cNvSpPr/>
          <p:nvPr/>
        </p:nvSpPr>
        <p:spPr>
          <a:xfrm>
            <a:off x="6231636" y="1691640"/>
            <a:ext cx="5408676" cy="2080260"/>
          </a:xfrm>
          <a:prstGeom prst="roundRect">
            <a:avLst>
              <a:gd name="adj" fmla="val 4396"/>
            </a:avLst>
          </a:prstGeom>
          <a:solidFill>
            <a:srgbClr val="EAF1FA"/>
          </a:solidFill>
          <a:ln w="12700">
            <a:solidFill>
              <a:srgbClr val="EAF1FA"/>
            </a:solidFill>
            <a:prstDash val="solid"/>
          </a:ln>
        </p:spPr>
      </p:sp>
      <p:sp>
        <p:nvSpPr>
          <p:cNvPr id="13" name="Shape 9"/>
          <p:cNvSpPr/>
          <p:nvPr/>
        </p:nvSpPr>
        <p:spPr>
          <a:xfrm>
            <a:off x="6460236" y="1920240"/>
            <a:ext cx="548640" cy="548640"/>
          </a:xfrm>
          <a:prstGeom prst="ellipse">
            <a:avLst/>
          </a:prstGeom>
          <a:solidFill>
            <a:srgbClr val="FFFFFF"/>
          </a:solidFill>
          <a:ln w="12700">
            <a:solidFill>
              <a:srgbClr val="FFFFFF"/>
            </a:solidFill>
            <a:prstDash val="solid"/>
          </a:ln>
        </p:spPr>
      </p:sp>
      <p:pic>
        <p:nvPicPr>
          <p:cNvPr id="14" name="Image 2" descr="preencoded.png">    </p:cNvPr>
          <p:cNvPicPr>
            <a:picLocks noChangeAspect="1"/>
          </p:cNvPicPr>
          <p:nvPr/>
        </p:nvPicPr>
        <p:blipFill>
          <a:blip r:embed="rId3"/>
          <a:stretch>
            <a:fillRect/>
          </a:stretch>
        </p:blipFill>
        <p:spPr>
          <a:xfrm>
            <a:off x="6579108" y="2039112"/>
            <a:ext cx="310896" cy="310896"/>
          </a:xfrm>
          <a:prstGeom prst="rect">
            <a:avLst/>
          </a:prstGeom>
        </p:spPr>
      </p:pic>
      <p:sp>
        <p:nvSpPr>
          <p:cNvPr id="15" name="Text 10"/>
          <p:cNvSpPr txBox="1"/>
          <p:nvPr/>
        </p:nvSpPr>
        <p:spPr>
          <a:xfrm>
            <a:off x="7146036" y="1892808"/>
            <a:ext cx="4311396"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Faxed consult notes and outside records</a:t>
            </a:r>
            <a:endParaRPr lang="en-US" sz="1500" dirty="0"/>
          </a:p>
        </p:txBody>
      </p:sp>
      <p:sp>
        <p:nvSpPr>
          <p:cNvPr id="16" name="Text 11"/>
          <p:cNvSpPr txBox="1"/>
          <p:nvPr/>
        </p:nvSpPr>
        <p:spPr>
          <a:xfrm>
            <a:off x="6460236" y="2606040"/>
            <a:ext cx="4951476"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Attach to the patient, classify, link to the referral, summarize, and route (Module 5).</a:t>
            </a:r>
            <a:endParaRPr lang="en-US" sz="1150" dirty="0"/>
          </a:p>
        </p:txBody>
      </p:sp>
      <p:sp>
        <p:nvSpPr>
          <p:cNvPr id="17" name="Shape 12"/>
          <p:cNvSpPr/>
          <p:nvPr/>
        </p:nvSpPr>
        <p:spPr>
          <a:xfrm>
            <a:off x="548640" y="4046220"/>
            <a:ext cx="5408676" cy="2080260"/>
          </a:xfrm>
          <a:prstGeom prst="roundRect">
            <a:avLst>
              <a:gd name="adj" fmla="val 4396"/>
            </a:avLst>
          </a:prstGeom>
          <a:solidFill>
            <a:srgbClr val="EAF1FA"/>
          </a:solidFill>
          <a:ln w="12700">
            <a:solidFill>
              <a:srgbClr val="EAF1FA"/>
            </a:solidFill>
            <a:prstDash val="solid"/>
          </a:ln>
        </p:spPr>
      </p:sp>
      <p:sp>
        <p:nvSpPr>
          <p:cNvPr id="18" name="Shape 13"/>
          <p:cNvSpPr/>
          <p:nvPr/>
        </p:nvSpPr>
        <p:spPr>
          <a:xfrm>
            <a:off x="777240" y="4274820"/>
            <a:ext cx="548640" cy="548640"/>
          </a:xfrm>
          <a:prstGeom prst="ellipse">
            <a:avLst/>
          </a:prstGeom>
          <a:solidFill>
            <a:srgbClr val="FFFFFF"/>
          </a:solidFill>
          <a:ln w="12700">
            <a:solidFill>
              <a:srgbClr val="FFFFFF"/>
            </a:solidFill>
            <a:prstDash val="solid"/>
          </a:ln>
        </p:spPr>
      </p:sp>
      <p:pic>
        <p:nvPicPr>
          <p:cNvPr id="19" name="Image 3" descr="preencoded.png">    </p:cNvPr>
          <p:cNvPicPr>
            <a:picLocks noChangeAspect="1"/>
          </p:cNvPicPr>
          <p:nvPr/>
        </p:nvPicPr>
        <p:blipFill>
          <a:blip r:embed="rId4"/>
          <a:stretch>
            <a:fillRect/>
          </a:stretch>
        </p:blipFill>
        <p:spPr>
          <a:xfrm>
            <a:off x="896112" y="4393692"/>
            <a:ext cx="310896" cy="310896"/>
          </a:xfrm>
          <a:prstGeom prst="rect">
            <a:avLst/>
          </a:prstGeom>
        </p:spPr>
      </p:pic>
      <p:sp>
        <p:nvSpPr>
          <p:cNvPr id="20" name="Text 14"/>
          <p:cNvSpPr txBox="1"/>
          <p:nvPr/>
        </p:nvSpPr>
        <p:spPr>
          <a:xfrm>
            <a:off x="1463040" y="4247388"/>
            <a:ext cx="4311396"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Provider review</a:t>
            </a:r>
            <a:endParaRPr lang="en-US" sz="1500" dirty="0"/>
          </a:p>
        </p:txBody>
      </p:sp>
      <p:sp>
        <p:nvSpPr>
          <p:cNvPr id="21" name="Text 15"/>
          <p:cNvSpPr txBox="1"/>
          <p:nvPr/>
        </p:nvSpPr>
        <p:spPr>
          <a:xfrm>
            <a:off x="777240" y="4960620"/>
            <a:ext cx="4951476"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The provider reviews and signs. Then the recommendation needs an owner: new medication, new referral, care-plan change.</a:t>
            </a:r>
            <a:endParaRPr lang="en-US" sz="1150" dirty="0"/>
          </a:p>
        </p:txBody>
      </p:sp>
      <p:sp>
        <p:nvSpPr>
          <p:cNvPr id="22" name="Shape 16"/>
          <p:cNvSpPr/>
          <p:nvPr/>
        </p:nvSpPr>
        <p:spPr>
          <a:xfrm>
            <a:off x="6231636" y="4046220"/>
            <a:ext cx="5408676" cy="2080260"/>
          </a:xfrm>
          <a:prstGeom prst="roundRect">
            <a:avLst>
              <a:gd name="adj" fmla="val 4396"/>
            </a:avLst>
          </a:prstGeom>
          <a:solidFill>
            <a:srgbClr val="EEF2E8"/>
          </a:solidFill>
          <a:ln w="12700">
            <a:solidFill>
              <a:srgbClr val="EEF2E8"/>
            </a:solidFill>
            <a:prstDash val="solid"/>
          </a:ln>
        </p:spPr>
      </p:sp>
      <p:sp>
        <p:nvSpPr>
          <p:cNvPr id="23" name="Shape 17"/>
          <p:cNvSpPr/>
          <p:nvPr/>
        </p:nvSpPr>
        <p:spPr>
          <a:xfrm>
            <a:off x="6460236" y="4274820"/>
            <a:ext cx="548640" cy="548640"/>
          </a:xfrm>
          <a:prstGeom prst="ellipse">
            <a:avLst/>
          </a:prstGeom>
          <a:solidFill>
            <a:srgbClr val="FFFFFF"/>
          </a:solidFill>
          <a:ln w="12700">
            <a:solidFill>
              <a:srgbClr val="FFFFFF"/>
            </a:solidFill>
            <a:prstDash val="solid"/>
          </a:ln>
        </p:spPr>
      </p:sp>
      <p:pic>
        <p:nvPicPr>
          <p:cNvPr id="24" name="Image 4" descr="preencoded.png">    </p:cNvPr>
          <p:cNvPicPr>
            <a:picLocks noChangeAspect="1"/>
          </p:cNvPicPr>
          <p:nvPr/>
        </p:nvPicPr>
        <p:blipFill>
          <a:blip r:embed="rId5"/>
          <a:stretch>
            <a:fillRect/>
          </a:stretch>
        </p:blipFill>
        <p:spPr>
          <a:xfrm>
            <a:off x="6579108" y="4393692"/>
            <a:ext cx="310896" cy="310896"/>
          </a:xfrm>
          <a:prstGeom prst="rect">
            <a:avLst/>
          </a:prstGeom>
        </p:spPr>
      </p:pic>
      <p:sp>
        <p:nvSpPr>
          <p:cNvPr id="25" name="Text 18"/>
          <p:cNvSpPr txBox="1"/>
          <p:nvPr/>
        </p:nvSpPr>
        <p:spPr>
          <a:xfrm>
            <a:off x="7146036" y="4247388"/>
            <a:ext cx="4311396" cy="594360"/>
          </a:xfrm>
          <a:prstGeom prst="rect">
            <a:avLst/>
          </a:prstGeom>
          <a:noFill/>
          <a:ln/>
        </p:spPr>
        <p:txBody>
          <a:bodyPr wrap="square" lIns="0" tIns="0" rIns="0" bIns="0" rtlCol="0" anchor="ctr"/>
          <a:lstStyle/>
          <a:p>
            <a:pPr indent="0" marL="0">
              <a:buNone/>
            </a:pPr>
            <a:r>
              <a:rPr lang="en-US" sz="1500" b="1" dirty="0">
                <a:solidFill>
                  <a:srgbClr val="1E4A87"/>
                </a:solidFill>
                <a:latin typeface="Calibri" pitchFamily="34" charset="0"/>
                <a:ea typeface="Calibri" pitchFamily="34" charset="-122"/>
                <a:cs typeface="Calibri" pitchFamily="34" charset="-120"/>
              </a:rPr>
              <a:t>Telling the family</a:t>
            </a:r>
            <a:endParaRPr lang="en-US" sz="1500" dirty="0"/>
          </a:p>
        </p:txBody>
      </p:sp>
      <p:sp>
        <p:nvSpPr>
          <p:cNvPr id="26" name="Text 19"/>
          <p:cNvSpPr txBox="1"/>
          <p:nvPr/>
        </p:nvSpPr>
        <p:spPr>
          <a:xfrm>
            <a:off x="6460236" y="4960620"/>
            <a:ext cx="4951476" cy="1028700"/>
          </a:xfrm>
          <a:prstGeom prst="rect">
            <a:avLst/>
          </a:prstGeom>
          <a:noFill/>
          <a:ln/>
        </p:spPr>
        <p:txBody>
          <a:bodyPr wrap="square" lIns="0" tIns="0" rIns="0" bIns="0" rtlCol="0" anchor="t"/>
          <a:lstStyle/>
          <a:p>
            <a:pPr indent="0" marL="0">
              <a:buNone/>
            </a:pPr>
            <a:r>
              <a:rPr lang="en-US" sz="1150" dirty="0">
                <a:solidFill>
                  <a:srgbClr val="1F2933"/>
                </a:solidFill>
                <a:latin typeface="Calibri" pitchFamily="34" charset="0"/>
                <a:ea typeface="Calibri" pitchFamily="34" charset="-122"/>
                <a:cs typeface="Calibri" pitchFamily="34" charset="-120"/>
              </a:rPr>
              <a:t>The provider decides what's communicated clinically. You often make the call: 'Dr. Patel reviewed the neurology note and wants to discuss it at Tuesday's visit.'</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WORKLIST</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Working the open-order worklist</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7 · Orders, Referrals &amp; Results Tracking</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19</a:t>
            </a:r>
            <a:endParaRPr lang="en-US" sz="900" dirty="0"/>
          </a:p>
        </p:txBody>
      </p:sp>
      <p:sp>
        <p:nvSpPr>
          <p:cNvPr id="7" name="Shape 4"/>
          <p:cNvSpPr/>
          <p:nvPr/>
        </p:nvSpPr>
        <p:spPr>
          <a:xfrm>
            <a:off x="548640" y="1719072"/>
            <a:ext cx="347472" cy="347472"/>
          </a:xfrm>
          <a:prstGeom prst="ellipse">
            <a:avLst/>
          </a:prstGeom>
          <a:solidFill>
            <a:srgbClr val="1E4A87"/>
          </a:solidFill>
          <a:ln w="12700">
            <a:solidFill>
              <a:srgbClr val="1E4A87"/>
            </a:solidFill>
            <a:prstDash val="solid"/>
          </a:ln>
        </p:spPr>
      </p:sp>
      <p:sp>
        <p:nvSpPr>
          <p:cNvPr id="8" name="Text 5"/>
          <p:cNvSpPr txBox="1"/>
          <p:nvPr/>
        </p:nvSpPr>
        <p:spPr>
          <a:xfrm>
            <a:off x="548640" y="171907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6"/>
          <p:cNvSpPr txBox="1"/>
          <p:nvPr/>
        </p:nvSpPr>
        <p:spPr>
          <a:xfrm>
            <a:off x="1005840" y="1691640"/>
            <a:ext cx="4754880" cy="777240"/>
          </a:xfrm>
          <a:prstGeom prst="rect">
            <a:avLst/>
          </a:prstGeom>
          <a:noFill/>
          <a:ln/>
        </p:spPr>
        <p:txBody>
          <a:bodyPr wrap="square" lIns="0" tIns="0" rIns="0" bIns="0" rtlCol="0" anchor="t"/>
          <a:lstStyle/>
          <a:p>
            <a:pPr indent="0" marL="0">
              <a:buNone/>
            </a:pPr>
            <a:r>
              <a:rPr lang="en-US" sz="1250" b="1" dirty="0">
                <a:solidFill>
                  <a:srgbClr val="1E4A87"/>
                </a:solidFill>
                <a:latin typeface="Calibri" pitchFamily="34" charset="0"/>
                <a:ea typeface="Calibri" pitchFamily="34" charset="-122"/>
                <a:cs typeface="Calibri" pitchFamily="34" charset="-120"/>
              </a:rPr>
              <a:t>Open the Clinical Inbox Orders and Referrals buckets for your Practice Role. </a:t>
            </a:r>
            <a:pPr indent="0" marL="0">
              <a:buNone/>
            </a:pPr>
            <a:r>
              <a:rPr lang="en-US" sz="1250" dirty="0">
                <a:solidFill>
                  <a:srgbClr val="1F2933"/>
                </a:solidFill>
                <a:latin typeface="Calibri" pitchFamily="34" charset="0"/>
                <a:ea typeface="Calibri" pitchFamily="34" charset="-122"/>
                <a:cs typeface="Calibri" pitchFamily="34" charset="-120"/>
              </a:rPr>
              <a:t>Sort by age, oldest first; a saved Report Library report on open orders by department works for the panel view.</a:t>
            </a:r>
            <a:endParaRPr lang="en-US" sz="1250" dirty="0"/>
          </a:p>
        </p:txBody>
      </p:sp>
      <p:sp>
        <p:nvSpPr>
          <p:cNvPr id="10" name="Shape 7"/>
          <p:cNvSpPr/>
          <p:nvPr/>
        </p:nvSpPr>
        <p:spPr>
          <a:xfrm>
            <a:off x="548640" y="2542032"/>
            <a:ext cx="347472" cy="347472"/>
          </a:xfrm>
          <a:prstGeom prst="ellipse">
            <a:avLst/>
          </a:prstGeom>
          <a:solidFill>
            <a:srgbClr val="1E4A87"/>
          </a:solidFill>
          <a:ln w="12700">
            <a:solidFill>
              <a:srgbClr val="1E4A87"/>
            </a:solidFill>
            <a:prstDash val="solid"/>
          </a:ln>
        </p:spPr>
      </p:sp>
      <p:sp>
        <p:nvSpPr>
          <p:cNvPr id="11" name="Text 8"/>
          <p:cNvSpPr txBox="1"/>
          <p:nvPr/>
        </p:nvSpPr>
        <p:spPr>
          <a:xfrm>
            <a:off x="548640" y="254203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Text 9"/>
          <p:cNvSpPr txBox="1"/>
          <p:nvPr/>
        </p:nvSpPr>
        <p:spPr>
          <a:xfrm>
            <a:off x="1005840" y="2514600"/>
            <a:ext cx="4754880" cy="777240"/>
          </a:xfrm>
          <a:prstGeom prst="rect">
            <a:avLst/>
          </a:prstGeom>
          <a:noFill/>
          <a:ln/>
        </p:spPr>
        <p:txBody>
          <a:bodyPr wrap="square" lIns="0" tIns="0" rIns="0" bIns="0" rtlCol="0" anchor="t"/>
          <a:lstStyle/>
          <a:p>
            <a:pPr indent="0" marL="0">
              <a:buNone/>
            </a:pPr>
            <a:r>
              <a:rPr lang="en-US" sz="1250" b="1" dirty="0">
                <a:solidFill>
                  <a:srgbClr val="1E4A87"/>
                </a:solidFill>
                <a:latin typeface="Calibri" pitchFamily="34" charset="0"/>
                <a:ea typeface="Calibri" pitchFamily="34" charset="-122"/>
                <a:cs typeface="Calibri" pitchFamily="34" charset="-120"/>
              </a:rPr>
              <a:t>For each aged item, determine the blocker. </a:t>
            </a:r>
            <a:pPr indent="0" marL="0">
              <a:buNone/>
            </a:pPr>
            <a:r>
              <a:rPr lang="en-US" sz="1250" dirty="0">
                <a:solidFill>
                  <a:srgbClr val="1F2933"/>
                </a:solidFill>
                <a:latin typeface="Calibri" pitchFamily="34" charset="0"/>
                <a:ea typeface="Calibri" pitchFamily="34" charset="-122"/>
                <a:cs typeface="Calibri" pitchFamily="34" charset="-120"/>
              </a:rPr>
              <a:t>Not scheduled, authorization pending, result not received, documentation missing.</a:t>
            </a:r>
            <a:endParaRPr lang="en-US" sz="1250" dirty="0"/>
          </a:p>
        </p:txBody>
      </p:sp>
      <p:sp>
        <p:nvSpPr>
          <p:cNvPr id="13" name="Shape 10"/>
          <p:cNvSpPr/>
          <p:nvPr/>
        </p:nvSpPr>
        <p:spPr>
          <a:xfrm>
            <a:off x="548640" y="3364992"/>
            <a:ext cx="347472" cy="347472"/>
          </a:xfrm>
          <a:prstGeom prst="ellipse">
            <a:avLst/>
          </a:prstGeom>
          <a:solidFill>
            <a:srgbClr val="1E4A87"/>
          </a:solidFill>
          <a:ln w="12700">
            <a:solidFill>
              <a:srgbClr val="1E4A87"/>
            </a:solidFill>
            <a:prstDash val="solid"/>
          </a:ln>
        </p:spPr>
      </p:sp>
      <p:sp>
        <p:nvSpPr>
          <p:cNvPr id="14" name="Text 11"/>
          <p:cNvSpPr txBox="1"/>
          <p:nvPr/>
        </p:nvSpPr>
        <p:spPr>
          <a:xfrm>
            <a:off x="548640" y="336499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5" name="Text 12"/>
          <p:cNvSpPr txBox="1"/>
          <p:nvPr/>
        </p:nvSpPr>
        <p:spPr>
          <a:xfrm>
            <a:off x="1005840" y="3337560"/>
            <a:ext cx="4754880" cy="777240"/>
          </a:xfrm>
          <a:prstGeom prst="rect">
            <a:avLst/>
          </a:prstGeom>
          <a:noFill/>
          <a:ln/>
        </p:spPr>
        <p:txBody>
          <a:bodyPr wrap="square" lIns="0" tIns="0" rIns="0" bIns="0" rtlCol="0" anchor="t"/>
          <a:lstStyle/>
          <a:p>
            <a:pPr indent="0" marL="0">
              <a:buNone/>
            </a:pPr>
            <a:r>
              <a:rPr lang="en-US" sz="1250" b="1" dirty="0">
                <a:solidFill>
                  <a:srgbClr val="1E4A87"/>
                </a:solidFill>
                <a:latin typeface="Calibri" pitchFamily="34" charset="0"/>
                <a:ea typeface="Calibri" pitchFamily="34" charset="-122"/>
                <a:cs typeface="Calibri" pitchFamily="34" charset="-120"/>
              </a:rPr>
              <a:t>Take the next action and document it. </a:t>
            </a:r>
            <a:pPr indent="0" marL="0">
              <a:buNone/>
            </a:pPr>
            <a:r>
              <a:rPr lang="en-US" sz="1250" dirty="0">
                <a:solidFill>
                  <a:srgbClr val="1F2933"/>
                </a:solidFill>
                <a:latin typeface="Calibri" pitchFamily="34" charset="0"/>
                <a:ea typeface="Calibri" pitchFamily="34" charset="-122"/>
                <a:cs typeface="Calibri" pitchFamily="34" charset="-120"/>
              </a:rPr>
              <a:t>Call the office, chase the record, nudge billing — and note it in the order.</a:t>
            </a:r>
            <a:endParaRPr lang="en-US" sz="1250" dirty="0"/>
          </a:p>
        </p:txBody>
      </p:sp>
      <p:sp>
        <p:nvSpPr>
          <p:cNvPr id="16" name="Shape 13"/>
          <p:cNvSpPr/>
          <p:nvPr/>
        </p:nvSpPr>
        <p:spPr>
          <a:xfrm>
            <a:off x="548640" y="4187952"/>
            <a:ext cx="347472" cy="347472"/>
          </a:xfrm>
          <a:prstGeom prst="ellipse">
            <a:avLst/>
          </a:prstGeom>
          <a:solidFill>
            <a:srgbClr val="1E4A87"/>
          </a:solidFill>
          <a:ln w="12700">
            <a:solidFill>
              <a:srgbClr val="1E4A87"/>
            </a:solidFill>
            <a:prstDash val="solid"/>
          </a:ln>
        </p:spPr>
      </p:sp>
      <p:sp>
        <p:nvSpPr>
          <p:cNvPr id="17" name="Text 14"/>
          <p:cNvSpPr txBox="1"/>
          <p:nvPr/>
        </p:nvSpPr>
        <p:spPr>
          <a:xfrm>
            <a:off x="548640" y="418795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8" name="Text 15"/>
          <p:cNvSpPr txBox="1"/>
          <p:nvPr/>
        </p:nvSpPr>
        <p:spPr>
          <a:xfrm>
            <a:off x="1005840" y="4160520"/>
            <a:ext cx="4754880" cy="777240"/>
          </a:xfrm>
          <a:prstGeom prst="rect">
            <a:avLst/>
          </a:prstGeom>
          <a:noFill/>
          <a:ln/>
        </p:spPr>
        <p:txBody>
          <a:bodyPr wrap="square" lIns="0" tIns="0" rIns="0" bIns="0" rtlCol="0" anchor="t"/>
          <a:lstStyle/>
          <a:p>
            <a:pPr indent="0" marL="0">
              <a:buNone/>
            </a:pPr>
            <a:r>
              <a:rPr lang="en-US" sz="1250" b="1" dirty="0">
                <a:solidFill>
                  <a:srgbClr val="1E4A87"/>
                </a:solidFill>
                <a:latin typeface="Calibri" pitchFamily="34" charset="0"/>
                <a:ea typeface="Calibri" pitchFamily="34" charset="-122"/>
                <a:cs typeface="Calibri" pitchFamily="34" charset="-120"/>
              </a:rPr>
              <a:t>Set the next check date. </a:t>
            </a:r>
            <a:pPr indent="0" marL="0">
              <a:buNone/>
            </a:pPr>
            <a:r>
              <a:rPr lang="en-US" sz="1250" dirty="0">
                <a:solidFill>
                  <a:srgbClr val="1F2933"/>
                </a:solidFill>
                <a:latin typeface="Calibri" pitchFamily="34" charset="0"/>
                <a:ea typeface="Calibri" pitchFamily="34" charset="-122"/>
                <a:cs typeface="Calibri" pitchFamily="34" charset="-120"/>
              </a:rPr>
              <a:t>Nothing leaves the list without a date.</a:t>
            </a:r>
            <a:endParaRPr lang="en-US" sz="1250" dirty="0"/>
          </a:p>
        </p:txBody>
      </p:sp>
      <p:sp>
        <p:nvSpPr>
          <p:cNvPr id="19" name="Shape 16"/>
          <p:cNvSpPr/>
          <p:nvPr/>
        </p:nvSpPr>
        <p:spPr>
          <a:xfrm>
            <a:off x="548640" y="5010912"/>
            <a:ext cx="347472" cy="347472"/>
          </a:xfrm>
          <a:prstGeom prst="ellipse">
            <a:avLst/>
          </a:prstGeom>
          <a:solidFill>
            <a:srgbClr val="1E4A87"/>
          </a:solidFill>
          <a:ln w="12700">
            <a:solidFill>
              <a:srgbClr val="1E4A87"/>
            </a:solidFill>
            <a:prstDash val="solid"/>
          </a:ln>
        </p:spPr>
      </p:sp>
      <p:sp>
        <p:nvSpPr>
          <p:cNvPr id="20" name="Text 17"/>
          <p:cNvSpPr txBox="1"/>
          <p:nvPr/>
        </p:nvSpPr>
        <p:spPr>
          <a:xfrm>
            <a:off x="548640" y="501091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1" name="Text 18"/>
          <p:cNvSpPr txBox="1"/>
          <p:nvPr/>
        </p:nvSpPr>
        <p:spPr>
          <a:xfrm>
            <a:off x="1005840" y="4983480"/>
            <a:ext cx="4754880" cy="777240"/>
          </a:xfrm>
          <a:prstGeom prst="rect">
            <a:avLst/>
          </a:prstGeom>
          <a:noFill/>
          <a:ln/>
        </p:spPr>
        <p:txBody>
          <a:bodyPr wrap="square" lIns="0" tIns="0" rIns="0" bIns="0" rtlCol="0" anchor="t"/>
          <a:lstStyle/>
          <a:p>
            <a:pPr indent="0" marL="0">
              <a:buNone/>
            </a:pPr>
            <a:r>
              <a:rPr lang="en-US" sz="1250" b="1" dirty="0">
                <a:solidFill>
                  <a:srgbClr val="1E4A87"/>
                </a:solidFill>
                <a:latin typeface="Calibri" pitchFamily="34" charset="0"/>
                <a:ea typeface="Calibri" pitchFamily="34" charset="-122"/>
                <a:cs typeface="Calibri" pitchFamily="34" charset="-120"/>
              </a:rPr>
              <a:t>Escalate stalled items. </a:t>
            </a:r>
            <a:pPr indent="0" marL="0">
              <a:buNone/>
            </a:pPr>
            <a:r>
              <a:rPr lang="en-US" sz="1250" dirty="0">
                <a:solidFill>
                  <a:srgbClr val="1F2933"/>
                </a:solidFill>
                <a:latin typeface="Calibri" pitchFamily="34" charset="0"/>
                <a:ea typeface="Calibri" pitchFamily="34" charset="-122"/>
                <a:cs typeface="Calibri" pitchFamily="34" charset="-120"/>
              </a:rPr>
              <a:t>Anything past the program's threshold (e.g., 30 days) with no progress goes to the provider or supervisor.</a:t>
            </a:r>
            <a:endParaRPr lang="en-US" sz="1250" dirty="0"/>
          </a:p>
        </p:txBody>
      </p:sp>
      <p:sp>
        <p:nvSpPr>
          <p:cNvPr id="22" name="Shape 19"/>
          <p:cNvSpPr/>
          <p:nvPr/>
        </p:nvSpPr>
        <p:spPr>
          <a:xfrm>
            <a:off x="6309360" y="1691640"/>
            <a:ext cx="5349240" cy="4480560"/>
          </a:xfrm>
          <a:prstGeom prst="roundRect">
            <a:avLst>
              <a:gd name="adj" fmla="val 1633"/>
            </a:avLst>
          </a:prstGeom>
          <a:solidFill>
            <a:srgbClr val="F7F9FC"/>
          </a:solidFill>
          <a:ln w="12700">
            <a:solidFill>
              <a:srgbClr val="D6DEE8"/>
            </a:solidFill>
            <a:prstDash val="solid"/>
          </a:ln>
          <a:effectLst>
            <a:outerShdw sx="100000" sy="100000" kx="0" ky="0" algn="bl" rotWithShape="0" blurRad="76200" dist="25400" dir="5400000">
              <a:srgbClr val="000000">
                <a:alpha val="12000"/>
              </a:srgbClr>
            </a:outerShdw>
          </a:effectLst>
        </p:spPr>
      </p:sp>
      <p:sp>
        <p:nvSpPr>
          <p:cNvPr id="23" name="Shape 20"/>
          <p:cNvSpPr/>
          <p:nvPr/>
        </p:nvSpPr>
        <p:spPr>
          <a:xfrm>
            <a:off x="6309360" y="1691640"/>
            <a:ext cx="5349240" cy="411480"/>
          </a:xfrm>
          <a:prstGeom prst="rect">
            <a:avLst/>
          </a:prstGeom>
          <a:solidFill>
            <a:srgbClr val="1E4A87"/>
          </a:solidFill>
          <a:ln w="12700">
            <a:solidFill>
              <a:srgbClr val="1E4A87"/>
            </a:solidFill>
            <a:prstDash val="solid"/>
          </a:ln>
        </p:spPr>
      </p:sp>
      <p:sp>
        <p:nvSpPr>
          <p:cNvPr id="24" name="Text 21"/>
          <p:cNvSpPr txBox="1"/>
          <p:nvPr/>
        </p:nvSpPr>
        <p:spPr>
          <a:xfrm>
            <a:off x="6492240" y="1691640"/>
            <a:ext cx="4983480" cy="41148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Clinical Inbox · Orders / Referrals · oldest first</a:t>
            </a:r>
            <a:endParaRPr lang="en-US" sz="1100" dirty="0"/>
          </a:p>
        </p:txBody>
      </p:sp>
      <p:sp>
        <p:nvSpPr>
          <p:cNvPr id="25" name="Text 22"/>
          <p:cNvSpPr txBox="1"/>
          <p:nvPr/>
        </p:nvSpPr>
        <p:spPr>
          <a:xfrm>
            <a:off x="6492240" y="1691640"/>
            <a:ext cx="4983480" cy="411480"/>
          </a:xfrm>
          <a:prstGeom prst="rect">
            <a:avLst/>
          </a:prstGeom>
          <a:noFill/>
          <a:ln/>
        </p:spPr>
        <p:txBody>
          <a:bodyPr wrap="square" lIns="0" tIns="0" rIns="0" bIns="0" rtlCol="0" anchor="ctr"/>
          <a:lstStyle/>
          <a:p>
            <a:pPr algn="r" indent="0" marL="0">
              <a:buNone/>
            </a:pPr>
            <a:r>
              <a:rPr lang="en-US" sz="800" dirty="0">
                <a:solidFill>
                  <a:srgbClr val="84ACDF"/>
                </a:solidFill>
                <a:latin typeface="Calibri" pitchFamily="34" charset="0"/>
                <a:ea typeface="Calibri" pitchFamily="34" charset="-122"/>
                <a:cs typeface="Calibri" pitchFamily="34" charset="-120"/>
              </a:rPr>
              <a:t>athenaOne · illustrative screen</a:t>
            </a:r>
            <a:endParaRPr lang="en-US" sz="800" dirty="0"/>
          </a:p>
        </p:txBody>
      </p:sp>
      <p:sp>
        <p:nvSpPr>
          <p:cNvPr id="26" name="Text 23"/>
          <p:cNvSpPr txBox="1"/>
          <p:nvPr/>
        </p:nvSpPr>
        <p:spPr>
          <a:xfrm>
            <a:off x="6537960" y="2286000"/>
            <a:ext cx="1737360" cy="310896"/>
          </a:xfrm>
          <a:prstGeom prst="rect">
            <a:avLst/>
          </a:prstGeom>
          <a:noFill/>
          <a:ln/>
        </p:spPr>
        <p:txBody>
          <a:bodyPr wrap="square" lIns="0" tIns="0" rIns="0" bIns="0" rtlCol="0" anchor="ctr"/>
          <a:lstStyle/>
          <a:p>
            <a:pPr indent="0" marL="0">
              <a:buNone/>
            </a:pPr>
            <a:r>
              <a:rPr lang="en-US" sz="1000" dirty="0">
                <a:solidFill>
                  <a:srgbClr val="5B6773"/>
                </a:solidFill>
                <a:latin typeface="Calibri" pitchFamily="34" charset="0"/>
                <a:ea typeface="Calibri" pitchFamily="34" charset="-122"/>
                <a:cs typeface="Calibri" pitchFamily="34" charset="-120"/>
              </a:rPr>
              <a:t>22 d</a:t>
            </a:r>
            <a:endParaRPr lang="en-US" sz="1000" dirty="0"/>
          </a:p>
        </p:txBody>
      </p:sp>
      <p:sp>
        <p:nvSpPr>
          <p:cNvPr id="27" name="Shape 24"/>
          <p:cNvSpPr/>
          <p:nvPr/>
        </p:nvSpPr>
        <p:spPr>
          <a:xfrm>
            <a:off x="8275320" y="2304288"/>
            <a:ext cx="3108960" cy="274320"/>
          </a:xfrm>
          <a:prstGeom prst="rect">
            <a:avLst/>
          </a:prstGeom>
          <a:solidFill>
            <a:srgbClr val="FFF6D6"/>
          </a:solidFill>
          <a:ln w="15875">
            <a:solidFill>
              <a:srgbClr val="F1C232"/>
            </a:solidFill>
            <a:prstDash val="solid"/>
          </a:ln>
        </p:spPr>
      </p:sp>
      <p:sp>
        <p:nvSpPr>
          <p:cNvPr id="28" name="Text 25"/>
          <p:cNvSpPr txBox="1"/>
          <p:nvPr/>
        </p:nvSpPr>
        <p:spPr>
          <a:xfrm>
            <a:off x="8366760" y="2304288"/>
            <a:ext cx="2971800" cy="274320"/>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Doe, J · Neurology referral · not scheduled → called office; appt 10/14</a:t>
            </a:r>
            <a:endParaRPr lang="en-US" sz="1000" dirty="0"/>
          </a:p>
        </p:txBody>
      </p:sp>
      <p:sp>
        <p:nvSpPr>
          <p:cNvPr id="29" name="Text 26"/>
          <p:cNvSpPr txBox="1"/>
          <p:nvPr/>
        </p:nvSpPr>
        <p:spPr>
          <a:xfrm>
            <a:off x="6537960" y="2651760"/>
            <a:ext cx="1737360" cy="310896"/>
          </a:xfrm>
          <a:prstGeom prst="rect">
            <a:avLst/>
          </a:prstGeom>
          <a:noFill/>
          <a:ln/>
        </p:spPr>
        <p:txBody>
          <a:bodyPr wrap="square" lIns="0" tIns="0" rIns="0" bIns="0" rtlCol="0" anchor="ctr"/>
          <a:lstStyle/>
          <a:p>
            <a:pPr indent="0" marL="0">
              <a:buNone/>
            </a:pPr>
            <a:r>
              <a:rPr lang="en-US" sz="1000" dirty="0">
                <a:solidFill>
                  <a:srgbClr val="5B6773"/>
                </a:solidFill>
                <a:latin typeface="Calibri" pitchFamily="34" charset="0"/>
                <a:ea typeface="Calibri" pitchFamily="34" charset="-122"/>
                <a:cs typeface="Calibri" pitchFamily="34" charset="-120"/>
              </a:rPr>
              <a:t>9 d</a:t>
            </a:r>
            <a:endParaRPr lang="en-US" sz="1000" dirty="0"/>
          </a:p>
        </p:txBody>
      </p:sp>
      <p:sp>
        <p:nvSpPr>
          <p:cNvPr id="30" name="Shape 27"/>
          <p:cNvSpPr/>
          <p:nvPr/>
        </p:nvSpPr>
        <p:spPr>
          <a:xfrm>
            <a:off x="8275320" y="2670048"/>
            <a:ext cx="3108960" cy="274320"/>
          </a:xfrm>
          <a:prstGeom prst="rect">
            <a:avLst/>
          </a:prstGeom>
          <a:solidFill>
            <a:srgbClr val="FFFFFF"/>
          </a:solidFill>
          <a:ln w="9525">
            <a:solidFill>
              <a:srgbClr val="D6DEE8"/>
            </a:solidFill>
            <a:prstDash val="solid"/>
          </a:ln>
        </p:spPr>
      </p:sp>
      <p:sp>
        <p:nvSpPr>
          <p:cNvPr id="31" name="Text 28"/>
          <p:cNvSpPr txBox="1"/>
          <p:nvPr/>
        </p:nvSpPr>
        <p:spPr>
          <a:xfrm>
            <a:off x="8366760" y="2670048"/>
            <a:ext cx="2971800" cy="274320"/>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Alvarez, R · Wound care consult note · requested 9/22 → re-request</a:t>
            </a:r>
            <a:endParaRPr lang="en-US" sz="1000" dirty="0"/>
          </a:p>
        </p:txBody>
      </p:sp>
      <p:sp>
        <p:nvSpPr>
          <p:cNvPr id="32" name="Text 29"/>
          <p:cNvSpPr txBox="1"/>
          <p:nvPr/>
        </p:nvSpPr>
        <p:spPr>
          <a:xfrm>
            <a:off x="6537960" y="3017520"/>
            <a:ext cx="1737360" cy="310896"/>
          </a:xfrm>
          <a:prstGeom prst="rect">
            <a:avLst/>
          </a:prstGeom>
          <a:noFill/>
          <a:ln/>
        </p:spPr>
        <p:txBody>
          <a:bodyPr wrap="square" lIns="0" tIns="0" rIns="0" bIns="0" rtlCol="0" anchor="ctr"/>
          <a:lstStyle/>
          <a:p>
            <a:pPr indent="0" marL="0">
              <a:buNone/>
            </a:pPr>
            <a:r>
              <a:rPr lang="en-US" sz="1000" dirty="0">
                <a:solidFill>
                  <a:srgbClr val="5B6773"/>
                </a:solidFill>
                <a:latin typeface="Calibri" pitchFamily="34" charset="0"/>
                <a:ea typeface="Calibri" pitchFamily="34" charset="-122"/>
                <a:cs typeface="Calibri" pitchFamily="34" charset="-120"/>
              </a:rPr>
              <a:t>6 d</a:t>
            </a:r>
            <a:endParaRPr lang="en-US" sz="1000" dirty="0"/>
          </a:p>
        </p:txBody>
      </p:sp>
      <p:sp>
        <p:nvSpPr>
          <p:cNvPr id="33" name="Shape 30"/>
          <p:cNvSpPr/>
          <p:nvPr/>
        </p:nvSpPr>
        <p:spPr>
          <a:xfrm>
            <a:off x="8275320" y="3035808"/>
            <a:ext cx="3108960" cy="274320"/>
          </a:xfrm>
          <a:prstGeom prst="rect">
            <a:avLst/>
          </a:prstGeom>
          <a:solidFill>
            <a:srgbClr val="FFFFFF"/>
          </a:solidFill>
          <a:ln w="9525">
            <a:solidFill>
              <a:srgbClr val="D6DEE8"/>
            </a:solidFill>
            <a:prstDash val="solid"/>
          </a:ln>
        </p:spPr>
      </p:sp>
      <p:sp>
        <p:nvSpPr>
          <p:cNvPr id="34" name="Text 31"/>
          <p:cNvSpPr txBox="1"/>
          <p:nvPr/>
        </p:nvSpPr>
        <p:spPr>
          <a:xfrm>
            <a:off x="8366760" y="3035808"/>
            <a:ext cx="2971800" cy="274320"/>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Mehta, A · Hospital bed · docs sent 9/20 → confirm delivery 9/26</a:t>
            </a:r>
            <a:endParaRPr lang="en-US" sz="1000" dirty="0"/>
          </a:p>
        </p:txBody>
      </p:sp>
      <p:sp>
        <p:nvSpPr>
          <p:cNvPr id="35" name="Text 32"/>
          <p:cNvSpPr txBox="1"/>
          <p:nvPr/>
        </p:nvSpPr>
        <p:spPr>
          <a:xfrm>
            <a:off x="6537960" y="3383280"/>
            <a:ext cx="1737360" cy="310896"/>
          </a:xfrm>
          <a:prstGeom prst="rect">
            <a:avLst/>
          </a:prstGeom>
          <a:noFill/>
          <a:ln/>
        </p:spPr>
        <p:txBody>
          <a:bodyPr wrap="square" lIns="0" tIns="0" rIns="0" bIns="0" rtlCol="0" anchor="ctr"/>
          <a:lstStyle/>
          <a:p>
            <a:pPr indent="0" marL="0">
              <a:buNone/>
            </a:pPr>
            <a:r>
              <a:rPr lang="en-US" sz="1000" dirty="0">
                <a:solidFill>
                  <a:srgbClr val="5B6773"/>
                </a:solidFill>
                <a:latin typeface="Calibri" pitchFamily="34" charset="0"/>
                <a:ea typeface="Calibri" pitchFamily="34" charset="-122"/>
                <a:cs typeface="Calibri" pitchFamily="34" charset="-120"/>
              </a:rPr>
              <a:t>4 d</a:t>
            </a:r>
            <a:endParaRPr lang="en-US" sz="1000" dirty="0"/>
          </a:p>
        </p:txBody>
      </p:sp>
      <p:sp>
        <p:nvSpPr>
          <p:cNvPr id="36" name="Shape 33"/>
          <p:cNvSpPr/>
          <p:nvPr/>
        </p:nvSpPr>
        <p:spPr>
          <a:xfrm>
            <a:off x="8275320" y="3401568"/>
            <a:ext cx="3108960" cy="274320"/>
          </a:xfrm>
          <a:prstGeom prst="rect">
            <a:avLst/>
          </a:prstGeom>
          <a:solidFill>
            <a:srgbClr val="FFFFFF"/>
          </a:solidFill>
          <a:ln w="9525">
            <a:solidFill>
              <a:srgbClr val="D6DEE8"/>
            </a:solidFill>
            <a:prstDash val="solid"/>
          </a:ln>
        </p:spPr>
      </p:sp>
      <p:sp>
        <p:nvSpPr>
          <p:cNvPr id="37" name="Text 34"/>
          <p:cNvSpPr txBox="1"/>
          <p:nvPr/>
        </p:nvSpPr>
        <p:spPr>
          <a:xfrm>
            <a:off x="8366760" y="3401568"/>
            <a:ext cx="2971800" cy="274320"/>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Simmons, G · CBC/CMP · drawn 9/23 → result due; watch queue</a:t>
            </a:r>
            <a:endParaRPr lang="en-US" sz="1000" dirty="0"/>
          </a:p>
        </p:txBody>
      </p:sp>
      <p:sp>
        <p:nvSpPr>
          <p:cNvPr id="38" name="Text 35"/>
          <p:cNvSpPr txBox="1"/>
          <p:nvPr/>
        </p:nvSpPr>
        <p:spPr>
          <a:xfrm>
            <a:off x="6537960" y="3749040"/>
            <a:ext cx="1737360" cy="310896"/>
          </a:xfrm>
          <a:prstGeom prst="rect">
            <a:avLst/>
          </a:prstGeom>
          <a:noFill/>
          <a:ln/>
        </p:spPr>
        <p:txBody>
          <a:bodyPr wrap="square" lIns="0" tIns="0" rIns="0" bIns="0" rtlCol="0" anchor="ctr"/>
          <a:lstStyle/>
          <a:p>
            <a:pPr indent="0" marL="0">
              <a:buNone/>
            </a:pPr>
            <a:r>
              <a:rPr lang="en-US" sz="1000" dirty="0">
                <a:solidFill>
                  <a:srgbClr val="5B6773"/>
                </a:solidFill>
                <a:latin typeface="Calibri" pitchFamily="34" charset="0"/>
                <a:ea typeface="Calibri" pitchFamily="34" charset="-122"/>
                <a:cs typeface="Calibri" pitchFamily="34" charset="-120"/>
              </a:rPr>
              <a:t>2 d</a:t>
            </a:r>
            <a:endParaRPr lang="en-US" sz="1000" dirty="0"/>
          </a:p>
        </p:txBody>
      </p:sp>
      <p:sp>
        <p:nvSpPr>
          <p:cNvPr id="39" name="Shape 36"/>
          <p:cNvSpPr/>
          <p:nvPr/>
        </p:nvSpPr>
        <p:spPr>
          <a:xfrm>
            <a:off x="8275320" y="3767328"/>
            <a:ext cx="3108960" cy="274320"/>
          </a:xfrm>
          <a:prstGeom prst="rect">
            <a:avLst/>
          </a:prstGeom>
          <a:solidFill>
            <a:srgbClr val="FFF6D6"/>
          </a:solidFill>
          <a:ln w="15875">
            <a:solidFill>
              <a:srgbClr val="F1C232"/>
            </a:solidFill>
            <a:prstDash val="solid"/>
          </a:ln>
        </p:spPr>
      </p:sp>
      <p:sp>
        <p:nvSpPr>
          <p:cNvPr id="40" name="Text 37"/>
          <p:cNvSpPr txBox="1"/>
          <p:nvPr/>
        </p:nvSpPr>
        <p:spPr>
          <a:xfrm>
            <a:off x="8366760" y="3767328"/>
            <a:ext cx="2971800" cy="274320"/>
          </a:xfrm>
          <a:prstGeom prst="rect">
            <a:avLst/>
          </a:prstGeom>
          <a:noFill/>
          <a:ln/>
        </p:spPr>
        <p:txBody>
          <a:bodyPr wrap="square" lIns="0" tIns="0" rIns="0" bIns="0" rtlCol="0" anchor="ctr"/>
          <a:lstStyle/>
          <a:p>
            <a:pPr indent="0" marL="0">
              <a:buNone/>
            </a:pPr>
            <a:r>
              <a:rPr lang="en-US" sz="1000" dirty="0">
                <a:solidFill>
                  <a:srgbClr val="1F2933"/>
                </a:solidFill>
                <a:latin typeface="Calibri" pitchFamily="34" charset="0"/>
                <a:ea typeface="Calibri" pitchFamily="34" charset="-122"/>
                <a:cs typeface="Calibri" pitchFamily="34" charset="-120"/>
              </a:rPr>
              <a:t>Lee, M · Home health PT · accepted → confirm SOC date</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TIPS &amp; PITFALLS</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Worklists and results</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7 · Orders, Referrals &amp; Results Tracking</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20</a:t>
            </a:r>
            <a:endParaRPr lang="en-US" sz="900" dirty="0"/>
          </a:p>
        </p:txBody>
      </p:sp>
      <p:sp>
        <p:nvSpPr>
          <p:cNvPr id="7" name="Shape 4"/>
          <p:cNvSpPr/>
          <p:nvPr/>
        </p:nvSpPr>
        <p:spPr>
          <a:xfrm>
            <a:off x="548640" y="1691640"/>
            <a:ext cx="5394960" cy="4434840"/>
          </a:xfrm>
          <a:prstGeom prst="roundRect">
            <a:avLst>
              <a:gd name="adj" fmla="val 2062"/>
            </a:avLst>
          </a:prstGeom>
          <a:solidFill>
            <a:srgbClr val="EEF2E8"/>
          </a:solidFill>
          <a:ln w="12700">
            <a:solidFill>
              <a:srgbClr val="EEF2E8"/>
            </a:solidFill>
            <a:prstDash val="solid"/>
          </a:ln>
        </p:spPr>
      </p:sp>
      <p:pic>
        <p:nvPicPr>
          <p:cNvPr id="8" name="Image 1" descr="preencoded.png">    </p:cNvPr>
          <p:cNvPicPr>
            <a:picLocks noChangeAspect="1"/>
          </p:cNvPicPr>
          <p:nvPr/>
        </p:nvPicPr>
        <p:blipFill>
          <a:blip r:embed="rId2"/>
          <a:stretch>
            <a:fillRect/>
          </a:stretch>
        </p:blipFill>
        <p:spPr>
          <a:xfrm>
            <a:off x="822960" y="1965960"/>
            <a:ext cx="411480" cy="411480"/>
          </a:xfrm>
          <a:prstGeom prst="rect">
            <a:avLst/>
          </a:prstGeom>
        </p:spPr>
      </p:pic>
      <p:sp>
        <p:nvSpPr>
          <p:cNvPr id="9" name="Text 5"/>
          <p:cNvSpPr txBox="1"/>
          <p:nvPr/>
        </p:nvSpPr>
        <p:spPr>
          <a:xfrm>
            <a:off x="1371600" y="1920240"/>
            <a:ext cx="4389120" cy="502920"/>
          </a:xfrm>
          <a:prstGeom prst="rect">
            <a:avLst/>
          </a:prstGeom>
          <a:noFill/>
          <a:ln/>
        </p:spPr>
        <p:txBody>
          <a:bodyPr wrap="square" lIns="0" tIns="0" rIns="0" bIns="0" rtlCol="0" anchor="ctr"/>
          <a:lstStyle/>
          <a:p>
            <a:pPr indent="0" marL="0">
              <a:buNone/>
            </a:pPr>
            <a:r>
              <a:rPr lang="en-US" sz="2000" b="1" dirty="0">
                <a:solidFill>
                  <a:srgbClr val="586C47"/>
                </a:solidFill>
                <a:latin typeface="Cambria" pitchFamily="34" charset="0"/>
                <a:ea typeface="Cambria" pitchFamily="34" charset="-122"/>
                <a:cs typeface="Cambria" pitchFamily="34" charset="-120"/>
              </a:rPr>
              <a:t>Do this</a:t>
            </a:r>
            <a:endParaRPr lang="en-US" sz="2000" dirty="0"/>
          </a:p>
        </p:txBody>
      </p:sp>
      <p:sp>
        <p:nvSpPr>
          <p:cNvPr id="10" name="Text 6"/>
          <p:cNvSpPr txBox="1"/>
          <p:nvPr/>
        </p:nvSpPr>
        <p:spPr>
          <a:xfrm>
            <a:off x="822960" y="2606040"/>
            <a:ext cx="4846320" cy="3337560"/>
          </a:xfrm>
          <a:prstGeom prst="rect">
            <a:avLst/>
          </a:prstGeom>
          <a:noFill/>
          <a:ln/>
        </p:spPr>
        <p:txBody>
          <a:bodyPr wrap="square" lIns="0" tIns="0" rIns="0" bIns="0" rtlCol="0" anchor="t"/>
          <a:lstStyle/>
          <a:p>
            <a:pPr marL="203200" indent="-2032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Work the worklist on a fixed schedule — twice a week minimum — and log every touch.</a:t>
            </a:r>
            <a:endParaRPr lang="en-US" sz="1250" dirty="0"/>
          </a:p>
          <a:p>
            <a:pPr marL="203200" indent="-2032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Chase results at 7 days for labs and 7 days after the specialist visit for notes.</a:t>
            </a:r>
            <a:endParaRPr lang="en-US" sz="1250" dirty="0"/>
          </a:p>
          <a:p>
            <a:pPr marL="203200" indent="-2032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When a recommendation in a consult note isn't acted on, ask the provider; don't assume it was declined.</a:t>
            </a:r>
            <a:endParaRPr lang="en-US" sz="1250" dirty="0"/>
          </a:p>
          <a:p>
            <a:pPr marL="203200" indent="-2032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Match unmatched results in the Lab &amp; Imaging bucket promptly; unmatched results are invisible to the provider.</a:t>
            </a:r>
            <a:endParaRPr lang="en-US" sz="1250" dirty="0"/>
          </a:p>
        </p:txBody>
      </p:sp>
      <p:sp>
        <p:nvSpPr>
          <p:cNvPr id="11" name="Shape 7"/>
          <p:cNvSpPr/>
          <p:nvPr/>
        </p:nvSpPr>
        <p:spPr>
          <a:xfrm>
            <a:off x="6245352" y="1691640"/>
            <a:ext cx="5394960" cy="4434840"/>
          </a:xfrm>
          <a:prstGeom prst="roundRect">
            <a:avLst>
              <a:gd name="adj" fmla="val 2062"/>
            </a:avLst>
          </a:prstGeom>
          <a:solidFill>
            <a:srgbClr val="FBEDEA"/>
          </a:solidFill>
          <a:ln w="12700">
            <a:solidFill>
              <a:srgbClr val="FBEDEA"/>
            </a:solidFill>
            <a:prstDash val="solid"/>
          </a:ln>
        </p:spPr>
      </p:sp>
      <p:pic>
        <p:nvPicPr>
          <p:cNvPr id="12" name="Image 2" descr="preencoded.png">    </p:cNvPr>
          <p:cNvPicPr>
            <a:picLocks noChangeAspect="1"/>
          </p:cNvPicPr>
          <p:nvPr/>
        </p:nvPicPr>
        <p:blipFill>
          <a:blip r:embed="rId3"/>
          <a:stretch>
            <a:fillRect/>
          </a:stretch>
        </p:blipFill>
        <p:spPr>
          <a:xfrm>
            <a:off x="6519672" y="1965960"/>
            <a:ext cx="411480" cy="411480"/>
          </a:xfrm>
          <a:prstGeom prst="rect">
            <a:avLst/>
          </a:prstGeom>
        </p:spPr>
      </p:pic>
      <p:sp>
        <p:nvSpPr>
          <p:cNvPr id="13" name="Text 8"/>
          <p:cNvSpPr txBox="1"/>
          <p:nvPr/>
        </p:nvSpPr>
        <p:spPr>
          <a:xfrm>
            <a:off x="7068312" y="1920240"/>
            <a:ext cx="4389120" cy="502920"/>
          </a:xfrm>
          <a:prstGeom prst="rect">
            <a:avLst/>
          </a:prstGeom>
          <a:noFill/>
          <a:ln/>
        </p:spPr>
        <p:txBody>
          <a:bodyPr wrap="square" lIns="0" tIns="0" rIns="0" bIns="0" rtlCol="0" anchor="ctr"/>
          <a:lstStyle/>
          <a:p>
            <a:pPr indent="0" marL="0">
              <a:buNone/>
            </a:pPr>
            <a:r>
              <a:rPr lang="en-US" sz="2000" b="1" dirty="0">
                <a:solidFill>
                  <a:srgbClr val="A33A2B"/>
                </a:solidFill>
                <a:latin typeface="Cambria" pitchFamily="34" charset="0"/>
                <a:ea typeface="Cambria" pitchFamily="34" charset="-122"/>
                <a:cs typeface="Cambria" pitchFamily="34" charset="-120"/>
              </a:rPr>
              <a:t>Watch out for</a:t>
            </a:r>
            <a:endParaRPr lang="en-US" sz="2000" dirty="0"/>
          </a:p>
        </p:txBody>
      </p:sp>
      <p:sp>
        <p:nvSpPr>
          <p:cNvPr id="14" name="Text 9"/>
          <p:cNvSpPr txBox="1"/>
          <p:nvPr/>
        </p:nvSpPr>
        <p:spPr>
          <a:xfrm>
            <a:off x="6519672" y="2606040"/>
            <a:ext cx="4846320" cy="3337560"/>
          </a:xfrm>
          <a:prstGeom prst="rect">
            <a:avLst/>
          </a:prstGeom>
          <a:noFill/>
          <a:ln/>
        </p:spPr>
        <p:txBody>
          <a:bodyPr wrap="square" lIns="0" tIns="0" rIns="0" bIns="0" rtlCol="0" anchor="t"/>
          <a:lstStyle/>
          <a:p>
            <a:pPr marL="203200" indent="-2032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Letting items sit because 'the office said they'd call'.</a:t>
            </a:r>
            <a:endParaRPr lang="en-US" sz="1250" dirty="0"/>
          </a:p>
          <a:p>
            <a:pPr marL="203200" indent="-2032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Closing an order when the result is received but before the provider reviewed it.</a:t>
            </a:r>
            <a:endParaRPr lang="en-US" sz="1250" dirty="0"/>
          </a:p>
          <a:p>
            <a:pPr marL="203200" indent="-2032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Communicating clinical results to families before the provider has reviewed them.</a:t>
            </a:r>
            <a:endParaRPr lang="en-US" sz="1250" dirty="0"/>
          </a:p>
          <a:p>
            <a:pPr marL="203200" indent="-203200">
              <a:spcAft>
                <a:spcPts val="700"/>
              </a:spcAft>
              <a:buSzPct val="100000"/>
              <a:buChar char="•"/>
            </a:pPr>
            <a:r>
              <a:rPr lang="en-US" sz="1250" dirty="0">
                <a:solidFill>
                  <a:srgbClr val="1F2933"/>
                </a:solidFill>
                <a:latin typeface="Calibri" pitchFamily="34" charset="0"/>
                <a:ea typeface="Calibri" pitchFamily="34" charset="-122"/>
                <a:cs typeface="Calibri" pitchFamily="34" charset="-120"/>
              </a:rPr>
              <a:t>Chasing a record without checking whether it already arrived under a different class.</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AF1FA"/>
        </a:solidFill>
      </p:bgPr>
    </p:bg>
    <p:spTree>
      <p:nvGrpSpPr>
        <p:cNvPr id="1" name=""/>
        <p:cNvGrpSpPr/>
        <p:nvPr/>
      </p:nvGrpSpPr>
      <p:grpSpPr>
        <a:xfrm>
          <a:off x="0" y="0"/>
          <a:ext cx="0" cy="0"/>
          <a:chOff x="0" y="0"/>
          <a:chExt cx="0" cy="0"/>
        </a:xfrm>
      </p:grpSpPr>
      <p:sp>
        <p:nvSpPr>
          <p:cNvPr id="2" name="Shape 0"/>
          <p:cNvSpPr/>
          <p:nvPr/>
        </p:nvSpPr>
        <p:spPr>
          <a:xfrm>
            <a:off x="8412480" y="1097280"/>
            <a:ext cx="4572000" cy="4572000"/>
          </a:xfrm>
          <a:prstGeom prst="ellipse">
            <a:avLst/>
          </a:prstGeom>
          <a:solidFill>
            <a:srgbClr val="84ACDF">
              <a:alpha val="35000"/>
            </a:srgbClr>
          </a:solidFill>
          <a:ln w="12700">
            <a:solidFill>
              <a:srgbClr val="84ACDF">
                <a:alpha val="35000"/>
              </a:srgbClr>
            </a:solidFill>
            <a:prstDash val="solid"/>
          </a:ln>
        </p:spPr>
      </p:sp>
      <p:pic>
        <p:nvPicPr>
          <p:cNvPr id="3"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4" name="Text 1"/>
          <p:cNvSpPr txBox="1"/>
          <p:nvPr/>
        </p:nvSpPr>
        <p:spPr>
          <a:xfrm>
            <a:off x="731520" y="2011680"/>
            <a:ext cx="5486400" cy="365760"/>
          </a:xfrm>
          <a:prstGeom prst="rect">
            <a:avLst/>
          </a:prstGeom>
          <a:noFill/>
          <a:ln/>
        </p:spPr>
        <p:txBody>
          <a:bodyPr wrap="square" lIns="0" tIns="0" rIns="0" bIns="0" rtlCol="0" anchor="ctr"/>
          <a:lstStyle/>
          <a:p>
            <a:pPr indent="0" marL="0">
              <a:buNone/>
            </a:pPr>
            <a:r>
              <a:rPr lang="en-US" sz="1400" b="1" spc="300" kern="0" dirty="0">
                <a:solidFill>
                  <a:srgbClr val="586C47"/>
                </a:solidFill>
                <a:latin typeface="Calibri" pitchFamily="34" charset="0"/>
                <a:ea typeface="Calibri" pitchFamily="34" charset="-122"/>
                <a:cs typeface="Calibri" pitchFamily="34" charset="-120"/>
              </a:rPr>
              <a:t>PART 6</a:t>
            </a:r>
            <a:endParaRPr lang="en-US" sz="1400" dirty="0"/>
          </a:p>
        </p:txBody>
      </p:sp>
      <p:sp>
        <p:nvSpPr>
          <p:cNvPr id="5" name="Text 2"/>
          <p:cNvSpPr txBox="1"/>
          <p:nvPr/>
        </p:nvSpPr>
        <p:spPr>
          <a:xfrm>
            <a:off x="731520" y="2423160"/>
            <a:ext cx="7772400" cy="1463040"/>
          </a:xfrm>
          <a:prstGeom prst="rect">
            <a:avLst/>
          </a:prstGeom>
          <a:noFill/>
          <a:ln/>
        </p:spPr>
        <p:txBody>
          <a:bodyPr wrap="square" lIns="0" tIns="0" rIns="0" bIns="0" rtlCol="0" anchor="t"/>
          <a:lstStyle/>
          <a:p>
            <a:pPr indent="0" marL="0">
              <a:buNone/>
            </a:pPr>
            <a:r>
              <a:rPr lang="en-US" sz="4000" b="1" dirty="0">
                <a:solidFill>
                  <a:srgbClr val="1E4A87"/>
                </a:solidFill>
                <a:latin typeface="Cambria" pitchFamily="34" charset="0"/>
                <a:ea typeface="Cambria" pitchFamily="34" charset="-122"/>
                <a:cs typeface="Cambria" pitchFamily="34" charset="-120"/>
              </a:rPr>
              <a:t>Scenario, knowledge checks, and takeaways</a:t>
            </a:r>
            <a:endParaRPr lang="en-US" sz="4000" dirty="0"/>
          </a:p>
        </p:txBody>
      </p:sp>
      <p:sp>
        <p:nvSpPr>
          <p:cNvPr id="6" name="Text 3"/>
          <p:cNvSpPr txBox="1"/>
          <p:nvPr/>
        </p:nvSpPr>
        <p:spPr>
          <a:xfrm>
            <a:off x="731520" y="3977640"/>
            <a:ext cx="7315200" cy="1097280"/>
          </a:xfrm>
          <a:prstGeom prst="rect">
            <a:avLst/>
          </a:prstGeom>
          <a:noFill/>
          <a:ln/>
        </p:spPr>
        <p:txBody>
          <a:bodyPr wrap="square" lIns="0" tIns="0" rIns="0" bIns="0" rtlCol="0" anchor="ctr"/>
          <a:lstStyle/>
          <a:p>
            <a:pPr indent="0" marL="0">
              <a:buNone/>
            </a:pPr>
            <a:r>
              <a:rPr lang="en-US" sz="1600" dirty="0">
                <a:solidFill>
                  <a:srgbClr val="5B6773"/>
                </a:solidFill>
                <a:latin typeface="Calibri" pitchFamily="34" charset="0"/>
                <a:ea typeface="Calibri" pitchFamily="34" charset="-122"/>
                <a:cs typeface="Calibri" pitchFamily="34" charset="-120"/>
              </a:rPr>
              <a:t>Apply the module.</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PRACTICE SCENARIO</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The referral that went quiet</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7 · Orders, Referrals &amp; Results Tracking</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22</a:t>
            </a:r>
            <a:endParaRPr lang="en-US" sz="900" dirty="0"/>
          </a:p>
        </p:txBody>
      </p:sp>
      <p:sp>
        <p:nvSpPr>
          <p:cNvPr id="7" name="Shape 4"/>
          <p:cNvSpPr/>
          <p:nvPr/>
        </p:nvSpPr>
        <p:spPr>
          <a:xfrm>
            <a:off x="548640" y="1691640"/>
            <a:ext cx="6035040" cy="4434840"/>
          </a:xfrm>
          <a:prstGeom prst="roundRect">
            <a:avLst>
              <a:gd name="adj" fmla="val 2474"/>
            </a:avLst>
          </a:prstGeom>
          <a:solidFill>
            <a:srgbClr val="1E4A87"/>
          </a:solidFill>
          <a:ln w="12700">
            <a:solidFill>
              <a:srgbClr val="1E4A87"/>
            </a:solidFill>
            <a:prstDash val="solid"/>
          </a:ln>
        </p:spPr>
      </p:sp>
      <p:pic>
        <p:nvPicPr>
          <p:cNvPr id="8" name="Image 1" descr="preencoded.png">    </p:cNvPr>
          <p:cNvPicPr>
            <a:picLocks noChangeAspect="1"/>
          </p:cNvPicPr>
          <p:nvPr/>
        </p:nvPicPr>
        <p:blipFill>
          <a:blip r:embed="rId2"/>
          <a:stretch>
            <a:fillRect/>
          </a:stretch>
        </p:blipFill>
        <p:spPr>
          <a:xfrm>
            <a:off x="868680" y="2011680"/>
            <a:ext cx="502920" cy="502920"/>
          </a:xfrm>
          <a:prstGeom prst="rect">
            <a:avLst/>
          </a:prstGeom>
        </p:spPr>
      </p:pic>
      <p:sp>
        <p:nvSpPr>
          <p:cNvPr id="9" name="Text 5"/>
          <p:cNvSpPr txBox="1"/>
          <p:nvPr/>
        </p:nvSpPr>
        <p:spPr>
          <a:xfrm>
            <a:off x="1554480" y="2011680"/>
            <a:ext cx="4572000" cy="502920"/>
          </a:xfrm>
          <a:prstGeom prst="rect">
            <a:avLst/>
          </a:prstGeom>
          <a:noFill/>
          <a:ln/>
        </p:spPr>
        <p:txBody>
          <a:bodyPr wrap="square" lIns="0" tIns="0" rIns="0" bIns="0" rtlCol="0" anchor="ctr"/>
          <a:lstStyle/>
          <a:p>
            <a:pPr indent="0" marL="0">
              <a:buNone/>
            </a:pPr>
            <a:r>
              <a:rPr lang="en-US" sz="1200" b="1" spc="200" kern="0" dirty="0">
                <a:solidFill>
                  <a:srgbClr val="F1C232"/>
                </a:solidFill>
                <a:latin typeface="Calibri" pitchFamily="34" charset="0"/>
                <a:ea typeface="Calibri" pitchFamily="34" charset="-122"/>
                <a:cs typeface="Calibri" pitchFamily="34" charset="-120"/>
              </a:rPr>
              <a:t>THE SITUATION</a:t>
            </a:r>
            <a:endParaRPr lang="en-US" sz="1200" dirty="0"/>
          </a:p>
        </p:txBody>
      </p:sp>
      <p:sp>
        <p:nvSpPr>
          <p:cNvPr id="10" name="Text 6"/>
          <p:cNvSpPr txBox="1"/>
          <p:nvPr/>
        </p:nvSpPr>
        <p:spPr>
          <a:xfrm>
            <a:off x="868680" y="2697480"/>
            <a:ext cx="5394960" cy="320040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Six weeks ago Dr. Patel referred Walter Osei, 86, to geriatric psychiatry for worsening agitation. The referral shows 'sent' and nothing else. Walter's wife, Ama, says she 'got a letter with a phone number' but hasn't called because 'Walter won't get in the car.' The payer authorization expires in three weeks. Meanwhile Ama mentions the agitation is now 'most evenings.'</a:t>
            </a:r>
            <a:endParaRPr lang="en-US" sz="1350" dirty="0"/>
          </a:p>
        </p:txBody>
      </p:sp>
      <p:sp>
        <p:nvSpPr>
          <p:cNvPr id="11" name="Text 7"/>
          <p:cNvSpPr txBox="1"/>
          <p:nvPr/>
        </p:nvSpPr>
        <p:spPr>
          <a:xfrm>
            <a:off x="6949440" y="1737360"/>
            <a:ext cx="4754880" cy="457200"/>
          </a:xfrm>
          <a:prstGeom prst="rect">
            <a:avLst/>
          </a:prstGeom>
          <a:noFill/>
          <a:ln/>
        </p:spPr>
        <p:txBody>
          <a:bodyPr wrap="square" lIns="0" tIns="0" rIns="0" bIns="0" rtlCol="0" anchor="ctr"/>
          <a:lstStyle/>
          <a:p>
            <a:pPr indent="0" marL="0">
              <a:buNone/>
            </a:pPr>
            <a:r>
              <a:rPr lang="en-US" sz="1800" b="1" dirty="0">
                <a:solidFill>
                  <a:srgbClr val="586C47"/>
                </a:solidFill>
                <a:latin typeface="Cambria" pitchFamily="34" charset="0"/>
                <a:ea typeface="Cambria" pitchFamily="34" charset="-122"/>
                <a:cs typeface="Cambria" pitchFamily="34" charset="-120"/>
              </a:rPr>
              <a:t>Pause and think through:</a:t>
            </a:r>
            <a:endParaRPr lang="en-US" sz="1800" dirty="0"/>
          </a:p>
        </p:txBody>
      </p:sp>
      <p:sp>
        <p:nvSpPr>
          <p:cNvPr id="12" name="Shape 8"/>
          <p:cNvSpPr/>
          <p:nvPr/>
        </p:nvSpPr>
        <p:spPr>
          <a:xfrm>
            <a:off x="6949440" y="2377440"/>
            <a:ext cx="365760" cy="365760"/>
          </a:xfrm>
          <a:prstGeom prst="ellipse">
            <a:avLst/>
          </a:prstGeom>
          <a:solidFill>
            <a:srgbClr val="586C47"/>
          </a:solidFill>
          <a:ln w="12700">
            <a:solidFill>
              <a:srgbClr val="586C47"/>
            </a:solidFill>
            <a:prstDash val="solid"/>
          </a:ln>
        </p:spPr>
      </p:sp>
      <p:sp>
        <p:nvSpPr>
          <p:cNvPr id="13" name="Text 9"/>
          <p:cNvSpPr txBox="1"/>
          <p:nvPr/>
        </p:nvSpPr>
        <p:spPr>
          <a:xfrm>
            <a:off x="6949440" y="23774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4" name="Text 10"/>
          <p:cNvSpPr txBox="1"/>
          <p:nvPr/>
        </p:nvSpPr>
        <p:spPr>
          <a:xfrm>
            <a:off x="7452360" y="2331720"/>
            <a:ext cx="4206240" cy="91440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What went wrong in the loop, and where should it have been caught?</a:t>
            </a:r>
            <a:endParaRPr lang="en-US" sz="1300" dirty="0"/>
          </a:p>
        </p:txBody>
      </p:sp>
      <p:sp>
        <p:nvSpPr>
          <p:cNvPr id="15" name="Shape 11"/>
          <p:cNvSpPr/>
          <p:nvPr/>
        </p:nvSpPr>
        <p:spPr>
          <a:xfrm>
            <a:off x="6949440" y="3337560"/>
            <a:ext cx="365760" cy="365760"/>
          </a:xfrm>
          <a:prstGeom prst="ellipse">
            <a:avLst/>
          </a:prstGeom>
          <a:solidFill>
            <a:srgbClr val="586C47"/>
          </a:solidFill>
          <a:ln w="12700">
            <a:solidFill>
              <a:srgbClr val="586C47"/>
            </a:solidFill>
            <a:prstDash val="solid"/>
          </a:ln>
        </p:spPr>
      </p:sp>
      <p:sp>
        <p:nvSpPr>
          <p:cNvPr id="16" name="Text 12"/>
          <p:cNvSpPr txBox="1"/>
          <p:nvPr/>
        </p:nvSpPr>
        <p:spPr>
          <a:xfrm>
            <a:off x="6949440" y="333756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7" name="Text 13"/>
          <p:cNvSpPr txBox="1"/>
          <p:nvPr/>
        </p:nvSpPr>
        <p:spPr>
          <a:xfrm>
            <a:off x="7452360" y="3291840"/>
            <a:ext cx="4206240" cy="91440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What are your next actions today, in order?</a:t>
            </a:r>
            <a:endParaRPr lang="en-US" sz="1300" dirty="0"/>
          </a:p>
        </p:txBody>
      </p:sp>
      <p:sp>
        <p:nvSpPr>
          <p:cNvPr id="18" name="Shape 14"/>
          <p:cNvSpPr/>
          <p:nvPr/>
        </p:nvSpPr>
        <p:spPr>
          <a:xfrm>
            <a:off x="6949440" y="4297680"/>
            <a:ext cx="365760" cy="365760"/>
          </a:xfrm>
          <a:prstGeom prst="ellipse">
            <a:avLst/>
          </a:prstGeom>
          <a:solidFill>
            <a:srgbClr val="586C47"/>
          </a:solidFill>
          <a:ln w="12700">
            <a:solidFill>
              <a:srgbClr val="586C47"/>
            </a:solidFill>
            <a:prstDash val="solid"/>
          </a:ln>
        </p:spPr>
      </p:sp>
      <p:sp>
        <p:nvSpPr>
          <p:cNvPr id="19" name="Text 15"/>
          <p:cNvSpPr txBox="1"/>
          <p:nvPr/>
        </p:nvSpPr>
        <p:spPr>
          <a:xfrm>
            <a:off x="6949440" y="429768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6"/>
          <p:cNvSpPr txBox="1"/>
          <p:nvPr/>
        </p:nvSpPr>
        <p:spPr>
          <a:xfrm>
            <a:off x="7452360" y="4251960"/>
            <a:ext cx="4206240" cy="91440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What does the provider need to know, and what changes in the care plan?</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SCENARIO — A STRONG APPROACH</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Restarting Walter's referral</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7 · Orders, Referrals &amp; Results Tracking</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23</a:t>
            </a:r>
            <a:endParaRPr lang="en-US" sz="900" dirty="0"/>
          </a:p>
        </p:txBody>
      </p:sp>
      <p:sp>
        <p:nvSpPr>
          <p:cNvPr id="7" name="Shape 4"/>
          <p:cNvSpPr/>
          <p:nvPr/>
        </p:nvSpPr>
        <p:spPr>
          <a:xfrm>
            <a:off x="548640" y="1691640"/>
            <a:ext cx="11091672" cy="670560"/>
          </a:xfrm>
          <a:prstGeom prst="roundRect">
            <a:avLst>
              <a:gd name="adj" fmla="val 10909"/>
            </a:avLst>
          </a:prstGeom>
          <a:solidFill>
            <a:srgbClr val="EEF2E8"/>
          </a:solidFill>
          <a:ln w="9525">
            <a:solidFill>
              <a:srgbClr val="EEF2E8"/>
            </a:solidFill>
            <a:prstDash val="solid"/>
          </a:ln>
        </p:spPr>
      </p:sp>
      <p:pic>
        <p:nvPicPr>
          <p:cNvPr id="8" name="Image 1" descr="preencoded.png">    </p:cNvPr>
          <p:cNvPicPr>
            <a:picLocks noChangeAspect="1"/>
          </p:cNvPicPr>
          <p:nvPr/>
        </p:nvPicPr>
        <p:blipFill>
          <a:blip r:embed="rId2"/>
          <a:stretch>
            <a:fillRect/>
          </a:stretch>
        </p:blipFill>
        <p:spPr>
          <a:xfrm>
            <a:off x="731520" y="1862328"/>
            <a:ext cx="329184" cy="329184"/>
          </a:xfrm>
          <a:prstGeom prst="rect">
            <a:avLst/>
          </a:prstGeom>
        </p:spPr>
      </p:pic>
      <p:sp>
        <p:nvSpPr>
          <p:cNvPr id="9" name="Text 5"/>
          <p:cNvSpPr txBox="1"/>
          <p:nvPr/>
        </p:nvSpPr>
        <p:spPr>
          <a:xfrm>
            <a:off x="1234440" y="1737360"/>
            <a:ext cx="10241280" cy="579120"/>
          </a:xfrm>
          <a:prstGeom prst="rect">
            <a:avLst/>
          </a:prstGeom>
          <a:noFill/>
          <a:ln/>
        </p:spPr>
        <p:txBody>
          <a:bodyPr wrap="square" lIns="0" tIns="0" rIns="0" bIns="0" rtlCol="0" anchor="ctr"/>
          <a:lstStyle/>
          <a:p>
            <a:pPr indent="0" marL="0">
              <a:buNone/>
            </a:pPr>
            <a:r>
              <a:rPr lang="en-US" sz="1150" b="1" dirty="0">
                <a:solidFill>
                  <a:srgbClr val="1E4A87"/>
                </a:solidFill>
                <a:latin typeface="Calibri" pitchFamily="34" charset="0"/>
                <a:ea typeface="Calibri" pitchFamily="34" charset="-122"/>
                <a:cs typeface="Calibri" pitchFamily="34" charset="-120"/>
              </a:rPr>
              <a:t>Name the failure.  </a:t>
            </a:r>
            <a:pPr indent="0" marL="0">
              <a:buNone/>
            </a:pPr>
            <a:r>
              <a:rPr lang="en-US" sz="1150" dirty="0">
                <a:solidFill>
                  <a:srgbClr val="1F2933"/>
                </a:solidFill>
                <a:latin typeface="Calibri" pitchFamily="34" charset="0"/>
                <a:ea typeface="Calibri" pitchFamily="34" charset="-122"/>
                <a:cs typeface="Calibri" pitchFamily="34" charset="-120"/>
              </a:rPr>
              <a:t>The referral was sent but never coordinated: no caregiver-based scheduling, no transportation plan, no follow-up date. The worklist should have surfaced it at 7–14 days.</a:t>
            </a:r>
            <a:endParaRPr lang="en-US" sz="1150" dirty="0"/>
          </a:p>
        </p:txBody>
      </p:sp>
      <p:sp>
        <p:nvSpPr>
          <p:cNvPr id="10" name="Shape 6"/>
          <p:cNvSpPr/>
          <p:nvPr/>
        </p:nvSpPr>
        <p:spPr>
          <a:xfrm>
            <a:off x="548640" y="2453640"/>
            <a:ext cx="11091672" cy="670560"/>
          </a:xfrm>
          <a:prstGeom prst="roundRect">
            <a:avLst>
              <a:gd name="adj" fmla="val 10909"/>
            </a:avLst>
          </a:prstGeom>
          <a:solidFill>
            <a:srgbClr val="FFFFFF"/>
          </a:solidFill>
          <a:ln w="9525">
            <a:solidFill>
              <a:srgbClr val="D6DEE8"/>
            </a:solidFill>
            <a:prstDash val="solid"/>
          </a:ln>
        </p:spPr>
      </p:sp>
      <p:pic>
        <p:nvPicPr>
          <p:cNvPr id="11" name="Image 2" descr="preencoded.png">    </p:cNvPr>
          <p:cNvPicPr>
            <a:picLocks noChangeAspect="1"/>
          </p:cNvPicPr>
          <p:nvPr/>
        </p:nvPicPr>
        <p:blipFill>
          <a:blip r:embed="rId3"/>
          <a:stretch>
            <a:fillRect/>
          </a:stretch>
        </p:blipFill>
        <p:spPr>
          <a:xfrm>
            <a:off x="731520" y="2624328"/>
            <a:ext cx="329184" cy="329184"/>
          </a:xfrm>
          <a:prstGeom prst="rect">
            <a:avLst/>
          </a:prstGeom>
        </p:spPr>
      </p:pic>
      <p:sp>
        <p:nvSpPr>
          <p:cNvPr id="12" name="Text 7"/>
          <p:cNvSpPr txBox="1"/>
          <p:nvPr/>
        </p:nvSpPr>
        <p:spPr>
          <a:xfrm>
            <a:off x="1234440" y="2499360"/>
            <a:ext cx="10241280" cy="579120"/>
          </a:xfrm>
          <a:prstGeom prst="rect">
            <a:avLst/>
          </a:prstGeom>
          <a:noFill/>
          <a:ln/>
        </p:spPr>
        <p:txBody>
          <a:bodyPr wrap="square" lIns="0" tIns="0" rIns="0" bIns="0" rtlCol="0" anchor="ctr"/>
          <a:lstStyle/>
          <a:p>
            <a:pPr indent="0" marL="0">
              <a:buNone/>
            </a:pPr>
            <a:r>
              <a:rPr lang="en-US" sz="1150" b="1" dirty="0">
                <a:solidFill>
                  <a:srgbClr val="1E4A87"/>
                </a:solidFill>
                <a:latin typeface="Calibri" pitchFamily="34" charset="0"/>
                <a:ea typeface="Calibri" pitchFamily="34" charset="-122"/>
                <a:cs typeface="Calibri" pitchFamily="34" charset="-120"/>
              </a:rPr>
              <a:t>Route the clinical update first.  </a:t>
            </a:r>
            <a:pPr indent="0" marL="0">
              <a:buNone/>
            </a:pPr>
            <a:r>
              <a:rPr lang="en-US" sz="1150" dirty="0">
                <a:solidFill>
                  <a:srgbClr val="1F2933"/>
                </a:solidFill>
                <a:latin typeface="Calibri" pitchFamily="34" charset="0"/>
                <a:ea typeface="Calibri" pitchFamily="34" charset="-122"/>
                <a:cs typeface="Calibri" pitchFamily="34" charset="-120"/>
              </a:rPr>
              <a:t>Agitation 'most evenings' six weeks after referral is a change in condition. Case to Dr. Patel, High priority.</a:t>
            </a:r>
            <a:endParaRPr lang="en-US" sz="1150" dirty="0"/>
          </a:p>
        </p:txBody>
      </p:sp>
      <p:sp>
        <p:nvSpPr>
          <p:cNvPr id="13" name="Shape 8"/>
          <p:cNvSpPr/>
          <p:nvPr/>
        </p:nvSpPr>
        <p:spPr>
          <a:xfrm>
            <a:off x="548640" y="3215640"/>
            <a:ext cx="11091672" cy="670560"/>
          </a:xfrm>
          <a:prstGeom prst="roundRect">
            <a:avLst>
              <a:gd name="adj" fmla="val 10909"/>
            </a:avLst>
          </a:prstGeom>
          <a:solidFill>
            <a:srgbClr val="EEF2E8"/>
          </a:solidFill>
          <a:ln w="9525">
            <a:solidFill>
              <a:srgbClr val="EEF2E8"/>
            </a:solidFill>
            <a:prstDash val="solid"/>
          </a:ln>
        </p:spPr>
      </p:sp>
      <p:pic>
        <p:nvPicPr>
          <p:cNvPr id="14" name="Image 3" descr="preencoded.png">    </p:cNvPr>
          <p:cNvPicPr>
            <a:picLocks noChangeAspect="1"/>
          </p:cNvPicPr>
          <p:nvPr/>
        </p:nvPicPr>
        <p:blipFill>
          <a:blip r:embed="rId4"/>
          <a:stretch>
            <a:fillRect/>
          </a:stretch>
        </p:blipFill>
        <p:spPr>
          <a:xfrm>
            <a:off x="731520" y="3386328"/>
            <a:ext cx="329184" cy="329184"/>
          </a:xfrm>
          <a:prstGeom prst="rect">
            <a:avLst/>
          </a:prstGeom>
        </p:spPr>
      </p:pic>
      <p:sp>
        <p:nvSpPr>
          <p:cNvPr id="15" name="Text 9"/>
          <p:cNvSpPr txBox="1"/>
          <p:nvPr/>
        </p:nvSpPr>
        <p:spPr>
          <a:xfrm>
            <a:off x="1234440" y="3261360"/>
            <a:ext cx="10241280" cy="579120"/>
          </a:xfrm>
          <a:prstGeom prst="rect">
            <a:avLst/>
          </a:prstGeom>
          <a:noFill/>
          <a:ln/>
        </p:spPr>
        <p:txBody>
          <a:bodyPr wrap="square" lIns="0" tIns="0" rIns="0" bIns="0" rtlCol="0" anchor="ctr"/>
          <a:lstStyle/>
          <a:p>
            <a:pPr indent="0" marL="0">
              <a:buNone/>
            </a:pPr>
            <a:r>
              <a:rPr lang="en-US" sz="1150" b="1" dirty="0">
                <a:solidFill>
                  <a:srgbClr val="1E4A87"/>
                </a:solidFill>
                <a:latin typeface="Calibri" pitchFamily="34" charset="0"/>
                <a:ea typeface="Calibri" pitchFamily="34" charset="-122"/>
                <a:cs typeface="Calibri" pitchFamily="34" charset="-120"/>
              </a:rPr>
              <a:t>Solve the transportation barrier.  </a:t>
            </a:r>
            <a:pPr indent="0" marL="0">
              <a:buNone/>
            </a:pPr>
            <a:r>
              <a:rPr lang="en-US" sz="1150" dirty="0">
                <a:solidFill>
                  <a:srgbClr val="1F2933"/>
                </a:solidFill>
                <a:latin typeface="Calibri" pitchFamily="34" charset="0"/>
                <a:ea typeface="Calibri" pitchFamily="34" charset="-122"/>
                <a:cs typeface="Calibri" pitchFamily="34" charset="-120"/>
              </a:rPr>
              <a:t>Ask the psychiatry office about telehealth; if not, plan a first-morning slot, transportation options, and who accompanies. Document.</a:t>
            </a:r>
            <a:endParaRPr lang="en-US" sz="1150" dirty="0"/>
          </a:p>
        </p:txBody>
      </p:sp>
      <p:sp>
        <p:nvSpPr>
          <p:cNvPr id="16" name="Shape 10"/>
          <p:cNvSpPr/>
          <p:nvPr/>
        </p:nvSpPr>
        <p:spPr>
          <a:xfrm>
            <a:off x="548640" y="3977640"/>
            <a:ext cx="11091672" cy="670560"/>
          </a:xfrm>
          <a:prstGeom prst="roundRect">
            <a:avLst>
              <a:gd name="adj" fmla="val 10909"/>
            </a:avLst>
          </a:prstGeom>
          <a:solidFill>
            <a:srgbClr val="FFFFFF"/>
          </a:solidFill>
          <a:ln w="9525">
            <a:solidFill>
              <a:srgbClr val="D6DEE8"/>
            </a:solidFill>
            <a:prstDash val="solid"/>
          </a:ln>
        </p:spPr>
      </p:sp>
      <p:pic>
        <p:nvPicPr>
          <p:cNvPr id="17" name="Image 4" descr="preencoded.png">    </p:cNvPr>
          <p:cNvPicPr>
            <a:picLocks noChangeAspect="1"/>
          </p:cNvPicPr>
          <p:nvPr/>
        </p:nvPicPr>
        <p:blipFill>
          <a:blip r:embed="rId5"/>
          <a:stretch>
            <a:fillRect/>
          </a:stretch>
        </p:blipFill>
        <p:spPr>
          <a:xfrm>
            <a:off x="731520" y="4148328"/>
            <a:ext cx="329184" cy="329184"/>
          </a:xfrm>
          <a:prstGeom prst="rect">
            <a:avLst/>
          </a:prstGeom>
        </p:spPr>
      </p:pic>
      <p:sp>
        <p:nvSpPr>
          <p:cNvPr id="18" name="Text 11"/>
          <p:cNvSpPr txBox="1"/>
          <p:nvPr/>
        </p:nvSpPr>
        <p:spPr>
          <a:xfrm>
            <a:off x="1234440" y="4023360"/>
            <a:ext cx="10241280" cy="579120"/>
          </a:xfrm>
          <a:prstGeom prst="rect">
            <a:avLst/>
          </a:prstGeom>
          <a:noFill/>
          <a:ln/>
        </p:spPr>
        <p:txBody>
          <a:bodyPr wrap="square" lIns="0" tIns="0" rIns="0" bIns="0" rtlCol="0" anchor="ctr"/>
          <a:lstStyle/>
          <a:p>
            <a:pPr indent="0" marL="0">
              <a:buNone/>
            </a:pPr>
            <a:r>
              <a:rPr lang="en-US" sz="1150" b="1" dirty="0">
                <a:solidFill>
                  <a:srgbClr val="1E4A87"/>
                </a:solidFill>
                <a:latin typeface="Calibri" pitchFamily="34" charset="0"/>
                <a:ea typeface="Calibri" pitchFamily="34" charset="-122"/>
                <a:cs typeface="Calibri" pitchFamily="34" charset="-120"/>
              </a:rPr>
              <a:t>Protect the authorization.  </a:t>
            </a:r>
            <a:pPr indent="0" marL="0">
              <a:buNone/>
            </a:pPr>
            <a:r>
              <a:rPr lang="en-US" sz="1150" dirty="0">
                <a:solidFill>
                  <a:srgbClr val="1F2933"/>
                </a:solidFill>
                <a:latin typeface="Calibri" pitchFamily="34" charset="0"/>
                <a:ea typeface="Calibri" pitchFamily="34" charset="-122"/>
                <a:cs typeface="Calibri" pitchFamily="34" charset="-120"/>
              </a:rPr>
              <a:t>Notify billing of the expiration and the scheduled date; request an extension if the appointment falls after it.</a:t>
            </a:r>
            <a:endParaRPr lang="en-US" sz="1150" dirty="0"/>
          </a:p>
        </p:txBody>
      </p:sp>
      <p:sp>
        <p:nvSpPr>
          <p:cNvPr id="19" name="Shape 12"/>
          <p:cNvSpPr/>
          <p:nvPr/>
        </p:nvSpPr>
        <p:spPr>
          <a:xfrm>
            <a:off x="548640" y="4739640"/>
            <a:ext cx="11091672" cy="670560"/>
          </a:xfrm>
          <a:prstGeom prst="roundRect">
            <a:avLst>
              <a:gd name="adj" fmla="val 10909"/>
            </a:avLst>
          </a:prstGeom>
          <a:solidFill>
            <a:srgbClr val="EEF2E8"/>
          </a:solidFill>
          <a:ln w="9525">
            <a:solidFill>
              <a:srgbClr val="EEF2E8"/>
            </a:solidFill>
            <a:prstDash val="solid"/>
          </a:ln>
        </p:spPr>
      </p:sp>
      <p:pic>
        <p:nvPicPr>
          <p:cNvPr id="20" name="Image 5" descr="preencoded.png">    </p:cNvPr>
          <p:cNvPicPr>
            <a:picLocks noChangeAspect="1"/>
          </p:cNvPicPr>
          <p:nvPr/>
        </p:nvPicPr>
        <p:blipFill>
          <a:blip r:embed="rId6"/>
          <a:stretch>
            <a:fillRect/>
          </a:stretch>
        </p:blipFill>
        <p:spPr>
          <a:xfrm>
            <a:off x="731520" y="4910328"/>
            <a:ext cx="329184" cy="329184"/>
          </a:xfrm>
          <a:prstGeom prst="rect">
            <a:avLst/>
          </a:prstGeom>
        </p:spPr>
      </p:pic>
      <p:sp>
        <p:nvSpPr>
          <p:cNvPr id="21" name="Text 13"/>
          <p:cNvSpPr txBox="1"/>
          <p:nvPr/>
        </p:nvSpPr>
        <p:spPr>
          <a:xfrm>
            <a:off x="1234440" y="4785360"/>
            <a:ext cx="10241280" cy="579120"/>
          </a:xfrm>
          <a:prstGeom prst="rect">
            <a:avLst/>
          </a:prstGeom>
          <a:noFill/>
          <a:ln/>
        </p:spPr>
        <p:txBody>
          <a:bodyPr wrap="square" lIns="0" tIns="0" rIns="0" bIns="0" rtlCol="0" anchor="ctr"/>
          <a:lstStyle/>
          <a:p>
            <a:pPr indent="0" marL="0">
              <a:buNone/>
            </a:pPr>
            <a:r>
              <a:rPr lang="en-US" sz="1150" b="1" dirty="0">
                <a:solidFill>
                  <a:srgbClr val="1E4A87"/>
                </a:solidFill>
                <a:latin typeface="Calibri" pitchFamily="34" charset="0"/>
                <a:ea typeface="Calibri" pitchFamily="34" charset="-122"/>
                <a:cs typeface="Calibri" pitchFamily="34" charset="-120"/>
              </a:rPr>
              <a:t>Schedule with Ama on the phone.  </a:t>
            </a:r>
            <a:pPr indent="0" marL="0">
              <a:buNone/>
            </a:pPr>
            <a:r>
              <a:rPr lang="en-US" sz="1150" dirty="0">
                <a:solidFill>
                  <a:srgbClr val="1F2933"/>
                </a:solidFill>
                <a:latin typeface="Calibri" pitchFamily="34" charset="0"/>
                <a:ea typeface="Calibri" pitchFamily="34" charset="-122"/>
                <a:cs typeface="Calibri" pitchFamily="34" charset="-120"/>
              </a:rPr>
              <a:t>Three-way call if possible. Record date, time, prep, and a reminder call date.</a:t>
            </a:r>
            <a:endParaRPr lang="en-US" sz="1150" dirty="0"/>
          </a:p>
        </p:txBody>
      </p:sp>
      <p:sp>
        <p:nvSpPr>
          <p:cNvPr id="22" name="Shape 14"/>
          <p:cNvSpPr/>
          <p:nvPr/>
        </p:nvSpPr>
        <p:spPr>
          <a:xfrm>
            <a:off x="548640" y="5501640"/>
            <a:ext cx="11091672" cy="670560"/>
          </a:xfrm>
          <a:prstGeom prst="roundRect">
            <a:avLst>
              <a:gd name="adj" fmla="val 10909"/>
            </a:avLst>
          </a:prstGeom>
          <a:solidFill>
            <a:srgbClr val="FFFFFF"/>
          </a:solidFill>
          <a:ln w="9525">
            <a:solidFill>
              <a:srgbClr val="D6DEE8"/>
            </a:solidFill>
            <a:prstDash val="solid"/>
          </a:ln>
        </p:spPr>
      </p:sp>
      <p:pic>
        <p:nvPicPr>
          <p:cNvPr id="23" name="Image 6" descr="preencoded.png">    </p:cNvPr>
          <p:cNvPicPr>
            <a:picLocks noChangeAspect="1"/>
          </p:cNvPicPr>
          <p:nvPr/>
        </p:nvPicPr>
        <p:blipFill>
          <a:blip r:embed="rId7"/>
          <a:stretch>
            <a:fillRect/>
          </a:stretch>
        </p:blipFill>
        <p:spPr>
          <a:xfrm>
            <a:off x="731520" y="5672328"/>
            <a:ext cx="329184" cy="329184"/>
          </a:xfrm>
          <a:prstGeom prst="rect">
            <a:avLst/>
          </a:prstGeom>
        </p:spPr>
      </p:pic>
      <p:sp>
        <p:nvSpPr>
          <p:cNvPr id="24" name="Text 15"/>
          <p:cNvSpPr txBox="1"/>
          <p:nvPr/>
        </p:nvSpPr>
        <p:spPr>
          <a:xfrm>
            <a:off x="1234440" y="5547360"/>
            <a:ext cx="10241280" cy="579120"/>
          </a:xfrm>
          <a:prstGeom prst="rect">
            <a:avLst/>
          </a:prstGeom>
          <a:noFill/>
          <a:ln/>
        </p:spPr>
        <p:txBody>
          <a:bodyPr wrap="square" lIns="0" tIns="0" rIns="0" bIns="0" rtlCol="0" anchor="ctr"/>
          <a:lstStyle/>
          <a:p>
            <a:pPr indent="0" marL="0">
              <a:buNone/>
            </a:pPr>
            <a:r>
              <a:rPr lang="en-US" sz="1150" b="1" dirty="0">
                <a:solidFill>
                  <a:srgbClr val="1E4A87"/>
                </a:solidFill>
                <a:latin typeface="Calibri" pitchFamily="34" charset="0"/>
                <a:ea typeface="Calibri" pitchFamily="34" charset="-122"/>
                <a:cs typeface="Calibri" pitchFamily="34" charset="-120"/>
              </a:rPr>
              <a:t>Update the care plan and set follow-up.  </a:t>
            </a:r>
            <a:pPr indent="0" marL="0">
              <a:buNone/>
            </a:pPr>
            <a:r>
              <a:rPr lang="en-US" sz="1150" dirty="0">
                <a:solidFill>
                  <a:srgbClr val="1F2933"/>
                </a:solidFill>
                <a:latin typeface="Calibri" pitchFamily="34" charset="0"/>
                <a:ea typeface="Calibri" pitchFamily="34" charset="-122"/>
                <a:cs typeface="Calibri" pitchFamily="34" charset="-120"/>
              </a:rPr>
              <a:t>Add the evening agitation problem with interventions and owners; set the 7-day post-visit check for the consult note.</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TEST YOURSELF</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Knowledge check 1</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7 · Orders, Referrals &amp; Results Tracking</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24</a:t>
            </a:r>
            <a:endParaRPr lang="en-US" sz="900" dirty="0"/>
          </a:p>
        </p:txBody>
      </p:sp>
      <p:sp>
        <p:nvSpPr>
          <p:cNvPr id="7" name="Text 4"/>
          <p:cNvSpPr txBox="1"/>
          <p:nvPr/>
        </p:nvSpPr>
        <p:spPr>
          <a:xfrm>
            <a:off x="548640" y="1691640"/>
            <a:ext cx="11064240" cy="1005840"/>
          </a:xfrm>
          <a:prstGeom prst="rect">
            <a:avLst/>
          </a:prstGeom>
          <a:noFill/>
          <a:ln/>
        </p:spPr>
        <p:txBody>
          <a:bodyPr wrap="square" lIns="0" tIns="0" rIns="0" bIns="0" rtlCol="0" anchor="t"/>
          <a:lstStyle/>
          <a:p>
            <a:pPr indent="0" marL="0">
              <a:buNone/>
            </a:pPr>
            <a:r>
              <a:rPr lang="en-US" sz="1800" b="1" dirty="0">
                <a:solidFill>
                  <a:srgbClr val="1F2933"/>
                </a:solidFill>
                <a:latin typeface="Calibri" pitchFamily="34" charset="0"/>
                <a:ea typeface="Calibri" pitchFamily="34" charset="-122"/>
                <a:cs typeface="Calibri" pitchFamily="34" charset="-120"/>
              </a:rPr>
              <a:t>A specialist's office says they will 'call the patient to schedule.' The best response is:</a:t>
            </a:r>
            <a:endParaRPr lang="en-US" sz="1800" dirty="0"/>
          </a:p>
        </p:txBody>
      </p:sp>
      <p:sp>
        <p:nvSpPr>
          <p:cNvPr id="8" name="Shape 5"/>
          <p:cNvSpPr/>
          <p:nvPr/>
        </p:nvSpPr>
        <p:spPr>
          <a:xfrm>
            <a:off x="548640" y="2880360"/>
            <a:ext cx="11091672" cy="658368"/>
          </a:xfrm>
          <a:prstGeom prst="roundRect">
            <a:avLst>
              <a:gd name="adj" fmla="val 11111"/>
            </a:avLst>
          </a:prstGeom>
          <a:solidFill>
            <a:srgbClr val="FFFFFF"/>
          </a:solidFill>
          <a:ln w="12700">
            <a:solidFill>
              <a:srgbClr val="D6DEE8"/>
            </a:solidFill>
            <a:prstDash val="solid"/>
          </a:ln>
        </p:spPr>
      </p:sp>
      <p:sp>
        <p:nvSpPr>
          <p:cNvPr id="9" name="Shape 6"/>
          <p:cNvSpPr/>
          <p:nvPr/>
        </p:nvSpPr>
        <p:spPr>
          <a:xfrm>
            <a:off x="731520" y="3026664"/>
            <a:ext cx="365760" cy="365760"/>
          </a:xfrm>
          <a:prstGeom prst="ellipse">
            <a:avLst/>
          </a:prstGeom>
          <a:solidFill>
            <a:srgbClr val="EAF1FA"/>
          </a:solidFill>
          <a:ln w="12700">
            <a:solidFill>
              <a:srgbClr val="EAF1FA"/>
            </a:solidFill>
            <a:prstDash val="solid"/>
          </a:ln>
        </p:spPr>
      </p:sp>
      <p:sp>
        <p:nvSpPr>
          <p:cNvPr id="10" name="Text 7"/>
          <p:cNvSpPr txBox="1"/>
          <p:nvPr/>
        </p:nvSpPr>
        <p:spPr>
          <a:xfrm>
            <a:off x="731520" y="3026664"/>
            <a:ext cx="365760" cy="365760"/>
          </a:xfrm>
          <a:prstGeom prst="rect">
            <a:avLst/>
          </a:prstGeom>
          <a:noFill/>
          <a:ln/>
        </p:spPr>
        <p:txBody>
          <a:bodyPr wrap="square" lIns="0" tIns="0" rIns="0" bIns="0" rtlCol="0" anchor="ctr"/>
          <a:lstStyle/>
          <a:p>
            <a:pPr algn="ctr" indent="0" marL="0">
              <a:buNone/>
            </a:pPr>
            <a:r>
              <a:rPr lang="en-US" sz="1200" b="1" dirty="0">
                <a:solidFill>
                  <a:srgbClr val="1E4A87"/>
                </a:solidFill>
                <a:latin typeface="Calibri" pitchFamily="34" charset="0"/>
                <a:ea typeface="Calibri" pitchFamily="34" charset="-122"/>
                <a:cs typeface="Calibri" pitchFamily="34" charset="-120"/>
              </a:rPr>
              <a:t>A</a:t>
            </a:r>
            <a:endParaRPr lang="en-US" sz="1200" dirty="0"/>
          </a:p>
        </p:txBody>
      </p:sp>
      <p:sp>
        <p:nvSpPr>
          <p:cNvPr id="11" name="Text 8"/>
          <p:cNvSpPr txBox="1"/>
          <p:nvPr/>
        </p:nvSpPr>
        <p:spPr>
          <a:xfrm>
            <a:off x="1280160" y="2880360"/>
            <a:ext cx="10149840" cy="658368"/>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Thank them and close the referral.</a:t>
            </a:r>
            <a:endParaRPr lang="en-US" sz="1400" dirty="0"/>
          </a:p>
        </p:txBody>
      </p:sp>
      <p:sp>
        <p:nvSpPr>
          <p:cNvPr id="12" name="Shape 9"/>
          <p:cNvSpPr/>
          <p:nvPr/>
        </p:nvSpPr>
        <p:spPr>
          <a:xfrm>
            <a:off x="548640" y="3657600"/>
            <a:ext cx="11091672" cy="658368"/>
          </a:xfrm>
          <a:prstGeom prst="roundRect">
            <a:avLst>
              <a:gd name="adj" fmla="val 11111"/>
            </a:avLst>
          </a:prstGeom>
          <a:solidFill>
            <a:srgbClr val="FFFFFF"/>
          </a:solidFill>
          <a:ln w="12700">
            <a:solidFill>
              <a:srgbClr val="D6DEE8"/>
            </a:solidFill>
            <a:prstDash val="solid"/>
          </a:ln>
        </p:spPr>
      </p:sp>
      <p:sp>
        <p:nvSpPr>
          <p:cNvPr id="13" name="Shape 10"/>
          <p:cNvSpPr/>
          <p:nvPr/>
        </p:nvSpPr>
        <p:spPr>
          <a:xfrm>
            <a:off x="731520" y="3803904"/>
            <a:ext cx="365760" cy="365760"/>
          </a:xfrm>
          <a:prstGeom prst="ellipse">
            <a:avLst/>
          </a:prstGeom>
          <a:solidFill>
            <a:srgbClr val="EAF1FA"/>
          </a:solidFill>
          <a:ln w="12700">
            <a:solidFill>
              <a:srgbClr val="EAF1FA"/>
            </a:solidFill>
            <a:prstDash val="solid"/>
          </a:ln>
        </p:spPr>
      </p:sp>
      <p:sp>
        <p:nvSpPr>
          <p:cNvPr id="14" name="Text 11"/>
          <p:cNvSpPr txBox="1"/>
          <p:nvPr/>
        </p:nvSpPr>
        <p:spPr>
          <a:xfrm>
            <a:off x="731520" y="3803904"/>
            <a:ext cx="365760" cy="365760"/>
          </a:xfrm>
          <a:prstGeom prst="rect">
            <a:avLst/>
          </a:prstGeom>
          <a:noFill/>
          <a:ln/>
        </p:spPr>
        <p:txBody>
          <a:bodyPr wrap="square" lIns="0" tIns="0" rIns="0" bIns="0" rtlCol="0" anchor="ctr"/>
          <a:lstStyle/>
          <a:p>
            <a:pPr algn="ctr" indent="0" marL="0">
              <a:buNone/>
            </a:pPr>
            <a:r>
              <a:rPr lang="en-US" sz="1200" b="1" dirty="0">
                <a:solidFill>
                  <a:srgbClr val="1E4A87"/>
                </a:solidFill>
                <a:latin typeface="Calibri" pitchFamily="34" charset="0"/>
                <a:ea typeface="Calibri" pitchFamily="34" charset="-122"/>
                <a:cs typeface="Calibri" pitchFamily="34" charset="-120"/>
              </a:rPr>
              <a:t>B</a:t>
            </a:r>
            <a:endParaRPr lang="en-US" sz="1200" dirty="0"/>
          </a:p>
        </p:txBody>
      </p:sp>
      <p:sp>
        <p:nvSpPr>
          <p:cNvPr id="15" name="Text 12"/>
          <p:cNvSpPr txBox="1"/>
          <p:nvPr/>
        </p:nvSpPr>
        <p:spPr>
          <a:xfrm>
            <a:off x="1280160" y="3657600"/>
            <a:ext cx="10149840" cy="658368"/>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Ask them to call the caregiver instead, provide the number, and set a follow-up date to confirm an appointment was made.</a:t>
            </a:r>
            <a:endParaRPr lang="en-US" sz="1400" dirty="0"/>
          </a:p>
        </p:txBody>
      </p:sp>
      <p:sp>
        <p:nvSpPr>
          <p:cNvPr id="16" name="Shape 13"/>
          <p:cNvSpPr/>
          <p:nvPr/>
        </p:nvSpPr>
        <p:spPr>
          <a:xfrm>
            <a:off x="548640" y="4434840"/>
            <a:ext cx="11091672" cy="658368"/>
          </a:xfrm>
          <a:prstGeom prst="roundRect">
            <a:avLst>
              <a:gd name="adj" fmla="val 11111"/>
            </a:avLst>
          </a:prstGeom>
          <a:solidFill>
            <a:srgbClr val="FFFFFF"/>
          </a:solidFill>
          <a:ln w="12700">
            <a:solidFill>
              <a:srgbClr val="D6DEE8"/>
            </a:solidFill>
            <a:prstDash val="solid"/>
          </a:ln>
        </p:spPr>
      </p:sp>
      <p:sp>
        <p:nvSpPr>
          <p:cNvPr id="17" name="Shape 14"/>
          <p:cNvSpPr/>
          <p:nvPr/>
        </p:nvSpPr>
        <p:spPr>
          <a:xfrm>
            <a:off x="731520" y="4581144"/>
            <a:ext cx="365760" cy="365760"/>
          </a:xfrm>
          <a:prstGeom prst="ellipse">
            <a:avLst/>
          </a:prstGeom>
          <a:solidFill>
            <a:srgbClr val="EAF1FA"/>
          </a:solidFill>
          <a:ln w="12700">
            <a:solidFill>
              <a:srgbClr val="EAF1FA"/>
            </a:solidFill>
            <a:prstDash val="solid"/>
          </a:ln>
        </p:spPr>
      </p:sp>
      <p:sp>
        <p:nvSpPr>
          <p:cNvPr id="18" name="Text 15"/>
          <p:cNvSpPr txBox="1"/>
          <p:nvPr/>
        </p:nvSpPr>
        <p:spPr>
          <a:xfrm>
            <a:off x="731520" y="4581144"/>
            <a:ext cx="365760" cy="365760"/>
          </a:xfrm>
          <a:prstGeom prst="rect">
            <a:avLst/>
          </a:prstGeom>
          <a:noFill/>
          <a:ln/>
        </p:spPr>
        <p:txBody>
          <a:bodyPr wrap="square" lIns="0" tIns="0" rIns="0" bIns="0" rtlCol="0" anchor="ctr"/>
          <a:lstStyle/>
          <a:p>
            <a:pPr algn="ctr" indent="0" marL="0">
              <a:buNone/>
            </a:pPr>
            <a:r>
              <a:rPr lang="en-US" sz="1200" b="1" dirty="0">
                <a:solidFill>
                  <a:srgbClr val="1E4A87"/>
                </a:solidFill>
                <a:latin typeface="Calibri" pitchFamily="34" charset="0"/>
                <a:ea typeface="Calibri" pitchFamily="34" charset="-122"/>
                <a:cs typeface="Calibri" pitchFamily="34" charset="-120"/>
              </a:rPr>
              <a:t>C</a:t>
            </a:r>
            <a:endParaRPr lang="en-US" sz="1200" dirty="0"/>
          </a:p>
        </p:txBody>
      </p:sp>
      <p:sp>
        <p:nvSpPr>
          <p:cNvPr id="19" name="Text 16"/>
          <p:cNvSpPr txBox="1"/>
          <p:nvPr/>
        </p:nvSpPr>
        <p:spPr>
          <a:xfrm>
            <a:off x="1280160" y="4434840"/>
            <a:ext cx="10149840" cy="658368"/>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Tell the caregiver to expect a call.</a:t>
            </a:r>
            <a:endParaRPr lang="en-US" sz="1400" dirty="0"/>
          </a:p>
        </p:txBody>
      </p:sp>
      <p:sp>
        <p:nvSpPr>
          <p:cNvPr id="20" name="Shape 17"/>
          <p:cNvSpPr/>
          <p:nvPr/>
        </p:nvSpPr>
        <p:spPr>
          <a:xfrm>
            <a:off x="548640" y="5212080"/>
            <a:ext cx="11091672" cy="658368"/>
          </a:xfrm>
          <a:prstGeom prst="roundRect">
            <a:avLst>
              <a:gd name="adj" fmla="val 11111"/>
            </a:avLst>
          </a:prstGeom>
          <a:solidFill>
            <a:srgbClr val="FFFFFF"/>
          </a:solidFill>
          <a:ln w="12700">
            <a:solidFill>
              <a:srgbClr val="D6DEE8"/>
            </a:solidFill>
            <a:prstDash val="solid"/>
          </a:ln>
        </p:spPr>
      </p:sp>
      <p:sp>
        <p:nvSpPr>
          <p:cNvPr id="21" name="Shape 18"/>
          <p:cNvSpPr/>
          <p:nvPr/>
        </p:nvSpPr>
        <p:spPr>
          <a:xfrm>
            <a:off x="731520" y="5358384"/>
            <a:ext cx="365760" cy="365760"/>
          </a:xfrm>
          <a:prstGeom prst="ellipse">
            <a:avLst/>
          </a:prstGeom>
          <a:solidFill>
            <a:srgbClr val="EAF1FA"/>
          </a:solidFill>
          <a:ln w="12700">
            <a:solidFill>
              <a:srgbClr val="EAF1FA"/>
            </a:solidFill>
            <a:prstDash val="solid"/>
          </a:ln>
        </p:spPr>
      </p:sp>
      <p:sp>
        <p:nvSpPr>
          <p:cNvPr id="22" name="Text 19"/>
          <p:cNvSpPr txBox="1"/>
          <p:nvPr/>
        </p:nvSpPr>
        <p:spPr>
          <a:xfrm>
            <a:off x="731520" y="5358384"/>
            <a:ext cx="365760" cy="365760"/>
          </a:xfrm>
          <a:prstGeom prst="rect">
            <a:avLst/>
          </a:prstGeom>
          <a:noFill/>
          <a:ln/>
        </p:spPr>
        <p:txBody>
          <a:bodyPr wrap="square" lIns="0" tIns="0" rIns="0" bIns="0" rtlCol="0" anchor="ctr"/>
          <a:lstStyle/>
          <a:p>
            <a:pPr algn="ctr" indent="0" marL="0">
              <a:buNone/>
            </a:pPr>
            <a:r>
              <a:rPr lang="en-US" sz="1200" b="1" dirty="0">
                <a:solidFill>
                  <a:srgbClr val="1E4A87"/>
                </a:solidFill>
                <a:latin typeface="Calibri" pitchFamily="34" charset="0"/>
                <a:ea typeface="Calibri" pitchFamily="34" charset="-122"/>
                <a:cs typeface="Calibri" pitchFamily="34" charset="-120"/>
              </a:rPr>
              <a:t>D</a:t>
            </a:r>
            <a:endParaRPr lang="en-US" sz="1200" dirty="0"/>
          </a:p>
        </p:txBody>
      </p:sp>
      <p:sp>
        <p:nvSpPr>
          <p:cNvPr id="23" name="Text 20"/>
          <p:cNvSpPr txBox="1"/>
          <p:nvPr/>
        </p:nvSpPr>
        <p:spPr>
          <a:xfrm>
            <a:off x="1280160" y="5212080"/>
            <a:ext cx="10149840" cy="658368"/>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Schedule a home visit instead.</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TEST YOURSELF</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Knowledge check 1 — answer</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7 · Orders, Referrals &amp; Results Tracking</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25</a:t>
            </a:r>
            <a:endParaRPr lang="en-US" sz="900" dirty="0"/>
          </a:p>
        </p:txBody>
      </p:sp>
      <p:sp>
        <p:nvSpPr>
          <p:cNvPr id="7" name="Text 4"/>
          <p:cNvSpPr txBox="1"/>
          <p:nvPr/>
        </p:nvSpPr>
        <p:spPr>
          <a:xfrm>
            <a:off x="548640" y="1691640"/>
            <a:ext cx="11064240" cy="822960"/>
          </a:xfrm>
          <a:prstGeom prst="rect">
            <a:avLst/>
          </a:prstGeom>
          <a:noFill/>
          <a:ln/>
        </p:spPr>
        <p:txBody>
          <a:bodyPr wrap="square" lIns="0" tIns="0" rIns="0" bIns="0" rtlCol="0" anchor="t"/>
          <a:lstStyle/>
          <a:p>
            <a:pPr indent="0" marL="0">
              <a:buNone/>
            </a:pPr>
            <a:r>
              <a:rPr lang="en-US" sz="1500" dirty="0">
                <a:solidFill>
                  <a:srgbClr val="5B6773"/>
                </a:solidFill>
                <a:latin typeface="Calibri" pitchFamily="34" charset="0"/>
                <a:ea typeface="Calibri" pitchFamily="34" charset="-122"/>
                <a:cs typeface="Calibri" pitchFamily="34" charset="-120"/>
              </a:rPr>
              <a:t>A specialist's office says they will 'call the patient to schedule.' The best response is:</a:t>
            </a:r>
            <a:endParaRPr lang="en-US" sz="1500" dirty="0"/>
          </a:p>
        </p:txBody>
      </p:sp>
      <p:sp>
        <p:nvSpPr>
          <p:cNvPr id="8" name="Shape 5"/>
          <p:cNvSpPr/>
          <p:nvPr/>
        </p:nvSpPr>
        <p:spPr>
          <a:xfrm>
            <a:off x="548640" y="2606040"/>
            <a:ext cx="6309360" cy="475488"/>
          </a:xfrm>
          <a:prstGeom prst="roundRect">
            <a:avLst>
              <a:gd name="adj" fmla="val 11538"/>
            </a:avLst>
          </a:prstGeom>
          <a:solidFill>
            <a:srgbClr val="FFFFFF"/>
          </a:solidFill>
          <a:ln w="9525">
            <a:solidFill>
              <a:srgbClr val="D6DEE8"/>
            </a:solidFill>
            <a:prstDash val="solid"/>
          </a:ln>
        </p:spPr>
      </p:sp>
      <p:sp>
        <p:nvSpPr>
          <p:cNvPr id="9" name="Text 6"/>
          <p:cNvSpPr txBox="1"/>
          <p:nvPr/>
        </p:nvSpPr>
        <p:spPr>
          <a:xfrm>
            <a:off x="731520" y="2606040"/>
            <a:ext cx="5943600" cy="475488"/>
          </a:xfrm>
          <a:prstGeom prst="rect">
            <a:avLst/>
          </a:prstGeom>
          <a:noFill/>
          <a:ln/>
        </p:spPr>
        <p:txBody>
          <a:bodyPr wrap="square" lIns="0" tIns="0" rIns="0" bIns="0" rtlCol="0" anchor="ctr"/>
          <a:lstStyle/>
          <a:p>
            <a:pPr indent="0" marL="0">
              <a:buNone/>
            </a:pPr>
            <a:r>
              <a:rPr lang="en-US" sz="1200" dirty="0">
                <a:solidFill>
                  <a:srgbClr val="5B6773"/>
                </a:solidFill>
                <a:latin typeface="Calibri" pitchFamily="34" charset="0"/>
                <a:ea typeface="Calibri" pitchFamily="34" charset="-122"/>
                <a:cs typeface="Calibri" pitchFamily="34" charset="-120"/>
              </a:rPr>
              <a:t>A.  Thank them and close the referral.</a:t>
            </a:r>
            <a:endParaRPr lang="en-US" sz="1200" dirty="0"/>
          </a:p>
        </p:txBody>
      </p:sp>
      <p:sp>
        <p:nvSpPr>
          <p:cNvPr id="10" name="Shape 7"/>
          <p:cNvSpPr/>
          <p:nvPr/>
        </p:nvSpPr>
        <p:spPr>
          <a:xfrm>
            <a:off x="548640" y="3172968"/>
            <a:ext cx="6309360" cy="475488"/>
          </a:xfrm>
          <a:prstGeom prst="roundRect">
            <a:avLst>
              <a:gd name="adj" fmla="val 11538"/>
            </a:avLst>
          </a:prstGeom>
          <a:solidFill>
            <a:srgbClr val="EEF2E8"/>
          </a:solidFill>
          <a:ln w="19050">
            <a:solidFill>
              <a:srgbClr val="586C47"/>
            </a:solidFill>
            <a:prstDash val="solid"/>
          </a:ln>
        </p:spPr>
      </p:sp>
      <p:sp>
        <p:nvSpPr>
          <p:cNvPr id="11" name="Text 8"/>
          <p:cNvSpPr txBox="1"/>
          <p:nvPr/>
        </p:nvSpPr>
        <p:spPr>
          <a:xfrm>
            <a:off x="731520" y="3172968"/>
            <a:ext cx="5943600" cy="475488"/>
          </a:xfrm>
          <a:prstGeom prst="rect">
            <a:avLst/>
          </a:prstGeom>
          <a:noFill/>
          <a:ln/>
        </p:spPr>
        <p:txBody>
          <a:bodyPr wrap="square" lIns="0" tIns="0" rIns="0" bIns="0" rtlCol="0" anchor="ctr"/>
          <a:lstStyle/>
          <a:p>
            <a:pPr indent="0" marL="0">
              <a:buNone/>
            </a:pPr>
            <a:r>
              <a:rPr lang="en-US" sz="1200" b="1" dirty="0">
                <a:solidFill>
                  <a:srgbClr val="586C47"/>
                </a:solidFill>
                <a:latin typeface="Calibri" pitchFamily="34" charset="0"/>
                <a:ea typeface="Calibri" pitchFamily="34" charset="-122"/>
                <a:cs typeface="Calibri" pitchFamily="34" charset="-120"/>
              </a:rPr>
              <a:t>B.  Ask them to call the caregiver instead, provide the number, and set a follow-up date to confirm an appointment was made.</a:t>
            </a:r>
            <a:endParaRPr lang="en-US" sz="1200" dirty="0"/>
          </a:p>
        </p:txBody>
      </p:sp>
      <p:sp>
        <p:nvSpPr>
          <p:cNvPr id="12" name="Shape 9"/>
          <p:cNvSpPr/>
          <p:nvPr/>
        </p:nvSpPr>
        <p:spPr>
          <a:xfrm>
            <a:off x="548640" y="3739896"/>
            <a:ext cx="6309360" cy="475488"/>
          </a:xfrm>
          <a:prstGeom prst="roundRect">
            <a:avLst>
              <a:gd name="adj" fmla="val 11538"/>
            </a:avLst>
          </a:prstGeom>
          <a:solidFill>
            <a:srgbClr val="FFFFFF"/>
          </a:solidFill>
          <a:ln w="9525">
            <a:solidFill>
              <a:srgbClr val="D6DEE8"/>
            </a:solidFill>
            <a:prstDash val="solid"/>
          </a:ln>
        </p:spPr>
      </p:sp>
      <p:sp>
        <p:nvSpPr>
          <p:cNvPr id="13" name="Text 10"/>
          <p:cNvSpPr txBox="1"/>
          <p:nvPr/>
        </p:nvSpPr>
        <p:spPr>
          <a:xfrm>
            <a:off x="731520" y="3739896"/>
            <a:ext cx="5943600" cy="475488"/>
          </a:xfrm>
          <a:prstGeom prst="rect">
            <a:avLst/>
          </a:prstGeom>
          <a:noFill/>
          <a:ln/>
        </p:spPr>
        <p:txBody>
          <a:bodyPr wrap="square" lIns="0" tIns="0" rIns="0" bIns="0" rtlCol="0" anchor="ctr"/>
          <a:lstStyle/>
          <a:p>
            <a:pPr indent="0" marL="0">
              <a:buNone/>
            </a:pPr>
            <a:r>
              <a:rPr lang="en-US" sz="1200" dirty="0">
                <a:solidFill>
                  <a:srgbClr val="5B6773"/>
                </a:solidFill>
                <a:latin typeface="Calibri" pitchFamily="34" charset="0"/>
                <a:ea typeface="Calibri" pitchFamily="34" charset="-122"/>
                <a:cs typeface="Calibri" pitchFamily="34" charset="-120"/>
              </a:rPr>
              <a:t>C.  Tell the caregiver to expect a call.</a:t>
            </a:r>
            <a:endParaRPr lang="en-US" sz="1200" dirty="0"/>
          </a:p>
        </p:txBody>
      </p:sp>
      <p:sp>
        <p:nvSpPr>
          <p:cNvPr id="14" name="Shape 11"/>
          <p:cNvSpPr/>
          <p:nvPr/>
        </p:nvSpPr>
        <p:spPr>
          <a:xfrm>
            <a:off x="548640" y="4306824"/>
            <a:ext cx="6309360" cy="475488"/>
          </a:xfrm>
          <a:prstGeom prst="roundRect">
            <a:avLst>
              <a:gd name="adj" fmla="val 11538"/>
            </a:avLst>
          </a:prstGeom>
          <a:solidFill>
            <a:srgbClr val="FFFFFF"/>
          </a:solidFill>
          <a:ln w="9525">
            <a:solidFill>
              <a:srgbClr val="D6DEE8"/>
            </a:solidFill>
            <a:prstDash val="solid"/>
          </a:ln>
        </p:spPr>
      </p:sp>
      <p:sp>
        <p:nvSpPr>
          <p:cNvPr id="15" name="Text 12"/>
          <p:cNvSpPr txBox="1"/>
          <p:nvPr/>
        </p:nvSpPr>
        <p:spPr>
          <a:xfrm>
            <a:off x="731520" y="4306824"/>
            <a:ext cx="5943600" cy="475488"/>
          </a:xfrm>
          <a:prstGeom prst="rect">
            <a:avLst/>
          </a:prstGeom>
          <a:noFill/>
          <a:ln/>
        </p:spPr>
        <p:txBody>
          <a:bodyPr wrap="square" lIns="0" tIns="0" rIns="0" bIns="0" rtlCol="0" anchor="ctr"/>
          <a:lstStyle/>
          <a:p>
            <a:pPr indent="0" marL="0">
              <a:buNone/>
            </a:pPr>
            <a:r>
              <a:rPr lang="en-US" sz="1200" dirty="0">
                <a:solidFill>
                  <a:srgbClr val="5B6773"/>
                </a:solidFill>
                <a:latin typeface="Calibri" pitchFamily="34" charset="0"/>
                <a:ea typeface="Calibri" pitchFamily="34" charset="-122"/>
                <a:cs typeface="Calibri" pitchFamily="34" charset="-120"/>
              </a:rPr>
              <a:t>D.  Schedule a home visit instead.</a:t>
            </a:r>
            <a:endParaRPr lang="en-US" sz="1200" dirty="0"/>
          </a:p>
        </p:txBody>
      </p:sp>
      <p:sp>
        <p:nvSpPr>
          <p:cNvPr id="16" name="Shape 13"/>
          <p:cNvSpPr/>
          <p:nvPr/>
        </p:nvSpPr>
        <p:spPr>
          <a:xfrm>
            <a:off x="7223760" y="2606040"/>
            <a:ext cx="4434840" cy="3520440"/>
          </a:xfrm>
          <a:prstGeom prst="roundRect">
            <a:avLst>
              <a:gd name="adj" fmla="val 3117"/>
            </a:avLst>
          </a:prstGeom>
          <a:solidFill>
            <a:srgbClr val="586C47"/>
          </a:solidFill>
          <a:ln w="12700">
            <a:solidFill>
              <a:srgbClr val="586C47"/>
            </a:solidFill>
            <a:prstDash val="solid"/>
          </a:ln>
        </p:spPr>
      </p:sp>
      <p:pic>
        <p:nvPicPr>
          <p:cNvPr id="17" name="Image 1" descr="preencoded.png">    </p:cNvPr>
          <p:cNvPicPr>
            <a:picLocks noChangeAspect="1"/>
          </p:cNvPicPr>
          <p:nvPr/>
        </p:nvPicPr>
        <p:blipFill>
          <a:blip r:embed="rId2"/>
          <a:stretch>
            <a:fillRect/>
          </a:stretch>
        </p:blipFill>
        <p:spPr>
          <a:xfrm>
            <a:off x="7498080" y="2880360"/>
            <a:ext cx="457200" cy="457200"/>
          </a:xfrm>
          <a:prstGeom prst="rect">
            <a:avLst/>
          </a:prstGeom>
        </p:spPr>
      </p:pic>
      <p:sp>
        <p:nvSpPr>
          <p:cNvPr id="18" name="Text 14"/>
          <p:cNvSpPr txBox="1"/>
          <p:nvPr/>
        </p:nvSpPr>
        <p:spPr>
          <a:xfrm>
            <a:off x="8092440" y="2880360"/>
            <a:ext cx="3383280" cy="45720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Correct answer: B</a:t>
            </a:r>
            <a:endParaRPr lang="en-US" sz="1800" dirty="0"/>
          </a:p>
        </p:txBody>
      </p:sp>
      <p:sp>
        <p:nvSpPr>
          <p:cNvPr id="19" name="Text 15"/>
          <p:cNvSpPr txBox="1"/>
          <p:nvPr/>
        </p:nvSpPr>
        <p:spPr>
          <a:xfrm>
            <a:off x="7498080" y="3520440"/>
            <a:ext cx="3886200" cy="246888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A patient with dementia is not a reliable scheduling contact. Redirect to the caregiver and keep the loop open with a follow-up date until the appointment is confirmed.</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TEST YOURSELF</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Knowledge check 2</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7 · Orders, Referrals &amp; Results Tracking</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26</a:t>
            </a:r>
            <a:endParaRPr lang="en-US" sz="900" dirty="0"/>
          </a:p>
        </p:txBody>
      </p:sp>
      <p:sp>
        <p:nvSpPr>
          <p:cNvPr id="7" name="Text 4"/>
          <p:cNvSpPr txBox="1"/>
          <p:nvPr/>
        </p:nvSpPr>
        <p:spPr>
          <a:xfrm>
            <a:off x="548640" y="1691640"/>
            <a:ext cx="11064240" cy="1005840"/>
          </a:xfrm>
          <a:prstGeom prst="rect">
            <a:avLst/>
          </a:prstGeom>
          <a:noFill/>
          <a:ln/>
        </p:spPr>
        <p:txBody>
          <a:bodyPr wrap="square" lIns="0" tIns="0" rIns="0" bIns="0" rtlCol="0" anchor="t"/>
          <a:lstStyle/>
          <a:p>
            <a:pPr indent="0" marL="0">
              <a:buNone/>
            </a:pPr>
            <a:r>
              <a:rPr lang="en-US" sz="1800" b="1" dirty="0">
                <a:solidFill>
                  <a:srgbClr val="1F2933"/>
                </a:solidFill>
                <a:latin typeface="Calibri" pitchFamily="34" charset="0"/>
                <a:ea typeface="Calibri" pitchFamily="34" charset="-122"/>
                <a:cs typeface="Calibri" pitchFamily="34" charset="-120"/>
              </a:rPr>
              <a:t>A lab result arrives electronically and is matched to the order. Your next step is:</a:t>
            </a:r>
            <a:endParaRPr lang="en-US" sz="1800" dirty="0"/>
          </a:p>
        </p:txBody>
      </p:sp>
      <p:sp>
        <p:nvSpPr>
          <p:cNvPr id="8" name="Shape 5"/>
          <p:cNvSpPr/>
          <p:nvPr/>
        </p:nvSpPr>
        <p:spPr>
          <a:xfrm>
            <a:off x="548640" y="2880360"/>
            <a:ext cx="11091672" cy="658368"/>
          </a:xfrm>
          <a:prstGeom prst="roundRect">
            <a:avLst>
              <a:gd name="adj" fmla="val 11111"/>
            </a:avLst>
          </a:prstGeom>
          <a:solidFill>
            <a:srgbClr val="FFFFFF"/>
          </a:solidFill>
          <a:ln w="12700">
            <a:solidFill>
              <a:srgbClr val="D6DEE8"/>
            </a:solidFill>
            <a:prstDash val="solid"/>
          </a:ln>
        </p:spPr>
      </p:sp>
      <p:sp>
        <p:nvSpPr>
          <p:cNvPr id="9" name="Shape 6"/>
          <p:cNvSpPr/>
          <p:nvPr/>
        </p:nvSpPr>
        <p:spPr>
          <a:xfrm>
            <a:off x="731520" y="3026664"/>
            <a:ext cx="365760" cy="365760"/>
          </a:xfrm>
          <a:prstGeom prst="ellipse">
            <a:avLst/>
          </a:prstGeom>
          <a:solidFill>
            <a:srgbClr val="EAF1FA"/>
          </a:solidFill>
          <a:ln w="12700">
            <a:solidFill>
              <a:srgbClr val="EAF1FA"/>
            </a:solidFill>
            <a:prstDash val="solid"/>
          </a:ln>
        </p:spPr>
      </p:sp>
      <p:sp>
        <p:nvSpPr>
          <p:cNvPr id="10" name="Text 7"/>
          <p:cNvSpPr txBox="1"/>
          <p:nvPr/>
        </p:nvSpPr>
        <p:spPr>
          <a:xfrm>
            <a:off x="731520" y="3026664"/>
            <a:ext cx="365760" cy="365760"/>
          </a:xfrm>
          <a:prstGeom prst="rect">
            <a:avLst/>
          </a:prstGeom>
          <a:noFill/>
          <a:ln/>
        </p:spPr>
        <p:txBody>
          <a:bodyPr wrap="square" lIns="0" tIns="0" rIns="0" bIns="0" rtlCol="0" anchor="ctr"/>
          <a:lstStyle/>
          <a:p>
            <a:pPr algn="ctr" indent="0" marL="0">
              <a:buNone/>
            </a:pPr>
            <a:r>
              <a:rPr lang="en-US" sz="1200" b="1" dirty="0">
                <a:solidFill>
                  <a:srgbClr val="1E4A87"/>
                </a:solidFill>
                <a:latin typeface="Calibri" pitchFamily="34" charset="0"/>
                <a:ea typeface="Calibri" pitchFamily="34" charset="-122"/>
                <a:cs typeface="Calibri" pitchFamily="34" charset="-120"/>
              </a:rPr>
              <a:t>A</a:t>
            </a:r>
            <a:endParaRPr lang="en-US" sz="1200" dirty="0"/>
          </a:p>
        </p:txBody>
      </p:sp>
      <p:sp>
        <p:nvSpPr>
          <p:cNvPr id="11" name="Text 8"/>
          <p:cNvSpPr txBox="1"/>
          <p:nvPr/>
        </p:nvSpPr>
        <p:spPr>
          <a:xfrm>
            <a:off x="1280160" y="2880360"/>
            <a:ext cx="10149840" cy="658368"/>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Call the caregiver with the values.</a:t>
            </a:r>
            <a:endParaRPr lang="en-US" sz="1400" dirty="0"/>
          </a:p>
        </p:txBody>
      </p:sp>
      <p:sp>
        <p:nvSpPr>
          <p:cNvPr id="12" name="Shape 9"/>
          <p:cNvSpPr/>
          <p:nvPr/>
        </p:nvSpPr>
        <p:spPr>
          <a:xfrm>
            <a:off x="548640" y="3657600"/>
            <a:ext cx="11091672" cy="658368"/>
          </a:xfrm>
          <a:prstGeom prst="roundRect">
            <a:avLst>
              <a:gd name="adj" fmla="val 11111"/>
            </a:avLst>
          </a:prstGeom>
          <a:solidFill>
            <a:srgbClr val="FFFFFF"/>
          </a:solidFill>
          <a:ln w="12700">
            <a:solidFill>
              <a:srgbClr val="D6DEE8"/>
            </a:solidFill>
            <a:prstDash val="solid"/>
          </a:ln>
        </p:spPr>
      </p:sp>
      <p:sp>
        <p:nvSpPr>
          <p:cNvPr id="13" name="Shape 10"/>
          <p:cNvSpPr/>
          <p:nvPr/>
        </p:nvSpPr>
        <p:spPr>
          <a:xfrm>
            <a:off x="731520" y="3803904"/>
            <a:ext cx="365760" cy="365760"/>
          </a:xfrm>
          <a:prstGeom prst="ellipse">
            <a:avLst/>
          </a:prstGeom>
          <a:solidFill>
            <a:srgbClr val="EAF1FA"/>
          </a:solidFill>
          <a:ln w="12700">
            <a:solidFill>
              <a:srgbClr val="EAF1FA"/>
            </a:solidFill>
            <a:prstDash val="solid"/>
          </a:ln>
        </p:spPr>
      </p:sp>
      <p:sp>
        <p:nvSpPr>
          <p:cNvPr id="14" name="Text 11"/>
          <p:cNvSpPr txBox="1"/>
          <p:nvPr/>
        </p:nvSpPr>
        <p:spPr>
          <a:xfrm>
            <a:off x="731520" y="3803904"/>
            <a:ext cx="365760" cy="365760"/>
          </a:xfrm>
          <a:prstGeom prst="rect">
            <a:avLst/>
          </a:prstGeom>
          <a:noFill/>
          <a:ln/>
        </p:spPr>
        <p:txBody>
          <a:bodyPr wrap="square" lIns="0" tIns="0" rIns="0" bIns="0" rtlCol="0" anchor="ctr"/>
          <a:lstStyle/>
          <a:p>
            <a:pPr algn="ctr" indent="0" marL="0">
              <a:buNone/>
            </a:pPr>
            <a:r>
              <a:rPr lang="en-US" sz="1200" b="1" dirty="0">
                <a:solidFill>
                  <a:srgbClr val="1E4A87"/>
                </a:solidFill>
                <a:latin typeface="Calibri" pitchFamily="34" charset="0"/>
                <a:ea typeface="Calibri" pitchFamily="34" charset="-122"/>
                <a:cs typeface="Calibri" pitchFamily="34" charset="-120"/>
              </a:rPr>
              <a:t>B</a:t>
            </a:r>
            <a:endParaRPr lang="en-US" sz="1200" dirty="0"/>
          </a:p>
        </p:txBody>
      </p:sp>
      <p:sp>
        <p:nvSpPr>
          <p:cNvPr id="15" name="Text 12"/>
          <p:cNvSpPr txBox="1"/>
          <p:nvPr/>
        </p:nvSpPr>
        <p:spPr>
          <a:xfrm>
            <a:off x="1280160" y="3657600"/>
            <a:ext cx="10149840" cy="658368"/>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Nothing — it routes to the provider automatically; you confirm it matched and watch for provider follow-up actions.</a:t>
            </a:r>
            <a:endParaRPr lang="en-US" sz="1400" dirty="0"/>
          </a:p>
        </p:txBody>
      </p:sp>
      <p:sp>
        <p:nvSpPr>
          <p:cNvPr id="16" name="Shape 13"/>
          <p:cNvSpPr/>
          <p:nvPr/>
        </p:nvSpPr>
        <p:spPr>
          <a:xfrm>
            <a:off x="548640" y="4434840"/>
            <a:ext cx="11091672" cy="658368"/>
          </a:xfrm>
          <a:prstGeom prst="roundRect">
            <a:avLst>
              <a:gd name="adj" fmla="val 11111"/>
            </a:avLst>
          </a:prstGeom>
          <a:solidFill>
            <a:srgbClr val="FFFFFF"/>
          </a:solidFill>
          <a:ln w="12700">
            <a:solidFill>
              <a:srgbClr val="D6DEE8"/>
            </a:solidFill>
            <a:prstDash val="solid"/>
          </a:ln>
        </p:spPr>
      </p:sp>
      <p:sp>
        <p:nvSpPr>
          <p:cNvPr id="17" name="Shape 14"/>
          <p:cNvSpPr/>
          <p:nvPr/>
        </p:nvSpPr>
        <p:spPr>
          <a:xfrm>
            <a:off x="731520" y="4581144"/>
            <a:ext cx="365760" cy="365760"/>
          </a:xfrm>
          <a:prstGeom prst="ellipse">
            <a:avLst/>
          </a:prstGeom>
          <a:solidFill>
            <a:srgbClr val="EAF1FA"/>
          </a:solidFill>
          <a:ln w="12700">
            <a:solidFill>
              <a:srgbClr val="EAF1FA"/>
            </a:solidFill>
            <a:prstDash val="solid"/>
          </a:ln>
        </p:spPr>
      </p:sp>
      <p:sp>
        <p:nvSpPr>
          <p:cNvPr id="18" name="Text 15"/>
          <p:cNvSpPr txBox="1"/>
          <p:nvPr/>
        </p:nvSpPr>
        <p:spPr>
          <a:xfrm>
            <a:off x="731520" y="4581144"/>
            <a:ext cx="365760" cy="365760"/>
          </a:xfrm>
          <a:prstGeom prst="rect">
            <a:avLst/>
          </a:prstGeom>
          <a:noFill/>
          <a:ln/>
        </p:spPr>
        <p:txBody>
          <a:bodyPr wrap="square" lIns="0" tIns="0" rIns="0" bIns="0" rtlCol="0" anchor="ctr"/>
          <a:lstStyle/>
          <a:p>
            <a:pPr algn="ctr" indent="0" marL="0">
              <a:buNone/>
            </a:pPr>
            <a:r>
              <a:rPr lang="en-US" sz="1200" b="1" dirty="0">
                <a:solidFill>
                  <a:srgbClr val="1E4A87"/>
                </a:solidFill>
                <a:latin typeface="Calibri" pitchFamily="34" charset="0"/>
                <a:ea typeface="Calibri" pitchFamily="34" charset="-122"/>
                <a:cs typeface="Calibri" pitchFamily="34" charset="-120"/>
              </a:rPr>
              <a:t>C</a:t>
            </a:r>
            <a:endParaRPr lang="en-US" sz="1200" dirty="0"/>
          </a:p>
        </p:txBody>
      </p:sp>
      <p:sp>
        <p:nvSpPr>
          <p:cNvPr id="19" name="Text 16"/>
          <p:cNvSpPr txBox="1"/>
          <p:nvPr/>
        </p:nvSpPr>
        <p:spPr>
          <a:xfrm>
            <a:off x="1280160" y="4434840"/>
            <a:ext cx="10149840" cy="658368"/>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Close the order.</a:t>
            </a:r>
            <a:endParaRPr lang="en-US" sz="1400" dirty="0"/>
          </a:p>
        </p:txBody>
      </p:sp>
      <p:sp>
        <p:nvSpPr>
          <p:cNvPr id="20" name="Shape 17"/>
          <p:cNvSpPr/>
          <p:nvPr/>
        </p:nvSpPr>
        <p:spPr>
          <a:xfrm>
            <a:off x="548640" y="5212080"/>
            <a:ext cx="11091672" cy="658368"/>
          </a:xfrm>
          <a:prstGeom prst="roundRect">
            <a:avLst>
              <a:gd name="adj" fmla="val 11111"/>
            </a:avLst>
          </a:prstGeom>
          <a:solidFill>
            <a:srgbClr val="FFFFFF"/>
          </a:solidFill>
          <a:ln w="12700">
            <a:solidFill>
              <a:srgbClr val="D6DEE8"/>
            </a:solidFill>
            <a:prstDash val="solid"/>
          </a:ln>
        </p:spPr>
      </p:sp>
      <p:sp>
        <p:nvSpPr>
          <p:cNvPr id="21" name="Shape 18"/>
          <p:cNvSpPr/>
          <p:nvPr/>
        </p:nvSpPr>
        <p:spPr>
          <a:xfrm>
            <a:off x="731520" y="5358384"/>
            <a:ext cx="365760" cy="365760"/>
          </a:xfrm>
          <a:prstGeom prst="ellipse">
            <a:avLst/>
          </a:prstGeom>
          <a:solidFill>
            <a:srgbClr val="EAF1FA"/>
          </a:solidFill>
          <a:ln w="12700">
            <a:solidFill>
              <a:srgbClr val="EAF1FA"/>
            </a:solidFill>
            <a:prstDash val="solid"/>
          </a:ln>
        </p:spPr>
      </p:sp>
      <p:sp>
        <p:nvSpPr>
          <p:cNvPr id="22" name="Text 19"/>
          <p:cNvSpPr txBox="1"/>
          <p:nvPr/>
        </p:nvSpPr>
        <p:spPr>
          <a:xfrm>
            <a:off x="731520" y="5358384"/>
            <a:ext cx="365760" cy="365760"/>
          </a:xfrm>
          <a:prstGeom prst="rect">
            <a:avLst/>
          </a:prstGeom>
          <a:noFill/>
          <a:ln/>
        </p:spPr>
        <p:txBody>
          <a:bodyPr wrap="square" lIns="0" tIns="0" rIns="0" bIns="0" rtlCol="0" anchor="ctr"/>
          <a:lstStyle/>
          <a:p>
            <a:pPr algn="ctr" indent="0" marL="0">
              <a:buNone/>
            </a:pPr>
            <a:r>
              <a:rPr lang="en-US" sz="1200" b="1" dirty="0">
                <a:solidFill>
                  <a:srgbClr val="1E4A87"/>
                </a:solidFill>
                <a:latin typeface="Calibri" pitchFamily="34" charset="0"/>
                <a:ea typeface="Calibri" pitchFamily="34" charset="-122"/>
                <a:cs typeface="Calibri" pitchFamily="34" charset="-120"/>
              </a:rPr>
              <a:t>D</a:t>
            </a:r>
            <a:endParaRPr lang="en-US" sz="1200" dirty="0"/>
          </a:p>
        </p:txBody>
      </p:sp>
      <p:sp>
        <p:nvSpPr>
          <p:cNvPr id="23" name="Text 20"/>
          <p:cNvSpPr txBox="1"/>
          <p:nvPr/>
        </p:nvSpPr>
        <p:spPr>
          <a:xfrm>
            <a:off x="1280160" y="5212080"/>
            <a:ext cx="10149840" cy="658368"/>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Print it for the chart.</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TEST YOURSELF</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Knowledge check 2 — answer</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7 · Orders, Referrals &amp; Results Tracking</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27</a:t>
            </a:r>
            <a:endParaRPr lang="en-US" sz="900" dirty="0"/>
          </a:p>
        </p:txBody>
      </p:sp>
      <p:sp>
        <p:nvSpPr>
          <p:cNvPr id="7" name="Text 4"/>
          <p:cNvSpPr txBox="1"/>
          <p:nvPr/>
        </p:nvSpPr>
        <p:spPr>
          <a:xfrm>
            <a:off x="548640" y="1691640"/>
            <a:ext cx="11064240" cy="822960"/>
          </a:xfrm>
          <a:prstGeom prst="rect">
            <a:avLst/>
          </a:prstGeom>
          <a:noFill/>
          <a:ln/>
        </p:spPr>
        <p:txBody>
          <a:bodyPr wrap="square" lIns="0" tIns="0" rIns="0" bIns="0" rtlCol="0" anchor="t"/>
          <a:lstStyle/>
          <a:p>
            <a:pPr indent="0" marL="0">
              <a:buNone/>
            </a:pPr>
            <a:r>
              <a:rPr lang="en-US" sz="1500" dirty="0">
                <a:solidFill>
                  <a:srgbClr val="5B6773"/>
                </a:solidFill>
                <a:latin typeface="Calibri" pitchFamily="34" charset="0"/>
                <a:ea typeface="Calibri" pitchFamily="34" charset="-122"/>
                <a:cs typeface="Calibri" pitchFamily="34" charset="-120"/>
              </a:rPr>
              <a:t>A lab result arrives electronically and is matched to the order. Your next step is:</a:t>
            </a:r>
            <a:endParaRPr lang="en-US" sz="1500" dirty="0"/>
          </a:p>
        </p:txBody>
      </p:sp>
      <p:sp>
        <p:nvSpPr>
          <p:cNvPr id="8" name="Shape 5"/>
          <p:cNvSpPr/>
          <p:nvPr/>
        </p:nvSpPr>
        <p:spPr>
          <a:xfrm>
            <a:off x="548640" y="2606040"/>
            <a:ext cx="6309360" cy="475488"/>
          </a:xfrm>
          <a:prstGeom prst="roundRect">
            <a:avLst>
              <a:gd name="adj" fmla="val 11538"/>
            </a:avLst>
          </a:prstGeom>
          <a:solidFill>
            <a:srgbClr val="FFFFFF"/>
          </a:solidFill>
          <a:ln w="9525">
            <a:solidFill>
              <a:srgbClr val="D6DEE8"/>
            </a:solidFill>
            <a:prstDash val="solid"/>
          </a:ln>
        </p:spPr>
      </p:sp>
      <p:sp>
        <p:nvSpPr>
          <p:cNvPr id="9" name="Text 6"/>
          <p:cNvSpPr txBox="1"/>
          <p:nvPr/>
        </p:nvSpPr>
        <p:spPr>
          <a:xfrm>
            <a:off x="731520" y="2606040"/>
            <a:ext cx="5943600" cy="475488"/>
          </a:xfrm>
          <a:prstGeom prst="rect">
            <a:avLst/>
          </a:prstGeom>
          <a:noFill/>
          <a:ln/>
        </p:spPr>
        <p:txBody>
          <a:bodyPr wrap="square" lIns="0" tIns="0" rIns="0" bIns="0" rtlCol="0" anchor="ctr"/>
          <a:lstStyle/>
          <a:p>
            <a:pPr indent="0" marL="0">
              <a:buNone/>
            </a:pPr>
            <a:r>
              <a:rPr lang="en-US" sz="1200" dirty="0">
                <a:solidFill>
                  <a:srgbClr val="5B6773"/>
                </a:solidFill>
                <a:latin typeface="Calibri" pitchFamily="34" charset="0"/>
                <a:ea typeface="Calibri" pitchFamily="34" charset="-122"/>
                <a:cs typeface="Calibri" pitchFamily="34" charset="-120"/>
              </a:rPr>
              <a:t>A.  Call the caregiver with the values.</a:t>
            </a:r>
            <a:endParaRPr lang="en-US" sz="1200" dirty="0"/>
          </a:p>
        </p:txBody>
      </p:sp>
      <p:sp>
        <p:nvSpPr>
          <p:cNvPr id="10" name="Shape 7"/>
          <p:cNvSpPr/>
          <p:nvPr/>
        </p:nvSpPr>
        <p:spPr>
          <a:xfrm>
            <a:off x="548640" y="3172968"/>
            <a:ext cx="6309360" cy="475488"/>
          </a:xfrm>
          <a:prstGeom prst="roundRect">
            <a:avLst>
              <a:gd name="adj" fmla="val 11538"/>
            </a:avLst>
          </a:prstGeom>
          <a:solidFill>
            <a:srgbClr val="EEF2E8"/>
          </a:solidFill>
          <a:ln w="19050">
            <a:solidFill>
              <a:srgbClr val="586C47"/>
            </a:solidFill>
            <a:prstDash val="solid"/>
          </a:ln>
        </p:spPr>
      </p:sp>
      <p:sp>
        <p:nvSpPr>
          <p:cNvPr id="11" name="Text 8"/>
          <p:cNvSpPr txBox="1"/>
          <p:nvPr/>
        </p:nvSpPr>
        <p:spPr>
          <a:xfrm>
            <a:off x="731520" y="3172968"/>
            <a:ext cx="5943600" cy="475488"/>
          </a:xfrm>
          <a:prstGeom prst="rect">
            <a:avLst/>
          </a:prstGeom>
          <a:noFill/>
          <a:ln/>
        </p:spPr>
        <p:txBody>
          <a:bodyPr wrap="square" lIns="0" tIns="0" rIns="0" bIns="0" rtlCol="0" anchor="ctr"/>
          <a:lstStyle/>
          <a:p>
            <a:pPr indent="0" marL="0">
              <a:buNone/>
            </a:pPr>
            <a:r>
              <a:rPr lang="en-US" sz="1200" b="1" dirty="0">
                <a:solidFill>
                  <a:srgbClr val="586C47"/>
                </a:solidFill>
                <a:latin typeface="Calibri" pitchFamily="34" charset="0"/>
                <a:ea typeface="Calibri" pitchFamily="34" charset="-122"/>
                <a:cs typeface="Calibri" pitchFamily="34" charset="-120"/>
              </a:rPr>
              <a:t>B.  Nothing — it routes to the provider automatically; you confirm it matched and watch for provider follow-up actions.</a:t>
            </a:r>
            <a:endParaRPr lang="en-US" sz="1200" dirty="0"/>
          </a:p>
        </p:txBody>
      </p:sp>
      <p:sp>
        <p:nvSpPr>
          <p:cNvPr id="12" name="Shape 9"/>
          <p:cNvSpPr/>
          <p:nvPr/>
        </p:nvSpPr>
        <p:spPr>
          <a:xfrm>
            <a:off x="548640" y="3739896"/>
            <a:ext cx="6309360" cy="475488"/>
          </a:xfrm>
          <a:prstGeom prst="roundRect">
            <a:avLst>
              <a:gd name="adj" fmla="val 11538"/>
            </a:avLst>
          </a:prstGeom>
          <a:solidFill>
            <a:srgbClr val="FFFFFF"/>
          </a:solidFill>
          <a:ln w="9525">
            <a:solidFill>
              <a:srgbClr val="D6DEE8"/>
            </a:solidFill>
            <a:prstDash val="solid"/>
          </a:ln>
        </p:spPr>
      </p:sp>
      <p:sp>
        <p:nvSpPr>
          <p:cNvPr id="13" name="Text 10"/>
          <p:cNvSpPr txBox="1"/>
          <p:nvPr/>
        </p:nvSpPr>
        <p:spPr>
          <a:xfrm>
            <a:off x="731520" y="3739896"/>
            <a:ext cx="5943600" cy="475488"/>
          </a:xfrm>
          <a:prstGeom prst="rect">
            <a:avLst/>
          </a:prstGeom>
          <a:noFill/>
          <a:ln/>
        </p:spPr>
        <p:txBody>
          <a:bodyPr wrap="square" lIns="0" tIns="0" rIns="0" bIns="0" rtlCol="0" anchor="ctr"/>
          <a:lstStyle/>
          <a:p>
            <a:pPr indent="0" marL="0">
              <a:buNone/>
            </a:pPr>
            <a:r>
              <a:rPr lang="en-US" sz="1200" dirty="0">
                <a:solidFill>
                  <a:srgbClr val="5B6773"/>
                </a:solidFill>
                <a:latin typeface="Calibri" pitchFamily="34" charset="0"/>
                <a:ea typeface="Calibri" pitchFamily="34" charset="-122"/>
                <a:cs typeface="Calibri" pitchFamily="34" charset="-120"/>
              </a:rPr>
              <a:t>C.  Close the order.</a:t>
            </a:r>
            <a:endParaRPr lang="en-US" sz="1200" dirty="0"/>
          </a:p>
        </p:txBody>
      </p:sp>
      <p:sp>
        <p:nvSpPr>
          <p:cNvPr id="14" name="Shape 11"/>
          <p:cNvSpPr/>
          <p:nvPr/>
        </p:nvSpPr>
        <p:spPr>
          <a:xfrm>
            <a:off x="548640" y="4306824"/>
            <a:ext cx="6309360" cy="475488"/>
          </a:xfrm>
          <a:prstGeom prst="roundRect">
            <a:avLst>
              <a:gd name="adj" fmla="val 11538"/>
            </a:avLst>
          </a:prstGeom>
          <a:solidFill>
            <a:srgbClr val="FFFFFF"/>
          </a:solidFill>
          <a:ln w="9525">
            <a:solidFill>
              <a:srgbClr val="D6DEE8"/>
            </a:solidFill>
            <a:prstDash val="solid"/>
          </a:ln>
        </p:spPr>
      </p:sp>
      <p:sp>
        <p:nvSpPr>
          <p:cNvPr id="15" name="Text 12"/>
          <p:cNvSpPr txBox="1"/>
          <p:nvPr/>
        </p:nvSpPr>
        <p:spPr>
          <a:xfrm>
            <a:off x="731520" y="4306824"/>
            <a:ext cx="5943600" cy="475488"/>
          </a:xfrm>
          <a:prstGeom prst="rect">
            <a:avLst/>
          </a:prstGeom>
          <a:noFill/>
          <a:ln/>
        </p:spPr>
        <p:txBody>
          <a:bodyPr wrap="square" lIns="0" tIns="0" rIns="0" bIns="0" rtlCol="0" anchor="ctr"/>
          <a:lstStyle/>
          <a:p>
            <a:pPr indent="0" marL="0">
              <a:buNone/>
            </a:pPr>
            <a:r>
              <a:rPr lang="en-US" sz="1200" dirty="0">
                <a:solidFill>
                  <a:srgbClr val="5B6773"/>
                </a:solidFill>
                <a:latin typeface="Calibri" pitchFamily="34" charset="0"/>
                <a:ea typeface="Calibri" pitchFamily="34" charset="-122"/>
                <a:cs typeface="Calibri" pitchFamily="34" charset="-120"/>
              </a:rPr>
              <a:t>D.  Print it for the chart.</a:t>
            </a:r>
            <a:endParaRPr lang="en-US" sz="1200" dirty="0"/>
          </a:p>
        </p:txBody>
      </p:sp>
      <p:sp>
        <p:nvSpPr>
          <p:cNvPr id="16" name="Shape 13"/>
          <p:cNvSpPr/>
          <p:nvPr/>
        </p:nvSpPr>
        <p:spPr>
          <a:xfrm>
            <a:off x="7223760" y="2606040"/>
            <a:ext cx="4434840" cy="3520440"/>
          </a:xfrm>
          <a:prstGeom prst="roundRect">
            <a:avLst>
              <a:gd name="adj" fmla="val 3117"/>
            </a:avLst>
          </a:prstGeom>
          <a:solidFill>
            <a:srgbClr val="586C47"/>
          </a:solidFill>
          <a:ln w="12700">
            <a:solidFill>
              <a:srgbClr val="586C47"/>
            </a:solidFill>
            <a:prstDash val="solid"/>
          </a:ln>
        </p:spPr>
      </p:sp>
      <p:pic>
        <p:nvPicPr>
          <p:cNvPr id="17" name="Image 1" descr="preencoded.png">    </p:cNvPr>
          <p:cNvPicPr>
            <a:picLocks noChangeAspect="1"/>
          </p:cNvPicPr>
          <p:nvPr/>
        </p:nvPicPr>
        <p:blipFill>
          <a:blip r:embed="rId2"/>
          <a:stretch>
            <a:fillRect/>
          </a:stretch>
        </p:blipFill>
        <p:spPr>
          <a:xfrm>
            <a:off x="7498080" y="2880360"/>
            <a:ext cx="457200" cy="457200"/>
          </a:xfrm>
          <a:prstGeom prst="rect">
            <a:avLst/>
          </a:prstGeom>
        </p:spPr>
      </p:pic>
      <p:sp>
        <p:nvSpPr>
          <p:cNvPr id="18" name="Text 14"/>
          <p:cNvSpPr txBox="1"/>
          <p:nvPr/>
        </p:nvSpPr>
        <p:spPr>
          <a:xfrm>
            <a:off x="8092440" y="2880360"/>
            <a:ext cx="3383280" cy="45720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Correct answer: B</a:t>
            </a:r>
            <a:endParaRPr lang="en-US" sz="1800" dirty="0"/>
          </a:p>
        </p:txBody>
      </p:sp>
      <p:sp>
        <p:nvSpPr>
          <p:cNvPr id="19" name="Text 15"/>
          <p:cNvSpPr txBox="1"/>
          <p:nvPr/>
        </p:nvSpPr>
        <p:spPr>
          <a:xfrm>
            <a:off x="7498080" y="3520440"/>
            <a:ext cx="3886200" cy="246888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Matched electronic results route to the provider. Your role is to confirm the match, avoid communicating unreviewed clinical results, and follow through on any resulting actions.</a:t>
            </a:r>
            <a:endParaRPr lang="en-US"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TEST YOURSELF</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Knowledge check 3</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7 · Orders, Referrals &amp; Results Tracking</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28</a:t>
            </a:r>
            <a:endParaRPr lang="en-US" sz="900" dirty="0"/>
          </a:p>
        </p:txBody>
      </p:sp>
      <p:sp>
        <p:nvSpPr>
          <p:cNvPr id="7" name="Text 4"/>
          <p:cNvSpPr txBox="1"/>
          <p:nvPr/>
        </p:nvSpPr>
        <p:spPr>
          <a:xfrm>
            <a:off x="548640" y="1691640"/>
            <a:ext cx="11064240" cy="1005840"/>
          </a:xfrm>
          <a:prstGeom prst="rect">
            <a:avLst/>
          </a:prstGeom>
          <a:noFill/>
          <a:ln/>
        </p:spPr>
        <p:txBody>
          <a:bodyPr wrap="square" lIns="0" tIns="0" rIns="0" bIns="0" rtlCol="0" anchor="t"/>
          <a:lstStyle/>
          <a:p>
            <a:pPr indent="0" marL="0">
              <a:buNone/>
            </a:pPr>
            <a:r>
              <a:rPr lang="en-US" sz="1800" b="1" dirty="0">
                <a:solidFill>
                  <a:srgbClr val="1F2933"/>
                </a:solidFill>
                <a:latin typeface="Calibri" pitchFamily="34" charset="0"/>
                <a:ea typeface="Calibri" pitchFamily="34" charset="-122"/>
                <a:cs typeface="Calibri" pitchFamily="34" charset="-120"/>
              </a:rPr>
              <a:t>A hospital bed order has been open for 10 days with status 'vendor: pending docs.' What should you do?</a:t>
            </a:r>
            <a:endParaRPr lang="en-US" sz="1800" dirty="0"/>
          </a:p>
        </p:txBody>
      </p:sp>
      <p:sp>
        <p:nvSpPr>
          <p:cNvPr id="8" name="Shape 5"/>
          <p:cNvSpPr/>
          <p:nvPr/>
        </p:nvSpPr>
        <p:spPr>
          <a:xfrm>
            <a:off x="548640" y="2880360"/>
            <a:ext cx="11091672" cy="658368"/>
          </a:xfrm>
          <a:prstGeom prst="roundRect">
            <a:avLst>
              <a:gd name="adj" fmla="val 11111"/>
            </a:avLst>
          </a:prstGeom>
          <a:solidFill>
            <a:srgbClr val="FFFFFF"/>
          </a:solidFill>
          <a:ln w="12700">
            <a:solidFill>
              <a:srgbClr val="D6DEE8"/>
            </a:solidFill>
            <a:prstDash val="solid"/>
          </a:ln>
        </p:spPr>
      </p:sp>
      <p:sp>
        <p:nvSpPr>
          <p:cNvPr id="9" name="Shape 6"/>
          <p:cNvSpPr/>
          <p:nvPr/>
        </p:nvSpPr>
        <p:spPr>
          <a:xfrm>
            <a:off x="731520" y="3026664"/>
            <a:ext cx="365760" cy="365760"/>
          </a:xfrm>
          <a:prstGeom prst="ellipse">
            <a:avLst/>
          </a:prstGeom>
          <a:solidFill>
            <a:srgbClr val="EAF1FA"/>
          </a:solidFill>
          <a:ln w="12700">
            <a:solidFill>
              <a:srgbClr val="EAF1FA"/>
            </a:solidFill>
            <a:prstDash val="solid"/>
          </a:ln>
        </p:spPr>
      </p:sp>
      <p:sp>
        <p:nvSpPr>
          <p:cNvPr id="10" name="Text 7"/>
          <p:cNvSpPr txBox="1"/>
          <p:nvPr/>
        </p:nvSpPr>
        <p:spPr>
          <a:xfrm>
            <a:off x="731520" y="3026664"/>
            <a:ext cx="365760" cy="365760"/>
          </a:xfrm>
          <a:prstGeom prst="rect">
            <a:avLst/>
          </a:prstGeom>
          <a:noFill/>
          <a:ln/>
        </p:spPr>
        <p:txBody>
          <a:bodyPr wrap="square" lIns="0" tIns="0" rIns="0" bIns="0" rtlCol="0" anchor="ctr"/>
          <a:lstStyle/>
          <a:p>
            <a:pPr algn="ctr" indent="0" marL="0">
              <a:buNone/>
            </a:pPr>
            <a:r>
              <a:rPr lang="en-US" sz="1200" b="1" dirty="0">
                <a:solidFill>
                  <a:srgbClr val="1E4A87"/>
                </a:solidFill>
                <a:latin typeface="Calibri" pitchFamily="34" charset="0"/>
                <a:ea typeface="Calibri" pitchFamily="34" charset="-122"/>
                <a:cs typeface="Calibri" pitchFamily="34" charset="-120"/>
              </a:rPr>
              <a:t>A</a:t>
            </a:r>
            <a:endParaRPr lang="en-US" sz="1200" dirty="0"/>
          </a:p>
        </p:txBody>
      </p:sp>
      <p:sp>
        <p:nvSpPr>
          <p:cNvPr id="11" name="Text 8"/>
          <p:cNvSpPr txBox="1"/>
          <p:nvPr/>
        </p:nvSpPr>
        <p:spPr>
          <a:xfrm>
            <a:off x="1280160" y="2880360"/>
            <a:ext cx="10149840" cy="658368"/>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Wait for the vendor to call.</a:t>
            </a:r>
            <a:endParaRPr lang="en-US" sz="1400" dirty="0"/>
          </a:p>
        </p:txBody>
      </p:sp>
      <p:sp>
        <p:nvSpPr>
          <p:cNvPr id="12" name="Shape 9"/>
          <p:cNvSpPr/>
          <p:nvPr/>
        </p:nvSpPr>
        <p:spPr>
          <a:xfrm>
            <a:off x="548640" y="3657600"/>
            <a:ext cx="11091672" cy="658368"/>
          </a:xfrm>
          <a:prstGeom prst="roundRect">
            <a:avLst>
              <a:gd name="adj" fmla="val 11111"/>
            </a:avLst>
          </a:prstGeom>
          <a:solidFill>
            <a:srgbClr val="FFFFFF"/>
          </a:solidFill>
          <a:ln w="12700">
            <a:solidFill>
              <a:srgbClr val="D6DEE8"/>
            </a:solidFill>
            <a:prstDash val="solid"/>
          </a:ln>
        </p:spPr>
      </p:sp>
      <p:sp>
        <p:nvSpPr>
          <p:cNvPr id="13" name="Shape 10"/>
          <p:cNvSpPr/>
          <p:nvPr/>
        </p:nvSpPr>
        <p:spPr>
          <a:xfrm>
            <a:off x="731520" y="3803904"/>
            <a:ext cx="365760" cy="365760"/>
          </a:xfrm>
          <a:prstGeom prst="ellipse">
            <a:avLst/>
          </a:prstGeom>
          <a:solidFill>
            <a:srgbClr val="EAF1FA"/>
          </a:solidFill>
          <a:ln w="12700">
            <a:solidFill>
              <a:srgbClr val="EAF1FA"/>
            </a:solidFill>
            <a:prstDash val="solid"/>
          </a:ln>
        </p:spPr>
      </p:sp>
      <p:sp>
        <p:nvSpPr>
          <p:cNvPr id="14" name="Text 11"/>
          <p:cNvSpPr txBox="1"/>
          <p:nvPr/>
        </p:nvSpPr>
        <p:spPr>
          <a:xfrm>
            <a:off x="731520" y="3803904"/>
            <a:ext cx="365760" cy="365760"/>
          </a:xfrm>
          <a:prstGeom prst="rect">
            <a:avLst/>
          </a:prstGeom>
          <a:noFill/>
          <a:ln/>
        </p:spPr>
        <p:txBody>
          <a:bodyPr wrap="square" lIns="0" tIns="0" rIns="0" bIns="0" rtlCol="0" anchor="ctr"/>
          <a:lstStyle/>
          <a:p>
            <a:pPr algn="ctr" indent="0" marL="0">
              <a:buNone/>
            </a:pPr>
            <a:r>
              <a:rPr lang="en-US" sz="1200" b="1" dirty="0">
                <a:solidFill>
                  <a:srgbClr val="1E4A87"/>
                </a:solidFill>
                <a:latin typeface="Calibri" pitchFamily="34" charset="0"/>
                <a:ea typeface="Calibri" pitchFamily="34" charset="-122"/>
                <a:cs typeface="Calibri" pitchFamily="34" charset="-120"/>
              </a:rPr>
              <a:t>B</a:t>
            </a:r>
            <a:endParaRPr lang="en-US" sz="1200" dirty="0"/>
          </a:p>
        </p:txBody>
      </p:sp>
      <p:sp>
        <p:nvSpPr>
          <p:cNvPr id="15" name="Text 12"/>
          <p:cNvSpPr txBox="1"/>
          <p:nvPr/>
        </p:nvSpPr>
        <p:spPr>
          <a:xfrm>
            <a:off x="1280160" y="3657600"/>
            <a:ext cx="10149840" cy="658368"/>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Cancel and reorder with a different vendor.</a:t>
            </a:r>
            <a:endParaRPr lang="en-US" sz="1400" dirty="0"/>
          </a:p>
        </p:txBody>
      </p:sp>
      <p:sp>
        <p:nvSpPr>
          <p:cNvPr id="16" name="Shape 13"/>
          <p:cNvSpPr/>
          <p:nvPr/>
        </p:nvSpPr>
        <p:spPr>
          <a:xfrm>
            <a:off x="548640" y="4434840"/>
            <a:ext cx="11091672" cy="658368"/>
          </a:xfrm>
          <a:prstGeom prst="roundRect">
            <a:avLst>
              <a:gd name="adj" fmla="val 11111"/>
            </a:avLst>
          </a:prstGeom>
          <a:solidFill>
            <a:srgbClr val="FFFFFF"/>
          </a:solidFill>
          <a:ln w="12700">
            <a:solidFill>
              <a:srgbClr val="D6DEE8"/>
            </a:solidFill>
            <a:prstDash val="solid"/>
          </a:ln>
        </p:spPr>
      </p:sp>
      <p:sp>
        <p:nvSpPr>
          <p:cNvPr id="17" name="Shape 14"/>
          <p:cNvSpPr/>
          <p:nvPr/>
        </p:nvSpPr>
        <p:spPr>
          <a:xfrm>
            <a:off x="731520" y="4581144"/>
            <a:ext cx="365760" cy="365760"/>
          </a:xfrm>
          <a:prstGeom prst="ellipse">
            <a:avLst/>
          </a:prstGeom>
          <a:solidFill>
            <a:srgbClr val="EAF1FA"/>
          </a:solidFill>
          <a:ln w="12700">
            <a:solidFill>
              <a:srgbClr val="EAF1FA"/>
            </a:solidFill>
            <a:prstDash val="solid"/>
          </a:ln>
        </p:spPr>
      </p:sp>
      <p:sp>
        <p:nvSpPr>
          <p:cNvPr id="18" name="Text 15"/>
          <p:cNvSpPr txBox="1"/>
          <p:nvPr/>
        </p:nvSpPr>
        <p:spPr>
          <a:xfrm>
            <a:off x="731520" y="4581144"/>
            <a:ext cx="365760" cy="365760"/>
          </a:xfrm>
          <a:prstGeom prst="rect">
            <a:avLst/>
          </a:prstGeom>
          <a:noFill/>
          <a:ln/>
        </p:spPr>
        <p:txBody>
          <a:bodyPr wrap="square" lIns="0" tIns="0" rIns="0" bIns="0" rtlCol="0" anchor="ctr"/>
          <a:lstStyle/>
          <a:p>
            <a:pPr algn="ctr" indent="0" marL="0">
              <a:buNone/>
            </a:pPr>
            <a:r>
              <a:rPr lang="en-US" sz="1200" b="1" dirty="0">
                <a:solidFill>
                  <a:srgbClr val="1E4A87"/>
                </a:solidFill>
                <a:latin typeface="Calibri" pitchFamily="34" charset="0"/>
                <a:ea typeface="Calibri" pitchFamily="34" charset="-122"/>
                <a:cs typeface="Calibri" pitchFamily="34" charset="-120"/>
              </a:rPr>
              <a:t>C</a:t>
            </a:r>
            <a:endParaRPr lang="en-US" sz="1200" dirty="0"/>
          </a:p>
        </p:txBody>
      </p:sp>
      <p:sp>
        <p:nvSpPr>
          <p:cNvPr id="19" name="Text 16"/>
          <p:cNvSpPr txBox="1"/>
          <p:nvPr/>
        </p:nvSpPr>
        <p:spPr>
          <a:xfrm>
            <a:off x="1280160" y="4434840"/>
            <a:ext cx="10149840" cy="658368"/>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Identify the missing documentation, get it from the provider, resend, log the action, and set a delivery-confirmation date.</a:t>
            </a:r>
            <a:endParaRPr lang="en-US" sz="1400" dirty="0"/>
          </a:p>
        </p:txBody>
      </p:sp>
      <p:sp>
        <p:nvSpPr>
          <p:cNvPr id="20" name="Shape 17"/>
          <p:cNvSpPr/>
          <p:nvPr/>
        </p:nvSpPr>
        <p:spPr>
          <a:xfrm>
            <a:off x="548640" y="5212080"/>
            <a:ext cx="11091672" cy="658368"/>
          </a:xfrm>
          <a:prstGeom prst="roundRect">
            <a:avLst>
              <a:gd name="adj" fmla="val 11111"/>
            </a:avLst>
          </a:prstGeom>
          <a:solidFill>
            <a:srgbClr val="FFFFFF"/>
          </a:solidFill>
          <a:ln w="12700">
            <a:solidFill>
              <a:srgbClr val="D6DEE8"/>
            </a:solidFill>
            <a:prstDash val="solid"/>
          </a:ln>
        </p:spPr>
      </p:sp>
      <p:sp>
        <p:nvSpPr>
          <p:cNvPr id="21" name="Shape 18"/>
          <p:cNvSpPr/>
          <p:nvPr/>
        </p:nvSpPr>
        <p:spPr>
          <a:xfrm>
            <a:off x="731520" y="5358384"/>
            <a:ext cx="365760" cy="365760"/>
          </a:xfrm>
          <a:prstGeom prst="ellipse">
            <a:avLst/>
          </a:prstGeom>
          <a:solidFill>
            <a:srgbClr val="EAF1FA"/>
          </a:solidFill>
          <a:ln w="12700">
            <a:solidFill>
              <a:srgbClr val="EAF1FA"/>
            </a:solidFill>
            <a:prstDash val="solid"/>
          </a:ln>
        </p:spPr>
      </p:sp>
      <p:sp>
        <p:nvSpPr>
          <p:cNvPr id="22" name="Text 19"/>
          <p:cNvSpPr txBox="1"/>
          <p:nvPr/>
        </p:nvSpPr>
        <p:spPr>
          <a:xfrm>
            <a:off x="731520" y="5358384"/>
            <a:ext cx="365760" cy="365760"/>
          </a:xfrm>
          <a:prstGeom prst="rect">
            <a:avLst/>
          </a:prstGeom>
          <a:noFill/>
          <a:ln/>
        </p:spPr>
        <p:txBody>
          <a:bodyPr wrap="square" lIns="0" tIns="0" rIns="0" bIns="0" rtlCol="0" anchor="ctr"/>
          <a:lstStyle/>
          <a:p>
            <a:pPr algn="ctr" indent="0" marL="0">
              <a:buNone/>
            </a:pPr>
            <a:r>
              <a:rPr lang="en-US" sz="1200" b="1" dirty="0">
                <a:solidFill>
                  <a:srgbClr val="1E4A87"/>
                </a:solidFill>
                <a:latin typeface="Calibri" pitchFamily="34" charset="0"/>
                <a:ea typeface="Calibri" pitchFamily="34" charset="-122"/>
                <a:cs typeface="Calibri" pitchFamily="34" charset="-120"/>
              </a:rPr>
              <a:t>D</a:t>
            </a:r>
            <a:endParaRPr lang="en-US" sz="1200" dirty="0"/>
          </a:p>
        </p:txBody>
      </p:sp>
      <p:sp>
        <p:nvSpPr>
          <p:cNvPr id="23" name="Text 20"/>
          <p:cNvSpPr txBox="1"/>
          <p:nvPr/>
        </p:nvSpPr>
        <p:spPr>
          <a:xfrm>
            <a:off x="1280160" y="5212080"/>
            <a:ext cx="10149840" cy="658368"/>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Tell the family to buy a bed.</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TEST YOURSELF</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Knowledge check 3 — answer</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7 · Orders, Referrals &amp; Results Tracking</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29</a:t>
            </a:r>
            <a:endParaRPr lang="en-US" sz="900" dirty="0"/>
          </a:p>
        </p:txBody>
      </p:sp>
      <p:sp>
        <p:nvSpPr>
          <p:cNvPr id="7" name="Text 4"/>
          <p:cNvSpPr txBox="1"/>
          <p:nvPr/>
        </p:nvSpPr>
        <p:spPr>
          <a:xfrm>
            <a:off x="548640" y="1691640"/>
            <a:ext cx="11064240" cy="822960"/>
          </a:xfrm>
          <a:prstGeom prst="rect">
            <a:avLst/>
          </a:prstGeom>
          <a:noFill/>
          <a:ln/>
        </p:spPr>
        <p:txBody>
          <a:bodyPr wrap="square" lIns="0" tIns="0" rIns="0" bIns="0" rtlCol="0" anchor="t"/>
          <a:lstStyle/>
          <a:p>
            <a:pPr indent="0" marL="0">
              <a:buNone/>
            </a:pPr>
            <a:r>
              <a:rPr lang="en-US" sz="1500" dirty="0">
                <a:solidFill>
                  <a:srgbClr val="5B6773"/>
                </a:solidFill>
                <a:latin typeface="Calibri" pitchFamily="34" charset="0"/>
                <a:ea typeface="Calibri" pitchFamily="34" charset="-122"/>
                <a:cs typeface="Calibri" pitchFamily="34" charset="-120"/>
              </a:rPr>
              <a:t>A hospital bed order has been open for 10 days with status 'vendor: pending docs.' What should you do?</a:t>
            </a:r>
            <a:endParaRPr lang="en-US" sz="1500" dirty="0"/>
          </a:p>
        </p:txBody>
      </p:sp>
      <p:sp>
        <p:nvSpPr>
          <p:cNvPr id="8" name="Shape 5"/>
          <p:cNvSpPr/>
          <p:nvPr/>
        </p:nvSpPr>
        <p:spPr>
          <a:xfrm>
            <a:off x="548640" y="2606040"/>
            <a:ext cx="6309360" cy="475488"/>
          </a:xfrm>
          <a:prstGeom prst="roundRect">
            <a:avLst>
              <a:gd name="adj" fmla="val 11538"/>
            </a:avLst>
          </a:prstGeom>
          <a:solidFill>
            <a:srgbClr val="FFFFFF"/>
          </a:solidFill>
          <a:ln w="9525">
            <a:solidFill>
              <a:srgbClr val="D6DEE8"/>
            </a:solidFill>
            <a:prstDash val="solid"/>
          </a:ln>
        </p:spPr>
      </p:sp>
      <p:sp>
        <p:nvSpPr>
          <p:cNvPr id="9" name="Text 6"/>
          <p:cNvSpPr txBox="1"/>
          <p:nvPr/>
        </p:nvSpPr>
        <p:spPr>
          <a:xfrm>
            <a:off x="731520" y="2606040"/>
            <a:ext cx="5943600" cy="475488"/>
          </a:xfrm>
          <a:prstGeom prst="rect">
            <a:avLst/>
          </a:prstGeom>
          <a:noFill/>
          <a:ln/>
        </p:spPr>
        <p:txBody>
          <a:bodyPr wrap="square" lIns="0" tIns="0" rIns="0" bIns="0" rtlCol="0" anchor="ctr"/>
          <a:lstStyle/>
          <a:p>
            <a:pPr indent="0" marL="0">
              <a:buNone/>
            </a:pPr>
            <a:r>
              <a:rPr lang="en-US" sz="1200" dirty="0">
                <a:solidFill>
                  <a:srgbClr val="5B6773"/>
                </a:solidFill>
                <a:latin typeface="Calibri" pitchFamily="34" charset="0"/>
                <a:ea typeface="Calibri" pitchFamily="34" charset="-122"/>
                <a:cs typeface="Calibri" pitchFamily="34" charset="-120"/>
              </a:rPr>
              <a:t>A.  Wait for the vendor to call.</a:t>
            </a:r>
            <a:endParaRPr lang="en-US" sz="1200" dirty="0"/>
          </a:p>
        </p:txBody>
      </p:sp>
      <p:sp>
        <p:nvSpPr>
          <p:cNvPr id="10" name="Shape 7"/>
          <p:cNvSpPr/>
          <p:nvPr/>
        </p:nvSpPr>
        <p:spPr>
          <a:xfrm>
            <a:off x="548640" y="3172968"/>
            <a:ext cx="6309360" cy="475488"/>
          </a:xfrm>
          <a:prstGeom prst="roundRect">
            <a:avLst>
              <a:gd name="adj" fmla="val 11538"/>
            </a:avLst>
          </a:prstGeom>
          <a:solidFill>
            <a:srgbClr val="FFFFFF"/>
          </a:solidFill>
          <a:ln w="9525">
            <a:solidFill>
              <a:srgbClr val="D6DEE8"/>
            </a:solidFill>
            <a:prstDash val="solid"/>
          </a:ln>
        </p:spPr>
      </p:sp>
      <p:sp>
        <p:nvSpPr>
          <p:cNvPr id="11" name="Text 8"/>
          <p:cNvSpPr txBox="1"/>
          <p:nvPr/>
        </p:nvSpPr>
        <p:spPr>
          <a:xfrm>
            <a:off x="731520" y="3172968"/>
            <a:ext cx="5943600" cy="475488"/>
          </a:xfrm>
          <a:prstGeom prst="rect">
            <a:avLst/>
          </a:prstGeom>
          <a:noFill/>
          <a:ln/>
        </p:spPr>
        <p:txBody>
          <a:bodyPr wrap="square" lIns="0" tIns="0" rIns="0" bIns="0" rtlCol="0" anchor="ctr"/>
          <a:lstStyle/>
          <a:p>
            <a:pPr indent="0" marL="0">
              <a:buNone/>
            </a:pPr>
            <a:r>
              <a:rPr lang="en-US" sz="1200" dirty="0">
                <a:solidFill>
                  <a:srgbClr val="5B6773"/>
                </a:solidFill>
                <a:latin typeface="Calibri" pitchFamily="34" charset="0"/>
                <a:ea typeface="Calibri" pitchFamily="34" charset="-122"/>
                <a:cs typeface="Calibri" pitchFamily="34" charset="-120"/>
              </a:rPr>
              <a:t>B.  Cancel and reorder with a different vendor.</a:t>
            </a:r>
            <a:endParaRPr lang="en-US" sz="1200" dirty="0"/>
          </a:p>
        </p:txBody>
      </p:sp>
      <p:sp>
        <p:nvSpPr>
          <p:cNvPr id="12" name="Shape 9"/>
          <p:cNvSpPr/>
          <p:nvPr/>
        </p:nvSpPr>
        <p:spPr>
          <a:xfrm>
            <a:off x="548640" y="3739896"/>
            <a:ext cx="6309360" cy="475488"/>
          </a:xfrm>
          <a:prstGeom prst="roundRect">
            <a:avLst>
              <a:gd name="adj" fmla="val 11538"/>
            </a:avLst>
          </a:prstGeom>
          <a:solidFill>
            <a:srgbClr val="EEF2E8"/>
          </a:solidFill>
          <a:ln w="19050">
            <a:solidFill>
              <a:srgbClr val="586C47"/>
            </a:solidFill>
            <a:prstDash val="solid"/>
          </a:ln>
        </p:spPr>
      </p:sp>
      <p:sp>
        <p:nvSpPr>
          <p:cNvPr id="13" name="Text 10"/>
          <p:cNvSpPr txBox="1"/>
          <p:nvPr/>
        </p:nvSpPr>
        <p:spPr>
          <a:xfrm>
            <a:off x="731520" y="3739896"/>
            <a:ext cx="5943600" cy="475488"/>
          </a:xfrm>
          <a:prstGeom prst="rect">
            <a:avLst/>
          </a:prstGeom>
          <a:noFill/>
          <a:ln/>
        </p:spPr>
        <p:txBody>
          <a:bodyPr wrap="square" lIns="0" tIns="0" rIns="0" bIns="0" rtlCol="0" anchor="ctr"/>
          <a:lstStyle/>
          <a:p>
            <a:pPr indent="0" marL="0">
              <a:buNone/>
            </a:pPr>
            <a:r>
              <a:rPr lang="en-US" sz="1200" b="1" dirty="0">
                <a:solidFill>
                  <a:srgbClr val="586C47"/>
                </a:solidFill>
                <a:latin typeface="Calibri" pitchFamily="34" charset="0"/>
                <a:ea typeface="Calibri" pitchFamily="34" charset="-122"/>
                <a:cs typeface="Calibri" pitchFamily="34" charset="-120"/>
              </a:rPr>
              <a:t>C.  Identify the missing documentation, get it from the provider, resend, log the action, and set a delivery-confirmation date.</a:t>
            </a:r>
            <a:endParaRPr lang="en-US" sz="1200" dirty="0"/>
          </a:p>
        </p:txBody>
      </p:sp>
      <p:sp>
        <p:nvSpPr>
          <p:cNvPr id="14" name="Shape 11"/>
          <p:cNvSpPr/>
          <p:nvPr/>
        </p:nvSpPr>
        <p:spPr>
          <a:xfrm>
            <a:off x="548640" y="4306824"/>
            <a:ext cx="6309360" cy="475488"/>
          </a:xfrm>
          <a:prstGeom prst="roundRect">
            <a:avLst>
              <a:gd name="adj" fmla="val 11538"/>
            </a:avLst>
          </a:prstGeom>
          <a:solidFill>
            <a:srgbClr val="FFFFFF"/>
          </a:solidFill>
          <a:ln w="9525">
            <a:solidFill>
              <a:srgbClr val="D6DEE8"/>
            </a:solidFill>
            <a:prstDash val="solid"/>
          </a:ln>
        </p:spPr>
      </p:sp>
      <p:sp>
        <p:nvSpPr>
          <p:cNvPr id="15" name="Text 12"/>
          <p:cNvSpPr txBox="1"/>
          <p:nvPr/>
        </p:nvSpPr>
        <p:spPr>
          <a:xfrm>
            <a:off x="731520" y="4306824"/>
            <a:ext cx="5943600" cy="475488"/>
          </a:xfrm>
          <a:prstGeom prst="rect">
            <a:avLst/>
          </a:prstGeom>
          <a:noFill/>
          <a:ln/>
        </p:spPr>
        <p:txBody>
          <a:bodyPr wrap="square" lIns="0" tIns="0" rIns="0" bIns="0" rtlCol="0" anchor="ctr"/>
          <a:lstStyle/>
          <a:p>
            <a:pPr indent="0" marL="0">
              <a:buNone/>
            </a:pPr>
            <a:r>
              <a:rPr lang="en-US" sz="1200" dirty="0">
                <a:solidFill>
                  <a:srgbClr val="5B6773"/>
                </a:solidFill>
                <a:latin typeface="Calibri" pitchFamily="34" charset="0"/>
                <a:ea typeface="Calibri" pitchFamily="34" charset="-122"/>
                <a:cs typeface="Calibri" pitchFamily="34" charset="-120"/>
              </a:rPr>
              <a:t>D.  Tell the family to buy a bed.</a:t>
            </a:r>
            <a:endParaRPr lang="en-US" sz="1200" dirty="0"/>
          </a:p>
        </p:txBody>
      </p:sp>
      <p:sp>
        <p:nvSpPr>
          <p:cNvPr id="16" name="Shape 13"/>
          <p:cNvSpPr/>
          <p:nvPr/>
        </p:nvSpPr>
        <p:spPr>
          <a:xfrm>
            <a:off x="7223760" y="2606040"/>
            <a:ext cx="4434840" cy="3520440"/>
          </a:xfrm>
          <a:prstGeom prst="roundRect">
            <a:avLst>
              <a:gd name="adj" fmla="val 3117"/>
            </a:avLst>
          </a:prstGeom>
          <a:solidFill>
            <a:srgbClr val="586C47"/>
          </a:solidFill>
          <a:ln w="12700">
            <a:solidFill>
              <a:srgbClr val="586C47"/>
            </a:solidFill>
            <a:prstDash val="solid"/>
          </a:ln>
        </p:spPr>
      </p:sp>
      <p:pic>
        <p:nvPicPr>
          <p:cNvPr id="17" name="Image 1" descr="preencoded.png">    </p:cNvPr>
          <p:cNvPicPr>
            <a:picLocks noChangeAspect="1"/>
          </p:cNvPicPr>
          <p:nvPr/>
        </p:nvPicPr>
        <p:blipFill>
          <a:blip r:embed="rId2"/>
          <a:stretch>
            <a:fillRect/>
          </a:stretch>
        </p:blipFill>
        <p:spPr>
          <a:xfrm>
            <a:off x="7498080" y="2880360"/>
            <a:ext cx="457200" cy="457200"/>
          </a:xfrm>
          <a:prstGeom prst="rect">
            <a:avLst/>
          </a:prstGeom>
        </p:spPr>
      </p:pic>
      <p:sp>
        <p:nvSpPr>
          <p:cNvPr id="18" name="Text 14"/>
          <p:cNvSpPr txBox="1"/>
          <p:nvPr/>
        </p:nvSpPr>
        <p:spPr>
          <a:xfrm>
            <a:off x="8092440" y="2880360"/>
            <a:ext cx="3383280" cy="45720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Correct answer: C</a:t>
            </a:r>
            <a:endParaRPr lang="en-US" sz="1800" dirty="0"/>
          </a:p>
        </p:txBody>
      </p:sp>
      <p:sp>
        <p:nvSpPr>
          <p:cNvPr id="19" name="Text 15"/>
          <p:cNvSpPr txBox="1"/>
          <p:nvPr/>
        </p:nvSpPr>
        <p:spPr>
          <a:xfrm>
            <a:off x="7498080" y="3520440"/>
            <a:ext cx="3886200" cy="246888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Missing documentation is the most common DME delay and it is solvable by you. Find the gap, fix it, document the touch, and keep a date on the item.</a:t>
            </a:r>
            <a:endParaRPr lang="en-US" sz="12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pic>
        <p:nvPicPr>
          <p:cNvPr id="2" name="Image 0" descr="/home/claude/build/logo.png">    </p:cNvPr>
          <p:cNvPicPr>
            <a:picLocks noChangeAspect="1"/>
          </p:cNvPicPr>
          <p:nvPr/>
        </p:nvPicPr>
        <p:blipFill>
          <a:blip r:embed="rId1"/>
          <a:stretch>
            <a:fillRect/>
          </a:stretch>
        </p:blipFill>
        <p:spPr>
          <a:xfrm>
            <a:off x="10287000" y="274320"/>
            <a:ext cx="1463040" cy="621792"/>
          </a:xfrm>
          <a:prstGeom prst="rect">
            <a:avLst/>
          </a:prstGeom>
        </p:spPr>
      </p:pic>
      <p:sp>
        <p:nvSpPr>
          <p:cNvPr id="3"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586C47"/>
                </a:solidFill>
                <a:latin typeface="Calibri" pitchFamily="34" charset="0"/>
                <a:ea typeface="Calibri" pitchFamily="34" charset="-122"/>
                <a:cs typeface="Calibri" pitchFamily="34" charset="-120"/>
              </a:rPr>
              <a:t>MODULE SUMMARY</a:t>
            </a:r>
            <a:endParaRPr lang="en-US" sz="1100" dirty="0"/>
          </a:p>
        </p:txBody>
      </p:sp>
      <p:sp>
        <p:nvSpPr>
          <p:cNvPr id="4" name="Text 1"/>
          <p:cNvSpPr txBox="1"/>
          <p:nvPr/>
        </p:nvSpPr>
        <p:spPr>
          <a:xfrm>
            <a:off x="548640" y="566928"/>
            <a:ext cx="9418320" cy="822960"/>
          </a:xfrm>
          <a:prstGeom prst="rect">
            <a:avLst/>
          </a:prstGeom>
          <a:noFill/>
          <a:ln/>
        </p:spPr>
        <p:txBody>
          <a:bodyPr wrap="square" lIns="0" tIns="0" rIns="0" bIns="0" rtlCol="0" anchor="ctr"/>
          <a:lstStyle/>
          <a:p>
            <a:pPr indent="0" marL="0">
              <a:buNone/>
            </a:pPr>
            <a:r>
              <a:rPr lang="en-US" sz="3200" b="1" dirty="0">
                <a:solidFill>
                  <a:srgbClr val="1E4A87"/>
                </a:solidFill>
                <a:latin typeface="Cambria" pitchFamily="34" charset="0"/>
                <a:ea typeface="Cambria" pitchFamily="34" charset="-122"/>
                <a:cs typeface="Cambria" pitchFamily="34" charset="-120"/>
              </a:rPr>
              <a:t>Key takeaways</a:t>
            </a:r>
            <a:endParaRPr lang="en-US" sz="3200" dirty="0"/>
          </a:p>
        </p:txBody>
      </p:sp>
      <p:sp>
        <p:nvSpPr>
          <p:cNvPr id="5"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5B6773"/>
                </a:solidFill>
                <a:latin typeface="Calibri" pitchFamily="34" charset="0"/>
                <a:ea typeface="Calibri" pitchFamily="34" charset="-122"/>
                <a:cs typeface="Calibri" pitchFamily="34" charset="-120"/>
              </a:rPr>
              <a:t>Module 7 · Orders, Referrals &amp; Results Tracking</a:t>
            </a:r>
            <a:endParaRPr lang="en-US" sz="900" dirty="0"/>
          </a:p>
        </p:txBody>
      </p:sp>
      <p:sp>
        <p:nvSpPr>
          <p:cNvPr id="6" name="Text 3"/>
          <p:cNvSpPr txBox="1"/>
          <p:nvPr/>
        </p:nvSpPr>
        <p:spPr>
          <a:xfrm>
            <a:off x="11064240" y="6419088"/>
            <a:ext cx="640080" cy="274320"/>
          </a:xfrm>
          <a:prstGeom prst="rect">
            <a:avLst/>
          </a:prstGeom>
          <a:noFill/>
          <a:ln/>
        </p:spPr>
        <p:txBody>
          <a:bodyPr wrap="square" lIns="0" tIns="0" rIns="0" bIns="0" rtlCol="0" anchor="ctr"/>
          <a:lstStyle/>
          <a:p>
            <a:pPr algn="r" indent="0" marL="0">
              <a:buNone/>
            </a:pPr>
            <a:r>
              <a:rPr lang="en-US" sz="900" dirty="0">
                <a:solidFill>
                  <a:srgbClr val="5B6773"/>
                </a:solidFill>
                <a:latin typeface="Calibri" pitchFamily="34" charset="0"/>
                <a:ea typeface="Calibri" pitchFamily="34" charset="-122"/>
                <a:cs typeface="Calibri" pitchFamily="34" charset="-120"/>
              </a:rPr>
              <a:t>30</a:t>
            </a:r>
            <a:endParaRPr lang="en-US" sz="900" dirty="0"/>
          </a:p>
        </p:txBody>
      </p:sp>
      <p:sp>
        <p:nvSpPr>
          <p:cNvPr id="7" name="Shape 4"/>
          <p:cNvSpPr/>
          <p:nvPr/>
        </p:nvSpPr>
        <p:spPr>
          <a:xfrm>
            <a:off x="548640" y="1691640"/>
            <a:ext cx="11091672" cy="647700"/>
          </a:xfrm>
          <a:prstGeom prst="roundRect">
            <a:avLst>
              <a:gd name="adj" fmla="val 11294"/>
            </a:avLst>
          </a:prstGeom>
          <a:solidFill>
            <a:srgbClr val="FFFFFF"/>
          </a:solidFill>
          <a:ln w="9525">
            <a:solidFill>
              <a:srgbClr val="D6DEE8"/>
            </a:solidFill>
            <a:prstDash val="solid"/>
          </a:ln>
        </p:spPr>
      </p:sp>
      <p:pic>
        <p:nvPicPr>
          <p:cNvPr id="8" name="Image 1" descr="preencoded.png">    </p:cNvPr>
          <p:cNvPicPr>
            <a:picLocks noChangeAspect="1"/>
          </p:cNvPicPr>
          <p:nvPr/>
        </p:nvPicPr>
        <p:blipFill>
          <a:blip r:embed="rId2"/>
          <a:stretch>
            <a:fillRect/>
          </a:stretch>
        </p:blipFill>
        <p:spPr>
          <a:xfrm>
            <a:off x="777240" y="1841754"/>
            <a:ext cx="347472" cy="347472"/>
          </a:xfrm>
          <a:prstGeom prst="rect">
            <a:avLst/>
          </a:prstGeom>
        </p:spPr>
      </p:pic>
      <p:sp>
        <p:nvSpPr>
          <p:cNvPr id="9" name="Text 5"/>
          <p:cNvSpPr txBox="1"/>
          <p:nvPr/>
        </p:nvSpPr>
        <p:spPr>
          <a:xfrm>
            <a:off x="1325880" y="1691640"/>
            <a:ext cx="10149840" cy="64770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An order isn't done when it's placed. It's done when the result is back, reviewed, acted on, and closed.</a:t>
            </a:r>
            <a:endParaRPr lang="en-US" sz="1400" dirty="0"/>
          </a:p>
        </p:txBody>
      </p:sp>
      <p:sp>
        <p:nvSpPr>
          <p:cNvPr id="10" name="Shape 6"/>
          <p:cNvSpPr/>
          <p:nvPr/>
        </p:nvSpPr>
        <p:spPr>
          <a:xfrm>
            <a:off x="548640" y="2458212"/>
            <a:ext cx="11091672" cy="647700"/>
          </a:xfrm>
          <a:prstGeom prst="roundRect">
            <a:avLst>
              <a:gd name="adj" fmla="val 11294"/>
            </a:avLst>
          </a:prstGeom>
          <a:solidFill>
            <a:srgbClr val="EAF1FA"/>
          </a:solidFill>
          <a:ln w="9525">
            <a:solidFill>
              <a:srgbClr val="EAF1FA"/>
            </a:solidFill>
            <a:prstDash val="solid"/>
          </a:ln>
        </p:spPr>
      </p:sp>
      <p:pic>
        <p:nvPicPr>
          <p:cNvPr id="11" name="Image 2" descr="preencoded.png">    </p:cNvPr>
          <p:cNvPicPr>
            <a:picLocks noChangeAspect="1"/>
          </p:cNvPicPr>
          <p:nvPr/>
        </p:nvPicPr>
        <p:blipFill>
          <a:blip r:embed="rId3"/>
          <a:stretch>
            <a:fillRect/>
          </a:stretch>
        </p:blipFill>
        <p:spPr>
          <a:xfrm>
            <a:off x="777240" y="2608326"/>
            <a:ext cx="347472" cy="347472"/>
          </a:xfrm>
          <a:prstGeom prst="rect">
            <a:avLst/>
          </a:prstGeom>
        </p:spPr>
      </p:pic>
      <p:sp>
        <p:nvSpPr>
          <p:cNvPr id="12" name="Text 7"/>
          <p:cNvSpPr txBox="1"/>
          <p:nvPr/>
        </p:nvSpPr>
        <p:spPr>
          <a:xfrm>
            <a:off x="1325880" y="2458212"/>
            <a:ext cx="10149840" cy="64770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Coordinate with the caregiver, not the patient: scheduling, transportation, preparation, reminders.</a:t>
            </a:r>
            <a:endParaRPr lang="en-US" sz="1400" dirty="0"/>
          </a:p>
        </p:txBody>
      </p:sp>
      <p:sp>
        <p:nvSpPr>
          <p:cNvPr id="13" name="Shape 8"/>
          <p:cNvSpPr/>
          <p:nvPr/>
        </p:nvSpPr>
        <p:spPr>
          <a:xfrm>
            <a:off x="548640" y="3224784"/>
            <a:ext cx="11091672" cy="647700"/>
          </a:xfrm>
          <a:prstGeom prst="roundRect">
            <a:avLst>
              <a:gd name="adj" fmla="val 11294"/>
            </a:avLst>
          </a:prstGeom>
          <a:solidFill>
            <a:srgbClr val="FFFFFF"/>
          </a:solidFill>
          <a:ln w="9525">
            <a:solidFill>
              <a:srgbClr val="D6DEE8"/>
            </a:solidFill>
            <a:prstDash val="solid"/>
          </a:ln>
        </p:spPr>
      </p:sp>
      <p:pic>
        <p:nvPicPr>
          <p:cNvPr id="14" name="Image 3" descr="preencoded.png">    </p:cNvPr>
          <p:cNvPicPr>
            <a:picLocks noChangeAspect="1"/>
          </p:cNvPicPr>
          <p:nvPr/>
        </p:nvPicPr>
        <p:blipFill>
          <a:blip r:embed="rId4"/>
          <a:stretch>
            <a:fillRect/>
          </a:stretch>
        </p:blipFill>
        <p:spPr>
          <a:xfrm>
            <a:off x="777240" y="3374898"/>
            <a:ext cx="347472" cy="347472"/>
          </a:xfrm>
          <a:prstGeom prst="rect">
            <a:avLst/>
          </a:prstGeom>
        </p:spPr>
      </p:pic>
      <p:sp>
        <p:nvSpPr>
          <p:cNvPr id="15" name="Text 9"/>
          <p:cNvSpPr txBox="1"/>
          <p:nvPr/>
        </p:nvSpPr>
        <p:spPr>
          <a:xfrm>
            <a:off x="1325880" y="3224784"/>
            <a:ext cx="10149840" cy="64770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Check authorization requirements early and protect expiration dates.</a:t>
            </a:r>
            <a:endParaRPr lang="en-US" sz="1400" dirty="0"/>
          </a:p>
        </p:txBody>
      </p:sp>
      <p:sp>
        <p:nvSpPr>
          <p:cNvPr id="16" name="Shape 10"/>
          <p:cNvSpPr/>
          <p:nvPr/>
        </p:nvSpPr>
        <p:spPr>
          <a:xfrm>
            <a:off x="548640" y="3991356"/>
            <a:ext cx="11091672" cy="647700"/>
          </a:xfrm>
          <a:prstGeom prst="roundRect">
            <a:avLst>
              <a:gd name="adj" fmla="val 11294"/>
            </a:avLst>
          </a:prstGeom>
          <a:solidFill>
            <a:srgbClr val="EAF1FA"/>
          </a:solidFill>
          <a:ln w="9525">
            <a:solidFill>
              <a:srgbClr val="EAF1FA"/>
            </a:solidFill>
            <a:prstDash val="solid"/>
          </a:ln>
        </p:spPr>
      </p:sp>
      <p:pic>
        <p:nvPicPr>
          <p:cNvPr id="17" name="Image 4" descr="preencoded.png">    </p:cNvPr>
          <p:cNvPicPr>
            <a:picLocks noChangeAspect="1"/>
          </p:cNvPicPr>
          <p:nvPr/>
        </p:nvPicPr>
        <p:blipFill>
          <a:blip r:embed="rId5"/>
          <a:stretch>
            <a:fillRect/>
          </a:stretch>
        </p:blipFill>
        <p:spPr>
          <a:xfrm>
            <a:off x="777240" y="4141470"/>
            <a:ext cx="347472" cy="347472"/>
          </a:xfrm>
          <a:prstGeom prst="rect">
            <a:avLst/>
          </a:prstGeom>
        </p:spPr>
      </p:pic>
      <p:sp>
        <p:nvSpPr>
          <p:cNvPr id="18" name="Text 11"/>
          <p:cNvSpPr txBox="1"/>
          <p:nvPr/>
        </p:nvSpPr>
        <p:spPr>
          <a:xfrm>
            <a:off x="1325880" y="3991356"/>
            <a:ext cx="10149840" cy="64770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Home-based services need vendor, payer, zip code, documentation, and delivery confirmation.</a:t>
            </a:r>
            <a:endParaRPr lang="en-US" sz="1400" dirty="0"/>
          </a:p>
        </p:txBody>
      </p:sp>
      <p:sp>
        <p:nvSpPr>
          <p:cNvPr id="19" name="Shape 12"/>
          <p:cNvSpPr/>
          <p:nvPr/>
        </p:nvSpPr>
        <p:spPr>
          <a:xfrm>
            <a:off x="548640" y="4757928"/>
            <a:ext cx="11091672" cy="647700"/>
          </a:xfrm>
          <a:prstGeom prst="roundRect">
            <a:avLst>
              <a:gd name="adj" fmla="val 11294"/>
            </a:avLst>
          </a:prstGeom>
          <a:solidFill>
            <a:srgbClr val="FFFFFF"/>
          </a:solidFill>
          <a:ln w="9525">
            <a:solidFill>
              <a:srgbClr val="D6DEE8"/>
            </a:solidFill>
            <a:prstDash val="solid"/>
          </a:ln>
        </p:spPr>
      </p:sp>
      <p:pic>
        <p:nvPicPr>
          <p:cNvPr id="20" name="Image 5" descr="preencoded.png">    </p:cNvPr>
          <p:cNvPicPr>
            <a:picLocks noChangeAspect="1"/>
          </p:cNvPicPr>
          <p:nvPr/>
        </p:nvPicPr>
        <p:blipFill>
          <a:blip r:embed="rId6"/>
          <a:stretch>
            <a:fillRect/>
          </a:stretch>
        </p:blipFill>
        <p:spPr>
          <a:xfrm>
            <a:off x="777240" y="4908042"/>
            <a:ext cx="347472" cy="347472"/>
          </a:xfrm>
          <a:prstGeom prst="rect">
            <a:avLst/>
          </a:prstGeom>
        </p:spPr>
      </p:pic>
      <p:sp>
        <p:nvSpPr>
          <p:cNvPr id="21" name="Text 13"/>
          <p:cNvSpPr txBox="1"/>
          <p:nvPr/>
        </p:nvSpPr>
        <p:spPr>
          <a:xfrm>
            <a:off x="1325880" y="4757928"/>
            <a:ext cx="10149840" cy="64770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Results route to the provider first; families hear clinical results from or after the provider.</a:t>
            </a:r>
            <a:endParaRPr lang="en-US" sz="1400" dirty="0"/>
          </a:p>
        </p:txBody>
      </p:sp>
      <p:sp>
        <p:nvSpPr>
          <p:cNvPr id="22" name="Shape 14"/>
          <p:cNvSpPr/>
          <p:nvPr/>
        </p:nvSpPr>
        <p:spPr>
          <a:xfrm>
            <a:off x="548640" y="5524500"/>
            <a:ext cx="11091672" cy="647700"/>
          </a:xfrm>
          <a:prstGeom prst="roundRect">
            <a:avLst>
              <a:gd name="adj" fmla="val 11294"/>
            </a:avLst>
          </a:prstGeom>
          <a:solidFill>
            <a:srgbClr val="EAF1FA"/>
          </a:solidFill>
          <a:ln w="9525">
            <a:solidFill>
              <a:srgbClr val="EAF1FA"/>
            </a:solidFill>
            <a:prstDash val="solid"/>
          </a:ln>
        </p:spPr>
      </p:sp>
      <p:pic>
        <p:nvPicPr>
          <p:cNvPr id="23" name="Image 6" descr="preencoded.png">    </p:cNvPr>
          <p:cNvPicPr>
            <a:picLocks noChangeAspect="1"/>
          </p:cNvPicPr>
          <p:nvPr/>
        </p:nvPicPr>
        <p:blipFill>
          <a:blip r:embed="rId7"/>
          <a:stretch>
            <a:fillRect/>
          </a:stretch>
        </p:blipFill>
        <p:spPr>
          <a:xfrm>
            <a:off x="777240" y="5674614"/>
            <a:ext cx="347472" cy="347472"/>
          </a:xfrm>
          <a:prstGeom prst="rect">
            <a:avLst/>
          </a:prstGeom>
        </p:spPr>
      </p:pic>
      <p:sp>
        <p:nvSpPr>
          <p:cNvPr id="24" name="Text 15"/>
          <p:cNvSpPr txBox="1"/>
          <p:nvPr/>
        </p:nvSpPr>
        <p:spPr>
          <a:xfrm>
            <a:off x="1325880" y="5524500"/>
            <a:ext cx="10149840" cy="64770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Work the Orders and Referrals buckets on a schedule; nothing leaves them without a next date, and stalled items escalate.</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E4A87"/>
        </a:solidFill>
      </p:bgPr>
    </p:bg>
    <p:spTree>
      <p:nvGrpSpPr>
        <p:cNvPr id="1" name=""/>
        <p:cNvGrpSpPr/>
        <p:nvPr/>
      </p:nvGrpSpPr>
      <p:grpSpPr>
        <a:xfrm>
          <a:off x="0" y="0"/>
          <a:ext cx="0" cy="0"/>
          <a:chOff x="0" y="0"/>
          <a:chExt cx="0" cy="0"/>
        </a:xfrm>
      </p:grpSpPr>
      <p:sp>
        <p:nvSpPr>
          <p:cNvPr id="2" name="Shape 0"/>
          <p:cNvSpPr/>
          <p:nvPr/>
        </p:nvSpPr>
        <p:spPr>
          <a:xfrm>
            <a:off x="-1828800" y="-2286000"/>
            <a:ext cx="5486400" cy="5486400"/>
          </a:xfrm>
          <a:prstGeom prst="ellipse">
            <a:avLst/>
          </a:prstGeom>
          <a:solidFill>
            <a:srgbClr val="84ACDF">
              <a:alpha val="20000"/>
            </a:srgbClr>
          </a:solidFill>
          <a:ln w="12700">
            <a:solidFill>
              <a:srgbClr val="84ACDF">
                <a:alpha val="20000"/>
              </a:srgbClr>
            </a:solidFill>
            <a:prstDash val="solid"/>
          </a:ln>
        </p:spPr>
      </p:sp>
      <p:sp>
        <p:nvSpPr>
          <p:cNvPr id="3" name="Shape 1"/>
          <p:cNvSpPr/>
          <p:nvPr/>
        </p:nvSpPr>
        <p:spPr>
          <a:xfrm>
            <a:off x="7498080" y="640080"/>
            <a:ext cx="3931920" cy="1691640"/>
          </a:xfrm>
          <a:prstGeom prst="roundRect">
            <a:avLst>
              <a:gd name="adj" fmla="val 8108"/>
            </a:avLst>
          </a:prstGeom>
          <a:solidFill>
            <a:srgbClr val="FFFFFF"/>
          </a:solidFill>
          <a:ln w="12700">
            <a:solidFill>
              <a:srgbClr val="FFFFFF"/>
            </a:solidFill>
            <a:prstDash val="solid"/>
          </a:ln>
        </p:spPr>
      </p:sp>
      <p:pic>
        <p:nvPicPr>
          <p:cNvPr id="4" name="Image 0" descr="/home/claude/build/logo.png">    </p:cNvPr>
          <p:cNvPicPr>
            <a:picLocks noChangeAspect="1"/>
          </p:cNvPicPr>
          <p:nvPr/>
        </p:nvPicPr>
        <p:blipFill>
          <a:blip r:embed="rId1"/>
          <a:stretch>
            <a:fillRect/>
          </a:stretch>
        </p:blipFill>
        <p:spPr>
          <a:xfrm>
            <a:off x="7635240" y="731520"/>
            <a:ext cx="3657600" cy="1508760"/>
          </a:xfrm>
          <a:prstGeom prst="rect">
            <a:avLst/>
          </a:prstGeom>
        </p:spPr>
      </p:pic>
      <p:sp>
        <p:nvSpPr>
          <p:cNvPr id="5" name="Text 2"/>
          <p:cNvSpPr txBox="1"/>
          <p:nvPr/>
        </p:nvSpPr>
        <p:spPr>
          <a:xfrm>
            <a:off x="731520" y="2743200"/>
            <a:ext cx="1005840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You've completed Module 7</a:t>
            </a:r>
            <a:endParaRPr lang="en-US" sz="4000" dirty="0"/>
          </a:p>
        </p:txBody>
      </p:sp>
      <p:sp>
        <p:nvSpPr>
          <p:cNvPr id="6" name="Text 3"/>
          <p:cNvSpPr txBox="1"/>
          <p:nvPr/>
        </p:nvSpPr>
        <p:spPr>
          <a:xfrm>
            <a:off x="731520" y="3611880"/>
            <a:ext cx="10058400" cy="548640"/>
          </a:xfrm>
          <a:prstGeom prst="rect">
            <a:avLst/>
          </a:prstGeom>
          <a:noFill/>
          <a:ln/>
        </p:spPr>
        <p:txBody>
          <a:bodyPr wrap="square" lIns="0" tIns="0" rIns="0" bIns="0" rtlCol="0" anchor="ctr"/>
          <a:lstStyle/>
          <a:p>
            <a:pPr indent="0" marL="0">
              <a:buNone/>
            </a:pPr>
            <a:r>
              <a:rPr lang="en-US" sz="2000" dirty="0">
                <a:solidFill>
                  <a:srgbClr val="EAF1FA"/>
                </a:solidFill>
                <a:latin typeface="Calibri" pitchFamily="34" charset="0"/>
                <a:ea typeface="Calibri" pitchFamily="34" charset="-122"/>
                <a:cs typeface="Calibri" pitchFamily="34" charset="-120"/>
              </a:rPr>
              <a:t>Orders, Referrals &amp; Results Tracking</a:t>
            </a:r>
            <a:endParaRPr lang="en-US" sz="2000" dirty="0"/>
          </a:p>
        </p:txBody>
      </p:sp>
      <p:sp>
        <p:nvSpPr>
          <p:cNvPr id="7" name="Text 4"/>
          <p:cNvSpPr txBox="1"/>
          <p:nvPr/>
        </p:nvSpPr>
        <p:spPr>
          <a:xfrm>
            <a:off x="731520" y="4663440"/>
            <a:ext cx="5486400" cy="320040"/>
          </a:xfrm>
          <a:prstGeom prst="rect">
            <a:avLst/>
          </a:prstGeom>
          <a:noFill/>
          <a:ln/>
        </p:spPr>
        <p:txBody>
          <a:bodyPr wrap="square" lIns="0" tIns="0" rIns="0" bIns="0" rtlCol="0" anchor="ctr"/>
          <a:lstStyle/>
          <a:p>
            <a:pPr indent="0" marL="0">
              <a:buNone/>
            </a:pPr>
            <a:r>
              <a:rPr lang="en-US" sz="1200" b="1" spc="200" kern="0" dirty="0">
                <a:solidFill>
                  <a:srgbClr val="F1C232"/>
                </a:solidFill>
                <a:latin typeface="Calibri" pitchFamily="34" charset="0"/>
                <a:ea typeface="Calibri" pitchFamily="34" charset="-122"/>
                <a:cs typeface="Calibri" pitchFamily="34" charset="-120"/>
              </a:rPr>
              <a:t>UP NEXT</a:t>
            </a:r>
            <a:endParaRPr lang="en-US" sz="1200" dirty="0"/>
          </a:p>
        </p:txBody>
      </p:sp>
      <p:sp>
        <p:nvSpPr>
          <p:cNvPr id="8" name="Text 5"/>
          <p:cNvSpPr txBox="1"/>
          <p:nvPr/>
        </p:nvSpPr>
        <p:spPr>
          <a:xfrm>
            <a:off x="731520" y="4983480"/>
            <a:ext cx="10058400" cy="54864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Module 8: Care Gaps, Quality Measures &amp; Worklists</a:t>
            </a:r>
            <a:endParaRPr lang="en-US" sz="1800" dirty="0"/>
          </a:p>
        </p:txBody>
      </p:sp>
      <p:sp>
        <p:nvSpPr>
          <p:cNvPr id="9" name="Text 6"/>
          <p:cNvSpPr txBox="1"/>
          <p:nvPr/>
        </p:nvSpPr>
        <p:spPr>
          <a:xfrm>
            <a:off x="731520" y="5852160"/>
            <a:ext cx="10515600" cy="548640"/>
          </a:xfrm>
          <a:prstGeom prst="rect">
            <a:avLst/>
          </a:prstGeom>
          <a:noFill/>
          <a:ln/>
        </p:spPr>
        <p:txBody>
          <a:bodyPr wrap="square" lIns="0" tIns="0" rIns="0" bIns="0" rtlCol="0" anchor="ctr"/>
          <a:lstStyle/>
          <a:p>
            <a:pPr indent="0" marL="0">
              <a:buNone/>
            </a:pPr>
            <a:r>
              <a:rPr lang="en-US" sz="1000" i="1" dirty="0">
                <a:solidFill>
                  <a:srgbClr val="84ACDF"/>
                </a:solidFill>
                <a:latin typeface="Calibri" pitchFamily="34" charset="0"/>
                <a:ea typeface="Calibri" pitchFamily="34" charset="-122"/>
                <a:cs typeface="Calibri" pitchFamily="34" charset="-120"/>
              </a:rPr>
              <a:t>Screens shown are illustrative representations of athenaOne workflows (terminology verified against athenahealth O-help and published workflow guides, Sept 2026). Follow AbleLiving policies and athenahealth O-help where they differ.</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7: Orders, Referrals &amp; Results Tracking</dc:title>
  <dc:subject>PptxGenJS Presentation</dc:subject>
  <dc:creator>AbleLiving Memory Support</dc:creator>
  <cp:lastModifiedBy>AbleLiving Memory Support</cp:lastModifiedBy>
  <cp:revision>1</cp:revision>
  <dcterms:created xsi:type="dcterms:W3CDTF">2026-09-24T23:01:58Z</dcterms:created>
  <dcterms:modified xsi:type="dcterms:W3CDTF">2026-09-24T23:01:58Z</dcterms:modified>
</cp:coreProperties>
</file>