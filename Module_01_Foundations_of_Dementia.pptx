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Welcome participants. Introduce yourself and your role at AbleLiving Memory Support. Explain that this is Module 1 of a seven-module GUIDE Care Navigator training series that covers every topic listed in Appendix B of the GUIDE Model requirements. Ask participants to sign the attendance roster, which becomes part of the training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Walk through the full curriculum so participants see the whole journey. Emphasize that each module maps directly to a topic in GUIDE Appendix B (Care Navigator Training Topics). Completion of every module is documented and kept in the staff training file so that AbleLiving can demonstrate that each care navigator has been trained on the required topics. Set ground rules: protect patient privacy in case discussions (use first names or initials only), put phones away, and participate in activities — the role-plays are where skills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Read the objectives aloud. Tell participants the knowledge check at the end of the module is based on these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Briefly preview the agenda and timing. Point out the planned break after the section on stages if delivering in one sitting.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Transition into the program context before the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Explain that CMS designed GUIDE because dementia care is often fragmented and families are left to figure out the system on their own. The model pays participating practices to provide a defined set of services to the person living with dementia and their caregiver — we call this pair the "dyad." Eligibility summary: the beneficiary must have Medicare Parts A and B as primary coverage (Medicare Advantage members are not eligible), a dementia diagnosis, and must not live in a long-term nursing home. Participants are assigned to a tier based on whether they have a caregiver and on the complexity of their needs, and the tier affects which services are available — for example, respite. Refer staff to current AbleLiving/MPS policy for eligibility verification, since program-year rules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CMS assigns GUIDE beneficiaries to one of five tiers based on caregiver status and the complexity of the beneficiary's needs, using information from the assessment. Tiers matter to navigators because they affect which services are available — respite, for example, is tied to dyad tiers with moderate or high complexity. A change in the caregiver situation (a caregiver moves away, becomes ill, or dies) or a significant change in the beneficiary's needs can change the tier, so report these changes promptly. Follow AbleLiving/MPS policy for how tier reassessment is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These are the core GUIDE care delivery requirements. Care navigators touch nearly every one of them. Ask: "Which of these do you think a care navigator does most?" Typical answers: monitoring, coordination, referrals, and caregiver support. Stress that because these are required services, what we document matters — if a service is delivered but not documented, from a compliance standpoint it did not happen. Respite availability depends on the beneficiary's tier and on current program-year policy; always follow current AbleLiving/MPS GUIDE respite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Care navigators do not need to be licensed clinicians, which is why knowing scope is critical. You are the eyes and ears of the team in the home. Your value comes from relationships, consistency, and early noticing. Review the escalation list slowly. Emphasize: "When in doubt, escalate." A navigator is never wrong for alerting the clinical team. Share the AbleLiving/MPS escalation pathway and contact numbers used in your market (Florida and Ohio teams may have different on-call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Give participants a realistic picture of the job. A typical week mixes scheduled visits and calls with unplanned needs — a caregiver in crisis, a hospital discharge, a fall. Strong navigators build routines for the predictable work so they have room for the unpredictable. Share how AbleLiving/MPS structures caseloads, huddles, and documentation deadlines.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Transition to clinical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Use the analogy: "dementia" is like the word "heart disease" — it describes a category; Alzheimer's disease is like a heart attack — a specific cause. Families often ask, "Does Mom have dementia or Alzheimer's?" A helpful response: "Alzheimer's is the most common cause of dementia. The clinician can explain which type your mother has." Navigators should not diagnose, but should be comfortable explaining the difference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These comparisons are adapted from the Alzheimer's Association "10 Warning Signs." The key difference is impact on daily function and whether the person can compensate. Ask participants to share (without identifying details) examples they have seen in the field. Point out that caregivers are often the first to notice subtle changes, so asking caregivers "What has changed in the last six months?" is a powerful navigation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These numbers are rounded from the Alzheimer's Association annual Facts and Figures report. Prevalence rises sharply with age, and both Florida and Ohio have large older-adult populations — Florida in particular has one of the highest numbers of residents living with Alzheimer's in the nation. Make the point that behind every statistic is a caregiver, usually a spouse or adult child, who is often doing this work while managing their own health, job, and family. Update these figures annually when the new report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
Do not expect participants to memorize percentages. The practical value is knowing that each type can look different, so care approaches differ. Two safety pearls: (1) People with Lewy body dementia can have severe reactions to certain antipsychotic medications, so any medication change for hallucinations must go through the clinician. (2) Frontotemporal dementia often affects people in their 50s and 60s — families may still be working and raising children, and the first symptoms are often behavioral rather than memory problems. Ask: "Have you worked with a family whose loved one's dementia did not look like memory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Connect each domain to something observable in the home. For example: visuospatial changes explain why a person may refuse to step onto a dark rug (it can look like a hole) or struggle to sit in a chair. Executive function changes explain why someone can describe how to cook a meal but cannot actually do it in order. Understanding the "why" helps navigators coach caregivers to stop taking behaviors personally.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Families often hold these myths, and so do some professionals. Each myth leads to a harmful outcome: delayed diagnosis, talking about the person as if they are not there, or giving up on meaningful care. Ask participants which myth they hear most often from families, and practice a gentle, factual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This is one of the most important safety slides in the entire curriculum. Dementia changes gradually over months to years. Delirium develops over hours to days, and a common trigger in older adults is a urinary tract infection, pneumonia, dehydration, constipation, or a new medication. Teach caregivers to call if they notice their loved one is suddenly much more confused, sleepy, agitated, or "not themselves." Early treatment of the cause can reverse delirium; missed delirium can lead to hospitalization, falls, and lasting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Transition into staging. Consider a 10-minute break after this section if delivering in one sitting.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
Clinicians may use staging tools such as the FAST scale or the Clinical Dementia Rating to describe stage more precisely; you will review these in Module 2. Emphasize that stages overlap and people do not move through them on a schedule. The Alzheimer's Association notes that people with Alzheimer's live on average four to eight years after diagnosis, but some live much longer. Avoid giving families timelines — refer prognosis questions to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navigator's job changes with the stage. In the early stage, the window to include the person in their own planning is open — this is why advance care planning (Module 5) should begin early. In the middle stage, caregiver burden typically peaks. In the late stage, the focus shifts toward comfort and preparing the family. Note that GUIDE beneficiaries who enroll in hospice may have program changes; follow current AbleLiving/MPS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Balance the clinical content with hope. Our role is not only to manage decline but to help people live well. Share a story (de-identified) of a person who connected through music or a familiar task late in the disease. These strengths become tools in the care plan and in behavioral strategies later in the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Transition to co-morbidities.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Medicare data consistently show that beneficiaries with dementia are hospitalized more often and have more chronic conditions than those without dementia. The practical takeaway: navigators must assume the person cannot reliably self-manage and must find out who is managing each condition. A diabetic care plan that depends on the patient remembering to check blood sugar four times a day is not realistic in moderate dementia.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
Walk through two or three rows in detail rather than all of them. Remind participants that navigators observe and report — the clinician adjusts treatment. A strong navigator note might say: "Caregiver reports patient has been skipping lunch and was found shaky and sweaty twice this week before dinner; insulin given by patient independently." That level of detail allows the clinician to act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Teach caregivers this list, too — they are the ones who see these changes first. Each item can signal a treatable problem: infection, dehydration, medication side effects, or pain. Early reporting is one of the main ways GUIDE helps prevent avoidable emergency visits and hospital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Facilitate in small groups (8 minutes) and then debrief (4 minutes). Key points to draw out: (1) Possible hypoglycemia from double-dosing insulin — this is a same-day clinician notification; (2) The emptier pen suggests Mrs. Alvarez may no longer be able to manage insulin safely; (3) The goal is to preserve dignity while improving safety, for example supervised administration; (4) Rosa's statement is a sign of caregiver strain that should be documented and addressed (Module 7); (5) Documentation should include the caregiver's exact words and the timing of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
Sample cards: "Can no longer manage her checkbook" (early); "Needs help choosing clothes" (middle); "Coughs when drinking water" (late); "Suddenly very sleepy and confused since yesterday" (delirium — escalate). Debrief on why stages overlap and why sudden changes never fit a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Give participants 30 seconds to choose, then reveal and discuss.
ANSWER: B. A sudden change over hours to days suggests delirium, which is a medical emergency often caused by infection, dehydration, or medication. Notify the clinician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Reveal and discuss.
ANSWER: C. Lewy body dementia. This is why any medication for hallucinations or agitation must be managed by the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GUIDE is for Medicare fee-for-service beneficiaries (Parts A and B); Medicare Advantage enrollees are not eligible.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Ask each participant to share one thing they will use in their next family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Encourage participants to bookmark these resources. Verify phone numbers and links annually as part of curriculum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Preview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image" Target="../media/image-1-2.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image" Target="../media/image-32-1.png"/><Relationship Id="rId4" Type="http://schemas.openxmlformats.org/officeDocument/2006/relationships/image" Target="../media/image-32-1.png"/><Relationship Id="rId5" Type="http://schemas.openxmlformats.org/officeDocument/2006/relationships/image" Target="../media/image-32-1.png"/><Relationship Id="rId6" Type="http://schemas.openxmlformats.org/officeDocument/2006/relationships/image" Target="../media/image-32-1.png"/><Relationship Id="rId7" Type="http://schemas.openxmlformats.org/officeDocument/2006/relationships/image" Target="../media/image-5-2.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1</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Foundations: The GUIDE Model &amp; Background on Dementia</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Your role as a Care Navigator, what dementia is, how it progresses, and how it complicates other chronic conditions</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152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Background on Dementia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Welcome to Care Navigator Training</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Seven modules. About 19 hours of training. One goal: helping people live well with dementia at home.</a:t>
            </a:r>
            <a:endParaRPr lang="en-US" sz="1600" dirty="0"/>
          </a:p>
        </p:txBody>
      </p:sp>
      <p:sp>
        <p:nvSpPr>
          <p:cNvPr id="4" name="Text 2"/>
          <p:cNvSpPr txBox="1"/>
          <p:nvPr/>
        </p:nvSpPr>
        <p:spPr>
          <a:xfrm>
            <a:off x="548640" y="1828800"/>
            <a:ext cx="6675120" cy="429768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1: </a:t>
            </a:r>
            <a:r>
              <a:rPr lang="en-US" sz="1800" dirty="0">
                <a:solidFill>
                  <a:srgbClr val="24302D"/>
                </a:solidFill>
                <a:latin typeface="Calibri" pitchFamily="34" charset="0"/>
                <a:ea typeface="Calibri" pitchFamily="34" charset="-122"/>
                <a:cs typeface="Calibri" pitchFamily="34" charset="-120"/>
              </a:rPr>
              <a:t>Foundations — the GUIDE Model and background on dementia</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2: </a:t>
            </a:r>
            <a:r>
              <a:rPr lang="en-US" sz="1800" dirty="0">
                <a:solidFill>
                  <a:srgbClr val="24302D"/>
                </a:solidFill>
                <a:latin typeface="Calibri" pitchFamily="34" charset="0"/>
                <a:ea typeface="Calibri" pitchFamily="34" charset="-122"/>
                <a:cs typeface="Calibri" pitchFamily="34" charset="-120"/>
              </a:rPr>
              <a:t>Assessments, care planning, and person-centered planning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3: </a:t>
            </a:r>
            <a:r>
              <a:rPr lang="en-US" sz="1800" dirty="0">
                <a:solidFill>
                  <a:srgbClr val="24302D"/>
                </a:solidFill>
                <a:latin typeface="Calibri" pitchFamily="34" charset="0"/>
                <a:ea typeface="Calibri" pitchFamily="34" charset="-122"/>
                <a:cs typeface="Calibri" pitchFamily="34" charset="-120"/>
              </a:rPr>
              <a:t>Challenging behaviors and communication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4: </a:t>
            </a:r>
            <a:r>
              <a:rPr lang="en-US" sz="1800" dirty="0">
                <a:solidFill>
                  <a:srgbClr val="24302D"/>
                </a:solidFill>
                <a:latin typeface="Calibri" pitchFamily="34" charset="0"/>
                <a:ea typeface="Calibri" pitchFamily="34" charset="-122"/>
                <a:cs typeface="Calibri" pitchFamily="34" charset="-120"/>
              </a:rPr>
              <a:t>Functional needs, medication management, and safety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5: </a:t>
            </a:r>
            <a:r>
              <a:rPr lang="en-US" sz="1800" dirty="0">
                <a:solidFill>
                  <a:srgbClr val="24302D"/>
                </a:solidFill>
                <a:latin typeface="Calibri" pitchFamily="34" charset="0"/>
                <a:ea typeface="Calibri" pitchFamily="34" charset="-122"/>
                <a:cs typeface="Calibri" pitchFamily="34" charset="-120"/>
              </a:rPr>
              <a:t>Advance care planning and decision-making capacity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6: </a:t>
            </a:r>
            <a:r>
              <a:rPr lang="en-US" sz="1800" dirty="0">
                <a:solidFill>
                  <a:srgbClr val="24302D"/>
                </a:solidFill>
                <a:latin typeface="Calibri" pitchFamily="34" charset="0"/>
                <a:ea typeface="Calibri" pitchFamily="34" charset="-122"/>
                <a:cs typeface="Calibri" pitchFamily="34" charset="-120"/>
              </a:rPr>
              <a:t>Coordinating medical care and community services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Module 7: </a:t>
            </a:r>
            <a:r>
              <a:rPr lang="en-US" sz="1800" dirty="0">
                <a:solidFill>
                  <a:srgbClr val="24302D"/>
                </a:solidFill>
                <a:latin typeface="Calibri" pitchFamily="34" charset="0"/>
                <a:ea typeface="Calibri" pitchFamily="34" charset="-122"/>
                <a:cs typeface="Calibri" pitchFamily="34" charset="-120"/>
              </a:rPr>
              <a:t>Supporting the caregiver and diversity in dementia</a:t>
            </a:r>
            <a:endParaRPr lang="en-US" sz="1800" dirty="0"/>
          </a:p>
        </p:txBody>
      </p:sp>
      <p:sp>
        <p:nvSpPr>
          <p:cNvPr id="5" name="Shape 3"/>
          <p:cNvSpPr/>
          <p:nvPr/>
        </p:nvSpPr>
        <p:spPr>
          <a:xfrm>
            <a:off x="7589520" y="1828800"/>
            <a:ext cx="4053535" cy="4297680"/>
          </a:xfrm>
          <a:prstGeom prst="roundRect">
            <a:avLst>
              <a:gd name="adj" fmla="val 2707"/>
            </a:avLst>
          </a:prstGeom>
          <a:solidFill>
            <a:srgbClr val="E8F1EF"/>
          </a:solidFill>
          <a:ln w="12700">
            <a:solidFill>
              <a:srgbClr val="E8F1EF"/>
            </a:solidFill>
            <a:prstDash val="solid"/>
          </a:ln>
        </p:spPr>
      </p:sp>
      <p:pic>
        <p:nvPicPr>
          <p:cNvPr id="6" name="Image 0" descr="preencoded.png">    </p:cNvPr>
          <p:cNvPicPr>
            <a:picLocks noChangeAspect="1"/>
          </p:cNvPicPr>
          <p:nvPr/>
        </p:nvPicPr>
        <p:blipFill>
          <a:blip r:embed="rId1"/>
          <a:stretch>
            <a:fillRect/>
          </a:stretch>
        </p:blipFill>
        <p:spPr>
          <a:xfrm>
            <a:off x="7863840" y="2103120"/>
            <a:ext cx="502920" cy="502920"/>
          </a:xfrm>
          <a:prstGeom prst="rect">
            <a:avLst/>
          </a:prstGeom>
        </p:spPr>
      </p:pic>
      <p:sp>
        <p:nvSpPr>
          <p:cNvPr id="7" name="Text 4"/>
          <p:cNvSpPr txBox="1"/>
          <p:nvPr/>
        </p:nvSpPr>
        <p:spPr>
          <a:xfrm>
            <a:off x="8503920" y="205740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How we will learn</a:t>
            </a:r>
            <a:endParaRPr lang="en-US" sz="1800" dirty="0"/>
          </a:p>
        </p:txBody>
      </p:sp>
      <p:sp>
        <p:nvSpPr>
          <p:cNvPr id="8" name="Text 5"/>
          <p:cNvSpPr txBox="1"/>
          <p:nvPr/>
        </p:nvSpPr>
        <p:spPr>
          <a:xfrm>
            <a:off x="7863840" y="2834640"/>
            <a:ext cx="3504895" cy="32004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Short teaching segments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Case studies drawn from home-based care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Role-play and skills practice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Knowledge checks at the end of each module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Attendance and completion documented in your training record</a:t>
            </a:r>
            <a:endParaRPr lang="en-US" sz="1600" dirty="0"/>
          </a:p>
        </p:txBody>
      </p:sp>
      <p:pic>
        <p:nvPicPr>
          <p:cNvPr id="9"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0" name="Text 6"/>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1" name="Text 7"/>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the purpose of the CMS GUIDE Model and the services it requires</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the Care Navigator role and when to escalate to a clinician</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Define dementia and distinguish it from normal aging and treatable mimics</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Identify the most common types of dementia and their key features</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the early, middle, and late stages of dementia and what each means for navigation</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how dementia complicates the management of other chronic conditions</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1628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12 min</a:t>
            </a:r>
            <a:endParaRPr lang="en-US" sz="1600" dirty="0"/>
          </a:p>
        </p:txBody>
      </p:sp>
      <p:sp>
        <p:nvSpPr>
          <p:cNvPr id="6" name="Text 4"/>
          <p:cNvSpPr txBox="1"/>
          <p:nvPr/>
        </p:nvSpPr>
        <p:spPr>
          <a:xfrm>
            <a:off x="822960" y="213360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 GUIDE Model &amp; Your Role</a:t>
            </a:r>
            <a:endParaRPr lang="en-US" sz="1700" dirty="0"/>
          </a:p>
        </p:txBody>
      </p:sp>
      <p:sp>
        <p:nvSpPr>
          <p:cNvPr id="7" name="Text 5"/>
          <p:cNvSpPr txBox="1"/>
          <p:nvPr/>
        </p:nvSpPr>
        <p:spPr>
          <a:xfrm>
            <a:off x="6888175" y="213360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28 min</a:t>
            </a:r>
            <a:endParaRPr lang="en-US" sz="1600" dirty="0"/>
          </a:p>
        </p:txBody>
      </p:sp>
      <p:sp>
        <p:nvSpPr>
          <p:cNvPr id="8" name="Shape 6"/>
          <p:cNvSpPr/>
          <p:nvPr/>
        </p:nvSpPr>
        <p:spPr>
          <a:xfrm>
            <a:off x="548640" y="2849880"/>
            <a:ext cx="8076895" cy="716280"/>
          </a:xfrm>
          <a:prstGeom prst="rect">
            <a:avLst/>
          </a:prstGeom>
          <a:solidFill>
            <a:srgbClr val="E8F1EF"/>
          </a:solidFill>
          <a:ln w="12700">
            <a:solidFill>
              <a:srgbClr val="E8F1EF"/>
            </a:solidFill>
            <a:prstDash val="solid"/>
          </a:ln>
        </p:spPr>
      </p:sp>
      <p:sp>
        <p:nvSpPr>
          <p:cNvPr id="9" name="Text 7"/>
          <p:cNvSpPr txBox="1"/>
          <p:nvPr/>
        </p:nvSpPr>
        <p:spPr>
          <a:xfrm>
            <a:off x="822960" y="284988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Understanding Dementia</a:t>
            </a:r>
            <a:endParaRPr lang="en-US" sz="1700" dirty="0"/>
          </a:p>
        </p:txBody>
      </p:sp>
      <p:sp>
        <p:nvSpPr>
          <p:cNvPr id="10" name="Text 8"/>
          <p:cNvSpPr txBox="1"/>
          <p:nvPr/>
        </p:nvSpPr>
        <p:spPr>
          <a:xfrm>
            <a:off x="6888175" y="284988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38 min</a:t>
            </a:r>
            <a:endParaRPr lang="en-US" sz="1600" dirty="0"/>
          </a:p>
        </p:txBody>
      </p:sp>
      <p:sp>
        <p:nvSpPr>
          <p:cNvPr id="11" name="Text 9"/>
          <p:cNvSpPr txBox="1"/>
          <p:nvPr/>
        </p:nvSpPr>
        <p:spPr>
          <a:xfrm>
            <a:off x="822960" y="356616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Progression of Disease</a:t>
            </a:r>
            <a:endParaRPr lang="en-US" sz="1700" dirty="0"/>
          </a:p>
        </p:txBody>
      </p:sp>
      <p:sp>
        <p:nvSpPr>
          <p:cNvPr id="12" name="Text 10"/>
          <p:cNvSpPr txBox="1"/>
          <p:nvPr/>
        </p:nvSpPr>
        <p:spPr>
          <a:xfrm>
            <a:off x="6888175" y="356616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3" name="Shape 11"/>
          <p:cNvSpPr/>
          <p:nvPr/>
        </p:nvSpPr>
        <p:spPr>
          <a:xfrm>
            <a:off x="548640" y="4282440"/>
            <a:ext cx="8076895" cy="716280"/>
          </a:xfrm>
          <a:prstGeom prst="rect">
            <a:avLst/>
          </a:prstGeom>
          <a:solidFill>
            <a:srgbClr val="E8F1EF"/>
          </a:solidFill>
          <a:ln w="12700">
            <a:solidFill>
              <a:srgbClr val="E8F1EF"/>
            </a:solidFill>
            <a:prstDash val="solid"/>
          </a:ln>
        </p:spPr>
      </p:sp>
      <p:sp>
        <p:nvSpPr>
          <p:cNvPr id="14" name="Text 12"/>
          <p:cNvSpPr txBox="1"/>
          <p:nvPr/>
        </p:nvSpPr>
        <p:spPr>
          <a:xfrm>
            <a:off x="822960" y="428244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Dementia and Co-Morbidities</a:t>
            </a:r>
            <a:endParaRPr lang="en-US" sz="1700" dirty="0"/>
          </a:p>
        </p:txBody>
      </p:sp>
      <p:sp>
        <p:nvSpPr>
          <p:cNvPr id="15" name="Text 13"/>
          <p:cNvSpPr txBox="1"/>
          <p:nvPr/>
        </p:nvSpPr>
        <p:spPr>
          <a:xfrm>
            <a:off x="6888175" y="428244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40 min</a:t>
            </a:r>
            <a:endParaRPr lang="en-US" sz="1600" dirty="0"/>
          </a:p>
        </p:txBody>
      </p:sp>
      <p:sp>
        <p:nvSpPr>
          <p:cNvPr id="16" name="Text 14"/>
          <p:cNvSpPr txBox="1"/>
          <p:nvPr/>
        </p:nvSpPr>
        <p:spPr>
          <a:xfrm>
            <a:off x="822960" y="4998720"/>
            <a:ext cx="6065215" cy="71628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 takeaways &amp; resources</a:t>
            </a:r>
            <a:endParaRPr lang="en-US" sz="1700" dirty="0"/>
          </a:p>
        </p:txBody>
      </p:sp>
      <p:sp>
        <p:nvSpPr>
          <p:cNvPr id="17" name="Text 15"/>
          <p:cNvSpPr txBox="1"/>
          <p:nvPr/>
        </p:nvSpPr>
        <p:spPr>
          <a:xfrm>
            <a:off x="6888175" y="4998720"/>
            <a:ext cx="1508760" cy="71628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8" name="Text 16"/>
          <p:cNvSpPr txBox="1"/>
          <p:nvPr/>
        </p:nvSpPr>
        <p:spPr>
          <a:xfrm>
            <a:off x="822960" y="585216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152 minutes (about 2.5 hours)</a:t>
            </a:r>
            <a:endParaRPr lang="en-US" sz="1500" dirty="0"/>
          </a:p>
        </p:txBody>
      </p:sp>
      <p:pic>
        <p:nvPicPr>
          <p:cNvPr id="19"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2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21" name="Text 1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2" name="Text 1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The GUIDE Model &amp; Your Role</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Why this program exists and where the Care Navigator fits</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1</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Is the GUIDE Model?</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Guiding an Improved Dementia Experience — a CMS Innovation Center model</a:t>
            </a:r>
            <a:endParaRPr lang="en-US" sz="1600" dirty="0"/>
          </a:p>
        </p:txBody>
      </p:sp>
      <p:sp>
        <p:nvSpPr>
          <p:cNvPr id="4" name="Text 2"/>
          <p:cNvSpPr txBox="1"/>
          <p:nvPr/>
        </p:nvSpPr>
        <p:spPr>
          <a:xfrm>
            <a:off x="548640" y="1828800"/>
            <a:ext cx="6675120" cy="429768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Launched July 1, 2024 </a:t>
            </a:r>
            <a:r>
              <a:rPr lang="en-US" sz="1800" dirty="0">
                <a:solidFill>
                  <a:srgbClr val="24302D"/>
                </a:solidFill>
                <a:latin typeface="Calibri" pitchFamily="34" charset="0"/>
                <a:ea typeface="Calibri" pitchFamily="34" charset="-122"/>
                <a:cs typeface="Calibri" pitchFamily="34" charset="-120"/>
              </a:rPr>
              <a:t>as an eight-year voluntary model for Medicare fee-for-service beneficiaries living with dementia</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Goal 1: </a:t>
            </a:r>
            <a:r>
              <a:rPr lang="en-US" sz="1800" dirty="0">
                <a:solidFill>
                  <a:srgbClr val="24302D"/>
                </a:solidFill>
                <a:latin typeface="Calibri" pitchFamily="34" charset="0"/>
                <a:ea typeface="Calibri" pitchFamily="34" charset="-122"/>
                <a:cs typeface="Calibri" pitchFamily="34" charset="-120"/>
              </a:rPr>
              <a:t>Improve quality of life for people living with dementia</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Goal 2: </a:t>
            </a:r>
            <a:r>
              <a:rPr lang="en-US" sz="1800" dirty="0">
                <a:solidFill>
                  <a:srgbClr val="24302D"/>
                </a:solidFill>
                <a:latin typeface="Calibri" pitchFamily="34" charset="0"/>
                <a:ea typeface="Calibri" pitchFamily="34" charset="-122"/>
                <a:cs typeface="Calibri" pitchFamily="34" charset="-120"/>
              </a:rPr>
              <a:t>Reduce strain on unpaid caregivers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Goal 3: </a:t>
            </a:r>
            <a:r>
              <a:rPr lang="en-US" sz="1800" dirty="0">
                <a:solidFill>
                  <a:srgbClr val="24302D"/>
                </a:solidFill>
                <a:latin typeface="Calibri" pitchFamily="34" charset="0"/>
                <a:ea typeface="Calibri" pitchFamily="34" charset="-122"/>
                <a:cs typeface="Calibri" pitchFamily="34" charset="-120"/>
              </a:rPr>
              <a:t>Help people remain safely in their homes and communities for as long as possible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How: </a:t>
            </a:r>
            <a:r>
              <a:rPr lang="en-US" sz="1800" dirty="0">
                <a:solidFill>
                  <a:srgbClr val="24302D"/>
                </a:solidFill>
                <a:latin typeface="Calibri" pitchFamily="34" charset="0"/>
                <a:ea typeface="Calibri" pitchFamily="34" charset="-122"/>
                <a:cs typeface="Calibri" pitchFamily="34" charset="-120"/>
              </a:rPr>
              <a:t>An interdisciplinary team delivers comprehensive, coordinated dementia care, paid through a monthly per-beneficiary care management payment</a:t>
            </a:r>
            <a:endParaRPr lang="en-US" sz="1800" dirty="0"/>
          </a:p>
        </p:txBody>
      </p:sp>
      <p:sp>
        <p:nvSpPr>
          <p:cNvPr id="5" name="Shape 3"/>
          <p:cNvSpPr/>
          <p:nvPr/>
        </p:nvSpPr>
        <p:spPr>
          <a:xfrm>
            <a:off x="7589520" y="1828800"/>
            <a:ext cx="4053535" cy="4297680"/>
          </a:xfrm>
          <a:prstGeom prst="roundRect">
            <a:avLst>
              <a:gd name="adj" fmla="val 2707"/>
            </a:avLst>
          </a:prstGeom>
          <a:solidFill>
            <a:srgbClr val="E8F1EF"/>
          </a:solidFill>
          <a:ln w="12700">
            <a:solidFill>
              <a:srgbClr val="E8F1EF"/>
            </a:solidFill>
            <a:prstDash val="solid"/>
          </a:ln>
        </p:spPr>
      </p:sp>
      <p:pic>
        <p:nvPicPr>
          <p:cNvPr id="6" name="Image 0" descr="preencoded.png">    </p:cNvPr>
          <p:cNvPicPr>
            <a:picLocks noChangeAspect="1"/>
          </p:cNvPicPr>
          <p:nvPr/>
        </p:nvPicPr>
        <p:blipFill>
          <a:blip r:embed="rId1"/>
          <a:stretch>
            <a:fillRect/>
          </a:stretch>
        </p:blipFill>
        <p:spPr>
          <a:xfrm>
            <a:off x="7863840" y="2103120"/>
            <a:ext cx="502920" cy="502920"/>
          </a:xfrm>
          <a:prstGeom prst="rect">
            <a:avLst/>
          </a:prstGeom>
        </p:spPr>
      </p:pic>
      <p:sp>
        <p:nvSpPr>
          <p:cNvPr id="7" name="Text 4"/>
          <p:cNvSpPr txBox="1"/>
          <p:nvPr/>
        </p:nvSpPr>
        <p:spPr>
          <a:xfrm>
            <a:off x="8503920" y="205740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Who is eligible?</a:t>
            </a:r>
            <a:endParaRPr lang="en-US" sz="1800" dirty="0"/>
          </a:p>
        </p:txBody>
      </p:sp>
      <p:sp>
        <p:nvSpPr>
          <p:cNvPr id="8" name="Text 5"/>
          <p:cNvSpPr txBox="1"/>
          <p:nvPr/>
        </p:nvSpPr>
        <p:spPr>
          <a:xfrm>
            <a:off x="7863840" y="2834640"/>
            <a:ext cx="3504895" cy="32004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Medicare Part A and B (not Medicare Advantage)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Confirmed dementia diagnosis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Not residing in a long-term nursing home</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Not enrolled in hospice at alignment</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Assigned a tier based on caregiver status and complexity</a:t>
            </a:r>
            <a:endParaRPr lang="en-US" sz="1600" dirty="0"/>
          </a:p>
        </p:txBody>
      </p:sp>
      <p:pic>
        <p:nvPicPr>
          <p:cNvPr id="9"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0" name="Text 6"/>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1" name="Text 7"/>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GUIDE Tiers at a Glance</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Tier assignment reflects whether the beneficiary has a caregiver and how complex their needs are.</a:t>
            </a:r>
            <a:endParaRPr lang="en-US" sz="1600" dirty="0"/>
          </a:p>
        </p:txBody>
      </p:sp>
      <p:sp>
        <p:nvSpPr>
          <p:cNvPr id="4" name="Shape 2"/>
          <p:cNvSpPr/>
          <p:nvPr/>
        </p:nvSpPr>
        <p:spPr>
          <a:xfrm>
            <a:off x="548640" y="1828800"/>
            <a:ext cx="3515258" cy="4297680"/>
          </a:xfrm>
          <a:prstGeom prst="roundRect">
            <a:avLst>
              <a:gd name="adj" fmla="val 3121"/>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49808" y="2029968"/>
            <a:ext cx="420624" cy="420624"/>
          </a:xfrm>
          <a:prstGeom prst="rect">
            <a:avLst/>
          </a:prstGeom>
        </p:spPr>
      </p:pic>
      <p:sp>
        <p:nvSpPr>
          <p:cNvPr id="6" name="Text 3"/>
          <p:cNvSpPr txBox="1"/>
          <p:nvPr/>
        </p:nvSpPr>
        <p:spPr>
          <a:xfrm>
            <a:off x="1298448" y="198424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Dyad Tiers</a:t>
            </a:r>
            <a:endParaRPr lang="en-US" sz="1900" dirty="0"/>
          </a:p>
        </p:txBody>
      </p:sp>
      <p:sp>
        <p:nvSpPr>
          <p:cNvPr id="7" name="Text 4"/>
          <p:cNvSpPr txBox="1"/>
          <p:nvPr/>
        </p:nvSpPr>
        <p:spPr>
          <a:xfrm>
            <a:off x="768096" y="2606040"/>
            <a:ext cx="3094634" cy="338328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Low complexity dyad</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Moderate complexity dyad</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High complexity dyad</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Beneficiary has an unpaid caregiver</a:t>
            </a:r>
            <a:endParaRPr lang="en-US" sz="1800" dirty="0"/>
          </a:p>
        </p:txBody>
      </p:sp>
      <p:sp>
        <p:nvSpPr>
          <p:cNvPr id="8" name="Shape 5"/>
          <p:cNvSpPr/>
          <p:nvPr/>
        </p:nvSpPr>
        <p:spPr>
          <a:xfrm>
            <a:off x="4338218" y="1828800"/>
            <a:ext cx="3515258" cy="4297680"/>
          </a:xfrm>
          <a:prstGeom prst="roundRect">
            <a:avLst>
              <a:gd name="adj" fmla="val 3121"/>
            </a:avLst>
          </a:prstGeom>
          <a:solidFill>
            <a:srgbClr val="E8F1EF"/>
          </a:solidFill>
          <a:ln w="12700">
            <a:solidFill>
              <a:srgbClr val="E8F1EF"/>
            </a:solidFill>
            <a:prstDash val="solid"/>
          </a:ln>
        </p:spPr>
      </p:sp>
      <p:pic>
        <p:nvPicPr>
          <p:cNvPr id="9" name="Image 1" descr="preencoded.png">    </p:cNvPr>
          <p:cNvPicPr>
            <a:picLocks noChangeAspect="1"/>
          </p:cNvPicPr>
          <p:nvPr/>
        </p:nvPicPr>
        <p:blipFill>
          <a:blip r:embed="rId2"/>
          <a:stretch>
            <a:fillRect/>
          </a:stretch>
        </p:blipFill>
        <p:spPr>
          <a:xfrm>
            <a:off x="4539386" y="2029968"/>
            <a:ext cx="420624" cy="420624"/>
          </a:xfrm>
          <a:prstGeom prst="rect">
            <a:avLst/>
          </a:prstGeom>
        </p:spPr>
      </p:pic>
      <p:sp>
        <p:nvSpPr>
          <p:cNvPr id="10" name="Text 6"/>
          <p:cNvSpPr txBox="1"/>
          <p:nvPr/>
        </p:nvSpPr>
        <p:spPr>
          <a:xfrm>
            <a:off x="5088026" y="198424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Individual Tiers</a:t>
            </a:r>
            <a:endParaRPr lang="en-US" sz="1900" dirty="0"/>
          </a:p>
        </p:txBody>
      </p:sp>
      <p:sp>
        <p:nvSpPr>
          <p:cNvPr id="11" name="Text 7"/>
          <p:cNvSpPr txBox="1"/>
          <p:nvPr/>
        </p:nvSpPr>
        <p:spPr>
          <a:xfrm>
            <a:off x="4557674" y="2606040"/>
            <a:ext cx="3094634" cy="338328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Low/moderate complexity individual</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High complexity individual</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No unpaid caregiver identified</a:t>
            </a:r>
            <a:endParaRPr lang="en-US" sz="1800" dirty="0"/>
          </a:p>
        </p:txBody>
      </p:sp>
      <p:sp>
        <p:nvSpPr>
          <p:cNvPr id="12" name="Shape 8"/>
          <p:cNvSpPr/>
          <p:nvPr/>
        </p:nvSpPr>
        <p:spPr>
          <a:xfrm>
            <a:off x="8127797" y="1828800"/>
            <a:ext cx="3515258" cy="4297680"/>
          </a:xfrm>
          <a:prstGeom prst="roundRect">
            <a:avLst>
              <a:gd name="adj" fmla="val 3121"/>
            </a:avLst>
          </a:prstGeom>
          <a:solidFill>
            <a:srgbClr val="E8F1EF"/>
          </a:solidFill>
          <a:ln w="12700">
            <a:solidFill>
              <a:srgbClr val="E8F1EF"/>
            </a:solidFill>
            <a:prstDash val="solid"/>
          </a:ln>
        </p:spPr>
      </p:sp>
      <p:pic>
        <p:nvPicPr>
          <p:cNvPr id="13" name="Image 2" descr="preencoded.png">    </p:cNvPr>
          <p:cNvPicPr>
            <a:picLocks noChangeAspect="1"/>
          </p:cNvPicPr>
          <p:nvPr/>
        </p:nvPicPr>
        <p:blipFill>
          <a:blip r:embed="rId3"/>
          <a:stretch>
            <a:fillRect/>
          </a:stretch>
        </p:blipFill>
        <p:spPr>
          <a:xfrm>
            <a:off x="8328965" y="2029968"/>
            <a:ext cx="420624" cy="420624"/>
          </a:xfrm>
          <a:prstGeom prst="rect">
            <a:avLst/>
          </a:prstGeom>
        </p:spPr>
      </p:pic>
      <p:sp>
        <p:nvSpPr>
          <p:cNvPr id="14" name="Text 9"/>
          <p:cNvSpPr txBox="1"/>
          <p:nvPr/>
        </p:nvSpPr>
        <p:spPr>
          <a:xfrm>
            <a:off x="8877605" y="198424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Why Tiers Matter</a:t>
            </a:r>
            <a:endParaRPr lang="en-US" sz="1900" dirty="0"/>
          </a:p>
        </p:txBody>
      </p:sp>
      <p:sp>
        <p:nvSpPr>
          <p:cNvPr id="15" name="Text 10"/>
          <p:cNvSpPr txBox="1"/>
          <p:nvPr/>
        </p:nvSpPr>
        <p:spPr>
          <a:xfrm>
            <a:off x="8347253" y="2606040"/>
            <a:ext cx="3094634" cy="338328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Determine payment level</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Shape service intensity</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Affect respite eligibility</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Can change at reassessment</a:t>
            </a:r>
            <a:endParaRPr lang="en-US" sz="1800" dirty="0"/>
          </a:p>
        </p:txBody>
      </p:sp>
      <p:pic>
        <p:nvPicPr>
          <p:cNvPr id="16" name="Image 3" descr="preencoded.png">    </p:cNvPr>
          <p:cNvPicPr>
            <a:picLocks noChangeAspect="1"/>
          </p:cNvPicPr>
          <p:nvPr/>
        </p:nvPicPr>
        <p:blipFill>
          <a:blip r:embed="rId4"/>
          <a:stretch>
            <a:fillRect/>
          </a:stretch>
        </p:blipFill>
        <p:spPr>
          <a:xfrm>
            <a:off x="548640" y="6309360"/>
            <a:ext cx="874762" cy="365760"/>
          </a:xfrm>
          <a:prstGeom prst="rect">
            <a:avLst/>
          </a:prstGeom>
        </p:spPr>
      </p:pic>
      <p:sp>
        <p:nvSpPr>
          <p:cNvPr id="17"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8"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GUIDE Care Delivery: What We Must Provide</a:t>
            </a:r>
            <a:endParaRPr lang="en-US" sz="3000" dirty="0"/>
          </a:p>
        </p:txBody>
      </p:sp>
      <p:sp>
        <p:nvSpPr>
          <p:cNvPr id="3" name="Shape 1"/>
          <p:cNvSpPr/>
          <p:nvPr/>
        </p:nvSpPr>
        <p:spPr>
          <a:xfrm>
            <a:off x="548640" y="1417320"/>
            <a:ext cx="2567864"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Assessment &amp; Care Plan</a:t>
            </a:r>
            <a:endParaRPr lang="en-US" sz="1450" dirty="0"/>
          </a:p>
        </p:txBody>
      </p:sp>
      <p:sp>
        <p:nvSpPr>
          <p:cNvPr id="6" name="Text 3"/>
          <p:cNvSpPr txBox="1"/>
          <p:nvPr/>
        </p:nvSpPr>
        <p:spPr>
          <a:xfrm>
            <a:off x="768096"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Comprehensive assessment of the person and caregiver; written, person-centered care plan.</a:t>
            </a:r>
            <a:endParaRPr lang="en-US" sz="1450" dirty="0"/>
          </a:p>
        </p:txBody>
      </p:sp>
      <p:sp>
        <p:nvSpPr>
          <p:cNvPr id="7" name="Shape 4"/>
          <p:cNvSpPr/>
          <p:nvPr/>
        </p:nvSpPr>
        <p:spPr>
          <a:xfrm>
            <a:off x="3390824" y="1417320"/>
            <a:ext cx="2567864"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3591992" y="1618488"/>
            <a:ext cx="420624" cy="420624"/>
          </a:xfrm>
          <a:prstGeom prst="rect">
            <a:avLst/>
          </a:prstGeom>
        </p:spPr>
      </p:pic>
      <p:sp>
        <p:nvSpPr>
          <p:cNvPr id="9" name="Text 5"/>
          <p:cNvSpPr txBox="1"/>
          <p:nvPr/>
        </p:nvSpPr>
        <p:spPr>
          <a:xfrm>
            <a:off x="4140632"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24/7 Access</a:t>
            </a:r>
            <a:endParaRPr lang="en-US" sz="1450" dirty="0"/>
          </a:p>
        </p:txBody>
      </p:sp>
      <p:sp>
        <p:nvSpPr>
          <p:cNvPr id="10" name="Text 6"/>
          <p:cNvSpPr txBox="1"/>
          <p:nvPr/>
        </p:nvSpPr>
        <p:spPr>
          <a:xfrm>
            <a:off x="3610280"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Around-the-clock access to a care team member or helpline.</a:t>
            </a:r>
            <a:endParaRPr lang="en-US" sz="1450" dirty="0"/>
          </a:p>
        </p:txBody>
      </p:sp>
      <p:sp>
        <p:nvSpPr>
          <p:cNvPr id="11" name="Shape 7"/>
          <p:cNvSpPr/>
          <p:nvPr/>
        </p:nvSpPr>
        <p:spPr>
          <a:xfrm>
            <a:off x="6233008" y="1417320"/>
            <a:ext cx="2567864"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6434176" y="1618488"/>
            <a:ext cx="420624" cy="420624"/>
          </a:xfrm>
          <a:prstGeom prst="rect">
            <a:avLst/>
          </a:prstGeom>
        </p:spPr>
      </p:pic>
      <p:sp>
        <p:nvSpPr>
          <p:cNvPr id="13" name="Text 8"/>
          <p:cNvSpPr txBox="1"/>
          <p:nvPr/>
        </p:nvSpPr>
        <p:spPr>
          <a:xfrm>
            <a:off x="6982816"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Ongoing Monitoring</a:t>
            </a:r>
            <a:endParaRPr lang="en-US" sz="1450" dirty="0"/>
          </a:p>
        </p:txBody>
      </p:sp>
      <p:sp>
        <p:nvSpPr>
          <p:cNvPr id="14" name="Text 9"/>
          <p:cNvSpPr txBox="1"/>
          <p:nvPr/>
        </p:nvSpPr>
        <p:spPr>
          <a:xfrm>
            <a:off x="6452464"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Regular check-ins and support between visits.</a:t>
            </a:r>
            <a:endParaRPr lang="en-US" sz="1450" dirty="0"/>
          </a:p>
        </p:txBody>
      </p:sp>
      <p:sp>
        <p:nvSpPr>
          <p:cNvPr id="15" name="Shape 10"/>
          <p:cNvSpPr/>
          <p:nvPr/>
        </p:nvSpPr>
        <p:spPr>
          <a:xfrm>
            <a:off x="9075191" y="1417320"/>
            <a:ext cx="2567864"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9276359" y="1618488"/>
            <a:ext cx="420624" cy="420624"/>
          </a:xfrm>
          <a:prstGeom prst="rect">
            <a:avLst/>
          </a:prstGeom>
        </p:spPr>
      </p:pic>
      <p:sp>
        <p:nvSpPr>
          <p:cNvPr id="17" name="Text 11"/>
          <p:cNvSpPr txBox="1"/>
          <p:nvPr/>
        </p:nvSpPr>
        <p:spPr>
          <a:xfrm>
            <a:off x="9824999" y="157276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Care Coordination</a:t>
            </a:r>
            <a:endParaRPr lang="en-US" sz="1450" dirty="0"/>
          </a:p>
        </p:txBody>
      </p:sp>
      <p:sp>
        <p:nvSpPr>
          <p:cNvPr id="18" name="Text 12"/>
          <p:cNvSpPr txBox="1"/>
          <p:nvPr/>
        </p:nvSpPr>
        <p:spPr>
          <a:xfrm>
            <a:off x="9294647" y="219456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Coordination with providers and support through care transitions.</a:t>
            </a:r>
            <a:endParaRPr lang="en-US" sz="1450" dirty="0"/>
          </a:p>
        </p:txBody>
      </p:sp>
      <p:sp>
        <p:nvSpPr>
          <p:cNvPr id="19" name="Shape 13"/>
          <p:cNvSpPr/>
          <p:nvPr/>
        </p:nvSpPr>
        <p:spPr>
          <a:xfrm>
            <a:off x="548640" y="3909060"/>
            <a:ext cx="2567864"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749808" y="4110228"/>
            <a:ext cx="420624" cy="420624"/>
          </a:xfrm>
          <a:prstGeom prst="rect">
            <a:avLst/>
          </a:prstGeom>
        </p:spPr>
      </p:pic>
      <p:sp>
        <p:nvSpPr>
          <p:cNvPr id="21" name="Text 14"/>
          <p:cNvSpPr txBox="1"/>
          <p:nvPr/>
        </p:nvSpPr>
        <p:spPr>
          <a:xfrm>
            <a:off x="1298448"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Community Referrals</a:t>
            </a:r>
            <a:endParaRPr lang="en-US" sz="1450" dirty="0"/>
          </a:p>
        </p:txBody>
      </p:sp>
      <p:sp>
        <p:nvSpPr>
          <p:cNvPr id="22" name="Text 15"/>
          <p:cNvSpPr txBox="1"/>
          <p:nvPr/>
        </p:nvSpPr>
        <p:spPr>
          <a:xfrm>
            <a:off x="768096"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Referral to and coordination of community-based services and supports.</a:t>
            </a:r>
            <a:endParaRPr lang="en-US" sz="1450" dirty="0"/>
          </a:p>
        </p:txBody>
      </p:sp>
      <p:sp>
        <p:nvSpPr>
          <p:cNvPr id="23" name="Shape 16"/>
          <p:cNvSpPr/>
          <p:nvPr/>
        </p:nvSpPr>
        <p:spPr>
          <a:xfrm>
            <a:off x="3390824" y="3909060"/>
            <a:ext cx="2567864"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3591992" y="4110228"/>
            <a:ext cx="420624" cy="420624"/>
          </a:xfrm>
          <a:prstGeom prst="rect">
            <a:avLst/>
          </a:prstGeom>
        </p:spPr>
      </p:pic>
      <p:sp>
        <p:nvSpPr>
          <p:cNvPr id="25" name="Text 17"/>
          <p:cNvSpPr txBox="1"/>
          <p:nvPr/>
        </p:nvSpPr>
        <p:spPr>
          <a:xfrm>
            <a:off x="4140632"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Caregiver Support</a:t>
            </a:r>
            <a:endParaRPr lang="en-US" sz="1450" dirty="0"/>
          </a:p>
        </p:txBody>
      </p:sp>
      <p:sp>
        <p:nvSpPr>
          <p:cNvPr id="26" name="Text 18"/>
          <p:cNvSpPr txBox="1"/>
          <p:nvPr/>
        </p:nvSpPr>
        <p:spPr>
          <a:xfrm>
            <a:off x="3610280"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Caregiver education, training, and support services.</a:t>
            </a:r>
            <a:endParaRPr lang="en-US" sz="1450" dirty="0"/>
          </a:p>
        </p:txBody>
      </p:sp>
      <p:sp>
        <p:nvSpPr>
          <p:cNvPr id="27" name="Shape 19"/>
          <p:cNvSpPr/>
          <p:nvPr/>
        </p:nvSpPr>
        <p:spPr>
          <a:xfrm>
            <a:off x="6233008" y="3909060"/>
            <a:ext cx="2567864" cy="2217420"/>
          </a:xfrm>
          <a:prstGeom prst="roundRect">
            <a:avLst>
              <a:gd name="adj" fmla="val 4948"/>
            </a:avLst>
          </a:prstGeom>
          <a:solidFill>
            <a:srgbClr val="E8F1EF"/>
          </a:solidFill>
          <a:ln w="12700">
            <a:solidFill>
              <a:srgbClr val="E8F1EF"/>
            </a:solidFill>
            <a:prstDash val="solid"/>
          </a:ln>
        </p:spPr>
      </p:sp>
      <p:pic>
        <p:nvPicPr>
          <p:cNvPr id="28" name="Image 6" descr="preencoded.png">    </p:cNvPr>
          <p:cNvPicPr>
            <a:picLocks noChangeAspect="1"/>
          </p:cNvPicPr>
          <p:nvPr/>
        </p:nvPicPr>
        <p:blipFill>
          <a:blip r:embed="rId7"/>
          <a:stretch>
            <a:fillRect/>
          </a:stretch>
        </p:blipFill>
        <p:spPr>
          <a:xfrm>
            <a:off x="6434176" y="4110228"/>
            <a:ext cx="420624" cy="420624"/>
          </a:xfrm>
          <a:prstGeom prst="rect">
            <a:avLst/>
          </a:prstGeom>
        </p:spPr>
      </p:pic>
      <p:sp>
        <p:nvSpPr>
          <p:cNvPr id="29" name="Text 20"/>
          <p:cNvSpPr txBox="1"/>
          <p:nvPr/>
        </p:nvSpPr>
        <p:spPr>
          <a:xfrm>
            <a:off x="6982816"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Medication Management</a:t>
            </a:r>
            <a:endParaRPr lang="en-US" sz="1450" dirty="0"/>
          </a:p>
        </p:txBody>
      </p:sp>
      <p:sp>
        <p:nvSpPr>
          <p:cNvPr id="30" name="Text 21"/>
          <p:cNvSpPr txBox="1"/>
          <p:nvPr/>
        </p:nvSpPr>
        <p:spPr>
          <a:xfrm>
            <a:off x="6452464"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Medication review, reconciliation, and adherence support.</a:t>
            </a:r>
            <a:endParaRPr lang="en-US" sz="1450" dirty="0"/>
          </a:p>
        </p:txBody>
      </p:sp>
      <p:sp>
        <p:nvSpPr>
          <p:cNvPr id="31" name="Shape 22"/>
          <p:cNvSpPr/>
          <p:nvPr/>
        </p:nvSpPr>
        <p:spPr>
          <a:xfrm>
            <a:off x="9075191" y="3909060"/>
            <a:ext cx="2567864" cy="2217420"/>
          </a:xfrm>
          <a:prstGeom prst="roundRect">
            <a:avLst>
              <a:gd name="adj" fmla="val 4948"/>
            </a:avLst>
          </a:prstGeom>
          <a:solidFill>
            <a:srgbClr val="E8F1EF"/>
          </a:solidFill>
          <a:ln w="12700">
            <a:solidFill>
              <a:srgbClr val="E8F1EF"/>
            </a:solidFill>
            <a:prstDash val="solid"/>
          </a:ln>
        </p:spPr>
      </p:sp>
      <p:pic>
        <p:nvPicPr>
          <p:cNvPr id="32" name="Image 7" descr="preencoded.png">    </p:cNvPr>
          <p:cNvPicPr>
            <a:picLocks noChangeAspect="1"/>
          </p:cNvPicPr>
          <p:nvPr/>
        </p:nvPicPr>
        <p:blipFill>
          <a:blip r:embed="rId8"/>
          <a:stretch>
            <a:fillRect/>
          </a:stretch>
        </p:blipFill>
        <p:spPr>
          <a:xfrm>
            <a:off x="9276359" y="4110228"/>
            <a:ext cx="420624" cy="420624"/>
          </a:xfrm>
          <a:prstGeom prst="rect">
            <a:avLst/>
          </a:prstGeom>
        </p:spPr>
      </p:pic>
      <p:sp>
        <p:nvSpPr>
          <p:cNvPr id="33" name="Text 23"/>
          <p:cNvSpPr txBox="1"/>
          <p:nvPr/>
        </p:nvSpPr>
        <p:spPr>
          <a:xfrm>
            <a:off x="9824999" y="4064508"/>
            <a:ext cx="1653464" cy="512064"/>
          </a:xfrm>
          <a:prstGeom prst="rect">
            <a:avLst/>
          </a:prstGeom>
          <a:noFill/>
          <a:ln/>
        </p:spPr>
        <p:txBody>
          <a:bodyPr wrap="square" lIns="0" tIns="0" rIns="0" bIns="0" rtlCol="0" anchor="ctr"/>
          <a:lstStyle/>
          <a:p>
            <a:pPr indent="0" marL="0">
              <a:buNone/>
            </a:pPr>
            <a:r>
              <a:rPr lang="en-US" sz="1450" b="1" dirty="0">
                <a:solidFill>
                  <a:srgbClr val="28695F"/>
                </a:solidFill>
                <a:latin typeface="Cambria" pitchFamily="34" charset="0"/>
                <a:ea typeface="Cambria" pitchFamily="34" charset="-122"/>
                <a:cs typeface="Cambria" pitchFamily="34" charset="-120"/>
              </a:rPr>
              <a:t>Respite Services</a:t>
            </a:r>
            <a:endParaRPr lang="en-US" sz="1450" dirty="0"/>
          </a:p>
        </p:txBody>
      </p:sp>
      <p:sp>
        <p:nvSpPr>
          <p:cNvPr id="34" name="Text 24"/>
          <p:cNvSpPr txBox="1"/>
          <p:nvPr/>
        </p:nvSpPr>
        <p:spPr>
          <a:xfrm>
            <a:off x="9294647" y="4686300"/>
            <a:ext cx="2147240" cy="1303020"/>
          </a:xfrm>
          <a:prstGeom prst="rect">
            <a:avLst/>
          </a:prstGeom>
          <a:noFill/>
          <a:ln/>
        </p:spPr>
        <p:txBody>
          <a:bodyPr wrap="square" lIns="0" tIns="0" rIns="0" bIns="0" rtlCol="0" anchor="t"/>
          <a:lstStyle/>
          <a:p>
            <a:pPr indent="0" marL="0">
              <a:buNone/>
            </a:pPr>
            <a:r>
              <a:rPr lang="en-US" sz="1450" dirty="0">
                <a:solidFill>
                  <a:srgbClr val="24302D"/>
                </a:solidFill>
                <a:latin typeface="Calibri" pitchFamily="34" charset="0"/>
                <a:ea typeface="Calibri" pitchFamily="34" charset="-122"/>
                <a:cs typeface="Calibri" pitchFamily="34" charset="-120"/>
              </a:rPr>
              <a:t>Respite for eligible caregivers, per current program rules.</a:t>
            </a:r>
            <a:endParaRPr lang="en-US" sz="1450" dirty="0"/>
          </a:p>
        </p:txBody>
      </p:sp>
      <p:pic>
        <p:nvPicPr>
          <p:cNvPr id="35" name="Image 8" descr="preencoded.png">    </p:cNvPr>
          <p:cNvPicPr>
            <a:picLocks noChangeAspect="1"/>
          </p:cNvPicPr>
          <p:nvPr/>
        </p:nvPicPr>
        <p:blipFill>
          <a:blip r:embed="rId9"/>
          <a:stretch>
            <a:fillRect/>
          </a:stretch>
        </p:blipFill>
        <p:spPr>
          <a:xfrm>
            <a:off x="548640" y="6309360"/>
            <a:ext cx="874762" cy="365760"/>
          </a:xfrm>
          <a:prstGeom prst="rect">
            <a:avLst/>
          </a:prstGeom>
        </p:spPr>
      </p:pic>
      <p:sp>
        <p:nvSpPr>
          <p:cNvPr id="36" name="Text 2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37" name="Text 2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Care Navigator Role</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You are the dyad's guide, connector, and first point of contact.</a:t>
            </a:r>
            <a:endParaRPr lang="en-US" sz="1600" dirty="0"/>
          </a:p>
        </p:txBody>
      </p:sp>
      <p:sp>
        <p:nvSpPr>
          <p:cNvPr id="4" name="Shape 2"/>
          <p:cNvSpPr/>
          <p:nvPr/>
        </p:nvSpPr>
        <p:spPr>
          <a:xfrm>
            <a:off x="548640" y="1828800"/>
            <a:ext cx="5364328" cy="4297680"/>
          </a:xfrm>
          <a:prstGeom prst="roundRect">
            <a:avLst>
              <a:gd name="adj" fmla="val 2553"/>
            </a:avLst>
          </a:prstGeom>
          <a:solidFill>
            <a:srgbClr val="E8F1EF"/>
          </a:solidFill>
          <a:ln w="12700">
            <a:solidFill>
              <a:srgbClr val="E8F1EF"/>
            </a:solidFill>
            <a:prstDash val="solid"/>
          </a:ln>
        </p:spPr>
      </p:sp>
      <p:sp>
        <p:nvSpPr>
          <p:cNvPr id="5" name="Shape 3"/>
          <p:cNvSpPr/>
          <p:nvPr/>
        </p:nvSpPr>
        <p:spPr>
          <a:xfrm>
            <a:off x="548640" y="1828800"/>
            <a:ext cx="5364328" cy="640080"/>
          </a:xfrm>
          <a:prstGeom prst="roundRect">
            <a:avLst>
              <a:gd name="adj" fmla="val 17143"/>
            </a:avLst>
          </a:prstGeom>
          <a:solidFill>
            <a:srgbClr val="28695F"/>
          </a:solidFill>
          <a:ln w="12700">
            <a:solidFill>
              <a:srgbClr val="28695F"/>
            </a:solidFill>
            <a:prstDash val="solid"/>
          </a:ln>
        </p:spPr>
      </p:sp>
      <p:sp>
        <p:nvSpPr>
          <p:cNvPr id="6" name="Shape 4"/>
          <p:cNvSpPr/>
          <p:nvPr/>
        </p:nvSpPr>
        <p:spPr>
          <a:xfrm>
            <a:off x="548640" y="2194560"/>
            <a:ext cx="5364328" cy="274320"/>
          </a:xfrm>
          <a:prstGeom prst="rect">
            <a:avLst/>
          </a:prstGeom>
          <a:solidFill>
            <a:srgbClr val="28695F"/>
          </a:solidFill>
          <a:ln w="12700">
            <a:solidFill>
              <a:srgbClr val="28695F"/>
            </a:solidFill>
            <a:prstDash val="solid"/>
          </a:ln>
        </p:spPr>
      </p:sp>
      <p:sp>
        <p:nvSpPr>
          <p:cNvPr id="7" name="Text 5"/>
          <p:cNvSpPr txBox="1"/>
          <p:nvPr/>
        </p:nvSpPr>
        <p:spPr>
          <a:xfrm>
            <a:off x="822960" y="182880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Care Navigators Do</a:t>
            </a:r>
            <a:endParaRPr lang="en-US" sz="1900" dirty="0"/>
          </a:p>
        </p:txBody>
      </p:sp>
      <p:sp>
        <p:nvSpPr>
          <p:cNvPr id="8" name="Text 6"/>
          <p:cNvSpPr txBox="1"/>
          <p:nvPr/>
        </p:nvSpPr>
        <p:spPr>
          <a:xfrm>
            <a:off x="822960" y="2697480"/>
            <a:ext cx="4815688" cy="324612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Serve as the primary contact for the person and caregiver</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Gather information and support assessments within scope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Help build and carry out the care plan</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Educate and coach caregivers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Connect families to community resources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Monitor between visits and notice change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Document every contact accurately</a:t>
            </a:r>
            <a:endParaRPr lang="en-US" sz="1700" dirty="0"/>
          </a:p>
        </p:txBody>
      </p:sp>
      <p:sp>
        <p:nvSpPr>
          <p:cNvPr id="9" name="Shape 7"/>
          <p:cNvSpPr/>
          <p:nvPr/>
        </p:nvSpPr>
        <p:spPr>
          <a:xfrm>
            <a:off x="6278728" y="1828800"/>
            <a:ext cx="5364328" cy="4297680"/>
          </a:xfrm>
          <a:prstGeom prst="roundRect">
            <a:avLst>
              <a:gd name="adj" fmla="val 2553"/>
            </a:avLst>
          </a:prstGeom>
          <a:solidFill>
            <a:srgbClr val="F8EFDF"/>
          </a:solidFill>
          <a:ln w="12700">
            <a:solidFill>
              <a:srgbClr val="F8EFDF"/>
            </a:solidFill>
            <a:prstDash val="solid"/>
          </a:ln>
        </p:spPr>
      </p:sp>
      <p:sp>
        <p:nvSpPr>
          <p:cNvPr id="10" name="Shape 8"/>
          <p:cNvSpPr/>
          <p:nvPr/>
        </p:nvSpPr>
        <p:spPr>
          <a:xfrm>
            <a:off x="6278728" y="1828800"/>
            <a:ext cx="5364328" cy="640080"/>
          </a:xfrm>
          <a:prstGeom prst="roundRect">
            <a:avLst>
              <a:gd name="adj" fmla="val 17143"/>
            </a:avLst>
          </a:prstGeom>
          <a:solidFill>
            <a:srgbClr val="C78F2E"/>
          </a:solidFill>
          <a:ln w="12700">
            <a:solidFill>
              <a:srgbClr val="C78F2E"/>
            </a:solidFill>
            <a:prstDash val="solid"/>
          </a:ln>
        </p:spPr>
      </p:sp>
      <p:sp>
        <p:nvSpPr>
          <p:cNvPr id="11" name="Shape 9"/>
          <p:cNvSpPr/>
          <p:nvPr/>
        </p:nvSpPr>
        <p:spPr>
          <a:xfrm>
            <a:off x="6278728" y="2194560"/>
            <a:ext cx="5364328" cy="274320"/>
          </a:xfrm>
          <a:prstGeom prst="rect">
            <a:avLst/>
          </a:prstGeom>
          <a:solidFill>
            <a:srgbClr val="C78F2E"/>
          </a:solidFill>
          <a:ln w="12700">
            <a:solidFill>
              <a:srgbClr val="C78F2E"/>
            </a:solidFill>
            <a:prstDash val="solid"/>
          </a:ln>
        </p:spPr>
      </p:sp>
      <p:sp>
        <p:nvSpPr>
          <p:cNvPr id="12" name="Text 10"/>
          <p:cNvSpPr txBox="1"/>
          <p:nvPr/>
        </p:nvSpPr>
        <p:spPr>
          <a:xfrm>
            <a:off x="6553048" y="182880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When to Escalate to a Clinician</a:t>
            </a:r>
            <a:endParaRPr lang="en-US" sz="1900" dirty="0"/>
          </a:p>
        </p:txBody>
      </p:sp>
      <p:sp>
        <p:nvSpPr>
          <p:cNvPr id="13" name="Text 11"/>
          <p:cNvSpPr txBox="1"/>
          <p:nvPr/>
        </p:nvSpPr>
        <p:spPr>
          <a:xfrm>
            <a:off x="6553048" y="2697480"/>
            <a:ext cx="4815688" cy="324612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Any sudden change in thinking, behavior, or function</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New or worsening symptoms, falls, or injuries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Medication questions or suspected side effects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Safety threats, suspected abuse, or neglect</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Statements about self-harm or harming others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Capacity, prognosis, or treatment questions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Anything that feels "off" — when in doubt, escalate</a:t>
            </a:r>
            <a:endParaRPr lang="en-US" sz="1700" dirty="0"/>
          </a:p>
        </p:txBody>
      </p:sp>
      <p:pic>
        <p:nvPicPr>
          <p:cNvPr id="1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5" name="Text 1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6" name="Text 1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A Week in the Life of a Care Navigator</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292608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Home Visits</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Observe the home, check in with the dyad, and review the care plan.</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292608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Check-In Calls</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Monitor between visits: symptoms, behaviors, caregiver stress.</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292608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Coordination</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Follow up on referrals, appointments, and transitions.</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292608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Team Huddles</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Share updates and escalate concerns to clinicians.</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292608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Documentation</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Record every contact accurately and on time.</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Understanding Dementia</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Dementia as a medical condition</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1</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Is Dementia?</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An umbrella term, </a:t>
            </a:r>
            <a:r>
              <a:rPr lang="en-US" sz="1800" dirty="0">
                <a:solidFill>
                  <a:srgbClr val="24302D"/>
                </a:solidFill>
                <a:latin typeface="Calibri" pitchFamily="34" charset="0"/>
                <a:ea typeface="Calibri" pitchFamily="34" charset="-122"/>
                <a:cs typeface="Calibri" pitchFamily="34" charset="-120"/>
              </a:rPr>
              <a:t>not a single disease — it describes a group of symptoms caused by damage to brain cells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 decline </a:t>
            </a:r>
            <a:r>
              <a:rPr lang="en-US" sz="1800" dirty="0">
                <a:solidFill>
                  <a:srgbClr val="24302D"/>
                </a:solidFill>
                <a:latin typeface="Calibri" pitchFamily="34" charset="0"/>
                <a:ea typeface="Calibri" pitchFamily="34" charset="-122"/>
                <a:cs typeface="Calibri" pitchFamily="34" charset="-120"/>
              </a:rPr>
              <a:t>in memory, thinking, language, judgment, or behavior from a person's previous level</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Severe enough </a:t>
            </a:r>
            <a:r>
              <a:rPr lang="en-US" sz="1800" dirty="0">
                <a:solidFill>
                  <a:srgbClr val="24302D"/>
                </a:solidFill>
                <a:latin typeface="Calibri" pitchFamily="34" charset="0"/>
                <a:ea typeface="Calibri" pitchFamily="34" charset="-122"/>
                <a:cs typeface="Calibri" pitchFamily="34" charset="-120"/>
              </a:rPr>
              <a:t>to interfere with independence in everyday life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Caused by disease, </a:t>
            </a:r>
            <a:r>
              <a:rPr lang="en-US" sz="1800" dirty="0">
                <a:solidFill>
                  <a:srgbClr val="24302D"/>
                </a:solidFill>
                <a:latin typeface="Calibri" pitchFamily="34" charset="0"/>
                <a:ea typeface="Calibri" pitchFamily="34" charset="-122"/>
                <a:cs typeface="Calibri" pitchFamily="34" charset="-120"/>
              </a:rPr>
              <a:t>most often Alzheimer's disease, vascular disease, Lewy body disease, or frontotemporal degeneration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Progressive </a:t>
            </a:r>
            <a:r>
              <a:rPr lang="en-US" sz="1800" dirty="0">
                <a:solidFill>
                  <a:srgbClr val="24302D"/>
                </a:solidFill>
                <a:latin typeface="Calibri" pitchFamily="34" charset="0"/>
                <a:ea typeface="Calibri" pitchFamily="34" charset="-122"/>
                <a:cs typeface="Calibri" pitchFamily="34" charset="-120"/>
              </a:rPr>
              <a:t>in most forms — symptoms gradually worsen over years</a:t>
            </a:r>
            <a:endParaRPr lang="en-US" sz="1800" dirty="0"/>
          </a:p>
        </p:txBody>
      </p:sp>
      <p:sp>
        <p:nvSpPr>
          <p:cNvPr id="4" name="Shape 2"/>
          <p:cNvSpPr/>
          <p:nvPr/>
        </p:nvSpPr>
        <p:spPr>
          <a:xfrm>
            <a:off x="7589520" y="1417320"/>
            <a:ext cx="4053535" cy="3413760"/>
          </a:xfrm>
          <a:prstGeom prst="roundRect">
            <a:avLst>
              <a:gd name="adj" fmla="val 321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Dementia is not a normal part of aging</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Many older adults live into their 90s and beyond with no dementia. Dismissing symptoms as "just getting old" delays diagnosis, planning, and support. Every family deserves an accurate explanation.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Normal Aging vs. Possible Dementia</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Typical Age-Related Change</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Possible Sign of Dementia</a:t>
            </a:r>
            <a:endParaRPr lang="en-US" sz="1800" dirty="0"/>
          </a:p>
        </p:txBody>
      </p:sp>
      <p:sp>
        <p:nvSpPr>
          <p:cNvPr id="7" name="Shape 5"/>
          <p:cNvSpPr/>
          <p:nvPr/>
        </p:nvSpPr>
        <p:spPr>
          <a:xfrm>
            <a:off x="548640" y="2075688"/>
            <a:ext cx="5166360" cy="556260"/>
          </a:xfrm>
          <a:prstGeom prst="roundRect">
            <a:avLst>
              <a:gd name="adj" fmla="val 19726"/>
            </a:avLst>
          </a:prstGeom>
          <a:solidFill>
            <a:srgbClr val="E8F1EF"/>
          </a:solidFill>
          <a:ln w="12700">
            <a:solidFill>
              <a:srgbClr val="E8F1EF"/>
            </a:solidFill>
            <a:prstDash val="solid"/>
          </a:ln>
        </p:spPr>
      </p:sp>
      <p:sp>
        <p:nvSpPr>
          <p:cNvPr id="8" name="Shape 6"/>
          <p:cNvSpPr/>
          <p:nvPr/>
        </p:nvSpPr>
        <p:spPr>
          <a:xfrm>
            <a:off x="6464808" y="2075688"/>
            <a:ext cx="5178247" cy="556260"/>
          </a:xfrm>
          <a:prstGeom prst="roundRect">
            <a:avLst>
              <a:gd name="adj" fmla="val 19726"/>
            </a:avLst>
          </a:prstGeom>
          <a:solidFill>
            <a:srgbClr val="F8EFDF"/>
          </a:solidFill>
          <a:ln w="12700">
            <a:solidFill>
              <a:srgbClr val="F8EFDF"/>
            </a:solidFill>
            <a:prstDash val="solid"/>
          </a:ln>
        </p:spPr>
      </p:sp>
      <p:sp>
        <p:nvSpPr>
          <p:cNvPr id="9" name="Text 7"/>
          <p:cNvSpPr txBox="1"/>
          <p:nvPr/>
        </p:nvSpPr>
        <p:spPr>
          <a:xfrm>
            <a:off x="777240" y="2075688"/>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Occasionally forgets a name, remembers later</a:t>
            </a:r>
            <a:endParaRPr lang="en-US" sz="1700" dirty="0"/>
          </a:p>
        </p:txBody>
      </p:sp>
      <p:sp>
        <p:nvSpPr>
          <p:cNvPr id="10" name="Text 8"/>
          <p:cNvSpPr txBox="1"/>
          <p:nvPr/>
        </p:nvSpPr>
        <p:spPr>
          <a:xfrm>
            <a:off x="6693408" y="2075688"/>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Forgets recent events and repeats questions</a:t>
            </a:r>
            <a:endParaRPr lang="en-US" sz="1700" dirty="0"/>
          </a:p>
        </p:txBody>
      </p:sp>
      <p:sp>
        <p:nvSpPr>
          <p:cNvPr id="11" name="Shape 9"/>
          <p:cNvSpPr/>
          <p:nvPr/>
        </p:nvSpPr>
        <p:spPr>
          <a:xfrm>
            <a:off x="5934456" y="2170938"/>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17093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778252"/>
            <a:ext cx="5166360" cy="556260"/>
          </a:xfrm>
          <a:prstGeom prst="roundRect">
            <a:avLst>
              <a:gd name="adj" fmla="val 19726"/>
            </a:avLst>
          </a:prstGeom>
          <a:solidFill>
            <a:srgbClr val="E8F1EF"/>
          </a:solidFill>
          <a:ln w="12700">
            <a:solidFill>
              <a:srgbClr val="E8F1EF"/>
            </a:solidFill>
            <a:prstDash val="solid"/>
          </a:ln>
        </p:spPr>
      </p:sp>
      <p:sp>
        <p:nvSpPr>
          <p:cNvPr id="14" name="Shape 12"/>
          <p:cNvSpPr/>
          <p:nvPr/>
        </p:nvSpPr>
        <p:spPr>
          <a:xfrm>
            <a:off x="6464808" y="2778252"/>
            <a:ext cx="5178247" cy="556260"/>
          </a:xfrm>
          <a:prstGeom prst="roundRect">
            <a:avLst>
              <a:gd name="adj" fmla="val 19726"/>
            </a:avLst>
          </a:prstGeom>
          <a:solidFill>
            <a:srgbClr val="F8EFDF"/>
          </a:solidFill>
          <a:ln w="12700">
            <a:solidFill>
              <a:srgbClr val="F8EFDF"/>
            </a:solidFill>
            <a:prstDash val="solid"/>
          </a:ln>
        </p:spPr>
      </p:sp>
      <p:sp>
        <p:nvSpPr>
          <p:cNvPr id="15" name="Text 13"/>
          <p:cNvSpPr txBox="1"/>
          <p:nvPr/>
        </p:nvSpPr>
        <p:spPr>
          <a:xfrm>
            <a:off x="777240" y="2778252"/>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Makes an occasional error balancing a checkbook</a:t>
            </a:r>
            <a:endParaRPr lang="en-US" sz="1700" dirty="0"/>
          </a:p>
        </p:txBody>
      </p:sp>
      <p:sp>
        <p:nvSpPr>
          <p:cNvPr id="16" name="Text 14"/>
          <p:cNvSpPr txBox="1"/>
          <p:nvPr/>
        </p:nvSpPr>
        <p:spPr>
          <a:xfrm>
            <a:off x="6693408" y="2778252"/>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Can no longer manage bills or a familiar budget</a:t>
            </a:r>
            <a:endParaRPr lang="en-US" sz="1700" dirty="0"/>
          </a:p>
        </p:txBody>
      </p:sp>
      <p:sp>
        <p:nvSpPr>
          <p:cNvPr id="17" name="Shape 15"/>
          <p:cNvSpPr/>
          <p:nvPr/>
        </p:nvSpPr>
        <p:spPr>
          <a:xfrm>
            <a:off x="5934456" y="2873502"/>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287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480816"/>
            <a:ext cx="5166360" cy="556260"/>
          </a:xfrm>
          <a:prstGeom prst="roundRect">
            <a:avLst>
              <a:gd name="adj" fmla="val 19726"/>
            </a:avLst>
          </a:prstGeom>
          <a:solidFill>
            <a:srgbClr val="E8F1EF"/>
          </a:solidFill>
          <a:ln w="12700">
            <a:solidFill>
              <a:srgbClr val="E8F1EF"/>
            </a:solidFill>
            <a:prstDash val="solid"/>
          </a:ln>
        </p:spPr>
      </p:sp>
      <p:sp>
        <p:nvSpPr>
          <p:cNvPr id="20" name="Shape 18"/>
          <p:cNvSpPr/>
          <p:nvPr/>
        </p:nvSpPr>
        <p:spPr>
          <a:xfrm>
            <a:off x="6464808" y="3480816"/>
            <a:ext cx="5178247" cy="556260"/>
          </a:xfrm>
          <a:prstGeom prst="roundRect">
            <a:avLst>
              <a:gd name="adj" fmla="val 19726"/>
            </a:avLst>
          </a:prstGeom>
          <a:solidFill>
            <a:srgbClr val="F8EFDF"/>
          </a:solidFill>
          <a:ln w="12700">
            <a:solidFill>
              <a:srgbClr val="F8EFDF"/>
            </a:solidFill>
            <a:prstDash val="solid"/>
          </a:ln>
        </p:spPr>
      </p:sp>
      <p:sp>
        <p:nvSpPr>
          <p:cNvPr id="21" name="Text 19"/>
          <p:cNvSpPr txBox="1"/>
          <p:nvPr/>
        </p:nvSpPr>
        <p:spPr>
          <a:xfrm>
            <a:off x="777240" y="3480816"/>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Sometimes needs help with new technology</a:t>
            </a:r>
            <a:endParaRPr lang="en-US" sz="1700" dirty="0"/>
          </a:p>
        </p:txBody>
      </p:sp>
      <p:sp>
        <p:nvSpPr>
          <p:cNvPr id="22" name="Text 20"/>
          <p:cNvSpPr txBox="1"/>
          <p:nvPr/>
        </p:nvSpPr>
        <p:spPr>
          <a:xfrm>
            <a:off x="6693408" y="3480816"/>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Struggles with familiar tasks, like a favorite recipe</a:t>
            </a:r>
            <a:endParaRPr lang="en-US" sz="1700" dirty="0"/>
          </a:p>
        </p:txBody>
      </p:sp>
      <p:sp>
        <p:nvSpPr>
          <p:cNvPr id="23" name="Shape 21"/>
          <p:cNvSpPr/>
          <p:nvPr/>
        </p:nvSpPr>
        <p:spPr>
          <a:xfrm>
            <a:off x="5934456" y="3576066"/>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576066"/>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183380"/>
            <a:ext cx="5166360" cy="556260"/>
          </a:xfrm>
          <a:prstGeom prst="roundRect">
            <a:avLst>
              <a:gd name="adj" fmla="val 19726"/>
            </a:avLst>
          </a:prstGeom>
          <a:solidFill>
            <a:srgbClr val="E8F1EF"/>
          </a:solidFill>
          <a:ln w="12700">
            <a:solidFill>
              <a:srgbClr val="E8F1EF"/>
            </a:solidFill>
            <a:prstDash val="solid"/>
          </a:ln>
        </p:spPr>
      </p:sp>
      <p:sp>
        <p:nvSpPr>
          <p:cNvPr id="26" name="Shape 24"/>
          <p:cNvSpPr/>
          <p:nvPr/>
        </p:nvSpPr>
        <p:spPr>
          <a:xfrm>
            <a:off x="6464808" y="4183380"/>
            <a:ext cx="5178247" cy="556260"/>
          </a:xfrm>
          <a:prstGeom prst="roundRect">
            <a:avLst>
              <a:gd name="adj" fmla="val 19726"/>
            </a:avLst>
          </a:prstGeom>
          <a:solidFill>
            <a:srgbClr val="F8EFDF"/>
          </a:solidFill>
          <a:ln w="12700">
            <a:solidFill>
              <a:srgbClr val="F8EFDF"/>
            </a:solidFill>
            <a:prstDash val="solid"/>
          </a:ln>
        </p:spPr>
      </p:sp>
      <p:sp>
        <p:nvSpPr>
          <p:cNvPr id="27" name="Text 25"/>
          <p:cNvSpPr txBox="1"/>
          <p:nvPr/>
        </p:nvSpPr>
        <p:spPr>
          <a:xfrm>
            <a:off x="777240" y="4183380"/>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Forgets which day it is, then figures it out</a:t>
            </a:r>
            <a:endParaRPr lang="en-US" sz="1700" dirty="0"/>
          </a:p>
        </p:txBody>
      </p:sp>
      <p:sp>
        <p:nvSpPr>
          <p:cNvPr id="28" name="Text 26"/>
          <p:cNvSpPr txBox="1"/>
          <p:nvPr/>
        </p:nvSpPr>
        <p:spPr>
          <a:xfrm>
            <a:off x="6693408" y="4183380"/>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Loses track of dates, seasons, and time passing</a:t>
            </a:r>
            <a:endParaRPr lang="en-US" sz="1700" dirty="0"/>
          </a:p>
        </p:txBody>
      </p:sp>
      <p:sp>
        <p:nvSpPr>
          <p:cNvPr id="29" name="Shape 27"/>
          <p:cNvSpPr/>
          <p:nvPr/>
        </p:nvSpPr>
        <p:spPr>
          <a:xfrm>
            <a:off x="5934456" y="4278630"/>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278630"/>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4885944"/>
            <a:ext cx="5166360" cy="556260"/>
          </a:xfrm>
          <a:prstGeom prst="roundRect">
            <a:avLst>
              <a:gd name="adj" fmla="val 19726"/>
            </a:avLst>
          </a:prstGeom>
          <a:solidFill>
            <a:srgbClr val="E8F1EF"/>
          </a:solidFill>
          <a:ln w="12700">
            <a:solidFill>
              <a:srgbClr val="E8F1EF"/>
            </a:solidFill>
            <a:prstDash val="solid"/>
          </a:ln>
        </p:spPr>
      </p:sp>
      <p:sp>
        <p:nvSpPr>
          <p:cNvPr id="32" name="Shape 30"/>
          <p:cNvSpPr/>
          <p:nvPr/>
        </p:nvSpPr>
        <p:spPr>
          <a:xfrm>
            <a:off x="6464808" y="4885944"/>
            <a:ext cx="5178247" cy="556260"/>
          </a:xfrm>
          <a:prstGeom prst="roundRect">
            <a:avLst>
              <a:gd name="adj" fmla="val 19726"/>
            </a:avLst>
          </a:prstGeom>
          <a:solidFill>
            <a:srgbClr val="F8EFDF"/>
          </a:solidFill>
          <a:ln w="12700">
            <a:solidFill>
              <a:srgbClr val="F8EFDF"/>
            </a:solidFill>
            <a:prstDash val="solid"/>
          </a:ln>
        </p:spPr>
      </p:sp>
      <p:sp>
        <p:nvSpPr>
          <p:cNvPr id="33" name="Text 31"/>
          <p:cNvSpPr txBox="1"/>
          <p:nvPr/>
        </p:nvSpPr>
        <p:spPr>
          <a:xfrm>
            <a:off x="777240" y="4885944"/>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Occasionally misplaces keys and retraces steps</a:t>
            </a:r>
            <a:endParaRPr lang="en-US" sz="1700" dirty="0"/>
          </a:p>
        </p:txBody>
      </p:sp>
      <p:sp>
        <p:nvSpPr>
          <p:cNvPr id="34" name="Text 32"/>
          <p:cNvSpPr txBox="1"/>
          <p:nvPr/>
        </p:nvSpPr>
        <p:spPr>
          <a:xfrm>
            <a:off x="6693408" y="4885944"/>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Puts items in unusual places; may accuse others of theft</a:t>
            </a:r>
            <a:endParaRPr lang="en-US" sz="1700" dirty="0"/>
          </a:p>
        </p:txBody>
      </p:sp>
      <p:sp>
        <p:nvSpPr>
          <p:cNvPr id="35" name="Shape 33"/>
          <p:cNvSpPr/>
          <p:nvPr/>
        </p:nvSpPr>
        <p:spPr>
          <a:xfrm>
            <a:off x="5934456" y="4981194"/>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498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7" name="Shape 35"/>
          <p:cNvSpPr/>
          <p:nvPr/>
        </p:nvSpPr>
        <p:spPr>
          <a:xfrm>
            <a:off x="548640" y="5588508"/>
            <a:ext cx="5166360" cy="556260"/>
          </a:xfrm>
          <a:prstGeom prst="roundRect">
            <a:avLst>
              <a:gd name="adj" fmla="val 19726"/>
            </a:avLst>
          </a:prstGeom>
          <a:solidFill>
            <a:srgbClr val="E8F1EF"/>
          </a:solidFill>
          <a:ln w="12700">
            <a:solidFill>
              <a:srgbClr val="E8F1EF"/>
            </a:solidFill>
            <a:prstDash val="solid"/>
          </a:ln>
        </p:spPr>
      </p:sp>
      <p:sp>
        <p:nvSpPr>
          <p:cNvPr id="38" name="Shape 36"/>
          <p:cNvSpPr/>
          <p:nvPr/>
        </p:nvSpPr>
        <p:spPr>
          <a:xfrm>
            <a:off x="6464808" y="5588508"/>
            <a:ext cx="5178247" cy="556260"/>
          </a:xfrm>
          <a:prstGeom prst="roundRect">
            <a:avLst>
              <a:gd name="adj" fmla="val 19726"/>
            </a:avLst>
          </a:prstGeom>
          <a:solidFill>
            <a:srgbClr val="F8EFDF"/>
          </a:solidFill>
          <a:ln w="12700">
            <a:solidFill>
              <a:srgbClr val="F8EFDF"/>
            </a:solidFill>
            <a:prstDash val="solid"/>
          </a:ln>
        </p:spPr>
      </p:sp>
      <p:sp>
        <p:nvSpPr>
          <p:cNvPr id="39" name="Text 37"/>
          <p:cNvSpPr txBox="1"/>
          <p:nvPr/>
        </p:nvSpPr>
        <p:spPr>
          <a:xfrm>
            <a:off x="777240" y="5588508"/>
            <a:ext cx="4709160"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Sometimes feels weary of social obligations</a:t>
            </a:r>
            <a:endParaRPr lang="en-US" sz="1700" dirty="0"/>
          </a:p>
        </p:txBody>
      </p:sp>
      <p:sp>
        <p:nvSpPr>
          <p:cNvPr id="40" name="Text 38"/>
          <p:cNvSpPr txBox="1"/>
          <p:nvPr/>
        </p:nvSpPr>
        <p:spPr>
          <a:xfrm>
            <a:off x="6693408" y="5588508"/>
            <a:ext cx="4721047" cy="5562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Withdraws from hobbies, with changes in mood or personality</a:t>
            </a:r>
            <a:endParaRPr lang="en-US" sz="1700" dirty="0"/>
          </a:p>
        </p:txBody>
      </p:sp>
      <p:sp>
        <p:nvSpPr>
          <p:cNvPr id="41" name="Shape 39"/>
          <p:cNvSpPr/>
          <p:nvPr/>
        </p:nvSpPr>
        <p:spPr>
          <a:xfrm>
            <a:off x="5934456" y="5683758"/>
            <a:ext cx="365760" cy="365760"/>
          </a:xfrm>
          <a:prstGeom prst="ellipse">
            <a:avLst/>
          </a:prstGeom>
          <a:solidFill>
            <a:srgbClr val="FFFFFF"/>
          </a:solidFill>
          <a:ln w="19050">
            <a:solidFill>
              <a:srgbClr val="C9DEDA"/>
            </a:solidFill>
            <a:prstDash val="solid"/>
          </a:ln>
        </p:spPr>
      </p:sp>
      <p:sp>
        <p:nvSpPr>
          <p:cNvPr id="42" name="Text 40"/>
          <p:cNvSpPr txBox="1"/>
          <p:nvPr/>
        </p:nvSpPr>
        <p:spPr>
          <a:xfrm>
            <a:off x="5934456" y="568375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4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44" name="Text 4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45" name="Text 4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Scope of Dementia in the U.S.</a:t>
            </a:r>
            <a:endParaRPr lang="en-US" sz="3000" dirty="0"/>
          </a:p>
        </p:txBody>
      </p:sp>
      <p:sp>
        <p:nvSpPr>
          <p:cNvPr id="3" name="Shape 1"/>
          <p:cNvSpPr/>
          <p:nvPr/>
        </p:nvSpPr>
        <p:spPr>
          <a:xfrm>
            <a:off x="548640" y="2011680"/>
            <a:ext cx="3484778" cy="3291840"/>
          </a:xfrm>
          <a:prstGeom prst="roundRect">
            <a:avLst>
              <a:gd name="adj" fmla="val 3333"/>
            </a:avLst>
          </a:prstGeom>
          <a:solidFill>
            <a:srgbClr val="E8F1EF"/>
          </a:solidFill>
          <a:ln w="12700">
            <a:solidFill>
              <a:srgbClr val="E8F1EF"/>
            </a:solidFill>
            <a:prstDash val="solid"/>
          </a:ln>
        </p:spPr>
      </p:sp>
      <p:sp>
        <p:nvSpPr>
          <p:cNvPr id="4" name="Text 2"/>
          <p:cNvSpPr txBox="1"/>
          <p:nvPr/>
        </p:nvSpPr>
        <p:spPr>
          <a:xfrm>
            <a:off x="731520" y="2331720"/>
            <a:ext cx="3119018" cy="1188720"/>
          </a:xfrm>
          <a:prstGeom prst="rect">
            <a:avLst/>
          </a:prstGeom>
          <a:noFill/>
          <a:ln/>
        </p:spPr>
        <p:txBody>
          <a:bodyPr wrap="square" lIns="0" tIns="0" rIns="0" bIns="0" rtlCol="0" anchor="ctr"/>
          <a:lstStyle/>
          <a:p>
            <a:pPr algn="ctr" indent="0" marL="0">
              <a:buNone/>
            </a:pPr>
            <a:r>
              <a:rPr lang="en-US" sz="5400" b="1" dirty="0">
                <a:solidFill>
                  <a:srgbClr val="28695F"/>
                </a:solidFill>
                <a:latin typeface="Cambria" pitchFamily="34" charset="0"/>
                <a:ea typeface="Cambria" pitchFamily="34" charset="-122"/>
                <a:cs typeface="Cambria" pitchFamily="34" charset="-120"/>
              </a:rPr>
              <a:t>~7M</a:t>
            </a:r>
            <a:endParaRPr lang="en-US" sz="5400" dirty="0"/>
          </a:p>
        </p:txBody>
      </p:sp>
      <p:sp>
        <p:nvSpPr>
          <p:cNvPr id="5" name="Text 3"/>
          <p:cNvSpPr txBox="1"/>
          <p:nvPr/>
        </p:nvSpPr>
        <p:spPr>
          <a:xfrm>
            <a:off x="822960"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Americans age 65 and older living with Alzheimer's dementia</a:t>
            </a:r>
            <a:endParaRPr lang="en-US" sz="1500" dirty="0"/>
          </a:p>
        </p:txBody>
      </p:sp>
      <p:sp>
        <p:nvSpPr>
          <p:cNvPr id="6" name="Shape 4"/>
          <p:cNvSpPr/>
          <p:nvPr/>
        </p:nvSpPr>
        <p:spPr>
          <a:xfrm>
            <a:off x="4353458" y="2011680"/>
            <a:ext cx="3484778" cy="3291840"/>
          </a:xfrm>
          <a:prstGeom prst="roundRect">
            <a:avLst>
              <a:gd name="adj" fmla="val 3333"/>
            </a:avLst>
          </a:prstGeom>
          <a:solidFill>
            <a:srgbClr val="F8EFDF"/>
          </a:solidFill>
          <a:ln w="12700">
            <a:solidFill>
              <a:srgbClr val="F8EFDF"/>
            </a:solidFill>
            <a:prstDash val="solid"/>
          </a:ln>
        </p:spPr>
      </p:sp>
      <p:sp>
        <p:nvSpPr>
          <p:cNvPr id="7" name="Text 5"/>
          <p:cNvSpPr txBox="1"/>
          <p:nvPr/>
        </p:nvSpPr>
        <p:spPr>
          <a:xfrm>
            <a:off x="4536338" y="2331720"/>
            <a:ext cx="3119018" cy="1188720"/>
          </a:xfrm>
          <a:prstGeom prst="rect">
            <a:avLst/>
          </a:prstGeom>
          <a:noFill/>
          <a:ln/>
        </p:spPr>
        <p:txBody>
          <a:bodyPr wrap="square" lIns="0" tIns="0" rIns="0" bIns="0" rtlCol="0" anchor="ctr"/>
          <a:lstStyle/>
          <a:p>
            <a:pPr algn="ctr" indent="0" marL="0">
              <a:buNone/>
            </a:pPr>
            <a:r>
              <a:rPr lang="en-US" sz="5400" b="1" dirty="0">
                <a:solidFill>
                  <a:srgbClr val="C78F2E"/>
                </a:solidFill>
                <a:latin typeface="Cambria" pitchFamily="34" charset="0"/>
                <a:ea typeface="Cambria" pitchFamily="34" charset="-122"/>
                <a:cs typeface="Cambria" pitchFamily="34" charset="-120"/>
              </a:rPr>
              <a:t>1 in 9</a:t>
            </a:r>
            <a:endParaRPr lang="en-US" sz="5400" dirty="0"/>
          </a:p>
        </p:txBody>
      </p:sp>
      <p:sp>
        <p:nvSpPr>
          <p:cNvPr id="8" name="Text 6"/>
          <p:cNvSpPr txBox="1"/>
          <p:nvPr/>
        </p:nvSpPr>
        <p:spPr>
          <a:xfrm>
            <a:off x="4627778"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people age 65 and older has Alzheimer's dementia</a:t>
            </a:r>
            <a:endParaRPr lang="en-US" sz="1500" dirty="0"/>
          </a:p>
        </p:txBody>
      </p:sp>
      <p:sp>
        <p:nvSpPr>
          <p:cNvPr id="9" name="Shape 7"/>
          <p:cNvSpPr/>
          <p:nvPr/>
        </p:nvSpPr>
        <p:spPr>
          <a:xfrm>
            <a:off x="8158277" y="2011680"/>
            <a:ext cx="3484778" cy="3291840"/>
          </a:xfrm>
          <a:prstGeom prst="roundRect">
            <a:avLst>
              <a:gd name="adj" fmla="val 3333"/>
            </a:avLst>
          </a:prstGeom>
          <a:solidFill>
            <a:srgbClr val="E8F1EF"/>
          </a:solidFill>
          <a:ln w="12700">
            <a:solidFill>
              <a:srgbClr val="E8F1EF"/>
            </a:solidFill>
            <a:prstDash val="solid"/>
          </a:ln>
        </p:spPr>
      </p:sp>
      <p:sp>
        <p:nvSpPr>
          <p:cNvPr id="10" name="Text 8"/>
          <p:cNvSpPr txBox="1"/>
          <p:nvPr/>
        </p:nvSpPr>
        <p:spPr>
          <a:xfrm>
            <a:off x="8341157" y="2331720"/>
            <a:ext cx="3119018" cy="1188720"/>
          </a:xfrm>
          <a:prstGeom prst="rect">
            <a:avLst/>
          </a:prstGeom>
          <a:noFill/>
          <a:ln/>
        </p:spPr>
        <p:txBody>
          <a:bodyPr wrap="square" lIns="0" tIns="0" rIns="0" bIns="0" rtlCol="0" anchor="ctr"/>
          <a:lstStyle/>
          <a:p>
            <a:pPr algn="ctr" indent="0" marL="0">
              <a:buNone/>
            </a:pPr>
            <a:r>
              <a:rPr lang="en-US" sz="5400" b="1" dirty="0">
                <a:solidFill>
                  <a:srgbClr val="28695F"/>
                </a:solidFill>
                <a:latin typeface="Cambria" pitchFamily="34" charset="0"/>
                <a:ea typeface="Cambria" pitchFamily="34" charset="-122"/>
                <a:cs typeface="Cambria" pitchFamily="34" charset="-120"/>
              </a:rPr>
              <a:t>~12M</a:t>
            </a:r>
            <a:endParaRPr lang="en-US" sz="5400" dirty="0"/>
          </a:p>
        </p:txBody>
      </p:sp>
      <p:sp>
        <p:nvSpPr>
          <p:cNvPr id="11" name="Text 9"/>
          <p:cNvSpPr txBox="1"/>
          <p:nvPr/>
        </p:nvSpPr>
        <p:spPr>
          <a:xfrm>
            <a:off x="8432597" y="3657600"/>
            <a:ext cx="2936138" cy="146304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family members and friends providing unpaid care</a:t>
            </a:r>
            <a:endParaRPr lang="en-US" sz="1500" dirty="0"/>
          </a:p>
        </p:txBody>
      </p:sp>
      <p:sp>
        <p:nvSpPr>
          <p:cNvPr id="12" name="Text 10"/>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100" i="1" dirty="0">
                <a:solidFill>
                  <a:srgbClr val="5E6B68"/>
                </a:solidFill>
                <a:latin typeface="Calibri" pitchFamily="34" charset="0"/>
                <a:ea typeface="Calibri" pitchFamily="34" charset="-122"/>
                <a:cs typeface="Calibri" pitchFamily="34" charset="-120"/>
              </a:rPr>
              <a:t>Source: Alzheimer's Association, Alzheimer's Disease Facts and Figures (2025). Figures rounded; see the current annual report for updates.</a:t>
            </a:r>
            <a:endParaRPr lang="en-US" sz="11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Types of Dementia</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41027"/>
                <a:gridCol w="4476694"/>
                <a:gridCol w="4476694"/>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Type</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Key Features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What a Navigator May Notice</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Alzheimer's disease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Most common cause (an estimated 60–80% of cases); gradual onset; short-term memory loss first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Repeated questions, misplaced items, missed appointments, trouble with bills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Vascular dementia</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Caused by strokes or reduced blood flow; can progress in "steps"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Slowed thinking, poor planning, mood changes; history of stroke, hypertension, diabetes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Lewy body dementia</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Fluctuating alertness, visual hallucinations, movement changes, REM sleep behavior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"Good days and bad days," falls, vivid hallucinations, sensitivity to some medications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Frontotemporal dementia</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Often begins younger (commonly 45–64); personality, behavior, or language changes first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Disinhibition, apathy, poor judgment, loss of empathy; memory may be relatively intact early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Mixed dementia</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More than one cause, most often Alzheimer's plus vascular; common in the oldest adults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Features of more than one type; symptoms may not follow a textbook pattern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Parkinson's disease dementia</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Develops in some people years after Parkinson's motor symptoms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Slowed thinking, attention problems, hallucinations, high fall risk</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How Dementia Affects Thinking and Function</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Memory</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Trouble learning and recalling new information; older memories often last longer.</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Language</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Word-finding problems, losing the thread of conversation, difficulty understanding complex speech.</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Executive Function</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Planning, organizing, sequencing steps, judgment, and problem solving decline.</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Visuospatial Skills</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Misjudging depth and distance; trouble with stairs, patterned floors, and driving.</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Attention</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Easily distracted or overwhelmed, especially in noisy or busy environments.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Mood &amp; Behavior</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Anxiety, depression, apathy, irritability, or personality change.</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Myths and Facts About Dementia</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Myth</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Fact</a:t>
            </a:r>
            <a:endParaRPr lang="en-US" sz="1800" dirty="0"/>
          </a:p>
        </p:txBody>
      </p:sp>
      <p:sp>
        <p:nvSpPr>
          <p:cNvPr id="7" name="Shape 5"/>
          <p:cNvSpPr/>
          <p:nvPr/>
        </p:nvSpPr>
        <p:spPr>
          <a:xfrm>
            <a:off x="548640" y="2075688"/>
            <a:ext cx="5166360" cy="696773"/>
          </a:xfrm>
          <a:prstGeom prst="roundRect">
            <a:avLst>
              <a:gd name="adj" fmla="val 15748"/>
            </a:avLst>
          </a:prstGeom>
          <a:solidFill>
            <a:srgbClr val="E8F1EF"/>
          </a:solidFill>
          <a:ln w="12700">
            <a:solidFill>
              <a:srgbClr val="E8F1EF"/>
            </a:solidFill>
            <a:prstDash val="solid"/>
          </a:ln>
        </p:spPr>
      </p:sp>
      <p:sp>
        <p:nvSpPr>
          <p:cNvPr id="8" name="Shape 6"/>
          <p:cNvSpPr/>
          <p:nvPr/>
        </p:nvSpPr>
        <p:spPr>
          <a:xfrm>
            <a:off x="6464808" y="2075688"/>
            <a:ext cx="5178247" cy="696773"/>
          </a:xfrm>
          <a:prstGeom prst="roundRect">
            <a:avLst>
              <a:gd name="adj" fmla="val 15748"/>
            </a:avLst>
          </a:prstGeom>
          <a:solidFill>
            <a:srgbClr val="F8EFDF"/>
          </a:solidFill>
          <a:ln w="12700">
            <a:solidFill>
              <a:srgbClr val="F8EFDF"/>
            </a:solidFill>
            <a:prstDash val="solid"/>
          </a:ln>
        </p:spPr>
      </p:sp>
      <p:sp>
        <p:nvSpPr>
          <p:cNvPr id="9" name="Text 7"/>
          <p:cNvSpPr txBox="1"/>
          <p:nvPr/>
        </p:nvSpPr>
        <p:spPr>
          <a:xfrm>
            <a:off x="777240" y="207568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"Memory loss is a normal part of getting old."</a:t>
            </a:r>
            <a:endParaRPr lang="en-US" sz="1700" dirty="0"/>
          </a:p>
        </p:txBody>
      </p:sp>
      <p:sp>
        <p:nvSpPr>
          <p:cNvPr id="10" name="Text 8"/>
          <p:cNvSpPr txBox="1"/>
          <p:nvPr/>
        </p:nvSpPr>
        <p:spPr>
          <a:xfrm>
            <a:off x="6693408" y="207568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Dementia is caused by disease, not normal aging.</a:t>
            </a:r>
            <a:endParaRPr lang="en-US" sz="1700" dirty="0"/>
          </a:p>
        </p:txBody>
      </p:sp>
      <p:sp>
        <p:nvSpPr>
          <p:cNvPr id="11" name="Shape 9"/>
          <p:cNvSpPr/>
          <p:nvPr/>
        </p:nvSpPr>
        <p:spPr>
          <a:xfrm>
            <a:off x="5934456" y="2241194"/>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24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918765"/>
            <a:ext cx="5166360" cy="696773"/>
          </a:xfrm>
          <a:prstGeom prst="roundRect">
            <a:avLst>
              <a:gd name="adj" fmla="val 15748"/>
            </a:avLst>
          </a:prstGeom>
          <a:solidFill>
            <a:srgbClr val="E8F1EF"/>
          </a:solidFill>
          <a:ln w="12700">
            <a:solidFill>
              <a:srgbClr val="E8F1EF"/>
            </a:solidFill>
            <a:prstDash val="solid"/>
          </a:ln>
        </p:spPr>
      </p:sp>
      <p:sp>
        <p:nvSpPr>
          <p:cNvPr id="14" name="Shape 12"/>
          <p:cNvSpPr/>
          <p:nvPr/>
        </p:nvSpPr>
        <p:spPr>
          <a:xfrm>
            <a:off x="6464808" y="2918765"/>
            <a:ext cx="5178247" cy="696773"/>
          </a:xfrm>
          <a:prstGeom prst="roundRect">
            <a:avLst>
              <a:gd name="adj" fmla="val 15748"/>
            </a:avLst>
          </a:prstGeom>
          <a:solidFill>
            <a:srgbClr val="F8EFDF"/>
          </a:solidFill>
          <a:ln w="12700">
            <a:solidFill>
              <a:srgbClr val="F8EFDF"/>
            </a:solidFill>
            <a:prstDash val="solid"/>
          </a:ln>
        </p:spPr>
      </p:sp>
      <p:sp>
        <p:nvSpPr>
          <p:cNvPr id="15" name="Text 13"/>
          <p:cNvSpPr txBox="1"/>
          <p:nvPr/>
        </p:nvSpPr>
        <p:spPr>
          <a:xfrm>
            <a:off x="777240" y="291876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"People with dementia can't feel or understand anything."</a:t>
            </a:r>
            <a:endParaRPr lang="en-US" sz="1700" dirty="0"/>
          </a:p>
        </p:txBody>
      </p:sp>
      <p:sp>
        <p:nvSpPr>
          <p:cNvPr id="16" name="Text 14"/>
          <p:cNvSpPr txBox="1"/>
          <p:nvPr/>
        </p:nvSpPr>
        <p:spPr>
          <a:xfrm>
            <a:off x="6693408" y="291876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Emotions, relationships, and the capacity for joy remain.</a:t>
            </a:r>
            <a:endParaRPr lang="en-US" sz="1700" dirty="0"/>
          </a:p>
        </p:txBody>
      </p:sp>
      <p:sp>
        <p:nvSpPr>
          <p:cNvPr id="17" name="Shape 15"/>
          <p:cNvSpPr/>
          <p:nvPr/>
        </p:nvSpPr>
        <p:spPr>
          <a:xfrm>
            <a:off x="5934456" y="3084271"/>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08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761842"/>
            <a:ext cx="5166360" cy="696773"/>
          </a:xfrm>
          <a:prstGeom prst="roundRect">
            <a:avLst>
              <a:gd name="adj" fmla="val 15748"/>
            </a:avLst>
          </a:prstGeom>
          <a:solidFill>
            <a:srgbClr val="E8F1EF"/>
          </a:solidFill>
          <a:ln w="12700">
            <a:solidFill>
              <a:srgbClr val="E8F1EF"/>
            </a:solidFill>
            <a:prstDash val="solid"/>
          </a:ln>
        </p:spPr>
      </p:sp>
      <p:sp>
        <p:nvSpPr>
          <p:cNvPr id="20" name="Shape 18"/>
          <p:cNvSpPr/>
          <p:nvPr/>
        </p:nvSpPr>
        <p:spPr>
          <a:xfrm>
            <a:off x="6464808" y="3761842"/>
            <a:ext cx="5178247" cy="696773"/>
          </a:xfrm>
          <a:prstGeom prst="roundRect">
            <a:avLst>
              <a:gd name="adj" fmla="val 15748"/>
            </a:avLst>
          </a:prstGeom>
          <a:solidFill>
            <a:srgbClr val="F8EFDF"/>
          </a:solidFill>
          <a:ln w="12700">
            <a:solidFill>
              <a:srgbClr val="F8EFDF"/>
            </a:solidFill>
            <a:prstDash val="solid"/>
          </a:ln>
        </p:spPr>
      </p:sp>
      <p:sp>
        <p:nvSpPr>
          <p:cNvPr id="21" name="Text 19"/>
          <p:cNvSpPr txBox="1"/>
          <p:nvPr/>
        </p:nvSpPr>
        <p:spPr>
          <a:xfrm>
            <a:off x="777240" y="3761842"/>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"Dementia only affects memory."</a:t>
            </a:r>
            <a:endParaRPr lang="en-US" sz="1700" dirty="0"/>
          </a:p>
        </p:txBody>
      </p:sp>
      <p:sp>
        <p:nvSpPr>
          <p:cNvPr id="22" name="Text 20"/>
          <p:cNvSpPr txBox="1"/>
          <p:nvPr/>
        </p:nvSpPr>
        <p:spPr>
          <a:xfrm>
            <a:off x="6693408" y="3761842"/>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It affects language, judgment, behavior, and function too.</a:t>
            </a:r>
            <a:endParaRPr lang="en-US" sz="1700" dirty="0"/>
          </a:p>
        </p:txBody>
      </p:sp>
      <p:sp>
        <p:nvSpPr>
          <p:cNvPr id="23" name="Shape 21"/>
          <p:cNvSpPr/>
          <p:nvPr/>
        </p:nvSpPr>
        <p:spPr>
          <a:xfrm>
            <a:off x="5934456" y="3927348"/>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92734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604918"/>
            <a:ext cx="5166360" cy="696773"/>
          </a:xfrm>
          <a:prstGeom prst="roundRect">
            <a:avLst>
              <a:gd name="adj" fmla="val 15748"/>
            </a:avLst>
          </a:prstGeom>
          <a:solidFill>
            <a:srgbClr val="E8F1EF"/>
          </a:solidFill>
          <a:ln w="12700">
            <a:solidFill>
              <a:srgbClr val="E8F1EF"/>
            </a:solidFill>
            <a:prstDash val="solid"/>
          </a:ln>
        </p:spPr>
      </p:sp>
      <p:sp>
        <p:nvSpPr>
          <p:cNvPr id="26" name="Shape 24"/>
          <p:cNvSpPr/>
          <p:nvPr/>
        </p:nvSpPr>
        <p:spPr>
          <a:xfrm>
            <a:off x="6464808" y="4604918"/>
            <a:ext cx="5178247" cy="696773"/>
          </a:xfrm>
          <a:prstGeom prst="roundRect">
            <a:avLst>
              <a:gd name="adj" fmla="val 15748"/>
            </a:avLst>
          </a:prstGeom>
          <a:solidFill>
            <a:srgbClr val="F8EFDF"/>
          </a:solidFill>
          <a:ln w="12700">
            <a:solidFill>
              <a:srgbClr val="F8EFDF"/>
            </a:solidFill>
            <a:prstDash val="solid"/>
          </a:ln>
        </p:spPr>
      </p:sp>
      <p:sp>
        <p:nvSpPr>
          <p:cNvPr id="27" name="Text 25"/>
          <p:cNvSpPr txBox="1"/>
          <p:nvPr/>
        </p:nvSpPr>
        <p:spPr>
          <a:xfrm>
            <a:off x="777240" y="460491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"Nothing can be done once someone has dementia."</a:t>
            </a:r>
            <a:endParaRPr lang="en-US" sz="1700" dirty="0"/>
          </a:p>
        </p:txBody>
      </p:sp>
      <p:sp>
        <p:nvSpPr>
          <p:cNvPr id="28" name="Text 26"/>
          <p:cNvSpPr txBox="1"/>
          <p:nvPr/>
        </p:nvSpPr>
        <p:spPr>
          <a:xfrm>
            <a:off x="6693408" y="460491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Good care improves quality of life and supports caregivers.</a:t>
            </a:r>
            <a:endParaRPr lang="en-US" sz="1700" dirty="0"/>
          </a:p>
        </p:txBody>
      </p:sp>
      <p:sp>
        <p:nvSpPr>
          <p:cNvPr id="29" name="Shape 27"/>
          <p:cNvSpPr/>
          <p:nvPr/>
        </p:nvSpPr>
        <p:spPr>
          <a:xfrm>
            <a:off x="5934456" y="4770425"/>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77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5447995"/>
            <a:ext cx="5166360" cy="696773"/>
          </a:xfrm>
          <a:prstGeom prst="roundRect">
            <a:avLst>
              <a:gd name="adj" fmla="val 15748"/>
            </a:avLst>
          </a:prstGeom>
          <a:solidFill>
            <a:srgbClr val="E8F1EF"/>
          </a:solidFill>
          <a:ln w="12700">
            <a:solidFill>
              <a:srgbClr val="E8F1EF"/>
            </a:solidFill>
            <a:prstDash val="solid"/>
          </a:ln>
        </p:spPr>
      </p:sp>
      <p:sp>
        <p:nvSpPr>
          <p:cNvPr id="32" name="Shape 30"/>
          <p:cNvSpPr/>
          <p:nvPr/>
        </p:nvSpPr>
        <p:spPr>
          <a:xfrm>
            <a:off x="6464808" y="5447995"/>
            <a:ext cx="5178247" cy="696773"/>
          </a:xfrm>
          <a:prstGeom prst="roundRect">
            <a:avLst>
              <a:gd name="adj" fmla="val 15748"/>
            </a:avLst>
          </a:prstGeom>
          <a:solidFill>
            <a:srgbClr val="F8EFDF"/>
          </a:solidFill>
          <a:ln w="12700">
            <a:solidFill>
              <a:srgbClr val="F8EFDF"/>
            </a:solidFill>
            <a:prstDash val="solid"/>
          </a:ln>
        </p:spPr>
      </p:sp>
      <p:sp>
        <p:nvSpPr>
          <p:cNvPr id="33" name="Text 31"/>
          <p:cNvSpPr txBox="1"/>
          <p:nvPr/>
        </p:nvSpPr>
        <p:spPr>
          <a:xfrm>
            <a:off x="777240" y="544799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"Only older people get dementia."</a:t>
            </a:r>
            <a:endParaRPr lang="en-US" sz="1700" dirty="0"/>
          </a:p>
        </p:txBody>
      </p:sp>
      <p:sp>
        <p:nvSpPr>
          <p:cNvPr id="34" name="Text 32"/>
          <p:cNvSpPr txBox="1"/>
          <p:nvPr/>
        </p:nvSpPr>
        <p:spPr>
          <a:xfrm>
            <a:off x="6693408" y="544799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Younger-onset dementia can begin in a person's 40s or 50s.</a:t>
            </a:r>
            <a:endParaRPr lang="en-US" sz="1700" dirty="0"/>
          </a:p>
        </p:txBody>
      </p:sp>
      <p:sp>
        <p:nvSpPr>
          <p:cNvPr id="35" name="Shape 33"/>
          <p:cNvSpPr/>
          <p:nvPr/>
        </p:nvSpPr>
        <p:spPr>
          <a:xfrm>
            <a:off x="5934456" y="5613502"/>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561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7"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8" name="Text 3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39" name="Text 3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MCI and Treatable Conditions That Mimic Dementia</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Mild cognitive impairment (MCI): </a:t>
            </a:r>
            <a:r>
              <a:rPr lang="en-US" sz="1800" dirty="0">
                <a:solidFill>
                  <a:srgbClr val="24302D"/>
                </a:solidFill>
                <a:latin typeface="Calibri" pitchFamily="34" charset="0"/>
                <a:ea typeface="Calibri" pitchFamily="34" charset="-122"/>
                <a:cs typeface="Calibri" pitchFamily="34" charset="-120"/>
              </a:rPr>
              <a:t>noticeable changes in thinking without major loss of independence; some people progress to dementia, others do not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Delirium: </a:t>
            </a:r>
            <a:r>
              <a:rPr lang="en-US" sz="1800" dirty="0">
                <a:solidFill>
                  <a:srgbClr val="24302D"/>
                </a:solidFill>
                <a:latin typeface="Calibri" pitchFamily="34" charset="0"/>
                <a:ea typeface="Calibri" pitchFamily="34" charset="-122"/>
                <a:cs typeface="Calibri" pitchFamily="34" charset="-120"/>
              </a:rPr>
              <a:t>sudden confusion over hours to days, often from infection, dehydration, medication, or surgery — a medical emergency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Depression: </a:t>
            </a:r>
            <a:r>
              <a:rPr lang="en-US" sz="1800" dirty="0">
                <a:solidFill>
                  <a:srgbClr val="24302D"/>
                </a:solidFill>
                <a:latin typeface="Calibri" pitchFamily="34" charset="0"/>
                <a:ea typeface="Calibri" pitchFamily="34" charset="-122"/>
                <a:cs typeface="Calibri" pitchFamily="34" charset="-120"/>
              </a:rPr>
              <a:t>can cause poor concentration and memory complaints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Medications: </a:t>
            </a:r>
            <a:r>
              <a:rPr lang="en-US" sz="1800" dirty="0">
                <a:solidFill>
                  <a:srgbClr val="24302D"/>
                </a:solidFill>
                <a:latin typeface="Calibri" pitchFamily="34" charset="0"/>
                <a:ea typeface="Calibri" pitchFamily="34" charset="-122"/>
                <a:cs typeface="Calibri" pitchFamily="34" charset="-120"/>
              </a:rPr>
              <a:t>especially sedatives, sleep aids, and anticholinergic drugs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Other causes: </a:t>
            </a:r>
            <a:r>
              <a:rPr lang="en-US" sz="1800" dirty="0">
                <a:solidFill>
                  <a:srgbClr val="24302D"/>
                </a:solidFill>
                <a:latin typeface="Calibri" pitchFamily="34" charset="0"/>
                <a:ea typeface="Calibri" pitchFamily="34" charset="-122"/>
                <a:cs typeface="Calibri" pitchFamily="34" charset="-120"/>
              </a:rPr>
              <a:t>thyroid problems, vitamin B12 deficiency, hearing or vision loss, poor sleep, alcohol use</a:t>
            </a:r>
            <a:endParaRPr lang="en-US" sz="1800" dirty="0"/>
          </a:p>
        </p:txBody>
      </p:sp>
      <p:sp>
        <p:nvSpPr>
          <p:cNvPr id="4" name="Shape 2"/>
          <p:cNvSpPr/>
          <p:nvPr/>
        </p:nvSpPr>
        <p:spPr>
          <a:xfrm>
            <a:off x="7589520" y="1417320"/>
            <a:ext cx="4053535" cy="3413760"/>
          </a:xfrm>
          <a:prstGeom prst="roundRect">
            <a:avLst>
              <a:gd name="adj" fmla="val 321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Sudden change = same-day call</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People with dementia are at high risk for delirium. A rapid change in confusion, alertness, or behavior is NOT "the dementia getting worse." Notify the clinician the same day.</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Progression of Disease</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What changes over time — and what families need at each stage</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1</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Stages of Dementia</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Progression varies widely; many people live 4–8 years after diagnosis, some 20 years or more.</a:t>
            </a:r>
            <a:endParaRPr lang="en-US" sz="1600" dirty="0"/>
          </a:p>
        </p:txBody>
      </p:sp>
      <p:sp>
        <p:nvSpPr>
          <p:cNvPr id="4" name="Shape 2"/>
          <p:cNvSpPr/>
          <p:nvPr/>
        </p:nvSpPr>
        <p:spPr>
          <a:xfrm>
            <a:off x="2321509" y="2240280"/>
            <a:ext cx="7548677" cy="0"/>
          </a:xfrm>
          <a:prstGeom prst="line">
            <a:avLst/>
          </a:prstGeom>
          <a:noFill/>
          <a:ln w="38100">
            <a:solidFill>
              <a:srgbClr val="C9DEDA"/>
            </a:solidFill>
            <a:prstDash val="solid"/>
          </a:ln>
        </p:spPr>
      </p:sp>
      <p:sp>
        <p:nvSpPr>
          <p:cNvPr id="5" name="Shape 3"/>
          <p:cNvSpPr/>
          <p:nvPr/>
        </p:nvSpPr>
        <p:spPr>
          <a:xfrm>
            <a:off x="1955749" y="1874520"/>
            <a:ext cx="731520" cy="731520"/>
          </a:xfrm>
          <a:prstGeom prst="ellipse">
            <a:avLst/>
          </a:prstGeom>
          <a:solidFill>
            <a:srgbClr val="28695F"/>
          </a:solidFill>
          <a:ln w="12700">
            <a:solidFill>
              <a:srgbClr val="28695F"/>
            </a:solidFill>
            <a:prstDash val="solid"/>
          </a:ln>
        </p:spPr>
      </p:sp>
      <p:sp>
        <p:nvSpPr>
          <p:cNvPr id="6" name="Text 4"/>
          <p:cNvSpPr txBox="1"/>
          <p:nvPr/>
        </p:nvSpPr>
        <p:spPr>
          <a:xfrm>
            <a:off x="1955749"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548640" y="2834640"/>
            <a:ext cx="3545738" cy="3291840"/>
          </a:xfrm>
          <a:prstGeom prst="roundRect">
            <a:avLst>
              <a:gd name="adj" fmla="val 3333"/>
            </a:avLst>
          </a:prstGeom>
          <a:solidFill>
            <a:srgbClr val="E8F1EF"/>
          </a:solidFill>
          <a:ln w="12700">
            <a:solidFill>
              <a:srgbClr val="E8F1EF"/>
            </a:solidFill>
            <a:prstDash val="solid"/>
          </a:ln>
        </p:spPr>
      </p:sp>
      <p:sp>
        <p:nvSpPr>
          <p:cNvPr id="8" name="Text 6"/>
          <p:cNvSpPr txBox="1"/>
          <p:nvPr/>
        </p:nvSpPr>
        <p:spPr>
          <a:xfrm>
            <a:off x="731520"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Early (Mild)</a:t>
            </a:r>
            <a:endParaRPr lang="en-US" sz="1800" dirty="0"/>
          </a:p>
        </p:txBody>
      </p:sp>
      <p:sp>
        <p:nvSpPr>
          <p:cNvPr id="9" name="Text 7"/>
          <p:cNvSpPr txBox="1"/>
          <p:nvPr/>
        </p:nvSpPr>
        <p:spPr>
          <a:xfrm>
            <a:off x="731520" y="3657600"/>
            <a:ext cx="3179978" cy="22860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Mostly independent</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Short-term memory lapses</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Trouble with complex tasks, finances, planning</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Aware of changes; may feel anxious or depressed</a:t>
            </a:r>
            <a:endParaRPr lang="en-US" sz="1600" dirty="0"/>
          </a:p>
        </p:txBody>
      </p:sp>
      <p:sp>
        <p:nvSpPr>
          <p:cNvPr id="10" name="Shape 8"/>
          <p:cNvSpPr/>
          <p:nvPr/>
        </p:nvSpPr>
        <p:spPr>
          <a:xfrm>
            <a:off x="5730088" y="1874520"/>
            <a:ext cx="731520" cy="731520"/>
          </a:xfrm>
          <a:prstGeom prst="ellipse">
            <a:avLst/>
          </a:prstGeom>
          <a:solidFill>
            <a:srgbClr val="C78F2E"/>
          </a:solidFill>
          <a:ln w="12700">
            <a:solidFill>
              <a:srgbClr val="C78F2E"/>
            </a:solidFill>
            <a:prstDash val="solid"/>
          </a:ln>
        </p:spPr>
      </p:sp>
      <p:sp>
        <p:nvSpPr>
          <p:cNvPr id="11" name="Text 9"/>
          <p:cNvSpPr txBox="1"/>
          <p:nvPr/>
        </p:nvSpPr>
        <p:spPr>
          <a:xfrm>
            <a:off x="5730088"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Shape 10"/>
          <p:cNvSpPr/>
          <p:nvPr/>
        </p:nvSpPr>
        <p:spPr>
          <a:xfrm>
            <a:off x="4322978" y="2834640"/>
            <a:ext cx="3545738" cy="3291840"/>
          </a:xfrm>
          <a:prstGeom prst="roundRect">
            <a:avLst>
              <a:gd name="adj" fmla="val 3333"/>
            </a:avLst>
          </a:prstGeom>
          <a:solidFill>
            <a:srgbClr val="E8F1EF"/>
          </a:solidFill>
          <a:ln w="12700">
            <a:solidFill>
              <a:srgbClr val="E8F1EF"/>
            </a:solidFill>
            <a:prstDash val="solid"/>
          </a:ln>
        </p:spPr>
      </p:sp>
      <p:sp>
        <p:nvSpPr>
          <p:cNvPr id="13" name="Text 11"/>
          <p:cNvSpPr txBox="1"/>
          <p:nvPr/>
        </p:nvSpPr>
        <p:spPr>
          <a:xfrm>
            <a:off x="4505858"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Middle (Moderate)</a:t>
            </a:r>
            <a:endParaRPr lang="en-US" sz="1800" dirty="0"/>
          </a:p>
        </p:txBody>
      </p:sp>
      <p:sp>
        <p:nvSpPr>
          <p:cNvPr id="14" name="Text 12"/>
          <p:cNvSpPr txBox="1"/>
          <p:nvPr/>
        </p:nvSpPr>
        <p:spPr>
          <a:xfrm>
            <a:off x="4505858" y="3657600"/>
            <a:ext cx="3179978" cy="22860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Usually the longest stage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Needs help with daily tasks and personal care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Confusion about time and place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Behavioral symptoms and wandering more common</a:t>
            </a:r>
            <a:endParaRPr lang="en-US" sz="1600" dirty="0"/>
          </a:p>
        </p:txBody>
      </p:sp>
      <p:sp>
        <p:nvSpPr>
          <p:cNvPr id="15" name="Shape 13"/>
          <p:cNvSpPr/>
          <p:nvPr/>
        </p:nvSpPr>
        <p:spPr>
          <a:xfrm>
            <a:off x="9504426" y="1874520"/>
            <a:ext cx="731520" cy="731520"/>
          </a:xfrm>
          <a:prstGeom prst="ellipse">
            <a:avLst/>
          </a:prstGeom>
          <a:solidFill>
            <a:srgbClr val="28695F"/>
          </a:solidFill>
          <a:ln w="12700">
            <a:solidFill>
              <a:srgbClr val="28695F"/>
            </a:solidFill>
            <a:prstDash val="solid"/>
          </a:ln>
        </p:spPr>
      </p:sp>
      <p:sp>
        <p:nvSpPr>
          <p:cNvPr id="16" name="Text 14"/>
          <p:cNvSpPr txBox="1"/>
          <p:nvPr/>
        </p:nvSpPr>
        <p:spPr>
          <a:xfrm>
            <a:off x="9504426"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Shape 15"/>
          <p:cNvSpPr/>
          <p:nvPr/>
        </p:nvSpPr>
        <p:spPr>
          <a:xfrm>
            <a:off x="8097317" y="2834640"/>
            <a:ext cx="3545738" cy="3291840"/>
          </a:xfrm>
          <a:prstGeom prst="roundRect">
            <a:avLst>
              <a:gd name="adj" fmla="val 3333"/>
            </a:avLst>
          </a:prstGeom>
          <a:solidFill>
            <a:srgbClr val="E8F1EF"/>
          </a:solidFill>
          <a:ln w="12700">
            <a:solidFill>
              <a:srgbClr val="E8F1EF"/>
            </a:solidFill>
            <a:prstDash val="solid"/>
          </a:ln>
        </p:spPr>
      </p:sp>
      <p:sp>
        <p:nvSpPr>
          <p:cNvPr id="18" name="Text 16"/>
          <p:cNvSpPr txBox="1"/>
          <p:nvPr/>
        </p:nvSpPr>
        <p:spPr>
          <a:xfrm>
            <a:off x="8280197" y="297180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Late (Severe)</a:t>
            </a:r>
            <a:endParaRPr lang="en-US" sz="1800" dirty="0"/>
          </a:p>
        </p:txBody>
      </p:sp>
      <p:sp>
        <p:nvSpPr>
          <p:cNvPr id="19" name="Text 17"/>
          <p:cNvSpPr txBox="1"/>
          <p:nvPr/>
        </p:nvSpPr>
        <p:spPr>
          <a:xfrm>
            <a:off x="8280197" y="3657600"/>
            <a:ext cx="3179978" cy="22860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Needs extensive help with all personal care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Limited speech; responds to touch, music, tone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Difficulty walking, swallowing, and eating</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Higher risk of infections and weight loss</a:t>
            </a:r>
            <a:endParaRPr lang="en-US" sz="16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Each Stage Means for Navigation</a:t>
            </a:r>
            <a:endParaRPr lang="en-US" sz="3000" dirty="0"/>
          </a:p>
        </p:txBody>
      </p:sp>
      <p:sp>
        <p:nvSpPr>
          <p:cNvPr id="3" name="Shape 1"/>
          <p:cNvSpPr/>
          <p:nvPr/>
        </p:nvSpPr>
        <p:spPr>
          <a:xfrm>
            <a:off x="548640" y="1417320"/>
            <a:ext cx="3515258" cy="4709160"/>
          </a:xfrm>
          <a:prstGeom prst="roundRect">
            <a:avLst>
              <a:gd name="adj" fmla="val 3121"/>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Early Stage Focus</a:t>
            </a:r>
            <a:endParaRPr lang="en-US" sz="1900" dirty="0"/>
          </a:p>
        </p:txBody>
      </p:sp>
      <p:sp>
        <p:nvSpPr>
          <p:cNvPr id="6" name="Text 3"/>
          <p:cNvSpPr txBox="1"/>
          <p:nvPr/>
        </p:nvSpPr>
        <p:spPr>
          <a:xfrm>
            <a:off x="768096"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Education about diagnosis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Advance care and legal/financial planning while the person can participate</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Driving and safety conversations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Support groups and meaningful activity</a:t>
            </a:r>
            <a:endParaRPr lang="en-US" sz="1800" dirty="0"/>
          </a:p>
        </p:txBody>
      </p:sp>
      <p:sp>
        <p:nvSpPr>
          <p:cNvPr id="7" name="Shape 4"/>
          <p:cNvSpPr/>
          <p:nvPr/>
        </p:nvSpPr>
        <p:spPr>
          <a:xfrm>
            <a:off x="4338218" y="1417320"/>
            <a:ext cx="3515258" cy="4709160"/>
          </a:xfrm>
          <a:prstGeom prst="roundRect">
            <a:avLst>
              <a:gd name="adj" fmla="val 3121"/>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Middle Stage Focus</a:t>
            </a:r>
            <a:endParaRPr lang="en-US" sz="1900" dirty="0"/>
          </a:p>
        </p:txBody>
      </p:sp>
      <p:sp>
        <p:nvSpPr>
          <p:cNvPr id="10" name="Text 6"/>
          <p:cNvSpPr txBox="1"/>
          <p:nvPr/>
        </p:nvSpPr>
        <p:spPr>
          <a:xfrm>
            <a:off x="4557674"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Home safety and wandering prevention</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Behavioral symptom coaching</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Caregiver training and respite</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In-home help and adult day referrals</a:t>
            </a:r>
            <a:endParaRPr lang="en-US" sz="1800" dirty="0"/>
          </a:p>
        </p:txBody>
      </p:sp>
      <p:sp>
        <p:nvSpPr>
          <p:cNvPr id="11" name="Shape 7"/>
          <p:cNvSpPr/>
          <p:nvPr/>
        </p:nvSpPr>
        <p:spPr>
          <a:xfrm>
            <a:off x="8127797" y="1417320"/>
            <a:ext cx="3515258" cy="4709160"/>
          </a:xfrm>
          <a:prstGeom prst="roundRect">
            <a:avLst>
              <a:gd name="adj" fmla="val 3121"/>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900" b="1" dirty="0">
                <a:solidFill>
                  <a:srgbClr val="28695F"/>
                </a:solidFill>
                <a:latin typeface="Cambria" pitchFamily="34" charset="0"/>
                <a:ea typeface="Cambria" pitchFamily="34" charset="-122"/>
                <a:cs typeface="Cambria" pitchFamily="34" charset="-120"/>
              </a:rPr>
              <a:t>Late Stage Focus</a:t>
            </a:r>
            <a:endParaRPr lang="en-US" sz="1900" dirty="0"/>
          </a:p>
        </p:txBody>
      </p:sp>
      <p:sp>
        <p:nvSpPr>
          <p:cNvPr id="14" name="Text 9"/>
          <p:cNvSpPr txBox="1"/>
          <p:nvPr/>
        </p:nvSpPr>
        <p:spPr>
          <a:xfrm>
            <a:off x="8347253" y="2194560"/>
            <a:ext cx="3094634" cy="37947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Comfort, dignity, and quality of life</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Goals-of-care and hospice conversations with the clinician</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Skin, nutrition, and swallowing concerns</a:t>
            </a:r>
            <a:endParaRPr lang="en-US" sz="1800" dirty="0"/>
          </a:p>
          <a:p>
            <a:pPr marL="203200" indent="-203200">
              <a:spcAft>
                <a:spcPts val="600"/>
              </a:spcAft>
              <a:buSzPct val="100000"/>
              <a:buChar char="•"/>
            </a:pPr>
            <a:r>
              <a:rPr lang="en-US" sz="1800" dirty="0">
                <a:solidFill>
                  <a:srgbClr val="24302D"/>
                </a:solidFill>
                <a:latin typeface="Calibri" pitchFamily="34" charset="0"/>
                <a:ea typeface="Calibri" pitchFamily="34" charset="-122"/>
                <a:cs typeface="Calibri" pitchFamily="34" charset="-120"/>
              </a:rPr>
              <a:t>Caregiver grief and anticipatory loss</a:t>
            </a:r>
            <a:endParaRPr lang="en-US" sz="1800" dirty="0"/>
          </a:p>
        </p:txBody>
      </p:sp>
      <p:pic>
        <p:nvPicPr>
          <p:cNvPr id="15" name="Image 3" descr="preencoded.png">    </p:cNvPr>
          <p:cNvPicPr>
            <a:picLocks noChangeAspect="1"/>
          </p:cNvPicPr>
          <p:nvPr/>
        </p:nvPicPr>
        <p:blipFill>
          <a:blip r:embed="rId4"/>
          <a:stretch>
            <a:fillRect/>
          </a:stretch>
        </p:blipFill>
        <p:spPr>
          <a:xfrm>
            <a:off x="548640" y="6309360"/>
            <a:ext cx="874762" cy="365760"/>
          </a:xfrm>
          <a:prstGeom prst="rect">
            <a:avLst/>
          </a:prstGeom>
        </p:spPr>
      </p:pic>
      <p:sp>
        <p:nvSpPr>
          <p:cNvPr id="16" name="Text 1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7" name="Text 1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Living Well with Dementia</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Dementia takes a great deal — but much remains at every stage.</a:t>
            </a:r>
            <a:endParaRPr lang="en-US" sz="1600" dirty="0"/>
          </a:p>
        </p:txBody>
      </p:sp>
      <p:sp>
        <p:nvSpPr>
          <p:cNvPr id="4" name="Shape 2"/>
          <p:cNvSpPr/>
          <p:nvPr/>
        </p:nvSpPr>
        <p:spPr>
          <a:xfrm>
            <a:off x="548640" y="1828800"/>
            <a:ext cx="3515258" cy="2011680"/>
          </a:xfrm>
          <a:prstGeom prst="roundRect">
            <a:avLst>
              <a:gd name="adj" fmla="val 5455"/>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49808" y="2029968"/>
            <a:ext cx="420624" cy="420624"/>
          </a:xfrm>
          <a:prstGeom prst="rect">
            <a:avLst/>
          </a:prstGeom>
        </p:spPr>
      </p:pic>
      <p:sp>
        <p:nvSpPr>
          <p:cNvPr id="6" name="Text 3"/>
          <p:cNvSpPr txBox="1"/>
          <p:nvPr/>
        </p:nvSpPr>
        <p:spPr>
          <a:xfrm>
            <a:off x="1298448" y="1984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Emotions</a:t>
            </a:r>
            <a:endParaRPr lang="en-US" sz="1700" dirty="0"/>
          </a:p>
        </p:txBody>
      </p:sp>
      <p:sp>
        <p:nvSpPr>
          <p:cNvPr id="7" name="Text 4"/>
          <p:cNvSpPr txBox="1"/>
          <p:nvPr/>
        </p:nvSpPr>
        <p:spPr>
          <a:xfrm>
            <a:off x="768096" y="2606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People continue to feel love, joy, fear, and comfort, even when words fade.</a:t>
            </a:r>
            <a:endParaRPr lang="en-US" sz="1650" dirty="0"/>
          </a:p>
        </p:txBody>
      </p:sp>
      <p:sp>
        <p:nvSpPr>
          <p:cNvPr id="8" name="Shape 5"/>
          <p:cNvSpPr/>
          <p:nvPr/>
        </p:nvSpPr>
        <p:spPr>
          <a:xfrm>
            <a:off x="4338218" y="1828800"/>
            <a:ext cx="3515258" cy="2011680"/>
          </a:xfrm>
          <a:prstGeom prst="roundRect">
            <a:avLst>
              <a:gd name="adj" fmla="val 5455"/>
            </a:avLst>
          </a:prstGeom>
          <a:solidFill>
            <a:srgbClr val="E8F1EF"/>
          </a:solidFill>
          <a:ln w="12700">
            <a:solidFill>
              <a:srgbClr val="E8F1EF"/>
            </a:solidFill>
            <a:prstDash val="solid"/>
          </a:ln>
        </p:spPr>
      </p:sp>
      <p:pic>
        <p:nvPicPr>
          <p:cNvPr id="9" name="Image 1" descr="preencoded.png">    </p:cNvPr>
          <p:cNvPicPr>
            <a:picLocks noChangeAspect="1"/>
          </p:cNvPicPr>
          <p:nvPr/>
        </p:nvPicPr>
        <p:blipFill>
          <a:blip r:embed="rId2"/>
          <a:stretch>
            <a:fillRect/>
          </a:stretch>
        </p:blipFill>
        <p:spPr>
          <a:xfrm>
            <a:off x="4539386" y="2029968"/>
            <a:ext cx="420624" cy="420624"/>
          </a:xfrm>
          <a:prstGeom prst="rect">
            <a:avLst/>
          </a:prstGeom>
        </p:spPr>
      </p:pic>
      <p:sp>
        <p:nvSpPr>
          <p:cNvPr id="10" name="Text 6"/>
          <p:cNvSpPr txBox="1"/>
          <p:nvPr/>
        </p:nvSpPr>
        <p:spPr>
          <a:xfrm>
            <a:off x="5088026" y="1984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Long-Term Memories</a:t>
            </a:r>
            <a:endParaRPr lang="en-US" sz="1700" dirty="0"/>
          </a:p>
        </p:txBody>
      </p:sp>
      <p:sp>
        <p:nvSpPr>
          <p:cNvPr id="11" name="Text 7"/>
          <p:cNvSpPr txBox="1"/>
          <p:nvPr/>
        </p:nvSpPr>
        <p:spPr>
          <a:xfrm>
            <a:off x="4557674" y="2606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Older memories, songs, prayers, and skills often last much longer.</a:t>
            </a:r>
            <a:endParaRPr lang="en-US" sz="1650" dirty="0"/>
          </a:p>
        </p:txBody>
      </p:sp>
      <p:sp>
        <p:nvSpPr>
          <p:cNvPr id="12" name="Shape 8"/>
          <p:cNvSpPr/>
          <p:nvPr/>
        </p:nvSpPr>
        <p:spPr>
          <a:xfrm>
            <a:off x="8127797" y="1828800"/>
            <a:ext cx="3515258" cy="2011680"/>
          </a:xfrm>
          <a:prstGeom prst="roundRect">
            <a:avLst>
              <a:gd name="adj" fmla="val 5455"/>
            </a:avLst>
          </a:prstGeom>
          <a:solidFill>
            <a:srgbClr val="E8F1EF"/>
          </a:solidFill>
          <a:ln w="12700">
            <a:solidFill>
              <a:srgbClr val="E8F1EF"/>
            </a:solidFill>
            <a:prstDash val="solid"/>
          </a:ln>
        </p:spPr>
      </p:sp>
      <p:pic>
        <p:nvPicPr>
          <p:cNvPr id="13" name="Image 2" descr="preencoded.png">    </p:cNvPr>
          <p:cNvPicPr>
            <a:picLocks noChangeAspect="1"/>
          </p:cNvPicPr>
          <p:nvPr/>
        </p:nvPicPr>
        <p:blipFill>
          <a:blip r:embed="rId3"/>
          <a:stretch>
            <a:fillRect/>
          </a:stretch>
        </p:blipFill>
        <p:spPr>
          <a:xfrm>
            <a:off x="8328965" y="2029968"/>
            <a:ext cx="420624" cy="420624"/>
          </a:xfrm>
          <a:prstGeom prst="rect">
            <a:avLst/>
          </a:prstGeom>
        </p:spPr>
      </p:pic>
      <p:sp>
        <p:nvSpPr>
          <p:cNvPr id="14" name="Text 9"/>
          <p:cNvSpPr txBox="1"/>
          <p:nvPr/>
        </p:nvSpPr>
        <p:spPr>
          <a:xfrm>
            <a:off x="8877605" y="1984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Relationships</a:t>
            </a:r>
            <a:endParaRPr lang="en-US" sz="1700" dirty="0"/>
          </a:p>
        </p:txBody>
      </p:sp>
      <p:sp>
        <p:nvSpPr>
          <p:cNvPr id="15" name="Text 10"/>
          <p:cNvSpPr txBox="1"/>
          <p:nvPr/>
        </p:nvSpPr>
        <p:spPr>
          <a:xfrm>
            <a:off x="8347253" y="2606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Familiar voices and touch continue to bring reassurance and connection.</a:t>
            </a:r>
            <a:endParaRPr lang="en-US" sz="1650" dirty="0"/>
          </a:p>
        </p:txBody>
      </p:sp>
      <p:sp>
        <p:nvSpPr>
          <p:cNvPr id="16" name="Shape 11"/>
          <p:cNvSpPr/>
          <p:nvPr/>
        </p:nvSpPr>
        <p:spPr>
          <a:xfrm>
            <a:off x="548640" y="4114800"/>
            <a:ext cx="3515258" cy="2011680"/>
          </a:xfrm>
          <a:prstGeom prst="roundRect">
            <a:avLst>
              <a:gd name="adj" fmla="val 5455"/>
            </a:avLst>
          </a:prstGeom>
          <a:solidFill>
            <a:srgbClr val="E8F1EF"/>
          </a:solidFill>
          <a:ln w="12700">
            <a:solidFill>
              <a:srgbClr val="E8F1EF"/>
            </a:solidFill>
            <a:prstDash val="solid"/>
          </a:ln>
        </p:spPr>
      </p:sp>
      <p:pic>
        <p:nvPicPr>
          <p:cNvPr id="17" name="Image 3" descr="preencoded.png">    </p:cNvPr>
          <p:cNvPicPr>
            <a:picLocks noChangeAspect="1"/>
          </p:cNvPicPr>
          <p:nvPr/>
        </p:nvPicPr>
        <p:blipFill>
          <a:blip r:embed="rId4"/>
          <a:stretch>
            <a:fillRect/>
          </a:stretch>
        </p:blipFill>
        <p:spPr>
          <a:xfrm>
            <a:off x="749808" y="4315968"/>
            <a:ext cx="420624" cy="420624"/>
          </a:xfrm>
          <a:prstGeom prst="rect">
            <a:avLst/>
          </a:prstGeom>
        </p:spPr>
      </p:pic>
      <p:sp>
        <p:nvSpPr>
          <p:cNvPr id="18" name="Text 12"/>
          <p:cNvSpPr txBox="1"/>
          <p:nvPr/>
        </p:nvSpPr>
        <p:spPr>
          <a:xfrm>
            <a:off x="1298448" y="4270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Music &amp; Senses</a:t>
            </a:r>
            <a:endParaRPr lang="en-US" sz="1700" dirty="0"/>
          </a:p>
        </p:txBody>
      </p:sp>
      <p:sp>
        <p:nvSpPr>
          <p:cNvPr id="19" name="Text 13"/>
          <p:cNvSpPr txBox="1"/>
          <p:nvPr/>
        </p:nvSpPr>
        <p:spPr>
          <a:xfrm>
            <a:off x="768096" y="4892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Music, scents, textures, and nature can reach people in late stages.</a:t>
            </a:r>
            <a:endParaRPr lang="en-US" sz="1650" dirty="0"/>
          </a:p>
        </p:txBody>
      </p:sp>
      <p:sp>
        <p:nvSpPr>
          <p:cNvPr id="20" name="Shape 14"/>
          <p:cNvSpPr/>
          <p:nvPr/>
        </p:nvSpPr>
        <p:spPr>
          <a:xfrm>
            <a:off x="4338218" y="4114800"/>
            <a:ext cx="3515258" cy="2011680"/>
          </a:xfrm>
          <a:prstGeom prst="roundRect">
            <a:avLst>
              <a:gd name="adj" fmla="val 5455"/>
            </a:avLst>
          </a:prstGeom>
          <a:solidFill>
            <a:srgbClr val="E8F1EF"/>
          </a:solidFill>
          <a:ln w="12700">
            <a:solidFill>
              <a:srgbClr val="E8F1EF"/>
            </a:solidFill>
            <a:prstDash val="solid"/>
          </a:ln>
        </p:spPr>
      </p:sp>
      <p:pic>
        <p:nvPicPr>
          <p:cNvPr id="21" name="Image 4" descr="preencoded.png">    </p:cNvPr>
          <p:cNvPicPr>
            <a:picLocks noChangeAspect="1"/>
          </p:cNvPicPr>
          <p:nvPr/>
        </p:nvPicPr>
        <p:blipFill>
          <a:blip r:embed="rId5"/>
          <a:stretch>
            <a:fillRect/>
          </a:stretch>
        </p:blipFill>
        <p:spPr>
          <a:xfrm>
            <a:off x="4539386" y="4315968"/>
            <a:ext cx="420624" cy="420624"/>
          </a:xfrm>
          <a:prstGeom prst="rect">
            <a:avLst/>
          </a:prstGeom>
        </p:spPr>
      </p:pic>
      <p:sp>
        <p:nvSpPr>
          <p:cNvPr id="22" name="Text 15"/>
          <p:cNvSpPr txBox="1"/>
          <p:nvPr/>
        </p:nvSpPr>
        <p:spPr>
          <a:xfrm>
            <a:off x="5088026" y="4270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Purpose</a:t>
            </a:r>
            <a:endParaRPr lang="en-US" sz="1700" dirty="0"/>
          </a:p>
        </p:txBody>
      </p:sp>
      <p:sp>
        <p:nvSpPr>
          <p:cNvPr id="23" name="Text 16"/>
          <p:cNvSpPr txBox="1"/>
          <p:nvPr/>
        </p:nvSpPr>
        <p:spPr>
          <a:xfrm>
            <a:off x="4557674" y="4892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Helping with simple tasks can restore a sense of usefulness and pride.</a:t>
            </a:r>
            <a:endParaRPr lang="en-US" sz="1650" dirty="0"/>
          </a:p>
        </p:txBody>
      </p:sp>
      <p:sp>
        <p:nvSpPr>
          <p:cNvPr id="24" name="Shape 17"/>
          <p:cNvSpPr/>
          <p:nvPr/>
        </p:nvSpPr>
        <p:spPr>
          <a:xfrm>
            <a:off x="8127797" y="4114800"/>
            <a:ext cx="3515258" cy="2011680"/>
          </a:xfrm>
          <a:prstGeom prst="roundRect">
            <a:avLst>
              <a:gd name="adj" fmla="val 5455"/>
            </a:avLst>
          </a:prstGeom>
          <a:solidFill>
            <a:srgbClr val="E8F1EF"/>
          </a:solidFill>
          <a:ln w="12700">
            <a:solidFill>
              <a:srgbClr val="E8F1EF"/>
            </a:solidFill>
            <a:prstDash val="solid"/>
          </a:ln>
        </p:spPr>
      </p:sp>
      <p:pic>
        <p:nvPicPr>
          <p:cNvPr id="25" name="Image 5" descr="preencoded.png">    </p:cNvPr>
          <p:cNvPicPr>
            <a:picLocks noChangeAspect="1"/>
          </p:cNvPicPr>
          <p:nvPr/>
        </p:nvPicPr>
        <p:blipFill>
          <a:blip r:embed="rId6"/>
          <a:stretch>
            <a:fillRect/>
          </a:stretch>
        </p:blipFill>
        <p:spPr>
          <a:xfrm>
            <a:off x="8328965" y="4315968"/>
            <a:ext cx="420624" cy="420624"/>
          </a:xfrm>
          <a:prstGeom prst="rect">
            <a:avLst/>
          </a:prstGeom>
        </p:spPr>
      </p:pic>
      <p:sp>
        <p:nvSpPr>
          <p:cNvPr id="26" name="Text 18"/>
          <p:cNvSpPr txBox="1"/>
          <p:nvPr/>
        </p:nvSpPr>
        <p:spPr>
          <a:xfrm>
            <a:off x="8877605" y="427024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Dignity</a:t>
            </a:r>
            <a:endParaRPr lang="en-US" sz="1700" dirty="0"/>
          </a:p>
        </p:txBody>
      </p:sp>
      <p:sp>
        <p:nvSpPr>
          <p:cNvPr id="27" name="Text 19"/>
          <p:cNvSpPr txBox="1"/>
          <p:nvPr/>
        </p:nvSpPr>
        <p:spPr>
          <a:xfrm>
            <a:off x="8347253" y="4892040"/>
            <a:ext cx="3094634" cy="109728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Every person deserves respect, choice, and to be seen as who they are.</a:t>
            </a:r>
            <a:endParaRPr lang="en-US" sz="1650" dirty="0"/>
          </a:p>
        </p:txBody>
      </p:sp>
      <p:pic>
        <p:nvPicPr>
          <p:cNvPr id="28"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9"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30"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04</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Dementia and Co-Morbidities</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Why other health conditions become harder to manage</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1</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Co-Morbidities Matter</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Most people living with dementia </a:t>
            </a:r>
            <a:r>
              <a:rPr lang="en-US" sz="1800" dirty="0">
                <a:solidFill>
                  <a:srgbClr val="24302D"/>
                </a:solidFill>
                <a:latin typeface="Calibri" pitchFamily="34" charset="0"/>
                <a:ea typeface="Calibri" pitchFamily="34" charset="-122"/>
                <a:cs typeface="Calibri" pitchFamily="34" charset="-120"/>
              </a:rPr>
              <a:t>have multiple other chronic conditions such as hypertension, diabetes, heart disease, or arthritis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Self-management breaks down: </a:t>
            </a:r>
            <a:r>
              <a:rPr lang="en-US" sz="1800" dirty="0">
                <a:solidFill>
                  <a:srgbClr val="24302D"/>
                </a:solidFill>
                <a:latin typeface="Calibri" pitchFamily="34" charset="0"/>
                <a:ea typeface="Calibri" pitchFamily="34" charset="-122"/>
                <a:cs typeface="Calibri" pitchFamily="34" charset="-120"/>
              </a:rPr>
              <a:t>remembering medications, following diets, checking blood sugar, and recognizing symptoms all rely on memory and judgment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Symptoms go unreported: </a:t>
            </a:r>
            <a:r>
              <a:rPr lang="en-US" sz="1800" dirty="0">
                <a:solidFill>
                  <a:srgbClr val="24302D"/>
                </a:solidFill>
                <a:latin typeface="Calibri" pitchFamily="34" charset="0"/>
                <a:ea typeface="Calibri" pitchFamily="34" charset="-122"/>
                <a:cs typeface="Calibri" pitchFamily="34" charset="-120"/>
              </a:rPr>
              <a:t>a person may not be able to describe chest pain, shortness of breath, or burning with urination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Pain is often missed </a:t>
            </a:r>
            <a:r>
              <a:rPr lang="en-US" sz="1800" dirty="0">
                <a:solidFill>
                  <a:srgbClr val="24302D"/>
                </a:solidFill>
                <a:latin typeface="Calibri" pitchFamily="34" charset="0"/>
                <a:ea typeface="Calibri" pitchFamily="34" charset="-122"/>
                <a:cs typeface="Calibri" pitchFamily="34" charset="-120"/>
              </a:rPr>
              <a:t>and may show up as agitation, restlessness, or refusing care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Result: </a:t>
            </a:r>
            <a:r>
              <a:rPr lang="en-US" sz="1800" dirty="0">
                <a:solidFill>
                  <a:srgbClr val="24302D"/>
                </a:solidFill>
                <a:latin typeface="Calibri" pitchFamily="34" charset="0"/>
                <a:ea typeface="Calibri" pitchFamily="34" charset="-122"/>
                <a:cs typeface="Calibri" pitchFamily="34" charset="-120"/>
              </a:rPr>
              <a:t>more emergency visits, hospitalizations, and preventable complications</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Navigator mindset</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Every chronic condition now has a caregiver component. Ask: "Who is actually doing this task — and can they do it safely?"</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Co-Morbidities: Navigator Considerations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68450"/>
                <a:gridCol w="4512982"/>
                <a:gridCol w="4512982"/>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Condition</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How Dementia Complicates It</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Navigator Actions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Diabetes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Missed or doubled insulin/oral doses; forgets meals; can't recognize low blood sugar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Confirm who manages meds and glucose checks; teach caregiver low-sugar signs; report lows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Heart failure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Forgets daily weights, fluid and salt limits; can't report swelling or breathlessness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Help set up weight log; teach warning signs; confirm follow-up appointments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COPD</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Trouble using inhalers correctly; may remove oxygen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Ask for inhaler technique review; check oxygen safety (no smoking, trip hazards)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Hypertension / stroke risk</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Missed doses; dizziness and falls from over-treatment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Report dizziness, falls, or missed doses; support medication routines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Chronic kidney disease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Dehydration and medication dosing risks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Encourage fluids per plan; report reduced intake or urine changes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Arthritis / chronic pain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Pain under-reported; shows up as behavior change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Watch for grimacing, guarding, restlessness; request pain assessment</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Changes to Report Between Visits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Sudden Confusion</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Rapid change in alertness or behavior over hours to days.</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Falls or Injuries</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Any fall, even without obvious injury; new bruises.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Eating &amp; Drinking</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Poor intake, weight loss, coughing or choking with meals.</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Pain</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Grimacing, guarding, moaning, or new refusal of care.</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Urinary Changes</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New incontinence, burning, strong odor, or frequency.</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Caregiver Crisis</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Caregiver illness, hospitalization, or reaching a breaking point.</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Mrs. Alvarez, age 81</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Mrs. Alvarez has moderate Alzheimer's disease, type 2 diabetes, and high blood pressure. She lives with her daughter, Rosa, who works full time. Mrs. Alvarez has always given herself her own insulin and is proud of her independence.</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During your monthly check-in call, Rosa mentions that her mother has seemed "shaky and confused" in the late afternoon twice this week, and that the insulin pen looks emptier than expected. Rosa also says she is exhausted and "doesn't know how much longer she can do this."</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concerns do you identify, and which is most urgent?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Who needs to be notified, and how quickly?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might dementia be affecting her diabetes self-management?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should you document?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support might Rosa need?</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Stage Sorting Exercise</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10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Small groups with a set of observation cards</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Each group receives 12 cards describing things a caregiver might report</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Sort each card into early, middle, or late stage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Mark any card that sounds like delirium or a medical problem rather than a stage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For two cards, name one navigator action that fits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Compare your sort with another group</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caregiver says her father became very confused and sleepy over the past two days. He usually has mild memory problems. What should you do?</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Reassure her this is expected as dementia progresses</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Notify the clinician the same day — this may be delirium</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Schedule a routine reassessment next month</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Suggest he nap more and check back next week</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type of dementia is most associated with fluctuating alertness, visual hallucinations, and sensitivity to some antipsychotic medications?</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Vascular dementia</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Frontotemporal dementia</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Lewy body dementia</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Alzheimer's disease</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beneficiary is NOT eligible for the GUIDE Model?</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man with dementia living at home with his wife</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woman with dementia enrolled in Medicare Advantage</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woman with dementia who lives alone</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man with dementia in assisted living</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GUIDE funds comprehensive, coordinated dementia care for the person and their caregiver</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Navigators are the primary contact — escalate whenever in doubt</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Dementia is an umbrella term and is not a normal part of aging</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Different types of dementia look different and need different approaches</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Sudden change is a red flag for delirium — call the clinician the same day</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Dementia makes every other chronic condition harder to manage</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1</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Resources for This Module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CMS Innovation Center: </a:t>
            </a:r>
            <a:r>
              <a:rPr lang="en-US" sz="1900" dirty="0">
                <a:solidFill>
                  <a:srgbClr val="24302D"/>
                </a:solidFill>
                <a:latin typeface="Calibri" pitchFamily="34" charset="0"/>
                <a:ea typeface="Calibri" pitchFamily="34" charset="-122"/>
                <a:cs typeface="Calibri" pitchFamily="34" charset="-120"/>
              </a:rPr>
              <a:t>GUIDE Model overview and participant resources (cms.gov)</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Alzheimer's Association: </a:t>
            </a:r>
            <a:r>
              <a:rPr lang="en-US" sz="1900" dirty="0">
                <a:solidFill>
                  <a:srgbClr val="24302D"/>
                </a:solidFill>
                <a:latin typeface="Calibri" pitchFamily="34" charset="0"/>
                <a:ea typeface="Calibri" pitchFamily="34" charset="-122"/>
                <a:cs typeface="Calibri" pitchFamily="34" charset="-120"/>
              </a:rPr>
              <a:t>Alzheimer's Disease Facts and Figures (annual report); 10 Warning Signs (alz.org)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Alzheimer's Association 24/7 Helpline: </a:t>
            </a:r>
            <a:r>
              <a:rPr lang="en-US" sz="1900" dirty="0">
                <a:solidFill>
                  <a:srgbClr val="24302D"/>
                </a:solidFill>
                <a:latin typeface="Calibri" pitchFamily="34" charset="0"/>
                <a:ea typeface="Calibri" pitchFamily="34" charset="-122"/>
                <a:cs typeface="Calibri" pitchFamily="34" charset="-120"/>
              </a:rPr>
              <a:t>1-800-272-3900</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National Institute on Aging: </a:t>
            </a:r>
            <a:r>
              <a:rPr lang="en-US" sz="1900" dirty="0">
                <a:solidFill>
                  <a:srgbClr val="24302D"/>
                </a:solidFill>
                <a:latin typeface="Calibri" pitchFamily="34" charset="0"/>
                <a:ea typeface="Calibri" pitchFamily="34" charset="-122"/>
                <a:cs typeface="Calibri" pitchFamily="34" charset="-120"/>
              </a:rPr>
              <a:t>Alzheimer's and related dementias education (nia.nih.gov)</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Lewy Body Dementia Association </a:t>
            </a:r>
            <a:r>
              <a:rPr lang="en-US" sz="1900" dirty="0">
                <a:solidFill>
                  <a:srgbClr val="24302D"/>
                </a:solidFill>
                <a:latin typeface="Calibri" pitchFamily="34" charset="0"/>
                <a:ea typeface="Calibri" pitchFamily="34" charset="-122"/>
                <a:cs typeface="Calibri" pitchFamily="34" charset="-120"/>
              </a:rPr>
              <a:t>and The Association for Frontotemporal Degeneration for type-specific family materials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Internal: </a:t>
            </a:r>
            <a:r>
              <a:rPr lang="en-US" sz="1900" dirty="0">
                <a:solidFill>
                  <a:srgbClr val="24302D"/>
                </a:solidFill>
                <a:latin typeface="Calibri" pitchFamily="34" charset="0"/>
                <a:ea typeface="Calibri" pitchFamily="34" charset="-122"/>
                <a:cs typeface="Calibri" pitchFamily="34" charset="-120"/>
              </a:rPr>
              <a:t>AbleLiving/MPS GUIDE policies, escalation pathway, and on-call contacts</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1</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1: Foundations: The GUIDE Model &amp; Background on Dementia.</a:t>
            </a:r>
            <a:endParaRPr lang="en-US" sz="1800" dirty="0"/>
          </a:p>
        </p:txBody>
      </p:sp>
      <p:sp>
        <p:nvSpPr>
          <p:cNvPr id="7" name="Shape 3"/>
          <p:cNvSpPr/>
          <p:nvPr/>
        </p:nvSpPr>
        <p:spPr>
          <a:xfrm>
            <a:off x="548640" y="4206240"/>
            <a:ext cx="6675120" cy="1097280"/>
          </a:xfrm>
          <a:prstGeom prst="roundRect">
            <a:avLst>
              <a:gd name="adj" fmla="val 10000"/>
            </a:avLst>
          </a:prstGeom>
          <a:solidFill>
            <a:srgbClr val="1D4F47"/>
          </a:solidFill>
          <a:ln w="12700">
            <a:solidFill>
              <a:srgbClr val="1D4F47"/>
            </a:solidFill>
            <a:prstDash val="solid"/>
          </a:ln>
        </p:spPr>
      </p:sp>
      <p:sp>
        <p:nvSpPr>
          <p:cNvPr id="8" name="Text 4"/>
          <p:cNvSpPr txBox="1"/>
          <p:nvPr/>
        </p:nvSpPr>
        <p:spPr>
          <a:xfrm>
            <a:off x="868680" y="4315968"/>
            <a:ext cx="5943600" cy="320040"/>
          </a:xfrm>
          <a:prstGeom prst="rect">
            <a:avLst/>
          </a:prstGeom>
          <a:noFill/>
          <a:ln/>
        </p:spPr>
        <p:txBody>
          <a:bodyPr wrap="square" lIns="0" tIns="0" rIns="0" bIns="0" rtlCol="0" anchor="t"/>
          <a:lstStyle/>
          <a:p>
            <a:pPr indent="0" marL="0">
              <a:buNone/>
            </a:pPr>
            <a:r>
              <a:rPr lang="en-US" sz="1200" b="1" spc="300" kern="0" dirty="0">
                <a:solidFill>
                  <a:srgbClr val="F8CB27"/>
                </a:solidFill>
                <a:latin typeface="Calibri" pitchFamily="34" charset="0"/>
                <a:ea typeface="Calibri" pitchFamily="34" charset="-122"/>
                <a:cs typeface="Calibri" pitchFamily="34" charset="-120"/>
              </a:rPr>
              <a:t>UP NEXT</a:t>
            </a:r>
            <a:endParaRPr lang="en-US" sz="1200" dirty="0"/>
          </a:p>
        </p:txBody>
      </p:sp>
      <p:sp>
        <p:nvSpPr>
          <p:cNvPr id="9" name="Text 5"/>
          <p:cNvSpPr txBox="1"/>
          <p:nvPr/>
        </p:nvSpPr>
        <p:spPr>
          <a:xfrm>
            <a:off x="868680" y="4617720"/>
            <a:ext cx="61264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Module 2: Assessments, Care Planning &amp; Person-Centered Planning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1: Foundations: The GUIDE Model &amp; Background on Dementia</dc:title>
  <dc:subject>PptxGenJS Presentation</dc:subject>
  <dc:creator>AbleLiving Memory Support</dc:creator>
  <cp:lastModifiedBy>AbleLiving Memory Support</cp:lastModifiedBy>
  <cp:revision>1</cp:revision>
  <dcterms:created xsi:type="dcterms:W3CDTF">2026-09-24T19:32:51Z</dcterms:created>
  <dcterms:modified xsi:type="dcterms:W3CDTF">2026-09-24T19:32:51Z</dcterms:modified>
</cp:coreProperties>
</file>