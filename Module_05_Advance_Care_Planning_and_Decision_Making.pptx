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Module 5 covers two Appendix B topics: Advanced Care Planning (advance directives, POLST, and how to assist beneficiaries) and Decision-Making Capacity (what capacity is, what happens when a beneficiary lacks it, and supported decision-making). Take attendance. Note: this module includes legal concepts. Navigators educate and facilitate; they do not provide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The best time to start advance care planning is soon after diagnosis, while the person can participate fully. Many families wait until a crisis, when the person can no longer express their wishes. Navigators can normalize the conversation by explaining that "we talk about this with every family." Advance care planning includes values conversations, not just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Terminology varies by state. In Florida, the person named to make health care decisions is typically called a health care surrogate. In Ohio, the document is typically a health care power of attorney. A durable power of attorney for finances is a separate document, often prepared with an attorney. Emphasize that advance directives are completed by the individual, while DNR and POLST-type forms are medical orders completed by a clinician with the patient or surrogate.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Addressing myths helps families feel more comfortable starting. Emphasize that advance care planning is about honoring the person's wishes, whatever they are. It is not only for people who want less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POLST stands for Physician (or Provider) Orders for Life-Sustaining Treatment. Programs and form names differ by state; some states have formal POLST programs and others rely on out-of-hospital DNR orders. The key idea: an advance directive says "here is what I want and who speaks for me," while a POLST-type order turns current wishes into actionable medical orders that EMS will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This slide is a quick orientation for staff in both AbleLiving markets. Do not present it as legal advice. Witnessing and signature requirements differ by document and state. When families have questions about legal documents, refer them to an elder law attorney, legal aid organization, or the local Area Agency on Aging. The clinical lead should confirm which portable medical order forms are in current use in each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Navigators play a critical role in starting and sustaining advance care planning conversations. Tools such as The Conversation Project starter kit and PREPARE for Your Care are free and designed for families. Make sure completed documents are scanned into the record and that the family knows where the originals are kept. A document that cannot be found in an emergency cannot be honored.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Practice these aloud. Use simple language and allow silence. For people in the early stage, have the conversation directly with them, with the caregiver present if the person agrees. For people in later stages, ask the caregiver: "What do you think your mother would say if she could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Advance care planning is revisited throughout the illness. Each stage brings new decisions. Navigators help by prompting these conversations at the right time and connecting the family to the clinician for medical decisions, such as whether to use feeding tubes in advanced dementia.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Families often confuse these terms or fear that hospice means "giving up." Navigators can explain the basics and connect families with the clinician for hospice discussions. Hospice enrollment can affect GUIDE services; follow current AbleLiving/MPS policy and notify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Many states restrict who may serve as a witness for advance directives; for example, rules may prohibit certain relatives or health care staff from serving as both witnesses. Follow AbleLiving/MPS policy on whether staff may witness or notarize. When in doubt, refer.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Family disagreement is common, especially among siblings. Navigators should stay neutral and focus on the person's wishes. Never take sides or share one family member's private comments with another. Document the situation and escalate when conflict threatens the person's care 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
Advance care planning documentation is valuable to every provider who cares for the person, especially in emergencies and transitions. Include what the person said in their own words where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Give each "beneficiary" a character card, for example: "You are 72, recently diagnosed, a retired teacher. You are afraid of becoming a burden on your children and do not want to live in a nursing home." Debrief on how navigators handled emotion and whether they avoided jumping to forms too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This distinction matters. A person in the early or middle stage of dementia may retain capacity for many decisions, including naming a health care surrogate. Assessing capacity is a clinical responsibility. Navigators support it by reporting what they observe — for example, "She could explain what the medication was for and said she did not want it because it made her dizzy."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These four abilities come from widely used clinical frameworks (for example, the work of Appelbaum and Grisso). Clinicians use them when evaluating capacity. Navigators can use the framework to organize their observations. The more serious the risk of the decision, the higher the level of certainty clinicians generally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
Guardianship removes significant rights and is costly and time-consuming. Less restrictive alternatives — such as advance directives, powers of attorney, and supported decision-making — are generally preferred. Navigators should never promise a family that a certain person has authority; verify the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Help surrogates understand that their role is to be the person's voice, not to decide based on their own preferences. This reframing often eases guilt. The advance care planning conversations covered earlier provide the information that makes substituted judgment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
Supported decision-making is recognized in a growing number of states as an alternative to guardianship. Even when formal authority passes to a surrogate, the spirit of supported decision-making continues: involve the person in everyday choices such as clothing, food, and activities. This preserves dignity and often reduces resistance to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
Sample scenarios: (1) A woman in early-stage dementia refuses a home health aide; (2) A man in moderate dementia wants to sell his car but cannot explain what he would use for transportation; (3) A woman who is alert in the morning agrees to a hospice referral but is confused and fearful in the evening. Emphasize that navigators observe and report — they do not determine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15 min
Key points: (1) A dementia diagnosis alone does not remove capacity — Mrs. Chen is presumed to have capacity and can make her own decisions, including where to live; (2) Acknowledge David's fear and love, and explain the navigator's role; (3) This is the ideal time to complete an advance directive and name a surrogate — encourage Mrs. Chen to choose and talk with that person; (4) Use supported decision-making and explore safety supports that help her stay home; (5) Involve the clinician if there are concerns about specific high-risk decisions 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Capacity is decision-specific and time-specific. It is determined by a clinician; competence is a legal determination.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C. Advance directives are legal documents completed by the person; POLST-type forms are portable medical orders signed by a clinician.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ANSWER: B. Stay neutral, return to the person's wishes, clarify authority, and escalate as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2 min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
Open the floor for questions. Collect any parking-lot items and follow up before the next session. Confirm the knowledge check results are recorded in each participant's training file. Preview the next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1-2.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1.png"/><Relationship Id="rId3" Type="http://schemas.openxmlformats.org/officeDocument/2006/relationships/image" Target="../media/image-29-1.png"/><Relationship Id="rId4" Type="http://schemas.openxmlformats.org/officeDocument/2006/relationships/image" Target="../media/image-29-1.png"/><Relationship Id="rId5" Type="http://schemas.openxmlformats.org/officeDocument/2006/relationships/image" Target="../media/image-29-1.png"/><Relationship Id="rId6" Type="http://schemas.openxmlformats.org/officeDocument/2006/relationships/image" Target="../media/image-29-1.png"/><Relationship Id="rId7" Type="http://schemas.openxmlformats.org/officeDocument/2006/relationships/image" Target="../media/image-4-2.png"/><Relationship Id="rId8" Type="http://schemas.openxmlformats.org/officeDocument/2006/relationships/slideLayout" Target="../slideLayouts/slideLayout1.xml"/><Relationship Id="rId9"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1874520"/>
            <a:ext cx="6858000" cy="320040"/>
          </a:xfrm>
          <a:prstGeom prst="rect">
            <a:avLst/>
          </a:prstGeom>
          <a:noFill/>
          <a:ln/>
        </p:spPr>
        <p:txBody>
          <a:bodyPr wrap="square" lIns="0" tIns="0" rIns="0" bIns="0" rtlCol="0" anchor="t"/>
          <a:lstStyle/>
          <a:p>
            <a:pPr indent="0" marL="0">
              <a:buNone/>
            </a:pPr>
            <a:r>
              <a:rPr lang="en-US" sz="1300" b="1" spc="300" kern="0" dirty="0">
                <a:solidFill>
                  <a:srgbClr val="F8CB27"/>
                </a:solidFill>
                <a:latin typeface="Calibri" pitchFamily="34" charset="0"/>
                <a:ea typeface="Calibri" pitchFamily="34" charset="-122"/>
                <a:cs typeface="Calibri" pitchFamily="34" charset="-120"/>
              </a:rPr>
              <a:t>GUIDE CARE NAVIGATOR TRAINING</a:t>
            </a:r>
            <a:endParaRPr lang="en-US" sz="1300" dirty="0"/>
          </a:p>
        </p:txBody>
      </p:sp>
      <p:sp>
        <p:nvSpPr>
          <p:cNvPr id="6" name="Text 2"/>
          <p:cNvSpPr txBox="1"/>
          <p:nvPr/>
        </p:nvSpPr>
        <p:spPr>
          <a:xfrm>
            <a:off x="548640" y="2240280"/>
            <a:ext cx="6858000" cy="457200"/>
          </a:xfrm>
          <a:prstGeom prst="rect">
            <a:avLst/>
          </a:prstGeom>
          <a:noFill/>
          <a:ln/>
        </p:spPr>
        <p:txBody>
          <a:bodyPr wrap="square" lIns="0" tIns="0" rIns="0" bIns="0" rtlCol="0" anchor="t"/>
          <a:lstStyle/>
          <a:p>
            <a:pPr indent="0" marL="0">
              <a:buNone/>
            </a:pPr>
            <a:r>
              <a:rPr lang="en-US" sz="2200" i="1" dirty="0">
                <a:solidFill>
                  <a:srgbClr val="C9DEDA"/>
                </a:solidFill>
                <a:latin typeface="Cambria" pitchFamily="34" charset="0"/>
                <a:ea typeface="Cambria" pitchFamily="34" charset="-122"/>
                <a:cs typeface="Cambria" pitchFamily="34" charset="-120"/>
              </a:rPr>
              <a:t>Module 5</a:t>
            </a:r>
            <a:endParaRPr lang="en-US" sz="2200" dirty="0"/>
          </a:p>
        </p:txBody>
      </p:sp>
      <p:sp>
        <p:nvSpPr>
          <p:cNvPr id="7" name="Text 3"/>
          <p:cNvSpPr txBox="1"/>
          <p:nvPr/>
        </p:nvSpPr>
        <p:spPr>
          <a:xfrm>
            <a:off x="548640" y="2697480"/>
            <a:ext cx="6949440" cy="15544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Advance Care Planning &amp; Decision-Making Capacity</a:t>
            </a:r>
            <a:endParaRPr lang="en-US" sz="3800" dirty="0"/>
          </a:p>
        </p:txBody>
      </p:sp>
      <p:sp>
        <p:nvSpPr>
          <p:cNvPr id="8" name="Text 4"/>
          <p:cNvSpPr txBox="1"/>
          <p:nvPr/>
        </p:nvSpPr>
        <p:spPr>
          <a:xfrm>
            <a:off x="548640" y="4297680"/>
            <a:ext cx="6766560" cy="731520"/>
          </a:xfrm>
          <a:prstGeom prst="rect">
            <a:avLst/>
          </a:prstGeom>
          <a:noFill/>
          <a:ln/>
        </p:spPr>
        <p:txBody>
          <a:bodyPr wrap="square" lIns="0" tIns="0" rIns="0" bIns="0" rtlCol="0" anchor="t"/>
          <a:lstStyle/>
          <a:p>
            <a:pPr indent="0" marL="0">
              <a:buNone/>
            </a:pPr>
            <a:r>
              <a:rPr lang="en-US" sz="1600" dirty="0">
                <a:solidFill>
                  <a:srgbClr val="C9DEDA"/>
                </a:solidFill>
                <a:latin typeface="Calibri" pitchFamily="34" charset="0"/>
                <a:ea typeface="Calibri" pitchFamily="34" charset="-122"/>
                <a:cs typeface="Calibri" pitchFamily="34" charset="-120"/>
              </a:rPr>
              <a:t>Helping beneficiaries plan ahead, understanding capacity, and supporting decision-making throughout the course of dementia</a:t>
            </a:r>
            <a:endParaRPr lang="en-US" sz="1600" dirty="0"/>
          </a:p>
        </p:txBody>
      </p:sp>
      <p:sp>
        <p:nvSpPr>
          <p:cNvPr id="9" name="Shape 5"/>
          <p:cNvSpPr/>
          <p:nvPr/>
        </p:nvSpPr>
        <p:spPr>
          <a:xfrm>
            <a:off x="548640" y="5303520"/>
            <a:ext cx="3017520" cy="502920"/>
          </a:xfrm>
          <a:prstGeom prst="roundRect">
            <a:avLst>
              <a:gd name="adj" fmla="val 49091"/>
            </a:avLst>
          </a:prstGeom>
          <a:solidFill>
            <a:srgbClr val="1D4F47"/>
          </a:solidFill>
          <a:ln w="12700">
            <a:solidFill>
              <a:srgbClr val="1D4F47"/>
            </a:solidFill>
            <a:prstDash val="solid"/>
          </a:ln>
        </p:spPr>
      </p:sp>
      <p:sp>
        <p:nvSpPr>
          <p:cNvPr id="10" name="Text 6"/>
          <p:cNvSpPr txBox="1"/>
          <p:nvPr/>
        </p:nvSpPr>
        <p:spPr>
          <a:xfrm>
            <a:off x="548640" y="5303520"/>
            <a:ext cx="30175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Approx. 156 minutes</a:t>
            </a:r>
            <a:endParaRPr lang="en-US" sz="1400" dirty="0"/>
          </a:p>
        </p:txBody>
      </p:sp>
      <p:sp>
        <p:nvSpPr>
          <p:cNvPr id="11" name="Text 7"/>
          <p:cNvSpPr txBox="1"/>
          <p:nvPr/>
        </p:nvSpPr>
        <p:spPr>
          <a:xfrm>
            <a:off x="3749040" y="5303520"/>
            <a:ext cx="4206240" cy="502920"/>
          </a:xfrm>
          <a:prstGeom prst="rect">
            <a:avLst/>
          </a:prstGeom>
          <a:noFill/>
          <a:ln/>
        </p:spPr>
        <p:txBody>
          <a:bodyPr wrap="square" lIns="0" tIns="0" rIns="0" bIns="0" rtlCol="0" anchor="ctr"/>
          <a:lstStyle/>
          <a:p>
            <a:pPr indent="0" marL="0">
              <a:buNone/>
            </a:pPr>
            <a:r>
              <a:rPr lang="en-US" sz="1200" dirty="0">
                <a:solidFill>
                  <a:srgbClr val="C9DEDA"/>
                </a:solidFill>
                <a:latin typeface="Calibri" pitchFamily="34" charset="0"/>
                <a:ea typeface="Calibri" pitchFamily="34" charset="-122"/>
                <a:cs typeface="Calibri" pitchFamily="34" charset="-120"/>
              </a:rPr>
              <a:t>Appendix B: Advanced Care Planning; Decision-Making Capacity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Learning Objectives</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By the end of this module, you will be able to:</a:t>
            </a:r>
            <a:endParaRPr lang="en-US" sz="1600" dirty="0"/>
          </a:p>
        </p:txBody>
      </p:sp>
      <p:sp>
        <p:nvSpPr>
          <p:cNvPr id="4" name="Shape 2"/>
          <p:cNvSpPr/>
          <p:nvPr/>
        </p:nvSpPr>
        <p:spPr>
          <a:xfrm>
            <a:off x="548640" y="1965960"/>
            <a:ext cx="457200" cy="457200"/>
          </a:xfrm>
          <a:prstGeom prst="ellipse">
            <a:avLst/>
          </a:prstGeom>
          <a:solidFill>
            <a:srgbClr val="C78F2E"/>
          </a:solidFill>
          <a:ln w="12700">
            <a:solidFill>
              <a:srgbClr val="C78F2E"/>
            </a:solidFill>
            <a:prstDash val="solid"/>
          </a:ln>
        </p:spPr>
      </p:sp>
      <p:sp>
        <p:nvSpPr>
          <p:cNvPr id="5" name="Text 3"/>
          <p:cNvSpPr txBox="1"/>
          <p:nvPr/>
        </p:nvSpPr>
        <p:spPr>
          <a:xfrm>
            <a:off x="548640" y="19659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34440" y="18288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Explain why advance care planning should begin early in dementia</a:t>
            </a:r>
            <a:endParaRPr lang="en-US" sz="1700" dirty="0"/>
          </a:p>
        </p:txBody>
      </p:sp>
      <p:sp>
        <p:nvSpPr>
          <p:cNvPr id="7" name="Shape 5"/>
          <p:cNvSpPr/>
          <p:nvPr/>
        </p:nvSpPr>
        <p:spPr>
          <a:xfrm>
            <a:off x="548640" y="2697480"/>
            <a:ext cx="457200" cy="457200"/>
          </a:xfrm>
          <a:prstGeom prst="ellipse">
            <a:avLst/>
          </a:prstGeom>
          <a:solidFill>
            <a:srgbClr val="C78F2E"/>
          </a:solidFill>
          <a:ln w="12700">
            <a:solidFill>
              <a:srgbClr val="C78F2E"/>
            </a:solidFill>
            <a:prstDash val="solid"/>
          </a:ln>
        </p:spPr>
      </p:sp>
      <p:sp>
        <p:nvSpPr>
          <p:cNvPr id="8" name="Text 6"/>
          <p:cNvSpPr txBox="1"/>
          <p:nvPr/>
        </p:nvSpPr>
        <p:spPr>
          <a:xfrm>
            <a:off x="548640" y="2697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1234440" y="256032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Describe advance directives, health care surrogates, and POLST-type orders</a:t>
            </a:r>
            <a:endParaRPr lang="en-US" sz="1700" dirty="0"/>
          </a:p>
        </p:txBody>
      </p:sp>
      <p:sp>
        <p:nvSpPr>
          <p:cNvPr id="10" name="Shape 8"/>
          <p:cNvSpPr/>
          <p:nvPr/>
        </p:nvSpPr>
        <p:spPr>
          <a:xfrm>
            <a:off x="548640" y="3429000"/>
            <a:ext cx="457200" cy="457200"/>
          </a:xfrm>
          <a:prstGeom prst="ellipse">
            <a:avLst/>
          </a:prstGeom>
          <a:solidFill>
            <a:srgbClr val="C78F2E"/>
          </a:solidFill>
          <a:ln w="12700">
            <a:solidFill>
              <a:srgbClr val="C78F2E"/>
            </a:solidFill>
            <a:prstDash val="solid"/>
          </a:ln>
        </p:spPr>
      </p:sp>
      <p:sp>
        <p:nvSpPr>
          <p:cNvPr id="11" name="Text 9"/>
          <p:cNvSpPr txBox="1"/>
          <p:nvPr/>
        </p:nvSpPr>
        <p:spPr>
          <a:xfrm>
            <a:off x="548640" y="3429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1234440" y="329184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Assist beneficiaries and caregivers through the advance care planning process</a:t>
            </a:r>
            <a:endParaRPr lang="en-US" sz="1700" dirty="0"/>
          </a:p>
        </p:txBody>
      </p:sp>
      <p:sp>
        <p:nvSpPr>
          <p:cNvPr id="13" name="Shape 11"/>
          <p:cNvSpPr/>
          <p:nvPr/>
        </p:nvSpPr>
        <p:spPr>
          <a:xfrm>
            <a:off x="548640" y="4160520"/>
            <a:ext cx="457200" cy="457200"/>
          </a:xfrm>
          <a:prstGeom prst="ellipse">
            <a:avLst/>
          </a:prstGeom>
          <a:solidFill>
            <a:srgbClr val="C78F2E"/>
          </a:solidFill>
          <a:ln w="12700">
            <a:solidFill>
              <a:srgbClr val="C78F2E"/>
            </a:solidFill>
            <a:prstDash val="solid"/>
          </a:ln>
        </p:spPr>
      </p:sp>
      <p:sp>
        <p:nvSpPr>
          <p:cNvPr id="14" name="Text 12"/>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1234440" y="402336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Define capacity for medical decision-making</a:t>
            </a:r>
            <a:endParaRPr lang="en-US" sz="1700" dirty="0"/>
          </a:p>
        </p:txBody>
      </p:sp>
      <p:sp>
        <p:nvSpPr>
          <p:cNvPr id="16" name="Shape 14"/>
          <p:cNvSpPr/>
          <p:nvPr/>
        </p:nvSpPr>
        <p:spPr>
          <a:xfrm>
            <a:off x="548640" y="4892040"/>
            <a:ext cx="457200" cy="457200"/>
          </a:xfrm>
          <a:prstGeom prst="ellipse">
            <a:avLst/>
          </a:prstGeom>
          <a:solidFill>
            <a:srgbClr val="C78F2E"/>
          </a:solidFill>
          <a:ln w="12700">
            <a:solidFill>
              <a:srgbClr val="C78F2E"/>
            </a:solidFill>
            <a:prstDash val="solid"/>
          </a:ln>
        </p:spPr>
      </p:sp>
      <p:sp>
        <p:nvSpPr>
          <p:cNvPr id="17" name="Text 15"/>
          <p:cNvSpPr txBox="1"/>
          <p:nvPr/>
        </p:nvSpPr>
        <p:spPr>
          <a:xfrm>
            <a:off x="548640"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18" name="Text 16"/>
          <p:cNvSpPr txBox="1"/>
          <p:nvPr/>
        </p:nvSpPr>
        <p:spPr>
          <a:xfrm>
            <a:off x="1234440" y="475488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Explain what happens when a beneficiary lacks capacity</a:t>
            </a:r>
            <a:endParaRPr lang="en-US" sz="1700" dirty="0"/>
          </a:p>
        </p:txBody>
      </p:sp>
      <p:sp>
        <p:nvSpPr>
          <p:cNvPr id="19" name="Shape 17"/>
          <p:cNvSpPr/>
          <p:nvPr/>
        </p:nvSpPr>
        <p:spPr>
          <a:xfrm>
            <a:off x="548640" y="5623560"/>
            <a:ext cx="457200" cy="457200"/>
          </a:xfrm>
          <a:prstGeom prst="ellipse">
            <a:avLst/>
          </a:prstGeom>
          <a:solidFill>
            <a:srgbClr val="C78F2E"/>
          </a:solidFill>
          <a:ln w="12700">
            <a:solidFill>
              <a:srgbClr val="C78F2E"/>
            </a:solidFill>
            <a:prstDash val="solid"/>
          </a:ln>
        </p:spPr>
      </p:sp>
      <p:sp>
        <p:nvSpPr>
          <p:cNvPr id="20" name="Text 18"/>
          <p:cNvSpPr txBox="1"/>
          <p:nvPr/>
        </p:nvSpPr>
        <p:spPr>
          <a:xfrm>
            <a:off x="548640" y="56235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1" name="Text 19"/>
          <p:cNvSpPr txBox="1"/>
          <p:nvPr/>
        </p:nvSpPr>
        <p:spPr>
          <a:xfrm>
            <a:off x="1234440" y="5486400"/>
            <a:ext cx="10362895" cy="73152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Apply supported decision-making strategies</a:t>
            </a:r>
            <a:endParaRPr lang="en-US" sz="1700" dirty="0"/>
          </a:p>
        </p:txBody>
      </p:sp>
      <p:pic>
        <p:nvPicPr>
          <p:cNvPr id="22"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3" name="Text 20"/>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24" name="Text 21"/>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Module Agenda</a:t>
            </a:r>
            <a:endParaRPr lang="en-US" sz="3000" dirty="0"/>
          </a:p>
        </p:txBody>
      </p:sp>
      <p:sp>
        <p:nvSpPr>
          <p:cNvPr id="3" name="Shape 1"/>
          <p:cNvSpPr/>
          <p:nvPr/>
        </p:nvSpPr>
        <p:spPr>
          <a:xfrm>
            <a:off x="548640" y="1417320"/>
            <a:ext cx="8076895" cy="777240"/>
          </a:xfrm>
          <a:prstGeom prst="rect">
            <a:avLst/>
          </a:prstGeom>
          <a:solidFill>
            <a:srgbClr val="E8F1EF"/>
          </a:solidFill>
          <a:ln w="12700">
            <a:solidFill>
              <a:srgbClr val="E8F1EF"/>
            </a:solidFill>
            <a:prstDash val="solid"/>
          </a:ln>
        </p:spPr>
      </p:sp>
      <p:sp>
        <p:nvSpPr>
          <p:cNvPr id="4" name="Text 2"/>
          <p:cNvSpPr txBox="1"/>
          <p:nvPr/>
        </p:nvSpPr>
        <p:spPr>
          <a:xfrm>
            <a:off x="822960" y="141732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Welcome, objectives &amp; agenda</a:t>
            </a:r>
            <a:endParaRPr lang="en-US" sz="1700" dirty="0"/>
          </a:p>
        </p:txBody>
      </p:sp>
      <p:sp>
        <p:nvSpPr>
          <p:cNvPr id="5" name="Text 3"/>
          <p:cNvSpPr txBox="1"/>
          <p:nvPr/>
        </p:nvSpPr>
        <p:spPr>
          <a:xfrm>
            <a:off x="6888175" y="141732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7 min</a:t>
            </a:r>
            <a:endParaRPr lang="en-US" sz="1600" dirty="0"/>
          </a:p>
        </p:txBody>
      </p:sp>
      <p:sp>
        <p:nvSpPr>
          <p:cNvPr id="6" name="Text 4"/>
          <p:cNvSpPr txBox="1"/>
          <p:nvPr/>
        </p:nvSpPr>
        <p:spPr>
          <a:xfrm>
            <a:off x="822960" y="219456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Advance Care Planning</a:t>
            </a:r>
            <a:endParaRPr lang="en-US" sz="1700" dirty="0"/>
          </a:p>
        </p:txBody>
      </p:sp>
      <p:sp>
        <p:nvSpPr>
          <p:cNvPr id="7" name="Text 5"/>
          <p:cNvSpPr txBox="1"/>
          <p:nvPr/>
        </p:nvSpPr>
        <p:spPr>
          <a:xfrm>
            <a:off x="6888175" y="219456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78 min</a:t>
            </a:r>
            <a:endParaRPr lang="en-US" sz="1600" dirty="0"/>
          </a:p>
        </p:txBody>
      </p:sp>
      <p:sp>
        <p:nvSpPr>
          <p:cNvPr id="8" name="Shape 6"/>
          <p:cNvSpPr/>
          <p:nvPr/>
        </p:nvSpPr>
        <p:spPr>
          <a:xfrm>
            <a:off x="548640" y="2971800"/>
            <a:ext cx="8076895" cy="777240"/>
          </a:xfrm>
          <a:prstGeom prst="rect">
            <a:avLst/>
          </a:prstGeom>
          <a:solidFill>
            <a:srgbClr val="E8F1EF"/>
          </a:solidFill>
          <a:ln w="12700">
            <a:solidFill>
              <a:srgbClr val="E8F1EF"/>
            </a:solidFill>
            <a:prstDash val="solid"/>
          </a:ln>
        </p:spPr>
      </p:sp>
      <p:sp>
        <p:nvSpPr>
          <p:cNvPr id="9" name="Text 7"/>
          <p:cNvSpPr txBox="1"/>
          <p:nvPr/>
        </p:nvSpPr>
        <p:spPr>
          <a:xfrm>
            <a:off x="822960" y="297180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Decision-Making Capacity</a:t>
            </a:r>
            <a:endParaRPr lang="en-US" sz="1700" dirty="0"/>
          </a:p>
        </p:txBody>
      </p:sp>
      <p:sp>
        <p:nvSpPr>
          <p:cNvPr id="10" name="Text 8"/>
          <p:cNvSpPr txBox="1"/>
          <p:nvPr/>
        </p:nvSpPr>
        <p:spPr>
          <a:xfrm>
            <a:off x="6888175" y="297180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54 min</a:t>
            </a:r>
            <a:endParaRPr lang="en-US" sz="1600" dirty="0"/>
          </a:p>
        </p:txBody>
      </p:sp>
      <p:sp>
        <p:nvSpPr>
          <p:cNvPr id="11" name="Text 9"/>
          <p:cNvSpPr txBox="1"/>
          <p:nvPr/>
        </p:nvSpPr>
        <p:spPr>
          <a:xfrm>
            <a:off x="822960" y="3749040"/>
            <a:ext cx="6065215" cy="77724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Knowledge check, takeaways &amp; resources</a:t>
            </a:r>
            <a:endParaRPr lang="en-US" sz="1700" dirty="0"/>
          </a:p>
        </p:txBody>
      </p:sp>
      <p:sp>
        <p:nvSpPr>
          <p:cNvPr id="12" name="Text 10"/>
          <p:cNvSpPr txBox="1"/>
          <p:nvPr/>
        </p:nvSpPr>
        <p:spPr>
          <a:xfrm>
            <a:off x="6888175" y="3749040"/>
            <a:ext cx="1508760" cy="777240"/>
          </a:xfrm>
          <a:prstGeom prst="rect">
            <a:avLst/>
          </a:prstGeom>
          <a:noFill/>
          <a:ln/>
        </p:spPr>
        <p:txBody>
          <a:bodyPr wrap="square" lIns="0" tIns="0" rIns="0" bIns="0" rtlCol="0" anchor="ctr"/>
          <a:lstStyle/>
          <a:p>
            <a:pPr algn="r" indent="0" marL="0">
              <a:buNone/>
            </a:pPr>
            <a:r>
              <a:rPr lang="en-US" sz="1600" b="1" dirty="0">
                <a:solidFill>
                  <a:srgbClr val="C78F2E"/>
                </a:solidFill>
                <a:latin typeface="Calibri" pitchFamily="34" charset="0"/>
                <a:ea typeface="Calibri" pitchFamily="34" charset="-122"/>
                <a:cs typeface="Calibri" pitchFamily="34" charset="-120"/>
              </a:rPr>
              <a:t>17 min</a:t>
            </a:r>
            <a:endParaRPr lang="en-US" sz="1600" dirty="0"/>
          </a:p>
        </p:txBody>
      </p:sp>
      <p:sp>
        <p:nvSpPr>
          <p:cNvPr id="13" name="Text 11"/>
          <p:cNvSpPr txBox="1"/>
          <p:nvPr/>
        </p:nvSpPr>
        <p:spPr>
          <a:xfrm>
            <a:off x="822960" y="4663440"/>
            <a:ext cx="7802575" cy="411480"/>
          </a:xfrm>
          <a:prstGeom prst="rect">
            <a:avLst/>
          </a:prstGeom>
          <a:noFill/>
          <a:ln/>
        </p:spPr>
        <p:txBody>
          <a:bodyPr wrap="square" lIns="0" tIns="0" rIns="0" bIns="0" rtlCol="0" anchor="ctr"/>
          <a:lstStyle/>
          <a:p>
            <a:pPr indent="0" marL="0">
              <a:buNone/>
            </a:pPr>
            <a:r>
              <a:rPr lang="en-US" sz="1500" i="1" dirty="0">
                <a:solidFill>
                  <a:srgbClr val="5E6B68"/>
                </a:solidFill>
                <a:latin typeface="Calibri" pitchFamily="34" charset="0"/>
                <a:ea typeface="Calibri" pitchFamily="34" charset="-122"/>
                <a:cs typeface="Calibri" pitchFamily="34" charset="-120"/>
              </a:rPr>
              <a:t>Total: 156 minutes (about 2.6 hours)</a:t>
            </a:r>
            <a:endParaRPr lang="en-US" sz="1500" dirty="0"/>
          </a:p>
        </p:txBody>
      </p:sp>
      <p:pic>
        <p:nvPicPr>
          <p:cNvPr id="14" name="Image 0" descr="preencoded.png">    </p:cNvPr>
          <p:cNvPicPr>
            <a:picLocks noChangeAspect="1"/>
          </p:cNvPicPr>
          <p:nvPr/>
        </p:nvPicPr>
        <p:blipFill>
          <a:blip r:embed="rId1"/>
          <a:stretch>
            <a:fillRect/>
          </a:stretch>
        </p:blipFill>
        <p:spPr>
          <a:xfrm>
            <a:off x="9128455" y="1371600"/>
            <a:ext cx="2514600" cy="3182112"/>
          </a:xfrm>
          <a:prstGeom prst="rect">
            <a:avLst/>
          </a:prstGeom>
        </p:spPr>
      </p:pic>
      <p:pic>
        <p:nvPicPr>
          <p:cNvPr id="1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6" name="Text 1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17" name="Text 1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01</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Advance Care Planning</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Planning while the person can still take part</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5</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Why Plan Early in Dementia?</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The window closes: </a:t>
            </a:r>
            <a:r>
              <a:rPr lang="en-US" sz="1800" dirty="0">
                <a:solidFill>
                  <a:srgbClr val="24302D"/>
                </a:solidFill>
                <a:latin typeface="Calibri" pitchFamily="34" charset="0"/>
                <a:ea typeface="Calibri" pitchFamily="34" charset="-122"/>
                <a:cs typeface="Calibri" pitchFamily="34" charset="-120"/>
              </a:rPr>
              <a:t>dementia gradually takes away the ability to make and express complex decisions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Plans reflect the person's own values </a:t>
            </a:r>
            <a:r>
              <a:rPr lang="en-US" sz="1800" dirty="0">
                <a:solidFill>
                  <a:srgbClr val="24302D"/>
                </a:solidFill>
                <a:latin typeface="Calibri" pitchFamily="34" charset="0"/>
                <a:ea typeface="Calibri" pitchFamily="34" charset="-122"/>
                <a:cs typeface="Calibri" pitchFamily="34" charset="-120"/>
              </a:rPr>
              <a:t>rather than guesses made in a crisis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Families feel less guilt and conflict </a:t>
            </a:r>
            <a:r>
              <a:rPr lang="en-US" sz="1800" dirty="0">
                <a:solidFill>
                  <a:srgbClr val="24302D"/>
                </a:solidFill>
                <a:latin typeface="Calibri" pitchFamily="34" charset="0"/>
                <a:ea typeface="Calibri" pitchFamily="34" charset="-122"/>
                <a:cs typeface="Calibri" pitchFamily="34" charset="-120"/>
              </a:rPr>
              <a:t>when they know what their loved one wanted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Care aligns with goals: </a:t>
            </a:r>
            <a:r>
              <a:rPr lang="en-US" sz="1800" dirty="0">
                <a:solidFill>
                  <a:srgbClr val="24302D"/>
                </a:solidFill>
                <a:latin typeface="Calibri" pitchFamily="34" charset="0"/>
                <a:ea typeface="Calibri" pitchFamily="34" charset="-122"/>
                <a:cs typeface="Calibri" pitchFamily="34" charset="-120"/>
              </a:rPr>
              <a:t>fewer unwanted hospitalizations and treatments near the end of life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Planning is ongoing, </a:t>
            </a:r>
            <a:r>
              <a:rPr lang="en-US" sz="1800" dirty="0">
                <a:solidFill>
                  <a:srgbClr val="24302D"/>
                </a:solidFill>
                <a:latin typeface="Calibri" pitchFamily="34" charset="0"/>
                <a:ea typeface="Calibri" pitchFamily="34" charset="-122"/>
                <a:cs typeface="Calibri" pitchFamily="34" charset="-120"/>
              </a:rPr>
              <a:t>not a single form — revisit as the disease progresses</a:t>
            </a:r>
            <a:endParaRPr lang="en-US" sz="1800" dirty="0"/>
          </a:p>
        </p:txBody>
      </p:sp>
      <p:sp>
        <p:nvSpPr>
          <p:cNvPr id="4" name="Shape 2"/>
          <p:cNvSpPr/>
          <p:nvPr/>
        </p:nvSpPr>
        <p:spPr>
          <a:xfrm>
            <a:off x="7589520" y="1417320"/>
            <a:ext cx="4053535" cy="3149600"/>
          </a:xfrm>
          <a:prstGeom prst="roundRect">
            <a:avLst>
              <a:gd name="adj" fmla="val 348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Advance care planning is…</a:t>
            </a:r>
            <a:endParaRPr lang="en-US" sz="1800" dirty="0"/>
          </a:p>
        </p:txBody>
      </p:sp>
      <p:sp>
        <p:nvSpPr>
          <p:cNvPr id="7" name="Text 4"/>
          <p:cNvSpPr txBox="1"/>
          <p:nvPr/>
        </p:nvSpPr>
        <p:spPr>
          <a:xfrm>
            <a:off x="7863840" y="2423160"/>
            <a:ext cx="3504895" cy="205232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A process of understanding, reflecting on, and discussing future medical care — and documenting those wishes and who should speak for the person.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Key Documents and Terms</a:t>
            </a:r>
            <a:endParaRPr lang="en-US" sz="3000" dirty="0"/>
          </a:p>
        </p:txBody>
      </p:sp>
      <p:sp>
        <p:nvSpPr>
          <p:cNvPr id="3" name="Shape 1"/>
          <p:cNvSpPr/>
          <p:nvPr/>
        </p:nvSpPr>
        <p:spPr>
          <a:xfrm>
            <a:off x="548640" y="1417320"/>
            <a:ext cx="3515258" cy="2217420"/>
          </a:xfrm>
          <a:prstGeom prst="roundRect">
            <a:avLst>
              <a:gd name="adj" fmla="val 4948"/>
            </a:avLst>
          </a:prstGeom>
          <a:solidFill>
            <a:srgbClr val="E8F1EF"/>
          </a:solidFill>
          <a:ln w="12700">
            <a:solidFill>
              <a:srgbClr val="E8F1EF"/>
            </a:solidFill>
            <a:prstDash val="solid"/>
          </a:ln>
        </p:spPr>
      </p:sp>
      <p:pic>
        <p:nvPicPr>
          <p:cNvPr id="4" name="Image 0" descr="preencoded.png">    </p:cNvPr>
          <p:cNvPicPr>
            <a:picLocks noChangeAspect="1"/>
          </p:cNvPicPr>
          <p:nvPr/>
        </p:nvPicPr>
        <p:blipFill>
          <a:blip r:embed="rId1"/>
          <a:stretch>
            <a:fillRect/>
          </a:stretch>
        </p:blipFill>
        <p:spPr>
          <a:xfrm>
            <a:off x="749808" y="1618488"/>
            <a:ext cx="420624" cy="420624"/>
          </a:xfrm>
          <a:prstGeom prst="rect">
            <a:avLst/>
          </a:prstGeom>
        </p:spPr>
      </p:pic>
      <p:sp>
        <p:nvSpPr>
          <p:cNvPr id="5" name="Text 2"/>
          <p:cNvSpPr txBox="1"/>
          <p:nvPr/>
        </p:nvSpPr>
        <p:spPr>
          <a:xfrm>
            <a:off x="1298448"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Advance Directive</a:t>
            </a:r>
            <a:endParaRPr lang="en-US" sz="1700" dirty="0"/>
          </a:p>
        </p:txBody>
      </p:sp>
      <p:sp>
        <p:nvSpPr>
          <p:cNvPr id="6" name="Text 3"/>
          <p:cNvSpPr txBox="1"/>
          <p:nvPr/>
        </p:nvSpPr>
        <p:spPr>
          <a:xfrm>
            <a:off x="768096"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Umbrella term for legal documents stating health care wishes and naming a decision-maker.</a:t>
            </a:r>
            <a:endParaRPr lang="en-US" sz="1650" dirty="0"/>
          </a:p>
        </p:txBody>
      </p:sp>
      <p:sp>
        <p:nvSpPr>
          <p:cNvPr id="7" name="Shape 4"/>
          <p:cNvSpPr/>
          <p:nvPr/>
        </p:nvSpPr>
        <p:spPr>
          <a:xfrm>
            <a:off x="4338218" y="1417320"/>
            <a:ext cx="3515258" cy="2217420"/>
          </a:xfrm>
          <a:prstGeom prst="roundRect">
            <a:avLst>
              <a:gd name="adj" fmla="val 4948"/>
            </a:avLst>
          </a:prstGeom>
          <a:solidFill>
            <a:srgbClr val="E8F1EF"/>
          </a:solidFill>
          <a:ln w="12700">
            <a:solidFill>
              <a:srgbClr val="E8F1EF"/>
            </a:solidFill>
            <a:prstDash val="solid"/>
          </a:ln>
        </p:spPr>
      </p:sp>
      <p:pic>
        <p:nvPicPr>
          <p:cNvPr id="8" name="Image 1" descr="preencoded.png">    </p:cNvPr>
          <p:cNvPicPr>
            <a:picLocks noChangeAspect="1"/>
          </p:cNvPicPr>
          <p:nvPr/>
        </p:nvPicPr>
        <p:blipFill>
          <a:blip r:embed="rId2"/>
          <a:stretch>
            <a:fillRect/>
          </a:stretch>
        </p:blipFill>
        <p:spPr>
          <a:xfrm>
            <a:off x="4539386" y="1618488"/>
            <a:ext cx="420624" cy="420624"/>
          </a:xfrm>
          <a:prstGeom prst="rect">
            <a:avLst/>
          </a:prstGeom>
        </p:spPr>
      </p:pic>
      <p:sp>
        <p:nvSpPr>
          <p:cNvPr id="9" name="Text 5"/>
          <p:cNvSpPr txBox="1"/>
          <p:nvPr/>
        </p:nvSpPr>
        <p:spPr>
          <a:xfrm>
            <a:off x="5088026"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Living Will</a:t>
            </a:r>
            <a:endParaRPr lang="en-US" sz="1700" dirty="0"/>
          </a:p>
        </p:txBody>
      </p:sp>
      <p:sp>
        <p:nvSpPr>
          <p:cNvPr id="10" name="Text 6"/>
          <p:cNvSpPr txBox="1"/>
          <p:nvPr/>
        </p:nvSpPr>
        <p:spPr>
          <a:xfrm>
            <a:off x="4557674"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States wishes about life-prolonging treatment if the person is terminally ill or permanently unconscious.</a:t>
            </a:r>
            <a:endParaRPr lang="en-US" sz="1650" dirty="0"/>
          </a:p>
        </p:txBody>
      </p:sp>
      <p:sp>
        <p:nvSpPr>
          <p:cNvPr id="11" name="Shape 7"/>
          <p:cNvSpPr/>
          <p:nvPr/>
        </p:nvSpPr>
        <p:spPr>
          <a:xfrm>
            <a:off x="8127797" y="1417320"/>
            <a:ext cx="3515258" cy="2217420"/>
          </a:xfrm>
          <a:prstGeom prst="roundRect">
            <a:avLst>
              <a:gd name="adj" fmla="val 4948"/>
            </a:avLst>
          </a:prstGeom>
          <a:solidFill>
            <a:srgbClr val="E8F1EF"/>
          </a:solidFill>
          <a:ln w="12700">
            <a:solidFill>
              <a:srgbClr val="E8F1EF"/>
            </a:solidFill>
            <a:prstDash val="solid"/>
          </a:ln>
        </p:spPr>
      </p:sp>
      <p:pic>
        <p:nvPicPr>
          <p:cNvPr id="12" name="Image 2" descr="preencoded.png">    </p:cNvPr>
          <p:cNvPicPr>
            <a:picLocks noChangeAspect="1"/>
          </p:cNvPicPr>
          <p:nvPr/>
        </p:nvPicPr>
        <p:blipFill>
          <a:blip r:embed="rId3"/>
          <a:stretch>
            <a:fillRect/>
          </a:stretch>
        </p:blipFill>
        <p:spPr>
          <a:xfrm>
            <a:off x="8328965" y="1618488"/>
            <a:ext cx="420624" cy="420624"/>
          </a:xfrm>
          <a:prstGeom prst="rect">
            <a:avLst/>
          </a:prstGeom>
        </p:spPr>
      </p:pic>
      <p:sp>
        <p:nvSpPr>
          <p:cNvPr id="13" name="Text 8"/>
          <p:cNvSpPr txBox="1"/>
          <p:nvPr/>
        </p:nvSpPr>
        <p:spPr>
          <a:xfrm>
            <a:off x="8877605" y="157276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Health Care Surrogate / POA</a:t>
            </a:r>
            <a:endParaRPr lang="en-US" sz="1700" dirty="0"/>
          </a:p>
        </p:txBody>
      </p:sp>
      <p:sp>
        <p:nvSpPr>
          <p:cNvPr id="14" name="Text 9"/>
          <p:cNvSpPr txBox="1"/>
          <p:nvPr/>
        </p:nvSpPr>
        <p:spPr>
          <a:xfrm>
            <a:off x="8347253" y="219456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Names a person to make health care decisions if the person cannot.</a:t>
            </a:r>
            <a:endParaRPr lang="en-US" sz="1650" dirty="0"/>
          </a:p>
        </p:txBody>
      </p:sp>
      <p:sp>
        <p:nvSpPr>
          <p:cNvPr id="15" name="Shape 10"/>
          <p:cNvSpPr/>
          <p:nvPr/>
        </p:nvSpPr>
        <p:spPr>
          <a:xfrm>
            <a:off x="548640" y="3909060"/>
            <a:ext cx="3515258" cy="2217420"/>
          </a:xfrm>
          <a:prstGeom prst="roundRect">
            <a:avLst>
              <a:gd name="adj" fmla="val 4948"/>
            </a:avLst>
          </a:prstGeom>
          <a:solidFill>
            <a:srgbClr val="E8F1EF"/>
          </a:solidFill>
          <a:ln w="12700">
            <a:solidFill>
              <a:srgbClr val="E8F1EF"/>
            </a:solidFill>
            <a:prstDash val="solid"/>
          </a:ln>
        </p:spPr>
      </p:sp>
      <p:pic>
        <p:nvPicPr>
          <p:cNvPr id="16" name="Image 3" descr="preencoded.png">    </p:cNvPr>
          <p:cNvPicPr>
            <a:picLocks noChangeAspect="1"/>
          </p:cNvPicPr>
          <p:nvPr/>
        </p:nvPicPr>
        <p:blipFill>
          <a:blip r:embed="rId4"/>
          <a:stretch>
            <a:fillRect/>
          </a:stretch>
        </p:blipFill>
        <p:spPr>
          <a:xfrm>
            <a:off x="749808" y="4110228"/>
            <a:ext cx="420624" cy="420624"/>
          </a:xfrm>
          <a:prstGeom prst="rect">
            <a:avLst/>
          </a:prstGeom>
        </p:spPr>
      </p:pic>
      <p:sp>
        <p:nvSpPr>
          <p:cNvPr id="17" name="Text 11"/>
          <p:cNvSpPr txBox="1"/>
          <p:nvPr/>
        </p:nvSpPr>
        <p:spPr>
          <a:xfrm>
            <a:off x="1298448"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Durable Financial POA</a:t>
            </a:r>
            <a:endParaRPr lang="en-US" sz="1700" dirty="0"/>
          </a:p>
        </p:txBody>
      </p:sp>
      <p:sp>
        <p:nvSpPr>
          <p:cNvPr id="18" name="Text 12"/>
          <p:cNvSpPr txBox="1"/>
          <p:nvPr/>
        </p:nvSpPr>
        <p:spPr>
          <a:xfrm>
            <a:off x="768096"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Names a person to manage finances. Separate from health care decisions.</a:t>
            </a:r>
            <a:endParaRPr lang="en-US" sz="1650" dirty="0"/>
          </a:p>
        </p:txBody>
      </p:sp>
      <p:sp>
        <p:nvSpPr>
          <p:cNvPr id="19" name="Shape 13"/>
          <p:cNvSpPr/>
          <p:nvPr/>
        </p:nvSpPr>
        <p:spPr>
          <a:xfrm>
            <a:off x="4338218" y="3909060"/>
            <a:ext cx="3515258" cy="2217420"/>
          </a:xfrm>
          <a:prstGeom prst="roundRect">
            <a:avLst>
              <a:gd name="adj" fmla="val 4948"/>
            </a:avLst>
          </a:prstGeom>
          <a:solidFill>
            <a:srgbClr val="E8F1EF"/>
          </a:solidFill>
          <a:ln w="12700">
            <a:solidFill>
              <a:srgbClr val="E8F1EF"/>
            </a:solidFill>
            <a:prstDash val="solid"/>
          </a:ln>
        </p:spPr>
      </p:sp>
      <p:pic>
        <p:nvPicPr>
          <p:cNvPr id="20" name="Image 4" descr="preencoded.png">    </p:cNvPr>
          <p:cNvPicPr>
            <a:picLocks noChangeAspect="1"/>
          </p:cNvPicPr>
          <p:nvPr/>
        </p:nvPicPr>
        <p:blipFill>
          <a:blip r:embed="rId5"/>
          <a:stretch>
            <a:fillRect/>
          </a:stretch>
        </p:blipFill>
        <p:spPr>
          <a:xfrm>
            <a:off x="4539386" y="4110228"/>
            <a:ext cx="420624" cy="420624"/>
          </a:xfrm>
          <a:prstGeom prst="rect">
            <a:avLst/>
          </a:prstGeom>
        </p:spPr>
      </p:pic>
      <p:sp>
        <p:nvSpPr>
          <p:cNvPr id="21" name="Text 14"/>
          <p:cNvSpPr txBox="1"/>
          <p:nvPr/>
        </p:nvSpPr>
        <p:spPr>
          <a:xfrm>
            <a:off x="5088026"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DNR Order</a:t>
            </a:r>
            <a:endParaRPr lang="en-US" sz="1700" dirty="0"/>
          </a:p>
        </p:txBody>
      </p:sp>
      <p:sp>
        <p:nvSpPr>
          <p:cNvPr id="22" name="Text 15"/>
          <p:cNvSpPr txBox="1"/>
          <p:nvPr/>
        </p:nvSpPr>
        <p:spPr>
          <a:xfrm>
            <a:off x="4557674"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A medical order not to attempt CPR. Signed by a physician (or authorized clinician).</a:t>
            </a:r>
            <a:endParaRPr lang="en-US" sz="1650" dirty="0"/>
          </a:p>
        </p:txBody>
      </p:sp>
      <p:sp>
        <p:nvSpPr>
          <p:cNvPr id="23" name="Shape 16"/>
          <p:cNvSpPr/>
          <p:nvPr/>
        </p:nvSpPr>
        <p:spPr>
          <a:xfrm>
            <a:off x="8127797" y="3909060"/>
            <a:ext cx="3515258" cy="2217420"/>
          </a:xfrm>
          <a:prstGeom prst="roundRect">
            <a:avLst>
              <a:gd name="adj" fmla="val 4948"/>
            </a:avLst>
          </a:prstGeom>
          <a:solidFill>
            <a:srgbClr val="E8F1EF"/>
          </a:solidFill>
          <a:ln w="12700">
            <a:solidFill>
              <a:srgbClr val="E8F1EF"/>
            </a:solidFill>
            <a:prstDash val="solid"/>
          </a:ln>
        </p:spPr>
      </p:sp>
      <p:pic>
        <p:nvPicPr>
          <p:cNvPr id="24" name="Image 5" descr="preencoded.png">    </p:cNvPr>
          <p:cNvPicPr>
            <a:picLocks noChangeAspect="1"/>
          </p:cNvPicPr>
          <p:nvPr/>
        </p:nvPicPr>
        <p:blipFill>
          <a:blip r:embed="rId6"/>
          <a:stretch>
            <a:fillRect/>
          </a:stretch>
        </p:blipFill>
        <p:spPr>
          <a:xfrm>
            <a:off x="8328965" y="4110228"/>
            <a:ext cx="420624" cy="420624"/>
          </a:xfrm>
          <a:prstGeom prst="rect">
            <a:avLst/>
          </a:prstGeom>
        </p:spPr>
      </p:pic>
      <p:sp>
        <p:nvSpPr>
          <p:cNvPr id="25" name="Text 17"/>
          <p:cNvSpPr txBox="1"/>
          <p:nvPr/>
        </p:nvSpPr>
        <p:spPr>
          <a:xfrm>
            <a:off x="8877605" y="4064508"/>
            <a:ext cx="260085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POLST</a:t>
            </a:r>
            <a:endParaRPr lang="en-US" sz="1700" dirty="0"/>
          </a:p>
        </p:txBody>
      </p:sp>
      <p:sp>
        <p:nvSpPr>
          <p:cNvPr id="26" name="Text 18"/>
          <p:cNvSpPr txBox="1"/>
          <p:nvPr/>
        </p:nvSpPr>
        <p:spPr>
          <a:xfrm>
            <a:off x="8347253" y="4686300"/>
            <a:ext cx="3094634" cy="1303020"/>
          </a:xfrm>
          <a:prstGeom prst="rect">
            <a:avLst/>
          </a:prstGeom>
          <a:noFill/>
          <a:ln/>
        </p:spPr>
        <p:txBody>
          <a:bodyPr wrap="square" lIns="0" tIns="0" rIns="0" bIns="0" rtlCol="0" anchor="t"/>
          <a:lstStyle/>
          <a:p>
            <a:pPr indent="0" marL="0">
              <a:buNone/>
            </a:pPr>
            <a:r>
              <a:rPr lang="en-US" sz="1650" dirty="0">
                <a:solidFill>
                  <a:srgbClr val="24302D"/>
                </a:solidFill>
                <a:latin typeface="Calibri" pitchFamily="34" charset="0"/>
                <a:ea typeface="Calibri" pitchFamily="34" charset="-122"/>
                <a:cs typeface="Calibri" pitchFamily="34" charset="-120"/>
              </a:rPr>
              <a:t>Portable medical orders for seriously ill people, reflecting current treatment wishes.</a:t>
            </a:r>
            <a:endParaRPr lang="en-US" sz="1650" dirty="0"/>
          </a:p>
        </p:txBody>
      </p:sp>
      <p:pic>
        <p:nvPicPr>
          <p:cNvPr id="27" name="Image 6" descr="preencoded.png">    </p:cNvPr>
          <p:cNvPicPr>
            <a:picLocks noChangeAspect="1"/>
          </p:cNvPicPr>
          <p:nvPr/>
        </p:nvPicPr>
        <p:blipFill>
          <a:blip r:embed="rId7"/>
          <a:stretch>
            <a:fillRect/>
          </a:stretch>
        </p:blipFill>
        <p:spPr>
          <a:xfrm>
            <a:off x="548640" y="6309360"/>
            <a:ext cx="874762" cy="365760"/>
          </a:xfrm>
          <a:prstGeom prst="rect">
            <a:avLst/>
          </a:prstGeom>
        </p:spPr>
      </p:pic>
      <p:sp>
        <p:nvSpPr>
          <p:cNvPr id="28" name="Text 1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29" name="Text 2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Myths About Advance Care Planning</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Myth</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Fact</a:t>
            </a:r>
            <a:endParaRPr lang="en-US" sz="1800" dirty="0"/>
          </a:p>
        </p:txBody>
      </p:sp>
      <p:sp>
        <p:nvSpPr>
          <p:cNvPr id="7" name="Shape 5"/>
          <p:cNvSpPr/>
          <p:nvPr/>
        </p:nvSpPr>
        <p:spPr>
          <a:xfrm>
            <a:off x="548640" y="2075688"/>
            <a:ext cx="5166360" cy="696773"/>
          </a:xfrm>
          <a:prstGeom prst="roundRect">
            <a:avLst>
              <a:gd name="adj" fmla="val 15748"/>
            </a:avLst>
          </a:prstGeom>
          <a:solidFill>
            <a:srgbClr val="E8F1EF"/>
          </a:solidFill>
          <a:ln w="12700">
            <a:solidFill>
              <a:srgbClr val="E8F1EF"/>
            </a:solidFill>
            <a:prstDash val="solid"/>
          </a:ln>
        </p:spPr>
      </p:sp>
      <p:sp>
        <p:nvSpPr>
          <p:cNvPr id="8" name="Shape 6"/>
          <p:cNvSpPr/>
          <p:nvPr/>
        </p:nvSpPr>
        <p:spPr>
          <a:xfrm>
            <a:off x="6464808" y="2075688"/>
            <a:ext cx="5178247" cy="696773"/>
          </a:xfrm>
          <a:prstGeom prst="roundRect">
            <a:avLst>
              <a:gd name="adj" fmla="val 15748"/>
            </a:avLst>
          </a:prstGeom>
          <a:solidFill>
            <a:srgbClr val="F8EFDF"/>
          </a:solidFill>
          <a:ln w="12700">
            <a:solidFill>
              <a:srgbClr val="F8EFDF"/>
            </a:solidFill>
            <a:prstDash val="solid"/>
          </a:ln>
        </p:spPr>
      </p:sp>
      <p:sp>
        <p:nvSpPr>
          <p:cNvPr id="9" name="Text 7"/>
          <p:cNvSpPr txBox="1"/>
          <p:nvPr/>
        </p:nvSpPr>
        <p:spPr>
          <a:xfrm>
            <a:off x="777240" y="2075688"/>
            <a:ext cx="4709160"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"We only need this at the end of life."</a:t>
            </a:r>
            <a:endParaRPr lang="en-US" sz="1500" dirty="0"/>
          </a:p>
        </p:txBody>
      </p:sp>
      <p:sp>
        <p:nvSpPr>
          <p:cNvPr id="10" name="Text 8"/>
          <p:cNvSpPr txBox="1"/>
          <p:nvPr/>
        </p:nvSpPr>
        <p:spPr>
          <a:xfrm>
            <a:off x="6693408" y="2075688"/>
            <a:ext cx="4721047"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Planning early protects the person's voice while they can take part.</a:t>
            </a:r>
            <a:endParaRPr lang="en-US" sz="1500" dirty="0"/>
          </a:p>
        </p:txBody>
      </p:sp>
      <p:sp>
        <p:nvSpPr>
          <p:cNvPr id="11" name="Shape 9"/>
          <p:cNvSpPr/>
          <p:nvPr/>
        </p:nvSpPr>
        <p:spPr>
          <a:xfrm>
            <a:off x="5934456" y="2241194"/>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241194"/>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2918765"/>
            <a:ext cx="5166360" cy="696773"/>
          </a:xfrm>
          <a:prstGeom prst="roundRect">
            <a:avLst>
              <a:gd name="adj" fmla="val 15748"/>
            </a:avLst>
          </a:prstGeom>
          <a:solidFill>
            <a:srgbClr val="E8F1EF"/>
          </a:solidFill>
          <a:ln w="12700">
            <a:solidFill>
              <a:srgbClr val="E8F1EF"/>
            </a:solidFill>
            <a:prstDash val="solid"/>
          </a:ln>
        </p:spPr>
      </p:sp>
      <p:sp>
        <p:nvSpPr>
          <p:cNvPr id="14" name="Shape 12"/>
          <p:cNvSpPr/>
          <p:nvPr/>
        </p:nvSpPr>
        <p:spPr>
          <a:xfrm>
            <a:off x="6464808" y="2918765"/>
            <a:ext cx="5178247" cy="696773"/>
          </a:xfrm>
          <a:prstGeom prst="roundRect">
            <a:avLst>
              <a:gd name="adj" fmla="val 15748"/>
            </a:avLst>
          </a:prstGeom>
          <a:solidFill>
            <a:srgbClr val="F8EFDF"/>
          </a:solidFill>
          <a:ln w="12700">
            <a:solidFill>
              <a:srgbClr val="F8EFDF"/>
            </a:solidFill>
            <a:prstDash val="solid"/>
          </a:ln>
        </p:spPr>
      </p:sp>
      <p:sp>
        <p:nvSpPr>
          <p:cNvPr id="15" name="Text 13"/>
          <p:cNvSpPr txBox="1"/>
          <p:nvPr/>
        </p:nvSpPr>
        <p:spPr>
          <a:xfrm>
            <a:off x="777240" y="2918765"/>
            <a:ext cx="4709160"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"My family already knows what I want."</a:t>
            </a:r>
            <a:endParaRPr lang="en-US" sz="1500" dirty="0"/>
          </a:p>
        </p:txBody>
      </p:sp>
      <p:sp>
        <p:nvSpPr>
          <p:cNvPr id="16" name="Text 14"/>
          <p:cNvSpPr txBox="1"/>
          <p:nvPr/>
        </p:nvSpPr>
        <p:spPr>
          <a:xfrm>
            <a:off x="6693408" y="2918765"/>
            <a:ext cx="4721047"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Families often guess wrong — and disagree in a crisis.</a:t>
            </a:r>
            <a:endParaRPr lang="en-US" sz="1500" dirty="0"/>
          </a:p>
        </p:txBody>
      </p:sp>
      <p:sp>
        <p:nvSpPr>
          <p:cNvPr id="17" name="Shape 15"/>
          <p:cNvSpPr/>
          <p:nvPr/>
        </p:nvSpPr>
        <p:spPr>
          <a:xfrm>
            <a:off x="5934456" y="3084271"/>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3084271"/>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3761842"/>
            <a:ext cx="5166360" cy="696773"/>
          </a:xfrm>
          <a:prstGeom prst="roundRect">
            <a:avLst>
              <a:gd name="adj" fmla="val 15748"/>
            </a:avLst>
          </a:prstGeom>
          <a:solidFill>
            <a:srgbClr val="E8F1EF"/>
          </a:solidFill>
          <a:ln w="12700">
            <a:solidFill>
              <a:srgbClr val="E8F1EF"/>
            </a:solidFill>
            <a:prstDash val="solid"/>
          </a:ln>
        </p:spPr>
      </p:sp>
      <p:sp>
        <p:nvSpPr>
          <p:cNvPr id="20" name="Shape 18"/>
          <p:cNvSpPr/>
          <p:nvPr/>
        </p:nvSpPr>
        <p:spPr>
          <a:xfrm>
            <a:off x="6464808" y="3761842"/>
            <a:ext cx="5178247" cy="696773"/>
          </a:xfrm>
          <a:prstGeom prst="roundRect">
            <a:avLst>
              <a:gd name="adj" fmla="val 15748"/>
            </a:avLst>
          </a:prstGeom>
          <a:solidFill>
            <a:srgbClr val="F8EFDF"/>
          </a:solidFill>
          <a:ln w="12700">
            <a:solidFill>
              <a:srgbClr val="F8EFDF"/>
            </a:solidFill>
            <a:prstDash val="solid"/>
          </a:ln>
        </p:spPr>
      </p:sp>
      <p:sp>
        <p:nvSpPr>
          <p:cNvPr id="21" name="Text 19"/>
          <p:cNvSpPr txBox="1"/>
          <p:nvPr/>
        </p:nvSpPr>
        <p:spPr>
          <a:xfrm>
            <a:off x="777240" y="3761842"/>
            <a:ext cx="4709160"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"Signing a form means giving up on treatment."</a:t>
            </a:r>
            <a:endParaRPr lang="en-US" sz="1500" dirty="0"/>
          </a:p>
        </p:txBody>
      </p:sp>
      <p:sp>
        <p:nvSpPr>
          <p:cNvPr id="22" name="Text 20"/>
          <p:cNvSpPr txBox="1"/>
          <p:nvPr/>
        </p:nvSpPr>
        <p:spPr>
          <a:xfrm>
            <a:off x="6693408" y="3761842"/>
            <a:ext cx="4721047"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Plans can include wanting every treatment; it is about choice.</a:t>
            </a:r>
            <a:endParaRPr lang="en-US" sz="1500" dirty="0"/>
          </a:p>
        </p:txBody>
      </p:sp>
      <p:sp>
        <p:nvSpPr>
          <p:cNvPr id="23" name="Shape 21"/>
          <p:cNvSpPr/>
          <p:nvPr/>
        </p:nvSpPr>
        <p:spPr>
          <a:xfrm>
            <a:off x="5934456" y="3927348"/>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3927348"/>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4604918"/>
            <a:ext cx="5166360" cy="696773"/>
          </a:xfrm>
          <a:prstGeom prst="roundRect">
            <a:avLst>
              <a:gd name="adj" fmla="val 15748"/>
            </a:avLst>
          </a:prstGeom>
          <a:solidFill>
            <a:srgbClr val="E8F1EF"/>
          </a:solidFill>
          <a:ln w="12700">
            <a:solidFill>
              <a:srgbClr val="E8F1EF"/>
            </a:solidFill>
            <a:prstDash val="solid"/>
          </a:ln>
        </p:spPr>
      </p:sp>
      <p:sp>
        <p:nvSpPr>
          <p:cNvPr id="26" name="Shape 24"/>
          <p:cNvSpPr/>
          <p:nvPr/>
        </p:nvSpPr>
        <p:spPr>
          <a:xfrm>
            <a:off x="6464808" y="4604918"/>
            <a:ext cx="5178247" cy="696773"/>
          </a:xfrm>
          <a:prstGeom prst="roundRect">
            <a:avLst>
              <a:gd name="adj" fmla="val 15748"/>
            </a:avLst>
          </a:prstGeom>
          <a:solidFill>
            <a:srgbClr val="F8EFDF"/>
          </a:solidFill>
          <a:ln w="12700">
            <a:solidFill>
              <a:srgbClr val="F8EFDF"/>
            </a:solidFill>
            <a:prstDash val="solid"/>
          </a:ln>
        </p:spPr>
      </p:sp>
      <p:sp>
        <p:nvSpPr>
          <p:cNvPr id="27" name="Text 25"/>
          <p:cNvSpPr txBox="1"/>
          <p:nvPr/>
        </p:nvSpPr>
        <p:spPr>
          <a:xfrm>
            <a:off x="777240" y="4604918"/>
            <a:ext cx="4709160"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"Once it's signed, it can't be changed."</a:t>
            </a:r>
            <a:endParaRPr lang="en-US" sz="1500" dirty="0"/>
          </a:p>
        </p:txBody>
      </p:sp>
      <p:sp>
        <p:nvSpPr>
          <p:cNvPr id="28" name="Text 26"/>
          <p:cNvSpPr txBox="1"/>
          <p:nvPr/>
        </p:nvSpPr>
        <p:spPr>
          <a:xfrm>
            <a:off x="6693408" y="4604918"/>
            <a:ext cx="4721047"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Documents can be updated while the person has capacity.</a:t>
            </a:r>
            <a:endParaRPr lang="en-US" sz="1500" dirty="0"/>
          </a:p>
        </p:txBody>
      </p:sp>
      <p:sp>
        <p:nvSpPr>
          <p:cNvPr id="29" name="Shape 27"/>
          <p:cNvSpPr/>
          <p:nvPr/>
        </p:nvSpPr>
        <p:spPr>
          <a:xfrm>
            <a:off x="5934456" y="4770425"/>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4770425"/>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548640" y="5447995"/>
            <a:ext cx="5166360" cy="696773"/>
          </a:xfrm>
          <a:prstGeom prst="roundRect">
            <a:avLst>
              <a:gd name="adj" fmla="val 15748"/>
            </a:avLst>
          </a:prstGeom>
          <a:solidFill>
            <a:srgbClr val="E8F1EF"/>
          </a:solidFill>
          <a:ln w="12700">
            <a:solidFill>
              <a:srgbClr val="E8F1EF"/>
            </a:solidFill>
            <a:prstDash val="solid"/>
          </a:ln>
        </p:spPr>
      </p:sp>
      <p:sp>
        <p:nvSpPr>
          <p:cNvPr id="32" name="Shape 30"/>
          <p:cNvSpPr/>
          <p:nvPr/>
        </p:nvSpPr>
        <p:spPr>
          <a:xfrm>
            <a:off x="6464808" y="5447995"/>
            <a:ext cx="5178247" cy="696773"/>
          </a:xfrm>
          <a:prstGeom prst="roundRect">
            <a:avLst>
              <a:gd name="adj" fmla="val 15748"/>
            </a:avLst>
          </a:prstGeom>
          <a:solidFill>
            <a:srgbClr val="F8EFDF"/>
          </a:solidFill>
          <a:ln w="12700">
            <a:solidFill>
              <a:srgbClr val="F8EFDF"/>
            </a:solidFill>
            <a:prstDash val="solid"/>
          </a:ln>
        </p:spPr>
      </p:sp>
      <p:sp>
        <p:nvSpPr>
          <p:cNvPr id="33" name="Text 31"/>
          <p:cNvSpPr txBox="1"/>
          <p:nvPr/>
        </p:nvSpPr>
        <p:spPr>
          <a:xfrm>
            <a:off x="777240" y="5447995"/>
            <a:ext cx="4709160"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"My spouse can automatically make every decision."</a:t>
            </a:r>
            <a:endParaRPr lang="en-US" sz="1500" dirty="0"/>
          </a:p>
        </p:txBody>
      </p:sp>
      <p:sp>
        <p:nvSpPr>
          <p:cNvPr id="34" name="Text 32"/>
          <p:cNvSpPr txBox="1"/>
          <p:nvPr/>
        </p:nvSpPr>
        <p:spPr>
          <a:xfrm>
            <a:off x="6693408" y="5447995"/>
            <a:ext cx="4721047" cy="696773"/>
          </a:xfrm>
          <a:prstGeom prst="rect">
            <a:avLst/>
          </a:prstGeom>
          <a:noFill/>
          <a:ln/>
        </p:spPr>
        <p:txBody>
          <a:bodyPr wrap="square" lIns="0" tIns="0" rIns="0" bIns="0" rtlCol="0" anchor="ctr"/>
          <a:lstStyle/>
          <a:p>
            <a:pPr indent="0" marL="0">
              <a:buNone/>
            </a:pPr>
            <a:r>
              <a:rPr lang="en-US" sz="1500" dirty="0">
                <a:solidFill>
                  <a:srgbClr val="24302D"/>
                </a:solidFill>
                <a:latin typeface="Calibri" pitchFamily="34" charset="0"/>
                <a:ea typeface="Calibri" pitchFamily="34" charset="-122"/>
                <a:cs typeface="Calibri" pitchFamily="34" charset="-120"/>
              </a:rPr>
              <a:t>Authority depends on state law and documents — naming someone is safer.</a:t>
            </a:r>
            <a:endParaRPr lang="en-US" sz="1500" dirty="0"/>
          </a:p>
        </p:txBody>
      </p:sp>
      <p:sp>
        <p:nvSpPr>
          <p:cNvPr id="35" name="Shape 33"/>
          <p:cNvSpPr/>
          <p:nvPr/>
        </p:nvSpPr>
        <p:spPr>
          <a:xfrm>
            <a:off x="5934456" y="5613502"/>
            <a:ext cx="365760" cy="365760"/>
          </a:xfrm>
          <a:prstGeom prst="ellipse">
            <a:avLst/>
          </a:prstGeom>
          <a:solidFill>
            <a:srgbClr val="FFFFFF"/>
          </a:solidFill>
          <a:ln w="19050">
            <a:solidFill>
              <a:srgbClr val="C9DEDA"/>
            </a:solidFill>
            <a:prstDash val="solid"/>
          </a:ln>
        </p:spPr>
      </p:sp>
      <p:sp>
        <p:nvSpPr>
          <p:cNvPr id="36" name="Text 34"/>
          <p:cNvSpPr txBox="1"/>
          <p:nvPr/>
        </p:nvSpPr>
        <p:spPr>
          <a:xfrm>
            <a:off x="5934456" y="5613502"/>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37"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8" name="Text 3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39" name="Text 3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Advance Directive vs. POLST</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Advance Directive</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POLST / Portable Medical Orders</a:t>
            </a:r>
            <a:endParaRPr lang="en-US" sz="1800" dirty="0"/>
          </a:p>
        </p:txBody>
      </p:sp>
      <p:sp>
        <p:nvSpPr>
          <p:cNvPr id="7" name="Shape 5"/>
          <p:cNvSpPr/>
          <p:nvPr/>
        </p:nvSpPr>
        <p:spPr>
          <a:xfrm>
            <a:off x="548640" y="2075688"/>
            <a:ext cx="5166360" cy="696773"/>
          </a:xfrm>
          <a:prstGeom prst="roundRect">
            <a:avLst>
              <a:gd name="adj" fmla="val 15748"/>
            </a:avLst>
          </a:prstGeom>
          <a:solidFill>
            <a:srgbClr val="E8F1EF"/>
          </a:solidFill>
          <a:ln w="12700">
            <a:solidFill>
              <a:srgbClr val="E8F1EF"/>
            </a:solidFill>
            <a:prstDash val="solid"/>
          </a:ln>
        </p:spPr>
      </p:sp>
      <p:sp>
        <p:nvSpPr>
          <p:cNvPr id="8" name="Shape 6"/>
          <p:cNvSpPr/>
          <p:nvPr/>
        </p:nvSpPr>
        <p:spPr>
          <a:xfrm>
            <a:off x="6464808" y="2075688"/>
            <a:ext cx="5178247" cy="696773"/>
          </a:xfrm>
          <a:prstGeom prst="roundRect">
            <a:avLst>
              <a:gd name="adj" fmla="val 15748"/>
            </a:avLst>
          </a:prstGeom>
          <a:solidFill>
            <a:srgbClr val="F8EFDF"/>
          </a:solidFill>
          <a:ln w="12700">
            <a:solidFill>
              <a:srgbClr val="F8EFDF"/>
            </a:solidFill>
            <a:prstDash val="solid"/>
          </a:ln>
        </p:spPr>
      </p:sp>
      <p:sp>
        <p:nvSpPr>
          <p:cNvPr id="9" name="Text 7"/>
          <p:cNvSpPr txBox="1"/>
          <p:nvPr/>
        </p:nvSpPr>
        <p:spPr>
          <a:xfrm>
            <a:off x="777240" y="2075688"/>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Legal document completed by the individual</a:t>
            </a:r>
            <a:endParaRPr lang="en-US" sz="1700" dirty="0"/>
          </a:p>
        </p:txBody>
      </p:sp>
      <p:sp>
        <p:nvSpPr>
          <p:cNvPr id="10" name="Text 8"/>
          <p:cNvSpPr txBox="1"/>
          <p:nvPr/>
        </p:nvSpPr>
        <p:spPr>
          <a:xfrm>
            <a:off x="6693408" y="2075688"/>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Medical order signed by a clinician</a:t>
            </a:r>
            <a:endParaRPr lang="en-US" sz="1700" dirty="0"/>
          </a:p>
        </p:txBody>
      </p:sp>
      <p:sp>
        <p:nvSpPr>
          <p:cNvPr id="11" name="Shape 9"/>
          <p:cNvSpPr/>
          <p:nvPr/>
        </p:nvSpPr>
        <p:spPr>
          <a:xfrm>
            <a:off x="5934456" y="2241194"/>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241194"/>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2918765"/>
            <a:ext cx="5166360" cy="696773"/>
          </a:xfrm>
          <a:prstGeom prst="roundRect">
            <a:avLst>
              <a:gd name="adj" fmla="val 15748"/>
            </a:avLst>
          </a:prstGeom>
          <a:solidFill>
            <a:srgbClr val="E8F1EF"/>
          </a:solidFill>
          <a:ln w="12700">
            <a:solidFill>
              <a:srgbClr val="E8F1EF"/>
            </a:solidFill>
            <a:prstDash val="solid"/>
          </a:ln>
        </p:spPr>
      </p:sp>
      <p:sp>
        <p:nvSpPr>
          <p:cNvPr id="14" name="Shape 12"/>
          <p:cNvSpPr/>
          <p:nvPr/>
        </p:nvSpPr>
        <p:spPr>
          <a:xfrm>
            <a:off x="6464808" y="2918765"/>
            <a:ext cx="5178247" cy="696773"/>
          </a:xfrm>
          <a:prstGeom prst="roundRect">
            <a:avLst>
              <a:gd name="adj" fmla="val 15748"/>
            </a:avLst>
          </a:prstGeom>
          <a:solidFill>
            <a:srgbClr val="F8EFDF"/>
          </a:solidFill>
          <a:ln w="12700">
            <a:solidFill>
              <a:srgbClr val="F8EFDF"/>
            </a:solidFill>
            <a:prstDash val="solid"/>
          </a:ln>
        </p:spPr>
      </p:sp>
      <p:sp>
        <p:nvSpPr>
          <p:cNvPr id="15" name="Text 13"/>
          <p:cNvSpPr txBox="1"/>
          <p:nvPr/>
        </p:nvSpPr>
        <p:spPr>
          <a:xfrm>
            <a:off x="777240" y="2918765"/>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For any adult, healthy or ill</a:t>
            </a:r>
            <a:endParaRPr lang="en-US" sz="1700" dirty="0"/>
          </a:p>
        </p:txBody>
      </p:sp>
      <p:sp>
        <p:nvSpPr>
          <p:cNvPr id="16" name="Text 14"/>
          <p:cNvSpPr txBox="1"/>
          <p:nvPr/>
        </p:nvSpPr>
        <p:spPr>
          <a:xfrm>
            <a:off x="6693408" y="2918765"/>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For people with serious illness or frailty</a:t>
            </a:r>
            <a:endParaRPr lang="en-US" sz="1700" dirty="0"/>
          </a:p>
        </p:txBody>
      </p:sp>
      <p:sp>
        <p:nvSpPr>
          <p:cNvPr id="17" name="Shape 15"/>
          <p:cNvSpPr/>
          <p:nvPr/>
        </p:nvSpPr>
        <p:spPr>
          <a:xfrm>
            <a:off x="5934456" y="3084271"/>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3084271"/>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3761842"/>
            <a:ext cx="5166360" cy="696773"/>
          </a:xfrm>
          <a:prstGeom prst="roundRect">
            <a:avLst>
              <a:gd name="adj" fmla="val 15748"/>
            </a:avLst>
          </a:prstGeom>
          <a:solidFill>
            <a:srgbClr val="E8F1EF"/>
          </a:solidFill>
          <a:ln w="12700">
            <a:solidFill>
              <a:srgbClr val="E8F1EF"/>
            </a:solidFill>
            <a:prstDash val="solid"/>
          </a:ln>
        </p:spPr>
      </p:sp>
      <p:sp>
        <p:nvSpPr>
          <p:cNvPr id="20" name="Shape 18"/>
          <p:cNvSpPr/>
          <p:nvPr/>
        </p:nvSpPr>
        <p:spPr>
          <a:xfrm>
            <a:off x="6464808" y="3761842"/>
            <a:ext cx="5178247" cy="696773"/>
          </a:xfrm>
          <a:prstGeom prst="roundRect">
            <a:avLst>
              <a:gd name="adj" fmla="val 15748"/>
            </a:avLst>
          </a:prstGeom>
          <a:solidFill>
            <a:srgbClr val="F8EFDF"/>
          </a:solidFill>
          <a:ln w="12700">
            <a:solidFill>
              <a:srgbClr val="F8EFDF"/>
            </a:solidFill>
            <a:prstDash val="solid"/>
          </a:ln>
        </p:spPr>
      </p:sp>
      <p:sp>
        <p:nvSpPr>
          <p:cNvPr id="21" name="Text 19"/>
          <p:cNvSpPr txBox="1"/>
          <p:nvPr/>
        </p:nvSpPr>
        <p:spPr>
          <a:xfrm>
            <a:off x="777240" y="3761842"/>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Describes future wishes and names a decision-maker</a:t>
            </a:r>
            <a:endParaRPr lang="en-US" sz="1700" dirty="0"/>
          </a:p>
        </p:txBody>
      </p:sp>
      <p:sp>
        <p:nvSpPr>
          <p:cNvPr id="22" name="Text 20"/>
          <p:cNvSpPr txBox="1"/>
          <p:nvPr/>
        </p:nvSpPr>
        <p:spPr>
          <a:xfrm>
            <a:off x="6693408" y="3761842"/>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Specific orders for current care (CPR, level of treatment)</a:t>
            </a:r>
            <a:endParaRPr lang="en-US" sz="1700" dirty="0"/>
          </a:p>
        </p:txBody>
      </p:sp>
      <p:sp>
        <p:nvSpPr>
          <p:cNvPr id="23" name="Shape 21"/>
          <p:cNvSpPr/>
          <p:nvPr/>
        </p:nvSpPr>
        <p:spPr>
          <a:xfrm>
            <a:off x="5934456" y="3927348"/>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3927348"/>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4604918"/>
            <a:ext cx="5166360" cy="696773"/>
          </a:xfrm>
          <a:prstGeom prst="roundRect">
            <a:avLst>
              <a:gd name="adj" fmla="val 15748"/>
            </a:avLst>
          </a:prstGeom>
          <a:solidFill>
            <a:srgbClr val="E8F1EF"/>
          </a:solidFill>
          <a:ln w="12700">
            <a:solidFill>
              <a:srgbClr val="E8F1EF"/>
            </a:solidFill>
            <a:prstDash val="solid"/>
          </a:ln>
        </p:spPr>
      </p:sp>
      <p:sp>
        <p:nvSpPr>
          <p:cNvPr id="26" name="Shape 24"/>
          <p:cNvSpPr/>
          <p:nvPr/>
        </p:nvSpPr>
        <p:spPr>
          <a:xfrm>
            <a:off x="6464808" y="4604918"/>
            <a:ext cx="5178247" cy="696773"/>
          </a:xfrm>
          <a:prstGeom prst="roundRect">
            <a:avLst>
              <a:gd name="adj" fmla="val 15748"/>
            </a:avLst>
          </a:prstGeom>
          <a:solidFill>
            <a:srgbClr val="F8EFDF"/>
          </a:solidFill>
          <a:ln w="12700">
            <a:solidFill>
              <a:srgbClr val="F8EFDF"/>
            </a:solidFill>
            <a:prstDash val="solid"/>
          </a:ln>
        </p:spPr>
      </p:sp>
      <p:sp>
        <p:nvSpPr>
          <p:cNvPr id="27" name="Text 25"/>
          <p:cNvSpPr txBox="1"/>
          <p:nvPr/>
        </p:nvSpPr>
        <p:spPr>
          <a:xfrm>
            <a:off x="777240" y="4604918"/>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Guides future decisions in general terms</a:t>
            </a:r>
            <a:endParaRPr lang="en-US" sz="1700" dirty="0"/>
          </a:p>
        </p:txBody>
      </p:sp>
      <p:sp>
        <p:nvSpPr>
          <p:cNvPr id="28" name="Text 26"/>
          <p:cNvSpPr txBox="1"/>
          <p:nvPr/>
        </p:nvSpPr>
        <p:spPr>
          <a:xfrm>
            <a:off x="6693408" y="4604918"/>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Followed by EMS and other providers across settings</a:t>
            </a:r>
            <a:endParaRPr lang="en-US" sz="1700" dirty="0"/>
          </a:p>
        </p:txBody>
      </p:sp>
      <p:sp>
        <p:nvSpPr>
          <p:cNvPr id="29" name="Shape 27"/>
          <p:cNvSpPr/>
          <p:nvPr/>
        </p:nvSpPr>
        <p:spPr>
          <a:xfrm>
            <a:off x="5934456" y="4770425"/>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4770425"/>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31" name="Shape 29"/>
          <p:cNvSpPr/>
          <p:nvPr/>
        </p:nvSpPr>
        <p:spPr>
          <a:xfrm>
            <a:off x="548640" y="5447995"/>
            <a:ext cx="5166360" cy="696773"/>
          </a:xfrm>
          <a:prstGeom prst="roundRect">
            <a:avLst>
              <a:gd name="adj" fmla="val 15748"/>
            </a:avLst>
          </a:prstGeom>
          <a:solidFill>
            <a:srgbClr val="E8F1EF"/>
          </a:solidFill>
          <a:ln w="12700">
            <a:solidFill>
              <a:srgbClr val="E8F1EF"/>
            </a:solidFill>
            <a:prstDash val="solid"/>
          </a:ln>
        </p:spPr>
      </p:sp>
      <p:sp>
        <p:nvSpPr>
          <p:cNvPr id="32" name="Shape 30"/>
          <p:cNvSpPr/>
          <p:nvPr/>
        </p:nvSpPr>
        <p:spPr>
          <a:xfrm>
            <a:off x="6464808" y="5447995"/>
            <a:ext cx="5178247" cy="696773"/>
          </a:xfrm>
          <a:prstGeom prst="roundRect">
            <a:avLst>
              <a:gd name="adj" fmla="val 15748"/>
            </a:avLst>
          </a:prstGeom>
          <a:solidFill>
            <a:srgbClr val="F8EFDF"/>
          </a:solidFill>
          <a:ln w="12700">
            <a:solidFill>
              <a:srgbClr val="F8EFDF"/>
            </a:solidFill>
            <a:prstDash val="solid"/>
          </a:ln>
        </p:spPr>
      </p:sp>
      <p:sp>
        <p:nvSpPr>
          <p:cNvPr id="33" name="Text 31"/>
          <p:cNvSpPr txBox="1"/>
          <p:nvPr/>
        </p:nvSpPr>
        <p:spPr>
          <a:xfrm>
            <a:off x="777240" y="5447995"/>
            <a:ext cx="4709160"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Does not require a clinician's signature</a:t>
            </a:r>
            <a:endParaRPr lang="en-US" sz="1700" dirty="0"/>
          </a:p>
        </p:txBody>
      </p:sp>
      <p:sp>
        <p:nvSpPr>
          <p:cNvPr id="34" name="Text 32"/>
          <p:cNvSpPr txBox="1"/>
          <p:nvPr/>
        </p:nvSpPr>
        <p:spPr>
          <a:xfrm>
            <a:off x="6693408" y="5447995"/>
            <a:ext cx="4721047" cy="696773"/>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Complements — does not replace — an advance directive</a:t>
            </a:r>
            <a:endParaRPr lang="en-US" sz="1700" dirty="0"/>
          </a:p>
        </p:txBody>
      </p:sp>
      <p:sp>
        <p:nvSpPr>
          <p:cNvPr id="35" name="Shape 33"/>
          <p:cNvSpPr/>
          <p:nvPr/>
        </p:nvSpPr>
        <p:spPr>
          <a:xfrm>
            <a:off x="5934456" y="5613502"/>
            <a:ext cx="365760" cy="365760"/>
          </a:xfrm>
          <a:prstGeom prst="ellipse">
            <a:avLst/>
          </a:prstGeom>
          <a:solidFill>
            <a:srgbClr val="FFFFFF"/>
          </a:solidFill>
          <a:ln w="19050">
            <a:solidFill>
              <a:srgbClr val="C9DEDA"/>
            </a:solidFill>
            <a:prstDash val="solid"/>
          </a:ln>
        </p:spPr>
      </p:sp>
      <p:sp>
        <p:nvSpPr>
          <p:cNvPr id="36" name="Text 34"/>
          <p:cNvSpPr txBox="1"/>
          <p:nvPr/>
        </p:nvSpPr>
        <p:spPr>
          <a:xfrm>
            <a:off x="5934456" y="5613502"/>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37"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8" name="Text 3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39" name="Text 3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State Notes: Florida and Ohio</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820614"/>
                <a:gridCol w="4136901"/>
                <a:gridCol w="4136901"/>
              </a:tblGrid>
              <a:tr h="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Document Type</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Florida</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Ohio</a:t>
                      </a:r>
                      <a:endParaRPr lang="en-US" sz="17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28695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Health care decision-maker</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Designation of Health Care Surrogate</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Health Care Power of Attorney</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Treatment wishes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Living Will</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Living Will Declaration</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Out-of-hospital DNR</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DNRO — Florida Department of Health form DH 1896</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DNR Comfort Care (DNRCC) and DNRCC-Arrest orders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When no document exists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Florida law sets an order of priority for a health care proxy</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Ohio law provides a priority order of relatives for certain decisions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E8F1EF"/>
                    </a:solidFill>
                  </a:tcPr>
                </a:tc>
              </a:tr>
              <a:tr h="0">
                <a:tc>
                  <a:txBody>
                    <a:bodyPr/>
                    <a:lstStyle/>
                    <a:p>
                      <a:pPr indent="0" marL="0">
                        <a:buNone/>
                      </a:pPr>
                      <a:r>
                        <a:rPr lang="en-US" sz="1600" b="1" dirty="0">
                          <a:solidFill>
                            <a:srgbClr val="28695F"/>
                          </a:solidFill>
                          <a:latin typeface="Calibri" pitchFamily="34" charset="0"/>
                          <a:ea typeface="Calibri" pitchFamily="34" charset="-122"/>
                          <a:cs typeface="Calibri" pitchFamily="34" charset="-120"/>
                        </a:rPr>
                        <a:t>Where to get forms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Florida Department of Elder Affairs, hospitals, attorneys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c>
                  <a:txBody>
                    <a:bodyPr/>
                    <a:lstStyle/>
                    <a:p>
                      <a:pPr indent="0" marL="0">
                        <a:buNone/>
                      </a:pPr>
                      <a:r>
                        <a:rPr lang="en-US" sz="1600" dirty="0">
                          <a:solidFill>
                            <a:srgbClr val="24302D"/>
                          </a:solidFill>
                          <a:latin typeface="Calibri" pitchFamily="34" charset="0"/>
                          <a:ea typeface="Calibri" pitchFamily="34" charset="-122"/>
                          <a:cs typeface="Calibri" pitchFamily="34" charset="-120"/>
                        </a:rPr>
                        <a:t>Ohio Department of Health, hospitals, attorneys</a:t>
                      </a:r>
                      <a:endParaRPr lang="en-US" sz="1600" dirty="0">
                        <a:latin typeface="Calibri" charset="0"/>
                        <a:ea typeface="Calibri" charset="0"/>
                        <a:cs typeface="Calibri" charset="0"/>
                      </a:endParaRPr>
                    </a:p>
                  </a:txBody>
                  <a:tcPr marL="91440" marR="91440" marT="54864" marB="54864" anchor="ctr">
                    <a:lnL w="9525" cap="flat" cmpd="sng" algn="ctr">
                      <a:solidFill>
                        <a:srgbClr val="C9DEDA"/>
                      </a:solidFill>
                      <a:prstDash val="solid"/>
                      <a:round/>
                      <a:headEnd type="none" w="med" len="med"/>
                      <a:tailEnd type="none" w="med" len="med"/>
                    </a:lnL>
                    <a:lnR w="9525" cap="flat" cmpd="sng" algn="ctr">
                      <a:solidFill>
                        <a:srgbClr val="C9DEDA"/>
                      </a:solidFill>
                      <a:prstDash val="solid"/>
                      <a:round/>
                      <a:headEnd type="none" w="med" len="med"/>
                      <a:tailEnd type="none" w="med" len="med"/>
                    </a:lnR>
                    <a:lnT w="9525" cap="flat" cmpd="sng" algn="ctr">
                      <a:solidFill>
                        <a:srgbClr val="C9DEDA"/>
                      </a:solidFill>
                      <a:prstDash val="solid"/>
                      <a:round/>
                      <a:headEnd type="none" w="med" len="med"/>
                      <a:tailEnd type="none" w="med" len="med"/>
                    </a:lnT>
                    <a:lnB w="9525" cap="flat" cmpd="sng" algn="ctr">
                      <a:solidFill>
                        <a:srgbClr val="C9DEDA"/>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100" i="1" dirty="0">
                <a:solidFill>
                  <a:srgbClr val="5E6B68"/>
                </a:solidFill>
                <a:latin typeface="Calibri" pitchFamily="34" charset="0"/>
                <a:ea typeface="Calibri" pitchFamily="34" charset="-122"/>
                <a:cs typeface="Calibri" pitchFamily="34" charset="-120"/>
              </a:rPr>
              <a:t>State requirements change. Verify current forms, witnessing, and POLST availability with the clinical lead before use.</a:t>
            </a:r>
            <a:endParaRPr lang="en-US" sz="1100" dirty="0"/>
          </a:p>
        </p:txBody>
      </p:sp>
      <p:pic>
        <p:nvPicPr>
          <p:cNvPr id="5"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How to Assist in Advance Care Planning</a:t>
            </a:r>
            <a:endParaRPr lang="en-US" sz="3000" dirty="0"/>
          </a:p>
        </p:txBody>
      </p:sp>
      <p:sp>
        <p:nvSpPr>
          <p:cNvPr id="3" name="Shape 1"/>
          <p:cNvSpPr/>
          <p:nvPr/>
        </p:nvSpPr>
        <p:spPr>
          <a:xfrm>
            <a:off x="1566642" y="1874520"/>
            <a:ext cx="9058412" cy="0"/>
          </a:xfrm>
          <a:prstGeom prst="line">
            <a:avLst/>
          </a:prstGeom>
          <a:noFill/>
          <a:ln w="38100">
            <a:solidFill>
              <a:srgbClr val="C9DEDA"/>
            </a:solidFill>
            <a:prstDash val="solid"/>
          </a:ln>
        </p:spPr>
      </p:sp>
      <p:sp>
        <p:nvSpPr>
          <p:cNvPr id="4" name="Shape 2"/>
          <p:cNvSpPr/>
          <p:nvPr/>
        </p:nvSpPr>
        <p:spPr>
          <a:xfrm>
            <a:off x="1200882"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200882"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2036003" cy="3128010"/>
          </a:xfrm>
          <a:prstGeom prst="roundRect">
            <a:avLst>
              <a:gd name="adj" fmla="val 5389"/>
            </a:avLst>
          </a:prstGeom>
          <a:solidFill>
            <a:srgbClr val="E8F1EF"/>
          </a:solidFill>
          <a:ln w="12700">
            <a:solidFill>
              <a:srgbClr val="E8F1EF"/>
            </a:solidFill>
            <a:prstDash val="solid"/>
          </a:ln>
        </p:spPr>
      </p:sp>
      <p:sp>
        <p:nvSpPr>
          <p:cNvPr id="7" name="Text 5"/>
          <p:cNvSpPr txBox="1"/>
          <p:nvPr/>
        </p:nvSpPr>
        <p:spPr>
          <a:xfrm>
            <a:off x="731520"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Introduce</a:t>
            </a:r>
            <a:endParaRPr lang="en-US" sz="1600" dirty="0"/>
          </a:p>
        </p:txBody>
      </p:sp>
      <p:sp>
        <p:nvSpPr>
          <p:cNvPr id="8" name="Text 6"/>
          <p:cNvSpPr txBox="1"/>
          <p:nvPr/>
        </p:nvSpPr>
        <p:spPr>
          <a:xfrm>
            <a:off x="731520"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Normalize the topic: "We talk with every family about planning ahead."</a:t>
            </a:r>
            <a:endParaRPr lang="en-US" sz="1700" dirty="0"/>
          </a:p>
        </p:txBody>
      </p:sp>
      <p:sp>
        <p:nvSpPr>
          <p:cNvPr id="9" name="Shape 7"/>
          <p:cNvSpPr/>
          <p:nvPr/>
        </p:nvSpPr>
        <p:spPr>
          <a:xfrm>
            <a:off x="3465485"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346548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2813243" y="2468880"/>
            <a:ext cx="2036003" cy="3128010"/>
          </a:xfrm>
          <a:prstGeom prst="roundRect">
            <a:avLst>
              <a:gd name="adj" fmla="val 5389"/>
            </a:avLst>
          </a:prstGeom>
          <a:solidFill>
            <a:srgbClr val="E8F1EF"/>
          </a:solidFill>
          <a:ln w="12700">
            <a:solidFill>
              <a:srgbClr val="E8F1EF"/>
            </a:solidFill>
            <a:prstDash val="solid"/>
          </a:ln>
        </p:spPr>
      </p:sp>
      <p:sp>
        <p:nvSpPr>
          <p:cNvPr id="12" name="Text 10"/>
          <p:cNvSpPr txBox="1"/>
          <p:nvPr/>
        </p:nvSpPr>
        <p:spPr>
          <a:xfrm>
            <a:off x="2996123"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Explore Values</a:t>
            </a:r>
            <a:endParaRPr lang="en-US" sz="1600" dirty="0"/>
          </a:p>
        </p:txBody>
      </p:sp>
      <p:sp>
        <p:nvSpPr>
          <p:cNvPr id="13" name="Text 11"/>
          <p:cNvSpPr txBox="1"/>
          <p:nvPr/>
        </p:nvSpPr>
        <p:spPr>
          <a:xfrm>
            <a:off x="2996123"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What matters most? What worries them? What does a good day look like?</a:t>
            </a:r>
            <a:endParaRPr lang="en-US" sz="1700" dirty="0"/>
          </a:p>
        </p:txBody>
      </p:sp>
      <p:sp>
        <p:nvSpPr>
          <p:cNvPr id="14" name="Shape 12"/>
          <p:cNvSpPr/>
          <p:nvPr/>
        </p:nvSpPr>
        <p:spPr>
          <a:xfrm>
            <a:off x="5730088"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5077846" y="2468880"/>
            <a:ext cx="2036003" cy="3128010"/>
          </a:xfrm>
          <a:prstGeom prst="roundRect">
            <a:avLst>
              <a:gd name="adj" fmla="val 5389"/>
            </a:avLst>
          </a:prstGeom>
          <a:solidFill>
            <a:srgbClr val="E8F1EF"/>
          </a:solidFill>
          <a:ln w="12700">
            <a:solidFill>
              <a:srgbClr val="E8F1EF"/>
            </a:solidFill>
            <a:prstDash val="solid"/>
          </a:ln>
        </p:spPr>
      </p:sp>
      <p:sp>
        <p:nvSpPr>
          <p:cNvPr id="17" name="Text 15"/>
          <p:cNvSpPr txBox="1"/>
          <p:nvPr/>
        </p:nvSpPr>
        <p:spPr>
          <a:xfrm>
            <a:off x="5260726"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Name a Decision-Maker</a:t>
            </a:r>
            <a:endParaRPr lang="en-US" sz="1600" dirty="0"/>
          </a:p>
        </p:txBody>
      </p:sp>
      <p:sp>
        <p:nvSpPr>
          <p:cNvPr id="18" name="Text 16"/>
          <p:cNvSpPr txBox="1"/>
          <p:nvPr/>
        </p:nvSpPr>
        <p:spPr>
          <a:xfrm>
            <a:off x="5260726"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Who should speak for them? Does that person know and agree?</a:t>
            </a:r>
            <a:endParaRPr lang="en-US" sz="1700" dirty="0"/>
          </a:p>
        </p:txBody>
      </p:sp>
      <p:sp>
        <p:nvSpPr>
          <p:cNvPr id="19" name="Shape 17"/>
          <p:cNvSpPr/>
          <p:nvPr/>
        </p:nvSpPr>
        <p:spPr>
          <a:xfrm>
            <a:off x="7994691"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799469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7342449" y="2468880"/>
            <a:ext cx="2036003" cy="3128010"/>
          </a:xfrm>
          <a:prstGeom prst="roundRect">
            <a:avLst>
              <a:gd name="adj" fmla="val 5389"/>
            </a:avLst>
          </a:prstGeom>
          <a:solidFill>
            <a:srgbClr val="E8F1EF"/>
          </a:solidFill>
          <a:ln w="12700">
            <a:solidFill>
              <a:srgbClr val="E8F1EF"/>
            </a:solidFill>
            <a:prstDash val="solid"/>
          </a:ln>
        </p:spPr>
      </p:sp>
      <p:sp>
        <p:nvSpPr>
          <p:cNvPr id="22" name="Text 20"/>
          <p:cNvSpPr txBox="1"/>
          <p:nvPr/>
        </p:nvSpPr>
        <p:spPr>
          <a:xfrm>
            <a:off x="7525329"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Document &amp; Connect</a:t>
            </a:r>
            <a:endParaRPr lang="en-US" sz="1600" dirty="0"/>
          </a:p>
        </p:txBody>
      </p:sp>
      <p:sp>
        <p:nvSpPr>
          <p:cNvPr id="23" name="Text 21"/>
          <p:cNvSpPr txBox="1"/>
          <p:nvPr/>
        </p:nvSpPr>
        <p:spPr>
          <a:xfrm>
            <a:off x="7525329"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Provide forms and resources; connect to the clinician for medical orders.</a:t>
            </a:r>
            <a:endParaRPr lang="en-US" sz="1700" dirty="0"/>
          </a:p>
        </p:txBody>
      </p:sp>
      <p:sp>
        <p:nvSpPr>
          <p:cNvPr id="24" name="Shape 22"/>
          <p:cNvSpPr/>
          <p:nvPr/>
        </p:nvSpPr>
        <p:spPr>
          <a:xfrm>
            <a:off x="10259294" y="1508760"/>
            <a:ext cx="731520" cy="731520"/>
          </a:xfrm>
          <a:prstGeom prst="ellipse">
            <a:avLst/>
          </a:prstGeom>
          <a:solidFill>
            <a:srgbClr val="28695F"/>
          </a:solidFill>
          <a:ln w="12700">
            <a:solidFill>
              <a:srgbClr val="28695F"/>
            </a:solidFill>
            <a:prstDash val="solid"/>
          </a:ln>
        </p:spPr>
      </p:sp>
      <p:sp>
        <p:nvSpPr>
          <p:cNvPr id="25" name="Text 23"/>
          <p:cNvSpPr txBox="1"/>
          <p:nvPr/>
        </p:nvSpPr>
        <p:spPr>
          <a:xfrm>
            <a:off x="10259294"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6" name="Shape 24"/>
          <p:cNvSpPr/>
          <p:nvPr/>
        </p:nvSpPr>
        <p:spPr>
          <a:xfrm>
            <a:off x="9607052" y="2468880"/>
            <a:ext cx="2036003" cy="3128010"/>
          </a:xfrm>
          <a:prstGeom prst="roundRect">
            <a:avLst>
              <a:gd name="adj" fmla="val 5389"/>
            </a:avLst>
          </a:prstGeom>
          <a:solidFill>
            <a:srgbClr val="E8F1EF"/>
          </a:solidFill>
          <a:ln w="12700">
            <a:solidFill>
              <a:srgbClr val="E8F1EF"/>
            </a:solidFill>
            <a:prstDash val="solid"/>
          </a:ln>
        </p:spPr>
      </p:sp>
      <p:sp>
        <p:nvSpPr>
          <p:cNvPr id="27" name="Text 25"/>
          <p:cNvSpPr txBox="1"/>
          <p:nvPr/>
        </p:nvSpPr>
        <p:spPr>
          <a:xfrm>
            <a:off x="9789932" y="2606040"/>
            <a:ext cx="1670243" cy="594360"/>
          </a:xfrm>
          <a:prstGeom prst="rect">
            <a:avLst/>
          </a:prstGeom>
          <a:noFill/>
          <a:ln/>
        </p:spPr>
        <p:txBody>
          <a:bodyPr wrap="square" lIns="0" tIns="0" rIns="0" bIns="0" rtlCol="0" anchor="ctr"/>
          <a:lstStyle/>
          <a:p>
            <a:pPr indent="0" marL="0">
              <a:buNone/>
            </a:pPr>
            <a:r>
              <a:rPr lang="en-US" sz="1600" b="1" dirty="0">
                <a:solidFill>
                  <a:srgbClr val="28695F"/>
                </a:solidFill>
                <a:latin typeface="Cambria" pitchFamily="34" charset="0"/>
                <a:ea typeface="Cambria" pitchFamily="34" charset="-122"/>
                <a:cs typeface="Cambria" pitchFamily="34" charset="-120"/>
              </a:rPr>
              <a:t>Share &amp; Revisit</a:t>
            </a:r>
            <a:endParaRPr lang="en-US" sz="1600" dirty="0"/>
          </a:p>
        </p:txBody>
      </p:sp>
      <p:sp>
        <p:nvSpPr>
          <p:cNvPr id="28" name="Text 26"/>
          <p:cNvSpPr txBox="1"/>
          <p:nvPr/>
        </p:nvSpPr>
        <p:spPr>
          <a:xfrm>
            <a:off x="9789932" y="3291840"/>
            <a:ext cx="1670243"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Copies to the family, chart, and providers. Review after changes.</a:t>
            </a:r>
            <a:endParaRPr lang="en-US" sz="1700" dirty="0"/>
          </a:p>
        </p:txBody>
      </p:sp>
      <p:pic>
        <p:nvPicPr>
          <p:cNvPr id="2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0" name="Text 2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31" name="Text 2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Conversation Starters</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Open-ended, values-based questions help people share what matters.</a:t>
            </a:r>
            <a:endParaRPr lang="en-US" sz="1600" dirty="0"/>
          </a:p>
        </p:txBody>
      </p:sp>
      <p:sp>
        <p:nvSpPr>
          <p:cNvPr id="4" name="Text 2"/>
          <p:cNvSpPr txBox="1"/>
          <p:nvPr/>
        </p:nvSpPr>
        <p:spPr>
          <a:xfrm>
            <a:off x="548640" y="1828800"/>
            <a:ext cx="8961120" cy="4297680"/>
          </a:xfrm>
          <a:prstGeom prst="rect">
            <a:avLst/>
          </a:prstGeom>
          <a:noFill/>
          <a:ln/>
        </p:spPr>
        <p:txBody>
          <a:bodyPr wrap="square" lIns="0" tIns="0" rIns="0" bIns="0" rtlCol="0" anchor="t"/>
          <a:lstStyle/>
          <a:p>
            <a:pPr marL="203200" indent="-203200">
              <a:spcAft>
                <a:spcPts val="1200"/>
              </a:spcAft>
              <a:buSzPct val="100000"/>
              <a:buChar char="•"/>
            </a:pPr>
            <a:r>
              <a:rPr lang="en-US" sz="1900" dirty="0">
                <a:solidFill>
                  <a:srgbClr val="24302D"/>
                </a:solidFill>
                <a:latin typeface="Calibri" pitchFamily="34" charset="0"/>
                <a:ea typeface="Calibri" pitchFamily="34" charset="-122"/>
                <a:cs typeface="Calibri" pitchFamily="34" charset="-120"/>
              </a:rPr>
              <a:t>"What is most important to you as you think about the future?"</a:t>
            </a:r>
            <a:endParaRPr lang="en-US" sz="1900" dirty="0"/>
          </a:p>
          <a:p>
            <a:pPr marL="203200" indent="-203200">
              <a:spcAft>
                <a:spcPts val="1200"/>
              </a:spcAft>
              <a:buSzPct val="100000"/>
              <a:buChar char="•"/>
            </a:pPr>
            <a:r>
              <a:rPr lang="en-US" sz="1900" dirty="0">
                <a:solidFill>
                  <a:srgbClr val="24302D"/>
                </a:solidFill>
                <a:latin typeface="Calibri" pitchFamily="34" charset="0"/>
                <a:ea typeface="Calibri" pitchFamily="34" charset="-122"/>
                <a:cs typeface="Calibri" pitchFamily="34" charset="-120"/>
              </a:rPr>
              <a:t>"What are you most worried about?"</a:t>
            </a:r>
            <a:endParaRPr lang="en-US" sz="1900" dirty="0"/>
          </a:p>
          <a:p>
            <a:pPr marL="203200" indent="-203200">
              <a:spcAft>
                <a:spcPts val="1200"/>
              </a:spcAft>
              <a:buSzPct val="100000"/>
              <a:buChar char="•"/>
            </a:pPr>
            <a:r>
              <a:rPr lang="en-US" sz="1900" dirty="0">
                <a:solidFill>
                  <a:srgbClr val="24302D"/>
                </a:solidFill>
                <a:latin typeface="Calibri" pitchFamily="34" charset="0"/>
                <a:ea typeface="Calibri" pitchFamily="34" charset="-122"/>
                <a:cs typeface="Calibri" pitchFamily="34" charset="-120"/>
              </a:rPr>
              <a:t>"What would a good day look like for you, even if your health changes?"</a:t>
            </a:r>
            <a:endParaRPr lang="en-US" sz="1900" dirty="0"/>
          </a:p>
          <a:p>
            <a:pPr marL="203200" indent="-203200">
              <a:spcAft>
                <a:spcPts val="1200"/>
              </a:spcAft>
              <a:buSzPct val="100000"/>
              <a:buChar char="•"/>
            </a:pPr>
            <a:r>
              <a:rPr lang="en-US" sz="1900" dirty="0">
                <a:solidFill>
                  <a:srgbClr val="24302D"/>
                </a:solidFill>
                <a:latin typeface="Calibri" pitchFamily="34" charset="0"/>
                <a:ea typeface="Calibri" pitchFamily="34" charset="-122"/>
                <a:cs typeface="Calibri" pitchFamily="34" charset="-120"/>
              </a:rPr>
              <a:t>"Are there treatments or situations you would not want?"</a:t>
            </a:r>
            <a:endParaRPr lang="en-US" sz="1900" dirty="0"/>
          </a:p>
          <a:p>
            <a:pPr marL="203200" indent="-203200">
              <a:spcAft>
                <a:spcPts val="1200"/>
              </a:spcAft>
              <a:buSzPct val="100000"/>
              <a:buChar char="•"/>
            </a:pPr>
            <a:r>
              <a:rPr lang="en-US" sz="1900" dirty="0">
                <a:solidFill>
                  <a:srgbClr val="24302D"/>
                </a:solidFill>
                <a:latin typeface="Calibri" pitchFamily="34" charset="0"/>
                <a:ea typeface="Calibri" pitchFamily="34" charset="-122"/>
                <a:cs typeface="Calibri" pitchFamily="34" charset="-120"/>
              </a:rPr>
              <a:t>"Who do you trust to speak for you if you can't speak for yourself?"</a:t>
            </a:r>
            <a:endParaRPr lang="en-US" sz="1900" dirty="0"/>
          </a:p>
          <a:p>
            <a:pPr marL="203200" indent="-203200">
              <a:spcAft>
                <a:spcPts val="1200"/>
              </a:spcAft>
              <a:buSzPct val="100000"/>
              <a:buChar char="•"/>
            </a:pPr>
            <a:r>
              <a:rPr lang="en-US" sz="1900" dirty="0">
                <a:solidFill>
                  <a:srgbClr val="24302D"/>
                </a:solidFill>
                <a:latin typeface="Calibri" pitchFamily="34" charset="0"/>
                <a:ea typeface="Calibri" pitchFamily="34" charset="-122"/>
                <a:cs typeface="Calibri" pitchFamily="34" charset="-120"/>
              </a:rPr>
              <a:t>"Have you talked with that person about your wishes?"</a:t>
            </a:r>
            <a:endParaRPr lang="en-US" sz="1900" dirty="0"/>
          </a:p>
        </p:txBody>
      </p:sp>
      <p:pic>
        <p:nvPicPr>
          <p:cNvPr id="5"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6"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7" name="Text 3"/>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Goals of Care Across the Stages</a:t>
            </a:r>
            <a:endParaRPr lang="en-US" sz="3000" dirty="0"/>
          </a:p>
        </p:txBody>
      </p:sp>
      <p:sp>
        <p:nvSpPr>
          <p:cNvPr id="3" name="Shape 1"/>
          <p:cNvSpPr/>
          <p:nvPr/>
        </p:nvSpPr>
        <p:spPr>
          <a:xfrm>
            <a:off x="2321509" y="1874520"/>
            <a:ext cx="7548677" cy="0"/>
          </a:xfrm>
          <a:prstGeom prst="line">
            <a:avLst/>
          </a:prstGeom>
          <a:noFill/>
          <a:ln w="38100">
            <a:solidFill>
              <a:srgbClr val="C9DEDA"/>
            </a:solidFill>
            <a:prstDash val="solid"/>
          </a:ln>
        </p:spPr>
      </p:sp>
      <p:sp>
        <p:nvSpPr>
          <p:cNvPr id="4" name="Shape 2"/>
          <p:cNvSpPr/>
          <p:nvPr/>
        </p:nvSpPr>
        <p:spPr>
          <a:xfrm>
            <a:off x="1955749"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955749"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3545738" cy="3657600"/>
          </a:xfrm>
          <a:prstGeom prst="roundRect">
            <a:avLst>
              <a:gd name="adj" fmla="val 3095"/>
            </a:avLst>
          </a:prstGeom>
          <a:solidFill>
            <a:srgbClr val="E8F1EF"/>
          </a:solidFill>
          <a:ln w="12700">
            <a:solidFill>
              <a:srgbClr val="E8F1EF"/>
            </a:solidFill>
            <a:prstDash val="solid"/>
          </a:ln>
        </p:spPr>
      </p:sp>
      <p:sp>
        <p:nvSpPr>
          <p:cNvPr id="7" name="Text 5"/>
          <p:cNvSpPr txBox="1"/>
          <p:nvPr/>
        </p:nvSpPr>
        <p:spPr>
          <a:xfrm>
            <a:off x="731520" y="2606040"/>
            <a:ext cx="3179978"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Early Stage</a:t>
            </a:r>
            <a:endParaRPr lang="en-US" sz="1800" dirty="0"/>
          </a:p>
        </p:txBody>
      </p:sp>
      <p:sp>
        <p:nvSpPr>
          <p:cNvPr id="8" name="Text 6"/>
          <p:cNvSpPr txBox="1"/>
          <p:nvPr/>
        </p:nvSpPr>
        <p:spPr>
          <a:xfrm>
            <a:off x="731520" y="3291840"/>
            <a:ext cx="3179978" cy="26517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Name a decision-maker</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Complete advance directives</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Discuss values and future care</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Legal and financial planning</a:t>
            </a:r>
            <a:endParaRPr lang="en-US" sz="1600" dirty="0"/>
          </a:p>
        </p:txBody>
      </p:sp>
      <p:sp>
        <p:nvSpPr>
          <p:cNvPr id="9" name="Shape 7"/>
          <p:cNvSpPr/>
          <p:nvPr/>
        </p:nvSpPr>
        <p:spPr>
          <a:xfrm>
            <a:off x="5730088"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573008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4322978" y="2468880"/>
            <a:ext cx="3545738" cy="3657600"/>
          </a:xfrm>
          <a:prstGeom prst="roundRect">
            <a:avLst>
              <a:gd name="adj" fmla="val 3095"/>
            </a:avLst>
          </a:prstGeom>
          <a:solidFill>
            <a:srgbClr val="E8F1EF"/>
          </a:solidFill>
          <a:ln w="12700">
            <a:solidFill>
              <a:srgbClr val="E8F1EF"/>
            </a:solidFill>
            <a:prstDash val="solid"/>
          </a:ln>
        </p:spPr>
      </p:sp>
      <p:sp>
        <p:nvSpPr>
          <p:cNvPr id="12" name="Text 10"/>
          <p:cNvSpPr txBox="1"/>
          <p:nvPr/>
        </p:nvSpPr>
        <p:spPr>
          <a:xfrm>
            <a:off x="4505858" y="2606040"/>
            <a:ext cx="3179978"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Middle Stage</a:t>
            </a:r>
            <a:endParaRPr lang="en-US" sz="1800" dirty="0"/>
          </a:p>
        </p:txBody>
      </p:sp>
      <p:sp>
        <p:nvSpPr>
          <p:cNvPr id="13" name="Text 11"/>
          <p:cNvSpPr txBox="1"/>
          <p:nvPr/>
        </p:nvSpPr>
        <p:spPr>
          <a:xfrm>
            <a:off x="4505858" y="3291840"/>
            <a:ext cx="3179978" cy="26517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Revisit goals as needs change</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Discuss hospital and care setting preferences</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Surrogate takes a larger role</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Consider portable medical orders with the clinician</a:t>
            </a:r>
            <a:endParaRPr lang="en-US" sz="1600" dirty="0"/>
          </a:p>
        </p:txBody>
      </p:sp>
      <p:sp>
        <p:nvSpPr>
          <p:cNvPr id="14" name="Shape 12"/>
          <p:cNvSpPr/>
          <p:nvPr/>
        </p:nvSpPr>
        <p:spPr>
          <a:xfrm>
            <a:off x="9504426"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9504426"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8097317" y="2468880"/>
            <a:ext cx="3545738" cy="3657600"/>
          </a:xfrm>
          <a:prstGeom prst="roundRect">
            <a:avLst>
              <a:gd name="adj" fmla="val 3095"/>
            </a:avLst>
          </a:prstGeom>
          <a:solidFill>
            <a:srgbClr val="E8F1EF"/>
          </a:solidFill>
          <a:ln w="12700">
            <a:solidFill>
              <a:srgbClr val="E8F1EF"/>
            </a:solidFill>
            <a:prstDash val="solid"/>
          </a:ln>
        </p:spPr>
      </p:sp>
      <p:sp>
        <p:nvSpPr>
          <p:cNvPr id="17" name="Text 15"/>
          <p:cNvSpPr txBox="1"/>
          <p:nvPr/>
        </p:nvSpPr>
        <p:spPr>
          <a:xfrm>
            <a:off x="8280197" y="2606040"/>
            <a:ext cx="3179978"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Late Stage</a:t>
            </a:r>
            <a:endParaRPr lang="en-US" sz="1800" dirty="0"/>
          </a:p>
        </p:txBody>
      </p:sp>
      <p:sp>
        <p:nvSpPr>
          <p:cNvPr id="18" name="Text 16"/>
          <p:cNvSpPr txBox="1"/>
          <p:nvPr/>
        </p:nvSpPr>
        <p:spPr>
          <a:xfrm>
            <a:off x="8280197" y="3291840"/>
            <a:ext cx="3179978" cy="26517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Focus on comfort and quality of life</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Discuss feeding, hospitalization, and CPR with the clinician</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Hospice and palliative care options</a:t>
            </a:r>
            <a:endParaRPr lang="en-US" sz="1600" dirty="0"/>
          </a:p>
          <a:p>
            <a:pPr marL="203200" indent="-203200">
              <a:spcAft>
                <a:spcPts val="600"/>
              </a:spcAft>
              <a:buSzPct val="100000"/>
              <a:buChar char="•"/>
            </a:pPr>
            <a:r>
              <a:rPr lang="en-US" sz="1600" dirty="0">
                <a:solidFill>
                  <a:srgbClr val="24302D"/>
                </a:solidFill>
                <a:latin typeface="Calibri" pitchFamily="34" charset="0"/>
                <a:ea typeface="Calibri" pitchFamily="34" charset="-122"/>
                <a:cs typeface="Calibri" pitchFamily="34" charset="-120"/>
              </a:rPr>
              <a:t>Support family grief</a:t>
            </a:r>
            <a:endParaRPr lang="en-US" sz="1600" dirty="0"/>
          </a:p>
        </p:txBody>
      </p:sp>
      <p:pic>
        <p:nvPicPr>
          <p:cNvPr id="19"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0" name="Text 1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21" name="Text 1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Palliative Care and Hospice</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Palliative Care</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Hospice</a:t>
            </a:r>
            <a:endParaRPr lang="en-US" sz="1800" dirty="0"/>
          </a:p>
        </p:txBody>
      </p:sp>
      <p:sp>
        <p:nvSpPr>
          <p:cNvPr id="7" name="Shape 5"/>
          <p:cNvSpPr/>
          <p:nvPr/>
        </p:nvSpPr>
        <p:spPr>
          <a:xfrm>
            <a:off x="548640" y="2075688"/>
            <a:ext cx="5166360" cy="907542"/>
          </a:xfrm>
          <a:prstGeom prst="roundRect">
            <a:avLst>
              <a:gd name="adj" fmla="val 12091"/>
            </a:avLst>
          </a:prstGeom>
          <a:solidFill>
            <a:srgbClr val="E8F1EF"/>
          </a:solidFill>
          <a:ln w="12700">
            <a:solidFill>
              <a:srgbClr val="E8F1EF"/>
            </a:solidFill>
            <a:prstDash val="solid"/>
          </a:ln>
        </p:spPr>
      </p:sp>
      <p:sp>
        <p:nvSpPr>
          <p:cNvPr id="8" name="Shape 6"/>
          <p:cNvSpPr/>
          <p:nvPr/>
        </p:nvSpPr>
        <p:spPr>
          <a:xfrm>
            <a:off x="6464808" y="2075688"/>
            <a:ext cx="5178247" cy="907542"/>
          </a:xfrm>
          <a:prstGeom prst="roundRect">
            <a:avLst>
              <a:gd name="adj" fmla="val 12091"/>
            </a:avLst>
          </a:prstGeom>
          <a:solidFill>
            <a:srgbClr val="F8EFDF"/>
          </a:solidFill>
          <a:ln w="12700">
            <a:solidFill>
              <a:srgbClr val="F8EFDF"/>
            </a:solidFill>
            <a:prstDash val="solid"/>
          </a:ln>
        </p:spPr>
      </p:sp>
      <p:sp>
        <p:nvSpPr>
          <p:cNvPr id="9" name="Text 7"/>
          <p:cNvSpPr txBox="1"/>
          <p:nvPr/>
        </p:nvSpPr>
        <p:spPr>
          <a:xfrm>
            <a:off x="777240" y="2075688"/>
            <a:ext cx="4709160"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Focus on comfort and quality of life</a:t>
            </a:r>
            <a:endParaRPr lang="en-US" sz="1600" dirty="0"/>
          </a:p>
        </p:txBody>
      </p:sp>
      <p:sp>
        <p:nvSpPr>
          <p:cNvPr id="10" name="Text 8"/>
          <p:cNvSpPr txBox="1"/>
          <p:nvPr/>
        </p:nvSpPr>
        <p:spPr>
          <a:xfrm>
            <a:off x="6693408" y="2075688"/>
            <a:ext cx="4721047"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Comfort-focused care near the end of life</a:t>
            </a:r>
            <a:endParaRPr lang="en-US" sz="1600" dirty="0"/>
          </a:p>
        </p:txBody>
      </p:sp>
      <p:sp>
        <p:nvSpPr>
          <p:cNvPr id="11" name="Shape 9"/>
          <p:cNvSpPr/>
          <p:nvPr/>
        </p:nvSpPr>
        <p:spPr>
          <a:xfrm>
            <a:off x="5934456" y="2346579"/>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346579"/>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3129534"/>
            <a:ext cx="5166360" cy="907542"/>
          </a:xfrm>
          <a:prstGeom prst="roundRect">
            <a:avLst>
              <a:gd name="adj" fmla="val 12091"/>
            </a:avLst>
          </a:prstGeom>
          <a:solidFill>
            <a:srgbClr val="E8F1EF"/>
          </a:solidFill>
          <a:ln w="12700">
            <a:solidFill>
              <a:srgbClr val="E8F1EF"/>
            </a:solidFill>
            <a:prstDash val="solid"/>
          </a:ln>
        </p:spPr>
      </p:sp>
      <p:sp>
        <p:nvSpPr>
          <p:cNvPr id="14" name="Shape 12"/>
          <p:cNvSpPr/>
          <p:nvPr/>
        </p:nvSpPr>
        <p:spPr>
          <a:xfrm>
            <a:off x="6464808" y="3129534"/>
            <a:ext cx="5178247" cy="907542"/>
          </a:xfrm>
          <a:prstGeom prst="roundRect">
            <a:avLst>
              <a:gd name="adj" fmla="val 12091"/>
            </a:avLst>
          </a:prstGeom>
          <a:solidFill>
            <a:srgbClr val="F8EFDF"/>
          </a:solidFill>
          <a:ln w="12700">
            <a:solidFill>
              <a:srgbClr val="F8EFDF"/>
            </a:solidFill>
            <a:prstDash val="solid"/>
          </a:ln>
        </p:spPr>
      </p:sp>
      <p:sp>
        <p:nvSpPr>
          <p:cNvPr id="15" name="Text 13"/>
          <p:cNvSpPr txBox="1"/>
          <p:nvPr/>
        </p:nvSpPr>
        <p:spPr>
          <a:xfrm>
            <a:off x="777240" y="3129534"/>
            <a:ext cx="4709160"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Available at any stage of serious illness</a:t>
            </a:r>
            <a:endParaRPr lang="en-US" sz="1600" dirty="0"/>
          </a:p>
        </p:txBody>
      </p:sp>
      <p:sp>
        <p:nvSpPr>
          <p:cNvPr id="16" name="Text 14"/>
          <p:cNvSpPr txBox="1"/>
          <p:nvPr/>
        </p:nvSpPr>
        <p:spPr>
          <a:xfrm>
            <a:off x="6693408" y="3129534"/>
            <a:ext cx="4721047"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Generally for a prognosis of six months or less, as certified by physicians</a:t>
            </a:r>
            <a:endParaRPr lang="en-US" sz="1600" dirty="0"/>
          </a:p>
        </p:txBody>
      </p:sp>
      <p:sp>
        <p:nvSpPr>
          <p:cNvPr id="17" name="Shape 15"/>
          <p:cNvSpPr/>
          <p:nvPr/>
        </p:nvSpPr>
        <p:spPr>
          <a:xfrm>
            <a:off x="5934456" y="3400425"/>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3400425"/>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4183380"/>
            <a:ext cx="5166360" cy="907542"/>
          </a:xfrm>
          <a:prstGeom prst="roundRect">
            <a:avLst>
              <a:gd name="adj" fmla="val 12091"/>
            </a:avLst>
          </a:prstGeom>
          <a:solidFill>
            <a:srgbClr val="E8F1EF"/>
          </a:solidFill>
          <a:ln w="12700">
            <a:solidFill>
              <a:srgbClr val="E8F1EF"/>
            </a:solidFill>
            <a:prstDash val="solid"/>
          </a:ln>
        </p:spPr>
      </p:sp>
      <p:sp>
        <p:nvSpPr>
          <p:cNvPr id="20" name="Shape 18"/>
          <p:cNvSpPr/>
          <p:nvPr/>
        </p:nvSpPr>
        <p:spPr>
          <a:xfrm>
            <a:off x="6464808" y="4183380"/>
            <a:ext cx="5178247" cy="907542"/>
          </a:xfrm>
          <a:prstGeom prst="roundRect">
            <a:avLst>
              <a:gd name="adj" fmla="val 12091"/>
            </a:avLst>
          </a:prstGeom>
          <a:solidFill>
            <a:srgbClr val="F8EFDF"/>
          </a:solidFill>
          <a:ln w="12700">
            <a:solidFill>
              <a:srgbClr val="F8EFDF"/>
            </a:solidFill>
            <a:prstDash val="solid"/>
          </a:ln>
        </p:spPr>
      </p:sp>
      <p:sp>
        <p:nvSpPr>
          <p:cNvPr id="21" name="Text 19"/>
          <p:cNvSpPr txBox="1"/>
          <p:nvPr/>
        </p:nvSpPr>
        <p:spPr>
          <a:xfrm>
            <a:off x="777240" y="4183380"/>
            <a:ext cx="4709160"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Can be provided alongside treatment</a:t>
            </a:r>
            <a:endParaRPr lang="en-US" sz="1600" dirty="0"/>
          </a:p>
        </p:txBody>
      </p:sp>
      <p:sp>
        <p:nvSpPr>
          <p:cNvPr id="22" name="Text 20"/>
          <p:cNvSpPr txBox="1"/>
          <p:nvPr/>
        </p:nvSpPr>
        <p:spPr>
          <a:xfrm>
            <a:off x="6693408" y="4183380"/>
            <a:ext cx="4721047"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Covered by the Medicare hospice benefit</a:t>
            </a:r>
            <a:endParaRPr lang="en-US" sz="1600" dirty="0"/>
          </a:p>
        </p:txBody>
      </p:sp>
      <p:sp>
        <p:nvSpPr>
          <p:cNvPr id="23" name="Shape 21"/>
          <p:cNvSpPr/>
          <p:nvPr/>
        </p:nvSpPr>
        <p:spPr>
          <a:xfrm>
            <a:off x="5934456" y="4454271"/>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4454271"/>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5237226"/>
            <a:ext cx="5166360" cy="907542"/>
          </a:xfrm>
          <a:prstGeom prst="roundRect">
            <a:avLst>
              <a:gd name="adj" fmla="val 12091"/>
            </a:avLst>
          </a:prstGeom>
          <a:solidFill>
            <a:srgbClr val="E8F1EF"/>
          </a:solidFill>
          <a:ln w="12700">
            <a:solidFill>
              <a:srgbClr val="E8F1EF"/>
            </a:solidFill>
            <a:prstDash val="solid"/>
          </a:ln>
        </p:spPr>
      </p:sp>
      <p:sp>
        <p:nvSpPr>
          <p:cNvPr id="26" name="Shape 24"/>
          <p:cNvSpPr/>
          <p:nvPr/>
        </p:nvSpPr>
        <p:spPr>
          <a:xfrm>
            <a:off x="6464808" y="5237226"/>
            <a:ext cx="5178247" cy="907542"/>
          </a:xfrm>
          <a:prstGeom prst="roundRect">
            <a:avLst>
              <a:gd name="adj" fmla="val 12091"/>
            </a:avLst>
          </a:prstGeom>
          <a:solidFill>
            <a:srgbClr val="F8EFDF"/>
          </a:solidFill>
          <a:ln w="12700">
            <a:solidFill>
              <a:srgbClr val="F8EFDF"/>
            </a:solidFill>
            <a:prstDash val="solid"/>
          </a:ln>
        </p:spPr>
      </p:sp>
      <p:sp>
        <p:nvSpPr>
          <p:cNvPr id="27" name="Text 25"/>
          <p:cNvSpPr txBox="1"/>
          <p:nvPr/>
        </p:nvSpPr>
        <p:spPr>
          <a:xfrm>
            <a:off x="777240" y="5237226"/>
            <a:ext cx="4709160"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Addresses symptoms, stress, and family needs</a:t>
            </a:r>
            <a:endParaRPr lang="en-US" sz="1600" dirty="0"/>
          </a:p>
        </p:txBody>
      </p:sp>
      <p:sp>
        <p:nvSpPr>
          <p:cNvPr id="28" name="Text 26"/>
          <p:cNvSpPr txBox="1"/>
          <p:nvPr/>
        </p:nvSpPr>
        <p:spPr>
          <a:xfrm>
            <a:off x="6693408" y="5237226"/>
            <a:ext cx="4721047" cy="907542"/>
          </a:xfrm>
          <a:prstGeom prst="rect">
            <a:avLst/>
          </a:prstGeom>
          <a:noFill/>
          <a:ln/>
        </p:spPr>
        <p:txBody>
          <a:bodyPr wrap="square" lIns="0" tIns="0" rIns="0" bIns="0" rtlCol="0" anchor="ctr"/>
          <a:lstStyle/>
          <a:p>
            <a:pPr indent="0" marL="0">
              <a:buNone/>
            </a:pPr>
            <a:r>
              <a:rPr lang="en-US" sz="1600" dirty="0">
                <a:solidFill>
                  <a:srgbClr val="24302D"/>
                </a:solidFill>
                <a:latin typeface="Calibri" pitchFamily="34" charset="0"/>
                <a:ea typeface="Calibri" pitchFamily="34" charset="-122"/>
                <a:cs typeface="Calibri" pitchFamily="34" charset="-120"/>
              </a:rPr>
              <a:t>Includes support for the family, including bereavement</a:t>
            </a:r>
            <a:endParaRPr lang="en-US" sz="1600" dirty="0"/>
          </a:p>
        </p:txBody>
      </p:sp>
      <p:sp>
        <p:nvSpPr>
          <p:cNvPr id="29" name="Shape 27"/>
          <p:cNvSpPr/>
          <p:nvPr/>
        </p:nvSpPr>
        <p:spPr>
          <a:xfrm>
            <a:off x="5934456" y="5508117"/>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5508117"/>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31"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2" name="Text 2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33" name="Text 3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Navigator's Role and Boundaries</a:t>
            </a:r>
            <a:endParaRPr lang="en-US" sz="3000" dirty="0"/>
          </a:p>
        </p:txBody>
      </p:sp>
      <p:sp>
        <p:nvSpPr>
          <p:cNvPr id="3" name="Shape 1"/>
          <p:cNvSpPr/>
          <p:nvPr/>
        </p:nvSpPr>
        <p:spPr>
          <a:xfrm>
            <a:off x="548640" y="1417320"/>
            <a:ext cx="5364328" cy="4709160"/>
          </a:xfrm>
          <a:prstGeom prst="roundRect">
            <a:avLst>
              <a:gd name="adj" fmla="val 2330"/>
            </a:avLst>
          </a:prstGeom>
          <a:solidFill>
            <a:srgbClr val="E8F1EF"/>
          </a:solidFill>
          <a:ln w="12700">
            <a:solidFill>
              <a:srgbClr val="E8F1EF"/>
            </a:solidFill>
            <a:prstDash val="solid"/>
          </a:ln>
        </p:spPr>
      </p:sp>
      <p:sp>
        <p:nvSpPr>
          <p:cNvPr id="4" name="Shape 2"/>
          <p:cNvSpPr/>
          <p:nvPr/>
        </p:nvSpPr>
        <p:spPr>
          <a:xfrm>
            <a:off x="548640" y="1417320"/>
            <a:ext cx="5364328" cy="640080"/>
          </a:xfrm>
          <a:prstGeom prst="roundRect">
            <a:avLst>
              <a:gd name="adj" fmla="val 17143"/>
            </a:avLst>
          </a:prstGeom>
          <a:solidFill>
            <a:srgbClr val="28695F"/>
          </a:solidFill>
          <a:ln w="12700">
            <a:solidFill>
              <a:srgbClr val="28695F"/>
            </a:solidFill>
            <a:prstDash val="solid"/>
          </a:ln>
        </p:spPr>
      </p:sp>
      <p:sp>
        <p:nvSpPr>
          <p:cNvPr id="5" name="Shape 3"/>
          <p:cNvSpPr/>
          <p:nvPr/>
        </p:nvSpPr>
        <p:spPr>
          <a:xfrm>
            <a:off x="548640" y="1783080"/>
            <a:ext cx="5364328" cy="274320"/>
          </a:xfrm>
          <a:prstGeom prst="rect">
            <a:avLst/>
          </a:prstGeom>
          <a:solidFill>
            <a:srgbClr val="28695F"/>
          </a:solidFill>
          <a:ln w="12700">
            <a:solidFill>
              <a:srgbClr val="28695F"/>
            </a:solidFill>
            <a:prstDash val="solid"/>
          </a:ln>
        </p:spPr>
      </p:sp>
      <p:sp>
        <p:nvSpPr>
          <p:cNvPr id="6" name="Text 4"/>
          <p:cNvSpPr txBox="1"/>
          <p:nvPr/>
        </p:nvSpPr>
        <p:spPr>
          <a:xfrm>
            <a:off x="822960" y="141732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Navigators Can</a:t>
            </a:r>
            <a:endParaRPr lang="en-US" sz="1900" dirty="0"/>
          </a:p>
        </p:txBody>
      </p:sp>
      <p:sp>
        <p:nvSpPr>
          <p:cNvPr id="7" name="Text 5"/>
          <p:cNvSpPr txBox="1"/>
          <p:nvPr/>
        </p:nvSpPr>
        <p:spPr>
          <a:xfrm>
            <a:off x="822960" y="2286000"/>
            <a:ext cx="4815688"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Start and normalize the conversation</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Explain what documents are and why they matter</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Provide blank forms and educational materials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Help the family identify questions for the clinician</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Refer to elder law attorneys or legal aid</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Ensure documents are in the record and shared</a:t>
            </a:r>
            <a:endParaRPr lang="en-US" sz="1700" dirty="0"/>
          </a:p>
        </p:txBody>
      </p:sp>
      <p:sp>
        <p:nvSpPr>
          <p:cNvPr id="8" name="Shape 6"/>
          <p:cNvSpPr/>
          <p:nvPr/>
        </p:nvSpPr>
        <p:spPr>
          <a:xfrm>
            <a:off x="6278728" y="1417320"/>
            <a:ext cx="5364328" cy="4709160"/>
          </a:xfrm>
          <a:prstGeom prst="roundRect">
            <a:avLst>
              <a:gd name="adj" fmla="val 2330"/>
            </a:avLst>
          </a:prstGeom>
          <a:solidFill>
            <a:srgbClr val="F8EFDF"/>
          </a:solidFill>
          <a:ln w="12700">
            <a:solidFill>
              <a:srgbClr val="F8EFDF"/>
            </a:solidFill>
            <a:prstDash val="solid"/>
          </a:ln>
        </p:spPr>
      </p:sp>
      <p:sp>
        <p:nvSpPr>
          <p:cNvPr id="9" name="Shape 7"/>
          <p:cNvSpPr/>
          <p:nvPr/>
        </p:nvSpPr>
        <p:spPr>
          <a:xfrm>
            <a:off x="6278728" y="1417320"/>
            <a:ext cx="5364328" cy="640080"/>
          </a:xfrm>
          <a:prstGeom prst="roundRect">
            <a:avLst>
              <a:gd name="adj" fmla="val 17143"/>
            </a:avLst>
          </a:prstGeom>
          <a:solidFill>
            <a:srgbClr val="C78F2E"/>
          </a:solidFill>
          <a:ln w="12700">
            <a:solidFill>
              <a:srgbClr val="C78F2E"/>
            </a:solidFill>
            <a:prstDash val="solid"/>
          </a:ln>
        </p:spPr>
      </p:sp>
      <p:sp>
        <p:nvSpPr>
          <p:cNvPr id="10" name="Shape 8"/>
          <p:cNvSpPr/>
          <p:nvPr/>
        </p:nvSpPr>
        <p:spPr>
          <a:xfrm>
            <a:off x="6278728" y="1783080"/>
            <a:ext cx="5364328" cy="274320"/>
          </a:xfrm>
          <a:prstGeom prst="rect">
            <a:avLst/>
          </a:prstGeom>
          <a:solidFill>
            <a:srgbClr val="C78F2E"/>
          </a:solidFill>
          <a:ln w="12700">
            <a:solidFill>
              <a:srgbClr val="C78F2E"/>
            </a:solidFill>
            <a:prstDash val="solid"/>
          </a:ln>
        </p:spPr>
      </p:sp>
      <p:sp>
        <p:nvSpPr>
          <p:cNvPr id="11" name="Text 9"/>
          <p:cNvSpPr txBox="1"/>
          <p:nvPr/>
        </p:nvSpPr>
        <p:spPr>
          <a:xfrm>
            <a:off x="6553048" y="1417320"/>
            <a:ext cx="4815688"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Navigators Do Not</a:t>
            </a:r>
            <a:endParaRPr lang="en-US" sz="1900" dirty="0"/>
          </a:p>
        </p:txBody>
      </p:sp>
      <p:sp>
        <p:nvSpPr>
          <p:cNvPr id="12" name="Text 10"/>
          <p:cNvSpPr txBox="1"/>
          <p:nvPr/>
        </p:nvSpPr>
        <p:spPr>
          <a:xfrm>
            <a:off x="6553048" y="2286000"/>
            <a:ext cx="4815688"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Give legal advice or interpret the law</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Tell a family what the person "should" choose</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Complete or sign DNR or POLST orders</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Determine capacity</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Act as a witness if policy prohibits it</a:t>
            </a:r>
            <a:endParaRPr lang="en-US" sz="1700" dirty="0"/>
          </a:p>
          <a:p>
            <a:pPr marL="203200" indent="-203200">
              <a:spcAft>
                <a:spcPts val="1000"/>
              </a:spcAft>
              <a:buSzPct val="100000"/>
              <a:buChar char="•"/>
            </a:pPr>
            <a:r>
              <a:rPr lang="en-US" sz="1700" dirty="0">
                <a:solidFill>
                  <a:srgbClr val="24302D"/>
                </a:solidFill>
                <a:latin typeface="Calibri" pitchFamily="34" charset="0"/>
                <a:ea typeface="Calibri" pitchFamily="34" charset="-122"/>
                <a:cs typeface="Calibri" pitchFamily="34" charset="-120"/>
              </a:rPr>
              <a:t>Pressure the person to decide quickly</a:t>
            </a:r>
            <a:endParaRPr lang="en-US" sz="1700" dirty="0"/>
          </a:p>
        </p:txBody>
      </p:sp>
      <p:pic>
        <p:nvPicPr>
          <p:cNvPr id="13"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14" name="Text 1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15" name="Text 1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When Families Disagree</a:t>
            </a:r>
            <a:endParaRPr lang="en-US" sz="3000" dirty="0"/>
          </a:p>
        </p:txBody>
      </p:sp>
      <p:sp>
        <p:nvSpPr>
          <p:cNvPr id="3" name="Shape 1"/>
          <p:cNvSpPr/>
          <p:nvPr/>
        </p:nvSpPr>
        <p:spPr>
          <a:xfrm>
            <a:off x="1849717" y="1874520"/>
            <a:ext cx="8492261" cy="0"/>
          </a:xfrm>
          <a:prstGeom prst="line">
            <a:avLst/>
          </a:prstGeom>
          <a:noFill/>
          <a:ln w="38100">
            <a:solidFill>
              <a:srgbClr val="C9DEDA"/>
            </a:solidFill>
            <a:prstDash val="solid"/>
          </a:ln>
        </p:spPr>
      </p:sp>
      <p:sp>
        <p:nvSpPr>
          <p:cNvPr id="4" name="Shape 2"/>
          <p:cNvSpPr/>
          <p:nvPr/>
        </p:nvSpPr>
        <p:spPr>
          <a:xfrm>
            <a:off x="1483957" y="1508760"/>
            <a:ext cx="731520" cy="731520"/>
          </a:xfrm>
          <a:prstGeom prst="ellipse">
            <a:avLst/>
          </a:prstGeom>
          <a:solidFill>
            <a:srgbClr val="28695F"/>
          </a:solidFill>
          <a:ln w="12700">
            <a:solidFill>
              <a:srgbClr val="28695F"/>
            </a:solidFill>
            <a:prstDash val="solid"/>
          </a:ln>
        </p:spPr>
      </p:sp>
      <p:sp>
        <p:nvSpPr>
          <p:cNvPr id="5" name="Text 3"/>
          <p:cNvSpPr txBox="1"/>
          <p:nvPr/>
        </p:nvSpPr>
        <p:spPr>
          <a:xfrm>
            <a:off x="1483957"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48640" y="2468880"/>
            <a:ext cx="2602154" cy="2926080"/>
          </a:xfrm>
          <a:prstGeom prst="roundRect">
            <a:avLst>
              <a:gd name="adj" fmla="val 4217"/>
            </a:avLst>
          </a:prstGeom>
          <a:solidFill>
            <a:srgbClr val="E8F1EF"/>
          </a:solidFill>
          <a:ln w="12700">
            <a:solidFill>
              <a:srgbClr val="E8F1EF"/>
            </a:solidFill>
            <a:prstDash val="solid"/>
          </a:ln>
        </p:spPr>
      </p:sp>
      <p:sp>
        <p:nvSpPr>
          <p:cNvPr id="7" name="Text 5"/>
          <p:cNvSpPr txBox="1"/>
          <p:nvPr/>
        </p:nvSpPr>
        <p:spPr>
          <a:xfrm>
            <a:off x="731520" y="260604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Listen to Everyone</a:t>
            </a:r>
            <a:endParaRPr lang="en-US" sz="1800" dirty="0"/>
          </a:p>
        </p:txBody>
      </p:sp>
      <p:sp>
        <p:nvSpPr>
          <p:cNvPr id="8" name="Text 6"/>
          <p:cNvSpPr txBox="1"/>
          <p:nvPr/>
        </p:nvSpPr>
        <p:spPr>
          <a:xfrm>
            <a:off x="731520" y="3291840"/>
            <a:ext cx="2236394"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Each person usually wants what is best, even if views differ.</a:t>
            </a:r>
            <a:endParaRPr lang="en-US" sz="1700" dirty="0"/>
          </a:p>
        </p:txBody>
      </p:sp>
      <p:sp>
        <p:nvSpPr>
          <p:cNvPr id="9" name="Shape 7"/>
          <p:cNvSpPr/>
          <p:nvPr/>
        </p:nvSpPr>
        <p:spPr>
          <a:xfrm>
            <a:off x="4314711" y="1508760"/>
            <a:ext cx="731520" cy="731520"/>
          </a:xfrm>
          <a:prstGeom prst="ellipse">
            <a:avLst/>
          </a:prstGeom>
          <a:solidFill>
            <a:srgbClr val="C78F2E"/>
          </a:solidFill>
          <a:ln w="12700">
            <a:solidFill>
              <a:srgbClr val="C78F2E"/>
            </a:solidFill>
            <a:prstDash val="solid"/>
          </a:ln>
        </p:spPr>
      </p:sp>
      <p:sp>
        <p:nvSpPr>
          <p:cNvPr id="10" name="Text 8"/>
          <p:cNvSpPr txBox="1"/>
          <p:nvPr/>
        </p:nvSpPr>
        <p:spPr>
          <a:xfrm>
            <a:off x="4314711"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1" name="Shape 9"/>
          <p:cNvSpPr/>
          <p:nvPr/>
        </p:nvSpPr>
        <p:spPr>
          <a:xfrm>
            <a:off x="3379394" y="2468880"/>
            <a:ext cx="2602154" cy="2926080"/>
          </a:xfrm>
          <a:prstGeom prst="roundRect">
            <a:avLst>
              <a:gd name="adj" fmla="val 4217"/>
            </a:avLst>
          </a:prstGeom>
          <a:solidFill>
            <a:srgbClr val="E8F1EF"/>
          </a:solidFill>
          <a:ln w="12700">
            <a:solidFill>
              <a:srgbClr val="E8F1EF"/>
            </a:solidFill>
            <a:prstDash val="solid"/>
          </a:ln>
        </p:spPr>
      </p:sp>
      <p:sp>
        <p:nvSpPr>
          <p:cNvPr id="12" name="Text 10"/>
          <p:cNvSpPr txBox="1"/>
          <p:nvPr/>
        </p:nvSpPr>
        <p:spPr>
          <a:xfrm>
            <a:off x="3562274" y="260604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Return to the Person</a:t>
            </a:r>
            <a:endParaRPr lang="en-US" sz="1800" dirty="0"/>
          </a:p>
        </p:txBody>
      </p:sp>
      <p:sp>
        <p:nvSpPr>
          <p:cNvPr id="13" name="Text 11"/>
          <p:cNvSpPr txBox="1"/>
          <p:nvPr/>
        </p:nvSpPr>
        <p:spPr>
          <a:xfrm>
            <a:off x="3562274" y="3291840"/>
            <a:ext cx="2236394"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What did they say they wanted? What do the documents say?</a:t>
            </a:r>
            <a:endParaRPr lang="en-US" sz="1700" dirty="0"/>
          </a:p>
        </p:txBody>
      </p:sp>
      <p:sp>
        <p:nvSpPr>
          <p:cNvPr id="14" name="Shape 12"/>
          <p:cNvSpPr/>
          <p:nvPr/>
        </p:nvSpPr>
        <p:spPr>
          <a:xfrm>
            <a:off x="7145465" y="1508760"/>
            <a:ext cx="731520" cy="731520"/>
          </a:xfrm>
          <a:prstGeom prst="ellipse">
            <a:avLst/>
          </a:prstGeom>
          <a:solidFill>
            <a:srgbClr val="28695F"/>
          </a:solidFill>
          <a:ln w="12700">
            <a:solidFill>
              <a:srgbClr val="28695F"/>
            </a:solidFill>
            <a:prstDash val="solid"/>
          </a:ln>
        </p:spPr>
      </p:sp>
      <p:sp>
        <p:nvSpPr>
          <p:cNvPr id="15" name="Text 13"/>
          <p:cNvSpPr txBox="1"/>
          <p:nvPr/>
        </p:nvSpPr>
        <p:spPr>
          <a:xfrm>
            <a:off x="7145465"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6" name="Shape 14"/>
          <p:cNvSpPr/>
          <p:nvPr/>
        </p:nvSpPr>
        <p:spPr>
          <a:xfrm>
            <a:off x="6210148" y="2468880"/>
            <a:ext cx="2602154" cy="2926080"/>
          </a:xfrm>
          <a:prstGeom prst="roundRect">
            <a:avLst>
              <a:gd name="adj" fmla="val 4217"/>
            </a:avLst>
          </a:prstGeom>
          <a:solidFill>
            <a:srgbClr val="E8F1EF"/>
          </a:solidFill>
          <a:ln w="12700">
            <a:solidFill>
              <a:srgbClr val="E8F1EF"/>
            </a:solidFill>
            <a:prstDash val="solid"/>
          </a:ln>
        </p:spPr>
      </p:sp>
      <p:sp>
        <p:nvSpPr>
          <p:cNvPr id="17" name="Text 15"/>
          <p:cNvSpPr txBox="1"/>
          <p:nvPr/>
        </p:nvSpPr>
        <p:spPr>
          <a:xfrm>
            <a:off x="6393028" y="260604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Clarify Authority</a:t>
            </a:r>
            <a:endParaRPr lang="en-US" sz="1800" dirty="0"/>
          </a:p>
        </p:txBody>
      </p:sp>
      <p:sp>
        <p:nvSpPr>
          <p:cNvPr id="18" name="Text 16"/>
          <p:cNvSpPr txBox="1"/>
          <p:nvPr/>
        </p:nvSpPr>
        <p:spPr>
          <a:xfrm>
            <a:off x="6393028" y="3291840"/>
            <a:ext cx="2236394"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Who is the legal decision-maker under the documents or state law?</a:t>
            </a:r>
            <a:endParaRPr lang="en-US" sz="1700" dirty="0"/>
          </a:p>
        </p:txBody>
      </p:sp>
      <p:sp>
        <p:nvSpPr>
          <p:cNvPr id="19" name="Shape 17"/>
          <p:cNvSpPr/>
          <p:nvPr/>
        </p:nvSpPr>
        <p:spPr>
          <a:xfrm>
            <a:off x="9976218" y="1508760"/>
            <a:ext cx="731520" cy="731520"/>
          </a:xfrm>
          <a:prstGeom prst="ellipse">
            <a:avLst/>
          </a:prstGeom>
          <a:solidFill>
            <a:srgbClr val="C78F2E"/>
          </a:solidFill>
          <a:ln w="12700">
            <a:solidFill>
              <a:srgbClr val="C78F2E"/>
            </a:solidFill>
            <a:prstDash val="solid"/>
          </a:ln>
        </p:spPr>
      </p:sp>
      <p:sp>
        <p:nvSpPr>
          <p:cNvPr id="20" name="Text 18"/>
          <p:cNvSpPr txBox="1"/>
          <p:nvPr/>
        </p:nvSpPr>
        <p:spPr>
          <a:xfrm>
            <a:off x="9976218" y="1508760"/>
            <a:ext cx="731520"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1" name="Shape 19"/>
          <p:cNvSpPr/>
          <p:nvPr/>
        </p:nvSpPr>
        <p:spPr>
          <a:xfrm>
            <a:off x="9040901" y="2468880"/>
            <a:ext cx="2602154" cy="2926080"/>
          </a:xfrm>
          <a:prstGeom prst="roundRect">
            <a:avLst>
              <a:gd name="adj" fmla="val 4217"/>
            </a:avLst>
          </a:prstGeom>
          <a:solidFill>
            <a:srgbClr val="E8F1EF"/>
          </a:solidFill>
          <a:ln w="12700">
            <a:solidFill>
              <a:srgbClr val="E8F1EF"/>
            </a:solidFill>
            <a:prstDash val="solid"/>
          </a:ln>
        </p:spPr>
      </p:sp>
      <p:sp>
        <p:nvSpPr>
          <p:cNvPr id="22" name="Text 20"/>
          <p:cNvSpPr txBox="1"/>
          <p:nvPr/>
        </p:nvSpPr>
        <p:spPr>
          <a:xfrm>
            <a:off x="9223781" y="2606040"/>
            <a:ext cx="2236394"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Bring in the Team</a:t>
            </a:r>
            <a:endParaRPr lang="en-US" sz="1800" dirty="0"/>
          </a:p>
        </p:txBody>
      </p:sp>
      <p:sp>
        <p:nvSpPr>
          <p:cNvPr id="23" name="Text 21"/>
          <p:cNvSpPr txBox="1"/>
          <p:nvPr/>
        </p:nvSpPr>
        <p:spPr>
          <a:xfrm>
            <a:off x="9223781" y="3291840"/>
            <a:ext cx="2236394" cy="265176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Involve the clinician, supervisor, or social worker; consider a family meeting.</a:t>
            </a:r>
            <a:endParaRPr lang="en-US" sz="1700" dirty="0"/>
          </a:p>
        </p:txBody>
      </p:sp>
      <p:pic>
        <p:nvPicPr>
          <p:cNvPr id="24"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5" name="Text 2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26" name="Text 2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Documenting Advance Care Planning</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Record the conversation: </a:t>
            </a:r>
            <a:r>
              <a:rPr lang="en-US" sz="1800" dirty="0">
                <a:solidFill>
                  <a:srgbClr val="24302D"/>
                </a:solidFill>
                <a:latin typeface="Calibri" pitchFamily="34" charset="0"/>
                <a:ea typeface="Calibri" pitchFamily="34" charset="-122"/>
                <a:cs typeface="Calibri" pitchFamily="34" charset="-120"/>
              </a:rPr>
              <a:t>date, who took part, and key values or wishes expressed</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Record documents: </a:t>
            </a:r>
            <a:r>
              <a:rPr lang="en-US" sz="1800" dirty="0">
                <a:solidFill>
                  <a:srgbClr val="24302D"/>
                </a:solidFill>
                <a:latin typeface="Calibri" pitchFamily="34" charset="0"/>
                <a:ea typeface="Calibri" pitchFamily="34" charset="-122"/>
                <a:cs typeface="Calibri" pitchFamily="34" charset="-120"/>
              </a:rPr>
              <a:t>which ones exist, dates, and where the originals are kept</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Upload copies </a:t>
            </a:r>
            <a:r>
              <a:rPr lang="en-US" sz="1800" dirty="0">
                <a:solidFill>
                  <a:srgbClr val="24302D"/>
                </a:solidFill>
                <a:latin typeface="Calibri" pitchFamily="34" charset="0"/>
                <a:ea typeface="Calibri" pitchFamily="34" charset="-122"/>
                <a:cs typeface="Calibri" pitchFamily="34" charset="-120"/>
              </a:rPr>
              <a:t>to the record according to AbleLiving/MPS policy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Note the decision-maker </a:t>
            </a:r>
            <a:r>
              <a:rPr lang="en-US" sz="1800" dirty="0">
                <a:solidFill>
                  <a:srgbClr val="24302D"/>
                </a:solidFill>
                <a:latin typeface="Calibri" pitchFamily="34" charset="0"/>
                <a:ea typeface="Calibri" pitchFamily="34" charset="-122"/>
                <a:cs typeface="Calibri" pitchFamily="34" charset="-120"/>
              </a:rPr>
              <a:t>and their contact information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Flag follow-up: </a:t>
            </a:r>
            <a:r>
              <a:rPr lang="en-US" sz="1800" dirty="0">
                <a:solidFill>
                  <a:srgbClr val="24302D"/>
                </a:solidFill>
                <a:latin typeface="Calibri" pitchFamily="34" charset="0"/>
                <a:ea typeface="Calibri" pitchFamily="34" charset="-122"/>
                <a:cs typeface="Calibri" pitchFamily="34" charset="-120"/>
              </a:rPr>
              <a:t>forms to complete, questions for the clinician, or referrals</a:t>
            </a:r>
            <a:endParaRPr lang="en-US" sz="1800" dirty="0"/>
          </a:p>
        </p:txBody>
      </p:sp>
      <p:sp>
        <p:nvSpPr>
          <p:cNvPr id="4" name="Shape 2"/>
          <p:cNvSpPr/>
          <p:nvPr/>
        </p:nvSpPr>
        <p:spPr>
          <a:xfrm>
            <a:off x="7589520" y="1417320"/>
            <a:ext cx="4053535" cy="3149600"/>
          </a:xfrm>
          <a:prstGeom prst="roundRect">
            <a:avLst>
              <a:gd name="adj" fmla="val 348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Accessibility</a:t>
            </a:r>
            <a:endParaRPr lang="en-US" sz="1800" dirty="0"/>
          </a:p>
        </p:txBody>
      </p:sp>
      <p:sp>
        <p:nvSpPr>
          <p:cNvPr id="7" name="Text 4"/>
          <p:cNvSpPr txBox="1"/>
          <p:nvPr/>
        </p:nvSpPr>
        <p:spPr>
          <a:xfrm>
            <a:off x="7863840" y="2423160"/>
            <a:ext cx="3504895" cy="205232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In an emergency, EMS needs to find out-of-hospital orders quickly. Families should keep them where responders will look, as the state program instructs.</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Practice the Conversation</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15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Pairs; one navigator, one early-stage beneficiary. Rotate.</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Navigator introduces advance care planning using normalizing language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Navigator asks two values questions from the conversation starters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Beneficiary shares a worry; navigator responds with empathy, not solutions</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Navigator asks about a trusted decision-maker</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Navigator closes by summarizing and describing the next step</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Switch roles; debrief on what felt natural and what felt hard</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8138160" y="548640"/>
            <a:ext cx="4206240" cy="5330952"/>
          </a:xfrm>
          <a:prstGeom prst="rect">
            <a:avLst/>
          </a:prstGeom>
        </p:spPr>
      </p:pic>
      <p:sp>
        <p:nvSpPr>
          <p:cNvPr id="3" name="Text 0"/>
          <p:cNvSpPr txBox="1"/>
          <p:nvPr/>
        </p:nvSpPr>
        <p:spPr>
          <a:xfrm>
            <a:off x="731520" y="1188720"/>
            <a:ext cx="2743200" cy="1371600"/>
          </a:xfrm>
          <a:prstGeom prst="rect">
            <a:avLst/>
          </a:prstGeom>
          <a:noFill/>
          <a:ln/>
        </p:spPr>
        <p:txBody>
          <a:bodyPr wrap="square" lIns="0" tIns="0" rIns="0" bIns="0" rtlCol="0" anchor="t"/>
          <a:lstStyle/>
          <a:p>
            <a:pPr indent="0" marL="0">
              <a:buNone/>
            </a:pPr>
            <a:r>
              <a:rPr lang="en-US" sz="8800" b="1" dirty="0">
                <a:solidFill>
                  <a:srgbClr val="F8CB27"/>
                </a:solidFill>
                <a:latin typeface="Cambria" pitchFamily="34" charset="0"/>
                <a:ea typeface="Cambria" pitchFamily="34" charset="-122"/>
                <a:cs typeface="Cambria" pitchFamily="34" charset="-120"/>
              </a:rPr>
              <a:t>02</a:t>
            </a:r>
            <a:endParaRPr lang="en-US" sz="8800" dirty="0"/>
          </a:p>
        </p:txBody>
      </p:sp>
      <p:sp>
        <p:nvSpPr>
          <p:cNvPr id="4" name="Text 1"/>
          <p:cNvSpPr txBox="1"/>
          <p:nvPr/>
        </p:nvSpPr>
        <p:spPr>
          <a:xfrm>
            <a:off x="731520" y="2103120"/>
            <a:ext cx="7132320" cy="1783080"/>
          </a:xfrm>
          <a:prstGeom prst="rect">
            <a:avLst/>
          </a:prstGeom>
          <a:noFill/>
          <a:ln/>
        </p:spPr>
        <p:txBody>
          <a:bodyPr wrap="square" lIns="0" tIns="0" rIns="0" bIns="0" rtlCol="0" anchor="b"/>
          <a:lstStyle/>
          <a:p>
            <a:pPr indent="0" marL="0">
              <a:buNone/>
            </a:pPr>
            <a:r>
              <a:rPr lang="en-US" sz="3800" b="1" dirty="0">
                <a:solidFill>
                  <a:srgbClr val="FFFFFF"/>
                </a:solidFill>
                <a:latin typeface="Cambria" pitchFamily="34" charset="0"/>
                <a:ea typeface="Cambria" pitchFamily="34" charset="-122"/>
                <a:cs typeface="Cambria" pitchFamily="34" charset="-120"/>
              </a:rPr>
              <a:t>Decision-Making Capacity</a:t>
            </a:r>
            <a:endParaRPr lang="en-US" sz="3800" dirty="0"/>
          </a:p>
        </p:txBody>
      </p:sp>
      <p:sp>
        <p:nvSpPr>
          <p:cNvPr id="5" name="Text 2"/>
          <p:cNvSpPr txBox="1"/>
          <p:nvPr/>
        </p:nvSpPr>
        <p:spPr>
          <a:xfrm>
            <a:off x="731520" y="3977640"/>
            <a:ext cx="6949440" cy="91440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What it means, what happens without it, and how to support decisions</a:t>
            </a:r>
            <a:endParaRPr lang="en-US" sz="1800" dirty="0"/>
          </a:p>
        </p:txBody>
      </p:sp>
      <p:pic>
        <p:nvPicPr>
          <p:cNvPr id="6" name="Image 1" descr="preencoded.png">    </p:cNvPr>
          <p:cNvPicPr>
            <a:picLocks noChangeAspect="1"/>
          </p:cNvPicPr>
          <p:nvPr/>
        </p:nvPicPr>
        <p:blipFill>
          <a:blip r:embed="rId2"/>
          <a:stretch>
            <a:fillRect/>
          </a:stretch>
        </p:blipFill>
        <p:spPr>
          <a:xfrm>
            <a:off x="548640" y="6382512"/>
            <a:ext cx="219456" cy="219456"/>
          </a:xfrm>
          <a:prstGeom prst="rect">
            <a:avLst/>
          </a:prstGeom>
        </p:spPr>
      </p:pic>
      <p:sp>
        <p:nvSpPr>
          <p:cNvPr id="7" name="Text 3"/>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5</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What Is Capacity for Medical Decision-Making?</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Capacity is the ability </a:t>
            </a:r>
            <a:r>
              <a:rPr lang="en-US" sz="1800" dirty="0">
                <a:solidFill>
                  <a:srgbClr val="24302D"/>
                </a:solidFill>
                <a:latin typeface="Calibri" pitchFamily="34" charset="0"/>
                <a:ea typeface="Calibri" pitchFamily="34" charset="-122"/>
                <a:cs typeface="Calibri" pitchFamily="34" charset="-120"/>
              </a:rPr>
              <a:t>to understand information about a decision and make and communicate a choice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Decision-specific: </a:t>
            </a:r>
            <a:r>
              <a:rPr lang="en-US" sz="1800" dirty="0">
                <a:solidFill>
                  <a:srgbClr val="24302D"/>
                </a:solidFill>
                <a:latin typeface="Calibri" pitchFamily="34" charset="0"/>
                <a:ea typeface="Calibri" pitchFamily="34" charset="-122"/>
                <a:cs typeface="Calibri" pitchFamily="34" charset="-120"/>
              </a:rPr>
              <a:t>a person may be able to choose what to eat but not whether to have surgery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Time-specific: </a:t>
            </a:r>
            <a:r>
              <a:rPr lang="en-US" sz="1800" dirty="0">
                <a:solidFill>
                  <a:srgbClr val="24302D"/>
                </a:solidFill>
                <a:latin typeface="Calibri" pitchFamily="34" charset="0"/>
                <a:ea typeface="Calibri" pitchFamily="34" charset="-122"/>
                <a:cs typeface="Calibri" pitchFamily="34" charset="-120"/>
              </a:rPr>
              <a:t>capacity can fluctuate with illness, delirium, fatigue, or time of day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Presumed: </a:t>
            </a:r>
            <a:r>
              <a:rPr lang="en-US" sz="1800" dirty="0">
                <a:solidFill>
                  <a:srgbClr val="24302D"/>
                </a:solidFill>
                <a:latin typeface="Calibri" pitchFamily="34" charset="0"/>
                <a:ea typeface="Calibri" pitchFamily="34" charset="-122"/>
                <a:cs typeface="Calibri" pitchFamily="34" charset="-120"/>
              </a:rPr>
              <a:t>adults are presumed to have capacity unless shown otherwise</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A diagnosis of dementia </a:t>
            </a:r>
            <a:r>
              <a:rPr lang="en-US" sz="1800" dirty="0">
                <a:solidFill>
                  <a:srgbClr val="24302D"/>
                </a:solidFill>
                <a:latin typeface="Calibri" pitchFamily="34" charset="0"/>
                <a:ea typeface="Calibri" pitchFamily="34" charset="-122"/>
                <a:cs typeface="Calibri" pitchFamily="34" charset="-120"/>
              </a:rPr>
              <a:t>does not by itself mean a person lacks capacity</a:t>
            </a:r>
            <a:endParaRPr lang="en-US" sz="1800" dirty="0"/>
          </a:p>
        </p:txBody>
      </p:sp>
      <p:sp>
        <p:nvSpPr>
          <p:cNvPr id="4" name="Shape 2"/>
          <p:cNvSpPr/>
          <p:nvPr/>
        </p:nvSpPr>
        <p:spPr>
          <a:xfrm>
            <a:off x="7589520" y="1417320"/>
            <a:ext cx="4053535" cy="3149600"/>
          </a:xfrm>
          <a:prstGeom prst="roundRect">
            <a:avLst>
              <a:gd name="adj" fmla="val 3484"/>
            </a:avLst>
          </a:prstGeom>
          <a:solidFill>
            <a:srgbClr val="E8F1EF"/>
          </a:solidFill>
          <a:ln w="12700">
            <a:solidFill>
              <a:srgbClr val="E8F1E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28695F"/>
                </a:solidFill>
                <a:latin typeface="Cambria" pitchFamily="34" charset="0"/>
                <a:ea typeface="Cambria" pitchFamily="34" charset="-122"/>
                <a:cs typeface="Cambria" pitchFamily="34" charset="-120"/>
              </a:rPr>
              <a:t>Capacity vs. competence</a:t>
            </a:r>
            <a:endParaRPr lang="en-US" sz="1800" dirty="0"/>
          </a:p>
        </p:txBody>
      </p:sp>
      <p:sp>
        <p:nvSpPr>
          <p:cNvPr id="7" name="Text 4"/>
          <p:cNvSpPr txBox="1"/>
          <p:nvPr/>
        </p:nvSpPr>
        <p:spPr>
          <a:xfrm>
            <a:off x="7863840" y="2423160"/>
            <a:ext cx="3504895" cy="205232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Capacity is a clinical judgment made by a clinician about a specific decision. Competence (or incapacity) is a legal determination made by a court.</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The Four Abilities of Decision-Making Capacity</a:t>
            </a:r>
            <a:endParaRPr lang="en-US" sz="3000" dirty="0"/>
          </a:p>
        </p:txBody>
      </p:sp>
      <p:sp>
        <p:nvSpPr>
          <p:cNvPr id="3" name="Shape 1"/>
          <p:cNvSpPr/>
          <p:nvPr/>
        </p:nvSpPr>
        <p:spPr>
          <a:xfrm>
            <a:off x="548640" y="1417320"/>
            <a:ext cx="5410048" cy="2217420"/>
          </a:xfrm>
          <a:prstGeom prst="roundRect">
            <a:avLst>
              <a:gd name="adj" fmla="val 4948"/>
            </a:avLst>
          </a:prstGeom>
          <a:solidFill>
            <a:srgbClr val="E8F1EF"/>
          </a:solidFill>
          <a:ln w="12700">
            <a:solidFill>
              <a:srgbClr val="E8F1EF"/>
            </a:solidFill>
            <a:prstDash val="solid"/>
          </a:ln>
        </p:spPr>
      </p:sp>
      <p:sp>
        <p:nvSpPr>
          <p:cNvPr id="4" name="Shape 2"/>
          <p:cNvSpPr/>
          <p:nvPr/>
        </p:nvSpPr>
        <p:spPr>
          <a:xfrm>
            <a:off x="749808" y="1618488"/>
            <a:ext cx="420624" cy="420624"/>
          </a:xfrm>
          <a:prstGeom prst="ellipse">
            <a:avLst/>
          </a:prstGeom>
          <a:solidFill>
            <a:srgbClr val="28695F"/>
          </a:solidFill>
          <a:ln w="12700">
            <a:solidFill>
              <a:srgbClr val="28695F"/>
            </a:solidFill>
            <a:prstDash val="solid"/>
          </a:ln>
        </p:spPr>
      </p:sp>
      <p:sp>
        <p:nvSpPr>
          <p:cNvPr id="5" name="Text 3"/>
          <p:cNvSpPr txBox="1"/>
          <p:nvPr/>
        </p:nvSpPr>
        <p:spPr>
          <a:xfrm>
            <a:off x="749808"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298448"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Communicate a Choice</a:t>
            </a:r>
            <a:endParaRPr lang="en-US" sz="1700" dirty="0"/>
          </a:p>
        </p:txBody>
      </p:sp>
      <p:sp>
        <p:nvSpPr>
          <p:cNvPr id="7" name="Text 5"/>
          <p:cNvSpPr txBox="1"/>
          <p:nvPr/>
        </p:nvSpPr>
        <p:spPr>
          <a:xfrm>
            <a:off x="768096"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Can the person express a clear and consistent decision?</a:t>
            </a:r>
            <a:endParaRPr lang="en-US" sz="1700" dirty="0"/>
          </a:p>
        </p:txBody>
      </p:sp>
      <p:sp>
        <p:nvSpPr>
          <p:cNvPr id="8" name="Shape 6"/>
          <p:cNvSpPr/>
          <p:nvPr/>
        </p:nvSpPr>
        <p:spPr>
          <a:xfrm>
            <a:off x="6233008" y="1417320"/>
            <a:ext cx="5410048" cy="2217420"/>
          </a:xfrm>
          <a:prstGeom prst="roundRect">
            <a:avLst>
              <a:gd name="adj" fmla="val 4948"/>
            </a:avLst>
          </a:prstGeom>
          <a:solidFill>
            <a:srgbClr val="E8F1EF"/>
          </a:solidFill>
          <a:ln w="12700">
            <a:solidFill>
              <a:srgbClr val="E8F1EF"/>
            </a:solidFill>
            <a:prstDash val="solid"/>
          </a:ln>
        </p:spPr>
      </p:sp>
      <p:sp>
        <p:nvSpPr>
          <p:cNvPr id="9" name="Shape 7"/>
          <p:cNvSpPr/>
          <p:nvPr/>
        </p:nvSpPr>
        <p:spPr>
          <a:xfrm>
            <a:off x="6434176" y="1618488"/>
            <a:ext cx="420624" cy="420624"/>
          </a:xfrm>
          <a:prstGeom prst="ellipse">
            <a:avLst/>
          </a:prstGeom>
          <a:solidFill>
            <a:srgbClr val="28695F"/>
          </a:solidFill>
          <a:ln w="12700">
            <a:solidFill>
              <a:srgbClr val="28695F"/>
            </a:solidFill>
            <a:prstDash val="solid"/>
          </a:ln>
        </p:spPr>
      </p:sp>
      <p:sp>
        <p:nvSpPr>
          <p:cNvPr id="10" name="Text 8"/>
          <p:cNvSpPr txBox="1"/>
          <p:nvPr/>
        </p:nvSpPr>
        <p:spPr>
          <a:xfrm>
            <a:off x="6434176"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6982816" y="157276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Understand</a:t>
            </a:r>
            <a:endParaRPr lang="en-US" sz="1700" dirty="0"/>
          </a:p>
        </p:txBody>
      </p:sp>
      <p:sp>
        <p:nvSpPr>
          <p:cNvPr id="12" name="Text 10"/>
          <p:cNvSpPr txBox="1"/>
          <p:nvPr/>
        </p:nvSpPr>
        <p:spPr>
          <a:xfrm>
            <a:off x="6452464" y="219456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Can they understand the relevant information in their own words?</a:t>
            </a:r>
            <a:endParaRPr lang="en-US" sz="1700" dirty="0"/>
          </a:p>
        </p:txBody>
      </p:sp>
      <p:sp>
        <p:nvSpPr>
          <p:cNvPr id="13" name="Shape 11"/>
          <p:cNvSpPr/>
          <p:nvPr/>
        </p:nvSpPr>
        <p:spPr>
          <a:xfrm>
            <a:off x="548640" y="3909060"/>
            <a:ext cx="5410048" cy="2217420"/>
          </a:xfrm>
          <a:prstGeom prst="roundRect">
            <a:avLst>
              <a:gd name="adj" fmla="val 4948"/>
            </a:avLst>
          </a:prstGeom>
          <a:solidFill>
            <a:srgbClr val="E8F1EF"/>
          </a:solidFill>
          <a:ln w="12700">
            <a:solidFill>
              <a:srgbClr val="E8F1EF"/>
            </a:solidFill>
            <a:prstDash val="solid"/>
          </a:ln>
        </p:spPr>
      </p:sp>
      <p:sp>
        <p:nvSpPr>
          <p:cNvPr id="14" name="Shape 12"/>
          <p:cNvSpPr/>
          <p:nvPr/>
        </p:nvSpPr>
        <p:spPr>
          <a:xfrm>
            <a:off x="749808" y="4110228"/>
            <a:ext cx="420624" cy="420624"/>
          </a:xfrm>
          <a:prstGeom prst="ellipse">
            <a:avLst/>
          </a:prstGeom>
          <a:solidFill>
            <a:srgbClr val="28695F"/>
          </a:solidFill>
          <a:ln w="12700">
            <a:solidFill>
              <a:srgbClr val="28695F"/>
            </a:solidFill>
            <a:prstDash val="solid"/>
          </a:ln>
        </p:spPr>
      </p:sp>
      <p:sp>
        <p:nvSpPr>
          <p:cNvPr id="15" name="Text 13"/>
          <p:cNvSpPr txBox="1"/>
          <p:nvPr/>
        </p:nvSpPr>
        <p:spPr>
          <a:xfrm>
            <a:off x="749808" y="41102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6" name="Text 14"/>
          <p:cNvSpPr txBox="1"/>
          <p:nvPr/>
        </p:nvSpPr>
        <p:spPr>
          <a:xfrm>
            <a:off x="1298448"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Appreciate</a:t>
            </a:r>
            <a:endParaRPr lang="en-US" sz="1700" dirty="0"/>
          </a:p>
        </p:txBody>
      </p:sp>
      <p:sp>
        <p:nvSpPr>
          <p:cNvPr id="17" name="Text 15"/>
          <p:cNvSpPr txBox="1"/>
          <p:nvPr/>
        </p:nvSpPr>
        <p:spPr>
          <a:xfrm>
            <a:off x="768096"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Do they recognize how the information applies to their own situation?</a:t>
            </a:r>
            <a:endParaRPr lang="en-US" sz="1700" dirty="0"/>
          </a:p>
        </p:txBody>
      </p:sp>
      <p:sp>
        <p:nvSpPr>
          <p:cNvPr id="18" name="Shape 16"/>
          <p:cNvSpPr/>
          <p:nvPr/>
        </p:nvSpPr>
        <p:spPr>
          <a:xfrm>
            <a:off x="6233008" y="3909060"/>
            <a:ext cx="5410048" cy="2217420"/>
          </a:xfrm>
          <a:prstGeom prst="roundRect">
            <a:avLst>
              <a:gd name="adj" fmla="val 4948"/>
            </a:avLst>
          </a:prstGeom>
          <a:solidFill>
            <a:srgbClr val="E8F1EF"/>
          </a:solidFill>
          <a:ln w="12700">
            <a:solidFill>
              <a:srgbClr val="E8F1EF"/>
            </a:solidFill>
            <a:prstDash val="solid"/>
          </a:ln>
        </p:spPr>
      </p:sp>
      <p:sp>
        <p:nvSpPr>
          <p:cNvPr id="19" name="Shape 17"/>
          <p:cNvSpPr/>
          <p:nvPr/>
        </p:nvSpPr>
        <p:spPr>
          <a:xfrm>
            <a:off x="6434176" y="4110228"/>
            <a:ext cx="420624" cy="420624"/>
          </a:xfrm>
          <a:prstGeom prst="ellipse">
            <a:avLst/>
          </a:prstGeom>
          <a:solidFill>
            <a:srgbClr val="28695F"/>
          </a:solidFill>
          <a:ln w="12700">
            <a:solidFill>
              <a:srgbClr val="28695F"/>
            </a:solidFill>
            <a:prstDash val="solid"/>
          </a:ln>
        </p:spPr>
      </p:sp>
      <p:sp>
        <p:nvSpPr>
          <p:cNvPr id="20" name="Text 18"/>
          <p:cNvSpPr txBox="1"/>
          <p:nvPr/>
        </p:nvSpPr>
        <p:spPr>
          <a:xfrm>
            <a:off x="6434176" y="41102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1" name="Text 19"/>
          <p:cNvSpPr txBox="1"/>
          <p:nvPr/>
        </p:nvSpPr>
        <p:spPr>
          <a:xfrm>
            <a:off x="6982816" y="4064508"/>
            <a:ext cx="4495648" cy="512064"/>
          </a:xfrm>
          <a:prstGeom prst="rect">
            <a:avLst/>
          </a:prstGeom>
          <a:noFill/>
          <a:ln/>
        </p:spPr>
        <p:txBody>
          <a:bodyPr wrap="square" lIns="0" tIns="0" rIns="0" bIns="0" rtlCol="0" anchor="ctr"/>
          <a:lstStyle/>
          <a:p>
            <a:pPr indent="0" marL="0">
              <a:buNone/>
            </a:pPr>
            <a:r>
              <a:rPr lang="en-US" sz="1700" b="1" dirty="0">
                <a:solidFill>
                  <a:srgbClr val="28695F"/>
                </a:solidFill>
                <a:latin typeface="Cambria" pitchFamily="34" charset="0"/>
                <a:ea typeface="Cambria" pitchFamily="34" charset="-122"/>
                <a:cs typeface="Cambria" pitchFamily="34" charset="-120"/>
              </a:rPr>
              <a:t>Reason</a:t>
            </a:r>
            <a:endParaRPr lang="en-US" sz="1700" dirty="0"/>
          </a:p>
        </p:txBody>
      </p:sp>
      <p:sp>
        <p:nvSpPr>
          <p:cNvPr id="22" name="Text 20"/>
          <p:cNvSpPr txBox="1"/>
          <p:nvPr/>
        </p:nvSpPr>
        <p:spPr>
          <a:xfrm>
            <a:off x="6452464" y="4686300"/>
            <a:ext cx="4989424" cy="1303020"/>
          </a:xfrm>
          <a:prstGeom prst="rect">
            <a:avLst/>
          </a:prstGeom>
          <a:noFill/>
          <a:ln/>
        </p:spPr>
        <p:txBody>
          <a:bodyPr wrap="square" lIns="0" tIns="0" rIns="0" bIns="0" rtlCol="0" anchor="t"/>
          <a:lstStyle/>
          <a:p>
            <a:pPr indent="0" marL="0">
              <a:buNone/>
            </a:pPr>
            <a:r>
              <a:rPr lang="en-US" sz="1700" dirty="0">
                <a:solidFill>
                  <a:srgbClr val="24302D"/>
                </a:solidFill>
                <a:latin typeface="Calibri" pitchFamily="34" charset="0"/>
                <a:ea typeface="Calibri" pitchFamily="34" charset="-122"/>
                <a:cs typeface="Calibri" pitchFamily="34" charset="-120"/>
              </a:rPr>
              <a:t>Can they weigh options and explain how they reached their choice?</a:t>
            </a:r>
            <a:endParaRPr lang="en-US" sz="1700" dirty="0"/>
          </a:p>
        </p:txBody>
      </p:sp>
      <p:pic>
        <p:nvPicPr>
          <p:cNvPr id="23"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4" name="Text 21"/>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25" name="Text 22"/>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When a Beneficiary Lacks Capacity</a:t>
            </a:r>
            <a:endParaRPr lang="en-US" sz="3000" dirty="0"/>
          </a:p>
        </p:txBody>
      </p:sp>
      <p:sp>
        <p:nvSpPr>
          <p:cNvPr id="3" name="Text 1"/>
          <p:cNvSpPr txBox="1"/>
          <p:nvPr/>
        </p:nvSpPr>
        <p:spPr>
          <a:xfrm>
            <a:off x="548640" y="1417320"/>
            <a:ext cx="6675120" cy="4709160"/>
          </a:xfrm>
          <a:prstGeom prst="rect">
            <a:avLst/>
          </a:prstGeom>
          <a:noFill/>
          <a:ln/>
        </p:spPr>
        <p:txBody>
          <a:bodyPr wrap="square" lIns="0" tIns="0" rIns="0" bIns="0" rtlCol="0" anchor="t"/>
          <a:lstStyle/>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Named decision-maker: </a:t>
            </a:r>
            <a:r>
              <a:rPr lang="en-US" sz="1800" dirty="0">
                <a:solidFill>
                  <a:srgbClr val="24302D"/>
                </a:solidFill>
                <a:latin typeface="Calibri" pitchFamily="34" charset="0"/>
                <a:ea typeface="Calibri" pitchFamily="34" charset="-122"/>
                <a:cs typeface="Calibri" pitchFamily="34" charset="-120"/>
              </a:rPr>
              <a:t>a health care surrogate or health care power of attorney steps in</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No document: </a:t>
            </a:r>
            <a:r>
              <a:rPr lang="en-US" sz="1800" dirty="0">
                <a:solidFill>
                  <a:srgbClr val="24302D"/>
                </a:solidFill>
                <a:latin typeface="Calibri" pitchFamily="34" charset="0"/>
                <a:ea typeface="Calibri" pitchFamily="34" charset="-122"/>
                <a:cs typeface="Calibri" pitchFamily="34" charset="-120"/>
              </a:rPr>
              <a:t>state law sets a priority order of relatives or others who may decide (often called a proxy)</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Guardianship: </a:t>
            </a:r>
            <a:r>
              <a:rPr lang="en-US" sz="1800" dirty="0">
                <a:solidFill>
                  <a:srgbClr val="24302D"/>
                </a:solidFill>
                <a:latin typeface="Calibri" pitchFamily="34" charset="0"/>
                <a:ea typeface="Calibri" pitchFamily="34" charset="-122"/>
                <a:cs typeface="Calibri" pitchFamily="34" charset="-120"/>
              </a:rPr>
              <a:t>a court process, generally a last resort when no other option works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The person still matters: </a:t>
            </a:r>
            <a:r>
              <a:rPr lang="en-US" sz="1800" dirty="0">
                <a:solidFill>
                  <a:srgbClr val="24302D"/>
                </a:solidFill>
                <a:latin typeface="Calibri" pitchFamily="34" charset="0"/>
                <a:ea typeface="Calibri" pitchFamily="34" charset="-122"/>
                <a:cs typeface="Calibri" pitchFamily="34" charset="-120"/>
              </a:rPr>
              <a:t>involve them to the fullest extent possible and honor known wishes</a:t>
            </a:r>
            <a:endParaRPr lang="en-US" sz="1800" dirty="0"/>
          </a:p>
          <a:p>
            <a:pPr marL="203200" indent="-203200">
              <a:spcAft>
                <a:spcPts val="1200"/>
              </a:spcAft>
              <a:buSzPct val="100000"/>
              <a:buChar char="•"/>
            </a:pPr>
            <a:r>
              <a:rPr lang="en-US" sz="1800" b="1" dirty="0">
                <a:solidFill>
                  <a:srgbClr val="28695F"/>
                </a:solidFill>
                <a:latin typeface="Calibri" pitchFamily="34" charset="0"/>
                <a:ea typeface="Calibri" pitchFamily="34" charset="-122"/>
                <a:cs typeface="Calibri" pitchFamily="34" charset="-120"/>
              </a:rPr>
              <a:t>Conflicts </a:t>
            </a:r>
            <a:r>
              <a:rPr lang="en-US" sz="1800" dirty="0">
                <a:solidFill>
                  <a:srgbClr val="24302D"/>
                </a:solidFill>
                <a:latin typeface="Calibri" pitchFamily="34" charset="0"/>
                <a:ea typeface="Calibri" pitchFamily="34" charset="-122"/>
                <a:cs typeface="Calibri" pitchFamily="34" charset="-120"/>
              </a:rPr>
              <a:t>among family members should be brought to the clinician and supervisor</a:t>
            </a:r>
            <a:endParaRPr lang="en-US" sz="1800" dirty="0"/>
          </a:p>
        </p:txBody>
      </p:sp>
      <p:sp>
        <p:nvSpPr>
          <p:cNvPr id="4" name="Shape 2"/>
          <p:cNvSpPr/>
          <p:nvPr/>
        </p:nvSpPr>
        <p:spPr>
          <a:xfrm>
            <a:off x="7589520" y="1417320"/>
            <a:ext cx="4053535" cy="3149600"/>
          </a:xfrm>
          <a:prstGeom prst="roundRect">
            <a:avLst>
              <a:gd name="adj" fmla="val 3484"/>
            </a:avLst>
          </a:prstGeom>
          <a:solidFill>
            <a:srgbClr val="F8EFDF"/>
          </a:solidFill>
          <a:ln w="12700">
            <a:solidFill>
              <a:srgbClr val="F8EFDF"/>
            </a:solidFill>
            <a:prstDash val="solid"/>
          </a:ln>
        </p:spPr>
      </p:sp>
      <p:pic>
        <p:nvPicPr>
          <p:cNvPr id="5" name="Image 0" descr="preencoded.png">    </p:cNvPr>
          <p:cNvPicPr>
            <a:picLocks noChangeAspect="1"/>
          </p:cNvPicPr>
          <p:nvPr/>
        </p:nvPicPr>
        <p:blipFill>
          <a:blip r:embed="rId1"/>
          <a:stretch>
            <a:fillRect/>
          </a:stretch>
        </p:blipFill>
        <p:spPr>
          <a:xfrm>
            <a:off x="7863840" y="1691640"/>
            <a:ext cx="502920" cy="502920"/>
          </a:xfrm>
          <a:prstGeom prst="rect">
            <a:avLst/>
          </a:prstGeom>
        </p:spPr>
      </p:pic>
      <p:sp>
        <p:nvSpPr>
          <p:cNvPr id="6" name="Text 3"/>
          <p:cNvSpPr txBox="1"/>
          <p:nvPr/>
        </p:nvSpPr>
        <p:spPr>
          <a:xfrm>
            <a:off x="8503920" y="1645920"/>
            <a:ext cx="2910535" cy="594360"/>
          </a:xfrm>
          <a:prstGeom prst="rect">
            <a:avLst/>
          </a:prstGeom>
          <a:noFill/>
          <a:ln/>
        </p:spPr>
        <p:txBody>
          <a:bodyPr wrap="square" lIns="0" tIns="0" rIns="0" bIns="0" rtlCol="0" anchor="ctr"/>
          <a:lstStyle/>
          <a:p>
            <a:pPr indent="0" marL="0">
              <a:buNone/>
            </a:pPr>
            <a:r>
              <a:rPr lang="en-US" sz="1800" b="1" dirty="0">
                <a:solidFill>
                  <a:srgbClr val="C78F2E"/>
                </a:solidFill>
                <a:latin typeface="Cambria" pitchFamily="34" charset="0"/>
                <a:ea typeface="Cambria" pitchFamily="34" charset="-122"/>
                <a:cs typeface="Cambria" pitchFamily="34" charset="-120"/>
              </a:rPr>
              <a:t>Documentation matters</a:t>
            </a:r>
            <a:endParaRPr lang="en-US" sz="1800" dirty="0"/>
          </a:p>
        </p:txBody>
      </p:sp>
      <p:sp>
        <p:nvSpPr>
          <p:cNvPr id="7" name="Text 4"/>
          <p:cNvSpPr txBox="1"/>
          <p:nvPr/>
        </p:nvSpPr>
        <p:spPr>
          <a:xfrm>
            <a:off x="7863840" y="2423160"/>
            <a:ext cx="3504895" cy="2052320"/>
          </a:xfrm>
          <a:prstGeom prst="rect">
            <a:avLst/>
          </a:prstGeom>
          <a:noFill/>
          <a:ln/>
        </p:spPr>
        <p:txBody>
          <a:bodyPr wrap="square" lIns="0" tIns="0" rIns="0" bIns="0" rtlCol="0" anchor="t"/>
          <a:lstStyle/>
          <a:p>
            <a:pPr indent="0" marL="0">
              <a:buNone/>
            </a:pPr>
            <a:r>
              <a:rPr lang="en-US" sz="1600" dirty="0">
                <a:solidFill>
                  <a:srgbClr val="24302D"/>
                </a:solidFill>
                <a:latin typeface="Calibri" pitchFamily="34" charset="0"/>
                <a:ea typeface="Calibri" pitchFamily="34" charset="-122"/>
                <a:cs typeface="Calibri" pitchFamily="34" charset="-120"/>
              </a:rPr>
              <a:t>Record who the legal decision-maker is, where the document is, and whether a copy is in the chart. Confirm authorization before sharing health information.</a:t>
            </a:r>
            <a:endParaRPr lang="en-US" sz="1600" dirty="0"/>
          </a:p>
        </p:txBody>
      </p:sp>
      <p:pic>
        <p:nvPicPr>
          <p:cNvPr id="8"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9" name="Text 5"/>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10" name="Text 6"/>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How Surrogates Decide</a:t>
            </a:r>
            <a:endParaRPr lang="en-US" sz="3000" dirty="0"/>
          </a:p>
        </p:txBody>
      </p:sp>
      <p:sp>
        <p:nvSpPr>
          <p:cNvPr id="3" name="Shape 1"/>
          <p:cNvSpPr/>
          <p:nvPr/>
        </p:nvSpPr>
        <p:spPr>
          <a:xfrm>
            <a:off x="548640" y="1417320"/>
            <a:ext cx="5166360" cy="502920"/>
          </a:xfrm>
          <a:prstGeom prst="roundRect">
            <a:avLst>
              <a:gd name="adj" fmla="val 18182"/>
            </a:avLst>
          </a:prstGeom>
          <a:solidFill>
            <a:srgbClr val="28695F"/>
          </a:solidFill>
          <a:ln w="12700">
            <a:solidFill>
              <a:srgbClr val="28695F"/>
            </a:solidFill>
            <a:prstDash val="solid"/>
          </a:ln>
        </p:spPr>
      </p:sp>
      <p:sp>
        <p:nvSpPr>
          <p:cNvPr id="4" name="Text 2"/>
          <p:cNvSpPr txBox="1"/>
          <p:nvPr/>
        </p:nvSpPr>
        <p:spPr>
          <a:xfrm>
            <a:off x="777240" y="1417320"/>
            <a:ext cx="4709160"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Substituted Judgment</a:t>
            </a:r>
            <a:endParaRPr lang="en-US" sz="1800" dirty="0"/>
          </a:p>
        </p:txBody>
      </p:sp>
      <p:sp>
        <p:nvSpPr>
          <p:cNvPr id="5" name="Shape 3"/>
          <p:cNvSpPr/>
          <p:nvPr/>
        </p:nvSpPr>
        <p:spPr>
          <a:xfrm>
            <a:off x="6464808" y="1417320"/>
            <a:ext cx="5178247" cy="502920"/>
          </a:xfrm>
          <a:prstGeom prst="roundRect">
            <a:avLst>
              <a:gd name="adj" fmla="val 18182"/>
            </a:avLst>
          </a:prstGeom>
          <a:solidFill>
            <a:srgbClr val="C78F2E"/>
          </a:solidFill>
          <a:ln w="12700">
            <a:solidFill>
              <a:srgbClr val="C78F2E"/>
            </a:solidFill>
            <a:prstDash val="solid"/>
          </a:ln>
        </p:spPr>
      </p:sp>
      <p:sp>
        <p:nvSpPr>
          <p:cNvPr id="6" name="Text 4"/>
          <p:cNvSpPr txBox="1"/>
          <p:nvPr/>
        </p:nvSpPr>
        <p:spPr>
          <a:xfrm>
            <a:off x="6693408" y="1417320"/>
            <a:ext cx="4721047" cy="50292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Best Interest</a:t>
            </a:r>
            <a:endParaRPr lang="en-US" sz="1800" dirty="0"/>
          </a:p>
        </p:txBody>
      </p:sp>
      <p:sp>
        <p:nvSpPr>
          <p:cNvPr id="7" name="Shape 5"/>
          <p:cNvSpPr/>
          <p:nvPr/>
        </p:nvSpPr>
        <p:spPr>
          <a:xfrm>
            <a:off x="548640" y="2075688"/>
            <a:ext cx="5166360" cy="907542"/>
          </a:xfrm>
          <a:prstGeom prst="roundRect">
            <a:avLst>
              <a:gd name="adj" fmla="val 12091"/>
            </a:avLst>
          </a:prstGeom>
          <a:solidFill>
            <a:srgbClr val="E8F1EF"/>
          </a:solidFill>
          <a:ln w="12700">
            <a:solidFill>
              <a:srgbClr val="E8F1EF"/>
            </a:solidFill>
            <a:prstDash val="solid"/>
          </a:ln>
        </p:spPr>
      </p:sp>
      <p:sp>
        <p:nvSpPr>
          <p:cNvPr id="8" name="Shape 6"/>
          <p:cNvSpPr/>
          <p:nvPr/>
        </p:nvSpPr>
        <p:spPr>
          <a:xfrm>
            <a:off x="6464808" y="2075688"/>
            <a:ext cx="5178247" cy="907542"/>
          </a:xfrm>
          <a:prstGeom prst="roundRect">
            <a:avLst>
              <a:gd name="adj" fmla="val 12091"/>
            </a:avLst>
          </a:prstGeom>
          <a:solidFill>
            <a:srgbClr val="F8EFDF"/>
          </a:solidFill>
          <a:ln w="12700">
            <a:solidFill>
              <a:srgbClr val="F8EFDF"/>
            </a:solidFill>
            <a:prstDash val="solid"/>
          </a:ln>
        </p:spPr>
      </p:sp>
      <p:sp>
        <p:nvSpPr>
          <p:cNvPr id="9" name="Text 7"/>
          <p:cNvSpPr txBox="1"/>
          <p:nvPr/>
        </p:nvSpPr>
        <p:spPr>
          <a:xfrm>
            <a:off x="777240" y="2075688"/>
            <a:ext cx="4709160"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The surrogate decides as the person would have decided</a:t>
            </a:r>
            <a:endParaRPr lang="en-US" sz="1700" dirty="0"/>
          </a:p>
        </p:txBody>
      </p:sp>
      <p:sp>
        <p:nvSpPr>
          <p:cNvPr id="10" name="Text 8"/>
          <p:cNvSpPr txBox="1"/>
          <p:nvPr/>
        </p:nvSpPr>
        <p:spPr>
          <a:xfrm>
            <a:off x="6693408" y="2075688"/>
            <a:ext cx="4721047"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The surrogate decides what is best for the person</a:t>
            </a:r>
            <a:endParaRPr lang="en-US" sz="1700" dirty="0"/>
          </a:p>
        </p:txBody>
      </p:sp>
      <p:sp>
        <p:nvSpPr>
          <p:cNvPr id="11" name="Shape 9"/>
          <p:cNvSpPr/>
          <p:nvPr/>
        </p:nvSpPr>
        <p:spPr>
          <a:xfrm>
            <a:off x="5934456" y="2346579"/>
            <a:ext cx="365760" cy="365760"/>
          </a:xfrm>
          <a:prstGeom prst="ellipse">
            <a:avLst/>
          </a:prstGeom>
          <a:solidFill>
            <a:srgbClr val="FFFFFF"/>
          </a:solidFill>
          <a:ln w="19050">
            <a:solidFill>
              <a:srgbClr val="C9DEDA"/>
            </a:solidFill>
            <a:prstDash val="solid"/>
          </a:ln>
        </p:spPr>
      </p:sp>
      <p:sp>
        <p:nvSpPr>
          <p:cNvPr id="12" name="Text 10"/>
          <p:cNvSpPr txBox="1"/>
          <p:nvPr/>
        </p:nvSpPr>
        <p:spPr>
          <a:xfrm>
            <a:off x="5934456" y="2346579"/>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548640" y="3129534"/>
            <a:ext cx="5166360" cy="907542"/>
          </a:xfrm>
          <a:prstGeom prst="roundRect">
            <a:avLst>
              <a:gd name="adj" fmla="val 12091"/>
            </a:avLst>
          </a:prstGeom>
          <a:solidFill>
            <a:srgbClr val="E8F1EF"/>
          </a:solidFill>
          <a:ln w="12700">
            <a:solidFill>
              <a:srgbClr val="E8F1EF"/>
            </a:solidFill>
            <a:prstDash val="solid"/>
          </a:ln>
        </p:spPr>
      </p:sp>
      <p:sp>
        <p:nvSpPr>
          <p:cNvPr id="14" name="Shape 12"/>
          <p:cNvSpPr/>
          <p:nvPr/>
        </p:nvSpPr>
        <p:spPr>
          <a:xfrm>
            <a:off x="6464808" y="3129534"/>
            <a:ext cx="5178247" cy="907542"/>
          </a:xfrm>
          <a:prstGeom prst="roundRect">
            <a:avLst>
              <a:gd name="adj" fmla="val 12091"/>
            </a:avLst>
          </a:prstGeom>
          <a:solidFill>
            <a:srgbClr val="F8EFDF"/>
          </a:solidFill>
          <a:ln w="12700">
            <a:solidFill>
              <a:srgbClr val="F8EFDF"/>
            </a:solidFill>
            <a:prstDash val="solid"/>
          </a:ln>
        </p:spPr>
      </p:sp>
      <p:sp>
        <p:nvSpPr>
          <p:cNvPr id="15" name="Text 13"/>
          <p:cNvSpPr txBox="1"/>
          <p:nvPr/>
        </p:nvSpPr>
        <p:spPr>
          <a:xfrm>
            <a:off x="777240" y="3129534"/>
            <a:ext cx="4709160"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Based on known values, wishes, and past statements</a:t>
            </a:r>
            <a:endParaRPr lang="en-US" sz="1700" dirty="0"/>
          </a:p>
        </p:txBody>
      </p:sp>
      <p:sp>
        <p:nvSpPr>
          <p:cNvPr id="16" name="Text 14"/>
          <p:cNvSpPr txBox="1"/>
          <p:nvPr/>
        </p:nvSpPr>
        <p:spPr>
          <a:xfrm>
            <a:off x="6693408" y="3129534"/>
            <a:ext cx="4721047"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Weighs benefits, burdens, comfort, and quality of life</a:t>
            </a:r>
            <a:endParaRPr lang="en-US" sz="1700" dirty="0"/>
          </a:p>
        </p:txBody>
      </p:sp>
      <p:sp>
        <p:nvSpPr>
          <p:cNvPr id="17" name="Shape 15"/>
          <p:cNvSpPr/>
          <p:nvPr/>
        </p:nvSpPr>
        <p:spPr>
          <a:xfrm>
            <a:off x="5934456" y="3400425"/>
            <a:ext cx="365760" cy="365760"/>
          </a:xfrm>
          <a:prstGeom prst="ellipse">
            <a:avLst/>
          </a:prstGeom>
          <a:solidFill>
            <a:srgbClr val="FFFFFF"/>
          </a:solidFill>
          <a:ln w="19050">
            <a:solidFill>
              <a:srgbClr val="C9DEDA"/>
            </a:solidFill>
            <a:prstDash val="solid"/>
          </a:ln>
        </p:spPr>
      </p:sp>
      <p:sp>
        <p:nvSpPr>
          <p:cNvPr id="18" name="Text 16"/>
          <p:cNvSpPr txBox="1"/>
          <p:nvPr/>
        </p:nvSpPr>
        <p:spPr>
          <a:xfrm>
            <a:off x="5934456" y="3400425"/>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548640" y="4183380"/>
            <a:ext cx="5166360" cy="907542"/>
          </a:xfrm>
          <a:prstGeom prst="roundRect">
            <a:avLst>
              <a:gd name="adj" fmla="val 12091"/>
            </a:avLst>
          </a:prstGeom>
          <a:solidFill>
            <a:srgbClr val="E8F1EF"/>
          </a:solidFill>
          <a:ln w="12700">
            <a:solidFill>
              <a:srgbClr val="E8F1EF"/>
            </a:solidFill>
            <a:prstDash val="solid"/>
          </a:ln>
        </p:spPr>
      </p:sp>
      <p:sp>
        <p:nvSpPr>
          <p:cNvPr id="20" name="Shape 18"/>
          <p:cNvSpPr/>
          <p:nvPr/>
        </p:nvSpPr>
        <p:spPr>
          <a:xfrm>
            <a:off x="6464808" y="4183380"/>
            <a:ext cx="5178247" cy="907542"/>
          </a:xfrm>
          <a:prstGeom prst="roundRect">
            <a:avLst>
              <a:gd name="adj" fmla="val 12091"/>
            </a:avLst>
          </a:prstGeom>
          <a:solidFill>
            <a:srgbClr val="F8EFDF"/>
          </a:solidFill>
          <a:ln w="12700">
            <a:solidFill>
              <a:srgbClr val="F8EFDF"/>
            </a:solidFill>
            <a:prstDash val="solid"/>
          </a:ln>
        </p:spPr>
      </p:sp>
      <p:sp>
        <p:nvSpPr>
          <p:cNvPr id="21" name="Text 19"/>
          <p:cNvSpPr txBox="1"/>
          <p:nvPr/>
        </p:nvSpPr>
        <p:spPr>
          <a:xfrm>
            <a:off x="777240" y="4183380"/>
            <a:ext cx="4709160"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Preferred standard when wishes are known</a:t>
            </a:r>
            <a:endParaRPr lang="en-US" sz="1700" dirty="0"/>
          </a:p>
        </p:txBody>
      </p:sp>
      <p:sp>
        <p:nvSpPr>
          <p:cNvPr id="22" name="Text 20"/>
          <p:cNvSpPr txBox="1"/>
          <p:nvPr/>
        </p:nvSpPr>
        <p:spPr>
          <a:xfrm>
            <a:off x="6693408" y="4183380"/>
            <a:ext cx="4721047"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Used when wishes are unknown</a:t>
            </a:r>
            <a:endParaRPr lang="en-US" sz="1700" dirty="0"/>
          </a:p>
        </p:txBody>
      </p:sp>
      <p:sp>
        <p:nvSpPr>
          <p:cNvPr id="23" name="Shape 21"/>
          <p:cNvSpPr/>
          <p:nvPr/>
        </p:nvSpPr>
        <p:spPr>
          <a:xfrm>
            <a:off x="5934456" y="4454271"/>
            <a:ext cx="365760" cy="365760"/>
          </a:xfrm>
          <a:prstGeom prst="ellipse">
            <a:avLst/>
          </a:prstGeom>
          <a:solidFill>
            <a:srgbClr val="FFFFFF"/>
          </a:solidFill>
          <a:ln w="19050">
            <a:solidFill>
              <a:srgbClr val="C9DEDA"/>
            </a:solidFill>
            <a:prstDash val="solid"/>
          </a:ln>
        </p:spPr>
      </p:sp>
      <p:sp>
        <p:nvSpPr>
          <p:cNvPr id="24" name="Text 22"/>
          <p:cNvSpPr txBox="1"/>
          <p:nvPr/>
        </p:nvSpPr>
        <p:spPr>
          <a:xfrm>
            <a:off x="5934456" y="4454271"/>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548640" y="5237226"/>
            <a:ext cx="5166360" cy="907542"/>
          </a:xfrm>
          <a:prstGeom prst="roundRect">
            <a:avLst>
              <a:gd name="adj" fmla="val 12091"/>
            </a:avLst>
          </a:prstGeom>
          <a:solidFill>
            <a:srgbClr val="E8F1EF"/>
          </a:solidFill>
          <a:ln w="12700">
            <a:solidFill>
              <a:srgbClr val="E8F1EF"/>
            </a:solidFill>
            <a:prstDash val="solid"/>
          </a:ln>
        </p:spPr>
      </p:sp>
      <p:sp>
        <p:nvSpPr>
          <p:cNvPr id="26" name="Shape 24"/>
          <p:cNvSpPr/>
          <p:nvPr/>
        </p:nvSpPr>
        <p:spPr>
          <a:xfrm>
            <a:off x="6464808" y="5237226"/>
            <a:ext cx="5178247" cy="907542"/>
          </a:xfrm>
          <a:prstGeom prst="roundRect">
            <a:avLst>
              <a:gd name="adj" fmla="val 12091"/>
            </a:avLst>
          </a:prstGeom>
          <a:solidFill>
            <a:srgbClr val="F8EFDF"/>
          </a:solidFill>
          <a:ln w="12700">
            <a:solidFill>
              <a:srgbClr val="F8EFDF"/>
            </a:solidFill>
            <a:prstDash val="solid"/>
          </a:ln>
        </p:spPr>
      </p:sp>
      <p:sp>
        <p:nvSpPr>
          <p:cNvPr id="27" name="Text 25"/>
          <p:cNvSpPr txBox="1"/>
          <p:nvPr/>
        </p:nvSpPr>
        <p:spPr>
          <a:xfrm>
            <a:off x="777240" y="5237226"/>
            <a:ext cx="4709160"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"What would Dad choose if he could tell us?"</a:t>
            </a:r>
            <a:endParaRPr lang="en-US" sz="1700" dirty="0"/>
          </a:p>
        </p:txBody>
      </p:sp>
      <p:sp>
        <p:nvSpPr>
          <p:cNvPr id="28" name="Text 26"/>
          <p:cNvSpPr txBox="1"/>
          <p:nvPr/>
        </p:nvSpPr>
        <p:spPr>
          <a:xfrm>
            <a:off x="6693408" y="5237226"/>
            <a:ext cx="4721047" cy="907542"/>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"What would be best for Dad now?"</a:t>
            </a:r>
            <a:endParaRPr lang="en-US" sz="1700" dirty="0"/>
          </a:p>
        </p:txBody>
      </p:sp>
      <p:sp>
        <p:nvSpPr>
          <p:cNvPr id="29" name="Shape 27"/>
          <p:cNvSpPr/>
          <p:nvPr/>
        </p:nvSpPr>
        <p:spPr>
          <a:xfrm>
            <a:off x="5934456" y="5508117"/>
            <a:ext cx="365760" cy="365760"/>
          </a:xfrm>
          <a:prstGeom prst="ellipse">
            <a:avLst/>
          </a:prstGeom>
          <a:solidFill>
            <a:srgbClr val="FFFFFF"/>
          </a:solidFill>
          <a:ln w="19050">
            <a:solidFill>
              <a:srgbClr val="C9DEDA"/>
            </a:solidFill>
            <a:prstDash val="solid"/>
          </a:ln>
        </p:spPr>
      </p:sp>
      <p:sp>
        <p:nvSpPr>
          <p:cNvPr id="30" name="Text 28"/>
          <p:cNvSpPr txBox="1"/>
          <p:nvPr/>
        </p:nvSpPr>
        <p:spPr>
          <a:xfrm>
            <a:off x="5934456" y="5508117"/>
            <a:ext cx="365760" cy="365760"/>
          </a:xfrm>
          <a:prstGeom prst="rect">
            <a:avLst/>
          </a:prstGeom>
          <a:noFill/>
          <a:ln/>
        </p:spPr>
        <p:txBody>
          <a:bodyPr wrap="square" lIns="0" tIns="0" rIns="0" bIns="0" rtlCol="0" anchor="ctr"/>
          <a:lstStyle/>
          <a:p>
            <a:pPr algn="ctr" indent="0" marL="0">
              <a:buNone/>
            </a:pPr>
            <a:r>
              <a:rPr lang="en-US" sz="1600" b="1" dirty="0">
                <a:solidFill>
                  <a:srgbClr val="28695F"/>
                </a:solidFill>
                <a:latin typeface="Calibri" pitchFamily="34" charset="0"/>
                <a:ea typeface="Calibri" pitchFamily="34" charset="-122"/>
                <a:cs typeface="Calibri" pitchFamily="34" charset="-120"/>
              </a:rPr>
              <a:t>→</a:t>
            </a:r>
            <a:endParaRPr lang="en-US" sz="1600" dirty="0"/>
          </a:p>
        </p:txBody>
      </p:sp>
      <p:pic>
        <p:nvPicPr>
          <p:cNvPr id="31"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32" name="Text 29"/>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33" name="Text 30"/>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Supported Decision-Making</a:t>
            </a:r>
            <a:endParaRPr lang="en-US" sz="3000" dirty="0"/>
          </a:p>
        </p:txBody>
      </p:sp>
      <p:sp>
        <p:nvSpPr>
          <p:cNvPr id="3" name="Text 1"/>
          <p:cNvSpPr txBox="1"/>
          <p:nvPr/>
        </p:nvSpPr>
        <p:spPr>
          <a:xfrm>
            <a:off x="548640" y="1188720"/>
            <a:ext cx="11094415" cy="457200"/>
          </a:xfrm>
          <a:prstGeom prst="rect">
            <a:avLst/>
          </a:prstGeom>
          <a:noFill/>
          <a:ln/>
        </p:spPr>
        <p:txBody>
          <a:bodyPr wrap="square" lIns="0" tIns="0" rIns="0" bIns="0" rtlCol="0" anchor="ctr"/>
          <a:lstStyle/>
          <a:p>
            <a:pPr indent="0" marL="0">
              <a:buNone/>
            </a:pPr>
            <a:r>
              <a:rPr lang="en-US" sz="1600" i="1" dirty="0">
                <a:solidFill>
                  <a:srgbClr val="5E6B68"/>
                </a:solidFill>
                <a:latin typeface="Calibri" pitchFamily="34" charset="0"/>
                <a:ea typeface="Calibri" pitchFamily="34" charset="-122"/>
                <a:cs typeface="Calibri" pitchFamily="34" charset="-120"/>
              </a:rPr>
              <a:t>Helping people make their own decisions, with support, for as long as possible.</a:t>
            </a:r>
            <a:endParaRPr lang="en-US" sz="1600" dirty="0"/>
          </a:p>
        </p:txBody>
      </p:sp>
      <p:sp>
        <p:nvSpPr>
          <p:cNvPr id="4" name="Text 2"/>
          <p:cNvSpPr txBox="1"/>
          <p:nvPr/>
        </p:nvSpPr>
        <p:spPr>
          <a:xfrm>
            <a:off x="548640" y="1828800"/>
            <a:ext cx="8961120" cy="429768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Simplify information: </a:t>
            </a:r>
            <a:r>
              <a:rPr lang="en-US" sz="1900" dirty="0">
                <a:solidFill>
                  <a:srgbClr val="24302D"/>
                </a:solidFill>
                <a:latin typeface="Calibri" pitchFamily="34" charset="0"/>
                <a:ea typeface="Calibri" pitchFamily="34" charset="-122"/>
                <a:cs typeface="Calibri" pitchFamily="34" charset="-120"/>
              </a:rPr>
              <a:t>one decision at a time, in plain language, with pictures or written notes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Choose the best time: </a:t>
            </a:r>
            <a:r>
              <a:rPr lang="en-US" sz="1900" dirty="0">
                <a:solidFill>
                  <a:srgbClr val="24302D"/>
                </a:solidFill>
                <a:latin typeface="Calibri" pitchFamily="34" charset="0"/>
                <a:ea typeface="Calibri" pitchFamily="34" charset="-122"/>
                <a:cs typeface="Calibri" pitchFamily="34" charset="-120"/>
              </a:rPr>
              <a:t>when the person is rested and alert, in a quiet setting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Include trusted supporters </a:t>
            </a:r>
            <a:r>
              <a:rPr lang="en-US" sz="1900" dirty="0">
                <a:solidFill>
                  <a:srgbClr val="24302D"/>
                </a:solidFill>
                <a:latin typeface="Calibri" pitchFamily="34" charset="0"/>
                <a:ea typeface="Calibri" pitchFamily="34" charset="-122"/>
                <a:cs typeface="Calibri" pitchFamily="34" charset="-120"/>
              </a:rPr>
              <a:t>the person chooses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Offer clear options </a:t>
            </a:r>
            <a:r>
              <a:rPr lang="en-US" sz="1900" dirty="0">
                <a:solidFill>
                  <a:srgbClr val="24302D"/>
                </a:solidFill>
                <a:latin typeface="Calibri" pitchFamily="34" charset="0"/>
                <a:ea typeface="Calibri" pitchFamily="34" charset="-122"/>
                <a:cs typeface="Calibri" pitchFamily="34" charset="-120"/>
              </a:rPr>
              <a:t>rather than open-ended questions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Check understanding </a:t>
            </a:r>
            <a:r>
              <a:rPr lang="en-US" sz="1900" dirty="0">
                <a:solidFill>
                  <a:srgbClr val="24302D"/>
                </a:solidFill>
                <a:latin typeface="Calibri" pitchFamily="34" charset="0"/>
                <a:ea typeface="Calibri" pitchFamily="34" charset="-122"/>
                <a:cs typeface="Calibri" pitchFamily="34" charset="-120"/>
              </a:rPr>
              <a:t>with teach-back, and allow time</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Respect the choice, </a:t>
            </a:r>
            <a:r>
              <a:rPr lang="en-US" sz="1900" dirty="0">
                <a:solidFill>
                  <a:srgbClr val="24302D"/>
                </a:solidFill>
                <a:latin typeface="Calibri" pitchFamily="34" charset="0"/>
                <a:ea typeface="Calibri" pitchFamily="34" charset="-122"/>
                <a:cs typeface="Calibri" pitchFamily="34" charset="-120"/>
              </a:rPr>
              <a:t>including choices others may not agree with, when the person has capacity</a:t>
            </a:r>
            <a:endParaRPr lang="en-US" sz="1900" dirty="0"/>
          </a:p>
        </p:txBody>
      </p:sp>
      <p:pic>
        <p:nvPicPr>
          <p:cNvPr id="5"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6"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7" name="Text 3"/>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8" name="Text 4"/>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Capacity Scenarios</a:t>
            </a:r>
            <a:endParaRPr lang="en-US" sz="3000" dirty="0"/>
          </a:p>
        </p:txBody>
      </p:sp>
      <p:sp>
        <p:nvSpPr>
          <p:cNvPr id="3" name="Shape 1"/>
          <p:cNvSpPr/>
          <p:nvPr/>
        </p:nvSpPr>
        <p:spPr>
          <a:xfrm>
            <a:off x="548640" y="1417320"/>
            <a:ext cx="3566160" cy="4709160"/>
          </a:xfrm>
          <a:prstGeom prst="roundRect">
            <a:avLst>
              <a:gd name="adj" fmla="val 3077"/>
            </a:avLst>
          </a:prstGeom>
          <a:solidFill>
            <a:srgbClr val="F8EFDF"/>
          </a:solidFill>
          <a:ln w="12700">
            <a:solidFill>
              <a:srgbClr val="F8EFDF"/>
            </a:solidFill>
            <a:prstDash val="solid"/>
          </a:ln>
        </p:spPr>
      </p:sp>
      <p:sp>
        <p:nvSpPr>
          <p:cNvPr id="4" name="Shape 2"/>
          <p:cNvSpPr/>
          <p:nvPr/>
        </p:nvSpPr>
        <p:spPr>
          <a:xfrm>
            <a:off x="1691640" y="1783080"/>
            <a:ext cx="1280160" cy="1280160"/>
          </a:xfrm>
          <a:prstGeom prst="ellipse">
            <a:avLst/>
          </a:prstGeom>
          <a:solidFill>
            <a:srgbClr val="C78F2E"/>
          </a:solidFill>
          <a:ln w="12700">
            <a:solidFill>
              <a:srgbClr val="C78F2E"/>
            </a:solidFill>
            <a:prstDash val="solid"/>
          </a:ln>
        </p:spPr>
      </p:sp>
      <p:pic>
        <p:nvPicPr>
          <p:cNvPr id="5" name="Image 0" descr="preencoded.png">    </p:cNvPr>
          <p:cNvPicPr>
            <a:picLocks noChangeAspect="1"/>
          </p:cNvPicPr>
          <p:nvPr/>
        </p:nvPicPr>
        <p:blipFill>
          <a:blip r:embed="rId1"/>
          <a:stretch>
            <a:fillRect/>
          </a:stretch>
        </p:blipFill>
        <p:spPr>
          <a:xfrm>
            <a:off x="1965960" y="2057400"/>
            <a:ext cx="731520" cy="731520"/>
          </a:xfrm>
          <a:prstGeom prst="rect">
            <a:avLst/>
          </a:prstGeom>
        </p:spPr>
      </p:pic>
      <p:sp>
        <p:nvSpPr>
          <p:cNvPr id="6" name="Text 3"/>
          <p:cNvSpPr txBox="1"/>
          <p:nvPr/>
        </p:nvSpPr>
        <p:spPr>
          <a:xfrm>
            <a:off x="548640" y="3246120"/>
            <a:ext cx="3566160" cy="320040"/>
          </a:xfrm>
          <a:prstGeom prst="rect">
            <a:avLst/>
          </a:prstGeom>
          <a:noFill/>
          <a:ln/>
        </p:spPr>
        <p:txBody>
          <a:bodyPr wrap="square" lIns="0" tIns="0" rIns="0" bIns="0" rtlCol="0" anchor="t"/>
          <a:lstStyle/>
          <a:p>
            <a:pPr algn="ctr" indent="0" marL="0">
              <a:buNone/>
            </a:pPr>
            <a:r>
              <a:rPr lang="en-US" sz="1200" b="1" spc="300" kern="0" dirty="0">
                <a:solidFill>
                  <a:srgbClr val="C78F2E"/>
                </a:solidFill>
                <a:latin typeface="Calibri" pitchFamily="34" charset="0"/>
                <a:ea typeface="Calibri" pitchFamily="34" charset="-122"/>
                <a:cs typeface="Calibri" pitchFamily="34" charset="-120"/>
              </a:rPr>
              <a:t>ACTIVITY</a:t>
            </a:r>
            <a:endParaRPr lang="en-US" sz="1200" dirty="0"/>
          </a:p>
        </p:txBody>
      </p:sp>
      <p:sp>
        <p:nvSpPr>
          <p:cNvPr id="7" name="Text 4"/>
          <p:cNvSpPr txBox="1"/>
          <p:nvPr/>
        </p:nvSpPr>
        <p:spPr>
          <a:xfrm>
            <a:off x="548640" y="3611880"/>
            <a:ext cx="3566160" cy="548640"/>
          </a:xfrm>
          <a:prstGeom prst="rect">
            <a:avLst/>
          </a:prstGeom>
          <a:noFill/>
          <a:ln/>
        </p:spPr>
        <p:txBody>
          <a:bodyPr wrap="square" lIns="0" tIns="0" rIns="0" bIns="0" rtlCol="0" anchor="ctr"/>
          <a:lstStyle/>
          <a:p>
            <a:pPr algn="ctr" indent="0" marL="0">
              <a:buNone/>
            </a:pPr>
            <a:r>
              <a:rPr lang="en-US" sz="2600" b="1" dirty="0">
                <a:solidFill>
                  <a:srgbClr val="28695F"/>
                </a:solidFill>
                <a:latin typeface="Cambria" pitchFamily="34" charset="0"/>
                <a:ea typeface="Cambria" pitchFamily="34" charset="-122"/>
                <a:cs typeface="Cambria" pitchFamily="34" charset="-120"/>
              </a:rPr>
              <a:t>12 minutes</a:t>
            </a:r>
            <a:endParaRPr lang="en-US" sz="2600" dirty="0"/>
          </a:p>
        </p:txBody>
      </p:sp>
      <p:sp>
        <p:nvSpPr>
          <p:cNvPr id="8" name="Text 5"/>
          <p:cNvSpPr txBox="1"/>
          <p:nvPr/>
        </p:nvSpPr>
        <p:spPr>
          <a:xfrm>
            <a:off x="822960" y="4251960"/>
            <a:ext cx="3017520" cy="1645920"/>
          </a:xfrm>
          <a:prstGeom prst="rect">
            <a:avLst/>
          </a:prstGeom>
          <a:noFill/>
          <a:ln/>
        </p:spPr>
        <p:txBody>
          <a:bodyPr wrap="square" lIns="0" tIns="0" rIns="0" bIns="0" rtlCol="0" anchor="t"/>
          <a:lstStyle/>
          <a:p>
            <a:pPr algn="ctr" indent="0" marL="0">
              <a:buNone/>
            </a:pPr>
            <a:r>
              <a:rPr lang="en-US" sz="1500" dirty="0">
                <a:solidFill>
                  <a:srgbClr val="24302D"/>
                </a:solidFill>
                <a:latin typeface="Calibri" pitchFamily="34" charset="0"/>
                <a:ea typeface="Calibri" pitchFamily="34" charset="-122"/>
                <a:cs typeface="Calibri" pitchFamily="34" charset="-120"/>
              </a:rPr>
              <a:t>Small groups; one scenario card per group</a:t>
            </a:r>
            <a:endParaRPr lang="en-US" sz="1500" dirty="0"/>
          </a:p>
        </p:txBody>
      </p:sp>
      <p:sp>
        <p:nvSpPr>
          <p:cNvPr id="9" name="Text 6"/>
          <p:cNvSpPr txBox="1"/>
          <p:nvPr/>
        </p:nvSpPr>
        <p:spPr>
          <a:xfrm>
            <a:off x="4526280" y="1417320"/>
            <a:ext cx="7116775" cy="502920"/>
          </a:xfrm>
          <a:prstGeom prst="rect">
            <a:avLst/>
          </a:prstGeom>
          <a:noFill/>
          <a:ln/>
        </p:spPr>
        <p:txBody>
          <a:bodyPr wrap="square" lIns="0" tIns="0" rIns="0" bIns="0" rtlCol="0" anchor="ctr"/>
          <a:lstStyle/>
          <a:p>
            <a:pPr indent="0" marL="0">
              <a:buNone/>
            </a:pPr>
            <a:r>
              <a:rPr lang="en-US" sz="2000" b="1" dirty="0">
                <a:solidFill>
                  <a:srgbClr val="28695F"/>
                </a:solidFill>
                <a:latin typeface="Cambria" pitchFamily="34" charset="0"/>
                <a:ea typeface="Cambria" pitchFamily="34" charset="-122"/>
                <a:cs typeface="Cambria" pitchFamily="34" charset="-120"/>
              </a:rPr>
              <a:t>Instructions</a:t>
            </a:r>
            <a:endParaRPr lang="en-US" sz="2000" dirty="0"/>
          </a:p>
        </p:txBody>
      </p:sp>
      <p:sp>
        <p:nvSpPr>
          <p:cNvPr id="10" name="Text 7"/>
          <p:cNvSpPr txBox="1"/>
          <p:nvPr/>
        </p:nvSpPr>
        <p:spPr>
          <a:xfrm>
            <a:off x="4526280" y="2103120"/>
            <a:ext cx="7116775" cy="402336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Read your scenario and identify the specific decision involved</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Use the four abilities to organize what you observe</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Decide what you would report to the clinician</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Identify supported decision-making strategies that could help</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Share your reasoning with the group</a:t>
            </a:r>
            <a:endParaRPr lang="en-US" sz="1600" dirty="0"/>
          </a:p>
        </p:txBody>
      </p:sp>
      <p:pic>
        <p:nvPicPr>
          <p:cNvPr id="11"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2" name="Text 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13" name="Text 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Case Study</a:t>
            </a:r>
            <a:endParaRPr lang="en-US" sz="3000" dirty="0"/>
          </a:p>
        </p:txBody>
      </p:sp>
      <p:sp>
        <p:nvSpPr>
          <p:cNvPr id="3" name="Shape 1"/>
          <p:cNvSpPr/>
          <p:nvPr/>
        </p:nvSpPr>
        <p:spPr>
          <a:xfrm>
            <a:off x="548640" y="1417320"/>
            <a:ext cx="6583680" cy="4709160"/>
          </a:xfrm>
          <a:prstGeom prst="roundRect">
            <a:avLst>
              <a:gd name="adj" fmla="val 2330"/>
            </a:avLst>
          </a:prstGeom>
          <a:solidFill>
            <a:srgbClr val="E8F1EF"/>
          </a:solidFill>
          <a:ln w="12700">
            <a:solidFill>
              <a:srgbClr val="E8F1EF"/>
            </a:solidFill>
            <a:prstDash val="solid"/>
          </a:ln>
        </p:spPr>
      </p:sp>
      <p:sp>
        <p:nvSpPr>
          <p:cNvPr id="4" name="Text 2"/>
          <p:cNvSpPr txBox="1"/>
          <p:nvPr/>
        </p:nvSpPr>
        <p:spPr>
          <a:xfrm>
            <a:off x="868680" y="1645920"/>
            <a:ext cx="2743200" cy="274320"/>
          </a:xfrm>
          <a:prstGeom prst="rect">
            <a:avLst/>
          </a:prstGeom>
          <a:noFill/>
          <a:ln/>
        </p:spPr>
        <p:txBody>
          <a:bodyPr wrap="square" lIns="0" tIns="0" rIns="0" bIns="0" rtlCol="0" anchor="t"/>
          <a:lstStyle/>
          <a:p>
            <a:pPr indent="0" marL="0">
              <a:buNone/>
            </a:pPr>
            <a:r>
              <a:rPr lang="en-US" sz="1100" b="1" spc="300" kern="0" dirty="0">
                <a:solidFill>
                  <a:srgbClr val="C78F2E"/>
                </a:solidFill>
                <a:latin typeface="Calibri" pitchFamily="34" charset="0"/>
                <a:ea typeface="Calibri" pitchFamily="34" charset="-122"/>
                <a:cs typeface="Calibri" pitchFamily="34" charset="-120"/>
              </a:rPr>
              <a:t>CASE STUDY</a:t>
            </a:r>
            <a:endParaRPr lang="en-US" sz="1100" dirty="0"/>
          </a:p>
        </p:txBody>
      </p:sp>
      <p:sp>
        <p:nvSpPr>
          <p:cNvPr id="5" name="Text 3"/>
          <p:cNvSpPr txBox="1"/>
          <p:nvPr/>
        </p:nvSpPr>
        <p:spPr>
          <a:xfrm>
            <a:off x="868680" y="1920240"/>
            <a:ext cx="5943600" cy="548640"/>
          </a:xfrm>
          <a:prstGeom prst="rect">
            <a:avLst/>
          </a:prstGeom>
          <a:noFill/>
          <a:ln/>
        </p:spPr>
        <p:txBody>
          <a:bodyPr wrap="square" lIns="0" tIns="0" rIns="0" bIns="0" rtlCol="0" anchor="ctr"/>
          <a:lstStyle/>
          <a:p>
            <a:pPr indent="0" marL="0">
              <a:buNone/>
            </a:pPr>
            <a:r>
              <a:rPr lang="en-US" sz="2200" b="1" dirty="0">
                <a:solidFill>
                  <a:srgbClr val="28695F"/>
                </a:solidFill>
                <a:latin typeface="Cambria" pitchFamily="34" charset="0"/>
                <a:ea typeface="Cambria" pitchFamily="34" charset="-122"/>
                <a:cs typeface="Cambria" pitchFamily="34" charset="-120"/>
              </a:rPr>
              <a:t>Mrs. Chen, age 74</a:t>
            </a:r>
            <a:endParaRPr lang="en-US" sz="2200" dirty="0"/>
          </a:p>
        </p:txBody>
      </p:sp>
      <p:sp>
        <p:nvSpPr>
          <p:cNvPr id="6" name="Text 4"/>
          <p:cNvSpPr txBox="1"/>
          <p:nvPr/>
        </p:nvSpPr>
        <p:spPr>
          <a:xfrm>
            <a:off x="868680" y="2560320"/>
            <a:ext cx="5943600" cy="3383280"/>
          </a:xfrm>
          <a:prstGeom prst="rect">
            <a:avLst/>
          </a:prstGeom>
          <a:noFill/>
          <a:ln/>
        </p:spPr>
        <p:txBody>
          <a:bodyPr wrap="square" lIns="0" tIns="0" rIns="0" bIns="0" rtlCol="0" anchor="t"/>
          <a:lstStyle/>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Mrs. Chen was diagnosed with early-stage Alzheimer's disease six months ago. She lives alone, manages most of her daily needs, and has told you clearly, "I want to stay in my own home as long as I can." She has no advance directive.</a:t>
            </a:r>
            <a:endParaRPr lang="en-US" sz="1700" dirty="0"/>
          </a:p>
          <a:p>
            <a:pPr indent="0" marL="0">
              <a:spcAft>
                <a:spcPts val="1000"/>
              </a:spcAft>
              <a:buNone/>
            </a:pPr>
            <a:r>
              <a:rPr lang="en-US" sz="1700" dirty="0">
                <a:solidFill>
                  <a:srgbClr val="24302D"/>
                </a:solidFill>
                <a:latin typeface="Calibri" pitchFamily="34" charset="0"/>
                <a:ea typeface="Calibri" pitchFamily="34" charset="-122"/>
                <a:cs typeface="Calibri" pitchFamily="34" charset="-120"/>
              </a:rPr>
              <a:t>Her son, David, lives nearby and believes she should move to assisted living "before something happens." He asks you to help convince her and says he should be the one making decisions now because "she has dementia."</a:t>
            </a:r>
            <a:endParaRPr lang="en-US" sz="1700" dirty="0"/>
          </a:p>
        </p:txBody>
      </p:sp>
      <p:pic>
        <p:nvPicPr>
          <p:cNvPr id="7" name="Image 0" descr="preencoded.png">    </p:cNvPr>
          <p:cNvPicPr>
            <a:picLocks noChangeAspect="1"/>
          </p:cNvPicPr>
          <p:nvPr/>
        </p:nvPicPr>
        <p:blipFill>
          <a:blip r:embed="rId1"/>
          <a:stretch>
            <a:fillRect/>
          </a:stretch>
        </p:blipFill>
        <p:spPr>
          <a:xfrm>
            <a:off x="7543800" y="1508760"/>
            <a:ext cx="502920" cy="502920"/>
          </a:xfrm>
          <a:prstGeom prst="rect">
            <a:avLst/>
          </a:prstGeom>
        </p:spPr>
      </p:pic>
      <p:sp>
        <p:nvSpPr>
          <p:cNvPr id="8" name="Text 5"/>
          <p:cNvSpPr txBox="1"/>
          <p:nvPr/>
        </p:nvSpPr>
        <p:spPr>
          <a:xfrm>
            <a:off x="8183880" y="1508760"/>
            <a:ext cx="3459175" cy="502920"/>
          </a:xfrm>
          <a:prstGeom prst="rect">
            <a:avLst/>
          </a:prstGeom>
          <a:noFill/>
          <a:ln/>
        </p:spPr>
        <p:txBody>
          <a:bodyPr wrap="square" lIns="0" tIns="0" rIns="0" bIns="0" rtlCol="0" anchor="ctr"/>
          <a:lstStyle/>
          <a:p>
            <a:pPr indent="0" marL="0">
              <a:buNone/>
            </a:pPr>
            <a:r>
              <a:rPr lang="en-US" sz="2000" b="1" dirty="0">
                <a:solidFill>
                  <a:srgbClr val="C78F2E"/>
                </a:solidFill>
                <a:latin typeface="Cambria" pitchFamily="34" charset="0"/>
                <a:ea typeface="Cambria" pitchFamily="34" charset="-122"/>
                <a:cs typeface="Cambria" pitchFamily="34" charset="-120"/>
              </a:rPr>
              <a:t>Discuss</a:t>
            </a:r>
            <a:endParaRPr lang="en-US" sz="2000" dirty="0"/>
          </a:p>
        </p:txBody>
      </p:sp>
      <p:sp>
        <p:nvSpPr>
          <p:cNvPr id="9" name="Text 6"/>
          <p:cNvSpPr txBox="1"/>
          <p:nvPr/>
        </p:nvSpPr>
        <p:spPr>
          <a:xfrm>
            <a:off x="7543800" y="2240280"/>
            <a:ext cx="4099255" cy="3886200"/>
          </a:xfrm>
          <a:prstGeom prst="rect">
            <a:avLst/>
          </a:prstGeom>
          <a:noFill/>
          <a:ln/>
        </p:spPr>
        <p:txBody>
          <a:bodyPr wrap="square" lIns="0" tIns="0" rIns="0" bIns="0" rtlCol="0" anchor="t"/>
          <a:lstStyle/>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Does Mrs. Chen's diagnosis mean she lacks capacity?</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would you respond to David?</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How can you support Mrs. Chen in advance care planning now?</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What values questions would you ask?</a:t>
            </a:r>
            <a:endParaRPr lang="en-US" sz="1600" dirty="0"/>
          </a:p>
          <a:p>
            <a:pPr marL="254000" indent="-254000">
              <a:spcAft>
                <a:spcPts val="1200"/>
              </a:spcAft>
              <a:buSzPct val="100000"/>
              <a:buFont typeface="+mj-lt"/>
              <a:buAutoNum type="arabicPeriod" startAt="1"/>
            </a:pPr>
            <a:r>
              <a:rPr lang="en-US" sz="1600" dirty="0">
                <a:solidFill>
                  <a:srgbClr val="24302D"/>
                </a:solidFill>
                <a:latin typeface="Calibri" pitchFamily="34" charset="0"/>
                <a:ea typeface="Calibri" pitchFamily="34" charset="-122"/>
                <a:cs typeface="Calibri" pitchFamily="34" charset="-120"/>
              </a:rPr>
              <a:t>When would you involve the clinician?</a:t>
            </a:r>
            <a:endParaRPr lang="en-US" sz="1600" dirty="0"/>
          </a:p>
        </p:txBody>
      </p:sp>
      <p:pic>
        <p:nvPicPr>
          <p:cNvPr id="10"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11" name="Text 7"/>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12"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Which statement about decision-making capacity is TRUE?</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 dementia diagnosis means the person lacks capacity</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Capacity is decision-specific and can fluctuate</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Care navigators determine capacity</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Capacity and legal competence are the same thing</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What is the main difference between an advance directive and a POLST-type form?</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There is no difference</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 POLST is completed by the individual without a clinician</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An advance directive states wishes and names a decision-maker; a POLST is a clinician-signed medical order for current care</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An advance directive is only for people with terminal illness</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Knowledge Check</a:t>
            </a:r>
            <a:endParaRPr lang="en-US" sz="3000" dirty="0"/>
          </a:p>
        </p:txBody>
      </p:sp>
      <p:sp>
        <p:nvSpPr>
          <p:cNvPr id="3" name="Text 1"/>
          <p:cNvSpPr txBox="1"/>
          <p:nvPr/>
        </p:nvSpPr>
        <p:spPr>
          <a:xfrm>
            <a:off x="548640" y="1371600"/>
            <a:ext cx="11094415" cy="1097280"/>
          </a:xfrm>
          <a:prstGeom prst="rect">
            <a:avLst/>
          </a:prstGeom>
          <a:noFill/>
          <a:ln/>
        </p:spPr>
        <p:txBody>
          <a:bodyPr wrap="square" lIns="0" tIns="0" rIns="0" bIns="0" rtlCol="0" anchor="ctr"/>
          <a:lstStyle/>
          <a:p>
            <a:pPr indent="0" marL="0">
              <a:buNone/>
            </a:pPr>
            <a:r>
              <a:rPr lang="en-US" sz="2200" dirty="0">
                <a:solidFill>
                  <a:srgbClr val="24302D"/>
                </a:solidFill>
                <a:latin typeface="Cambria" pitchFamily="34" charset="0"/>
                <a:ea typeface="Cambria" pitchFamily="34" charset="-122"/>
                <a:cs typeface="Cambria" pitchFamily="34" charset="-120"/>
              </a:rPr>
              <a:t>Two adult children disagree about their mother's care. What should the navigator do first?</a:t>
            </a:r>
            <a:endParaRPr lang="en-US" sz="2200" dirty="0"/>
          </a:p>
        </p:txBody>
      </p:sp>
      <p:sp>
        <p:nvSpPr>
          <p:cNvPr id="4" name="Shape 2"/>
          <p:cNvSpPr/>
          <p:nvPr/>
        </p:nvSpPr>
        <p:spPr>
          <a:xfrm>
            <a:off x="548640" y="2743200"/>
            <a:ext cx="5410048" cy="1463040"/>
          </a:xfrm>
          <a:prstGeom prst="roundRect">
            <a:avLst>
              <a:gd name="adj" fmla="val 7500"/>
            </a:avLst>
          </a:prstGeom>
          <a:solidFill>
            <a:srgbClr val="E8F1EF"/>
          </a:solidFill>
          <a:ln w="12700">
            <a:solidFill>
              <a:srgbClr val="E8F1EF"/>
            </a:solidFill>
            <a:prstDash val="solid"/>
          </a:ln>
        </p:spPr>
      </p:sp>
      <p:sp>
        <p:nvSpPr>
          <p:cNvPr id="5" name="Shape 3"/>
          <p:cNvSpPr/>
          <p:nvPr/>
        </p:nvSpPr>
        <p:spPr>
          <a:xfrm>
            <a:off x="822960" y="3200400"/>
            <a:ext cx="548640" cy="548640"/>
          </a:xfrm>
          <a:prstGeom prst="ellipse">
            <a:avLst/>
          </a:prstGeom>
          <a:solidFill>
            <a:srgbClr val="28695F"/>
          </a:solidFill>
          <a:ln w="12700">
            <a:solidFill>
              <a:srgbClr val="28695F"/>
            </a:solidFill>
            <a:prstDash val="solid"/>
          </a:ln>
        </p:spPr>
      </p:sp>
      <p:sp>
        <p:nvSpPr>
          <p:cNvPr id="6" name="Text 4"/>
          <p:cNvSpPr txBox="1"/>
          <p:nvPr/>
        </p:nvSpPr>
        <p:spPr>
          <a:xfrm>
            <a:off x="822960"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7" name="Text 5"/>
          <p:cNvSpPr txBox="1"/>
          <p:nvPr/>
        </p:nvSpPr>
        <p:spPr>
          <a:xfrm>
            <a:off x="1600200"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Side with the child who visits most</a:t>
            </a:r>
            <a:endParaRPr lang="en-US" sz="1700" dirty="0"/>
          </a:p>
        </p:txBody>
      </p:sp>
      <p:sp>
        <p:nvSpPr>
          <p:cNvPr id="8" name="Shape 6"/>
          <p:cNvSpPr/>
          <p:nvPr/>
        </p:nvSpPr>
        <p:spPr>
          <a:xfrm>
            <a:off x="6233008" y="2743200"/>
            <a:ext cx="5410048" cy="1463040"/>
          </a:xfrm>
          <a:prstGeom prst="roundRect">
            <a:avLst>
              <a:gd name="adj" fmla="val 7500"/>
            </a:avLst>
          </a:prstGeom>
          <a:solidFill>
            <a:srgbClr val="F8EFDF"/>
          </a:solidFill>
          <a:ln w="12700">
            <a:solidFill>
              <a:srgbClr val="F8EFDF"/>
            </a:solidFill>
            <a:prstDash val="solid"/>
          </a:ln>
        </p:spPr>
      </p:sp>
      <p:sp>
        <p:nvSpPr>
          <p:cNvPr id="9" name="Shape 7"/>
          <p:cNvSpPr/>
          <p:nvPr/>
        </p:nvSpPr>
        <p:spPr>
          <a:xfrm>
            <a:off x="6507328" y="3200400"/>
            <a:ext cx="548640" cy="548640"/>
          </a:xfrm>
          <a:prstGeom prst="ellipse">
            <a:avLst/>
          </a:prstGeom>
          <a:solidFill>
            <a:srgbClr val="C78F2E"/>
          </a:solidFill>
          <a:ln w="12700">
            <a:solidFill>
              <a:srgbClr val="C78F2E"/>
            </a:solidFill>
            <a:prstDash val="solid"/>
          </a:ln>
        </p:spPr>
      </p:sp>
      <p:sp>
        <p:nvSpPr>
          <p:cNvPr id="10" name="Text 8"/>
          <p:cNvSpPr txBox="1"/>
          <p:nvPr/>
        </p:nvSpPr>
        <p:spPr>
          <a:xfrm>
            <a:off x="6507328" y="320040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1" name="Text 9"/>
          <p:cNvSpPr txBox="1"/>
          <p:nvPr/>
        </p:nvSpPr>
        <p:spPr>
          <a:xfrm>
            <a:off x="7284568" y="283464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Refocus on the mother's own wishes and documents, clarify the legal decision-maker, and involve the team</a:t>
            </a:r>
            <a:endParaRPr lang="en-US" sz="1700" dirty="0"/>
          </a:p>
        </p:txBody>
      </p:sp>
      <p:sp>
        <p:nvSpPr>
          <p:cNvPr id="12" name="Shape 10"/>
          <p:cNvSpPr/>
          <p:nvPr/>
        </p:nvSpPr>
        <p:spPr>
          <a:xfrm>
            <a:off x="548640" y="4480560"/>
            <a:ext cx="5410048" cy="1463040"/>
          </a:xfrm>
          <a:prstGeom prst="roundRect">
            <a:avLst>
              <a:gd name="adj" fmla="val 7500"/>
            </a:avLst>
          </a:prstGeom>
          <a:solidFill>
            <a:srgbClr val="E8F1EF"/>
          </a:solidFill>
          <a:ln w="12700">
            <a:solidFill>
              <a:srgbClr val="E8F1EF"/>
            </a:solidFill>
            <a:prstDash val="solid"/>
          </a:ln>
        </p:spPr>
      </p:sp>
      <p:sp>
        <p:nvSpPr>
          <p:cNvPr id="13" name="Shape 11"/>
          <p:cNvSpPr/>
          <p:nvPr/>
        </p:nvSpPr>
        <p:spPr>
          <a:xfrm>
            <a:off x="822960" y="4937760"/>
            <a:ext cx="548640" cy="548640"/>
          </a:xfrm>
          <a:prstGeom prst="ellipse">
            <a:avLst/>
          </a:prstGeom>
          <a:solidFill>
            <a:srgbClr val="28695F"/>
          </a:solidFill>
          <a:ln w="12700">
            <a:solidFill>
              <a:srgbClr val="28695F"/>
            </a:solidFill>
            <a:prstDash val="solid"/>
          </a:ln>
        </p:spPr>
      </p:sp>
      <p:sp>
        <p:nvSpPr>
          <p:cNvPr id="14" name="Text 1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15" name="Text 13"/>
          <p:cNvSpPr txBox="1"/>
          <p:nvPr/>
        </p:nvSpPr>
        <p:spPr>
          <a:xfrm>
            <a:off x="1600200"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Stop contact until they agree</a:t>
            </a:r>
            <a:endParaRPr lang="en-US" sz="1700" dirty="0"/>
          </a:p>
        </p:txBody>
      </p:sp>
      <p:sp>
        <p:nvSpPr>
          <p:cNvPr id="16" name="Shape 14"/>
          <p:cNvSpPr/>
          <p:nvPr/>
        </p:nvSpPr>
        <p:spPr>
          <a:xfrm>
            <a:off x="6233008" y="4480560"/>
            <a:ext cx="5410048" cy="1463040"/>
          </a:xfrm>
          <a:prstGeom prst="roundRect">
            <a:avLst>
              <a:gd name="adj" fmla="val 7500"/>
            </a:avLst>
          </a:prstGeom>
          <a:solidFill>
            <a:srgbClr val="F8EFDF"/>
          </a:solidFill>
          <a:ln w="12700">
            <a:solidFill>
              <a:srgbClr val="F8EFDF"/>
            </a:solidFill>
            <a:prstDash val="solid"/>
          </a:ln>
        </p:spPr>
      </p:sp>
      <p:sp>
        <p:nvSpPr>
          <p:cNvPr id="17" name="Shape 15"/>
          <p:cNvSpPr/>
          <p:nvPr/>
        </p:nvSpPr>
        <p:spPr>
          <a:xfrm>
            <a:off x="6507328" y="4937760"/>
            <a:ext cx="548640" cy="548640"/>
          </a:xfrm>
          <a:prstGeom prst="ellipse">
            <a:avLst/>
          </a:prstGeom>
          <a:solidFill>
            <a:srgbClr val="C78F2E"/>
          </a:solidFill>
          <a:ln w="12700">
            <a:solidFill>
              <a:srgbClr val="C78F2E"/>
            </a:solidFill>
            <a:prstDash val="solid"/>
          </a:ln>
        </p:spPr>
      </p:sp>
      <p:sp>
        <p:nvSpPr>
          <p:cNvPr id="18" name="Text 16"/>
          <p:cNvSpPr txBox="1"/>
          <p:nvPr/>
        </p:nvSpPr>
        <p:spPr>
          <a:xfrm>
            <a:off x="6507328" y="49377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19" name="Text 17"/>
          <p:cNvSpPr txBox="1"/>
          <p:nvPr/>
        </p:nvSpPr>
        <p:spPr>
          <a:xfrm>
            <a:off x="7284568" y="4572000"/>
            <a:ext cx="4129888" cy="1280160"/>
          </a:xfrm>
          <a:prstGeom prst="rect">
            <a:avLst/>
          </a:prstGeom>
          <a:noFill/>
          <a:ln/>
        </p:spPr>
        <p:txBody>
          <a:bodyPr wrap="square" lIns="0" tIns="0" rIns="0" bIns="0" rtlCol="0" anchor="ctr"/>
          <a:lstStyle/>
          <a:p>
            <a:pPr indent="0" marL="0">
              <a:buNone/>
            </a:pPr>
            <a:r>
              <a:rPr lang="en-US" sz="1700" dirty="0">
                <a:solidFill>
                  <a:srgbClr val="24302D"/>
                </a:solidFill>
                <a:latin typeface="Calibri" pitchFamily="34" charset="0"/>
                <a:ea typeface="Calibri" pitchFamily="34" charset="-122"/>
                <a:cs typeface="Calibri" pitchFamily="34" charset="-120"/>
              </a:rPr>
              <a:t>Make the decision for them</a:t>
            </a:r>
            <a:endParaRPr lang="en-US" sz="1700" dirty="0"/>
          </a:p>
        </p:txBody>
      </p:sp>
      <p:pic>
        <p:nvPicPr>
          <p:cNvPr id="20" name="Image 0" descr="preencoded.png">    </p:cNvPr>
          <p:cNvPicPr>
            <a:picLocks noChangeAspect="1"/>
          </p:cNvPicPr>
          <p:nvPr/>
        </p:nvPicPr>
        <p:blipFill>
          <a:blip r:embed="rId1"/>
          <a:stretch>
            <a:fillRect/>
          </a:stretch>
        </p:blipFill>
        <p:spPr>
          <a:xfrm>
            <a:off x="548640" y="6309360"/>
            <a:ext cx="874762" cy="365760"/>
          </a:xfrm>
          <a:prstGeom prst="rect">
            <a:avLst/>
          </a:prstGeom>
        </p:spPr>
      </p:pic>
      <p:sp>
        <p:nvSpPr>
          <p:cNvPr id="21" name="Text 18"/>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22" name="Text 19"/>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8695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pic>
        <p:nvPicPr>
          <p:cNvPr id="3" name="Image 0" descr="preencoded.png">    </p:cNvPr>
          <p:cNvPicPr>
            <a:picLocks noChangeAspect="1"/>
          </p:cNvPicPr>
          <p:nvPr/>
        </p:nvPicPr>
        <p:blipFill>
          <a:blip r:embed="rId1"/>
          <a:stretch>
            <a:fillRect/>
          </a:stretch>
        </p:blipFill>
        <p:spPr>
          <a:xfrm>
            <a:off x="548640" y="1517904"/>
            <a:ext cx="420624" cy="420624"/>
          </a:xfrm>
          <a:prstGeom prst="rect">
            <a:avLst/>
          </a:prstGeom>
        </p:spPr>
      </p:pic>
      <p:sp>
        <p:nvSpPr>
          <p:cNvPr id="4" name="Text 1"/>
          <p:cNvSpPr txBox="1"/>
          <p:nvPr/>
        </p:nvSpPr>
        <p:spPr>
          <a:xfrm>
            <a:off x="1143000"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Start advance care planning early, while the person can take part</a:t>
            </a:r>
            <a:endParaRPr lang="en-US" sz="2000" dirty="0"/>
          </a:p>
        </p:txBody>
      </p:sp>
      <p:pic>
        <p:nvPicPr>
          <p:cNvPr id="5" name="Image 1" descr="preencoded.png">    </p:cNvPr>
          <p:cNvPicPr>
            <a:picLocks noChangeAspect="1"/>
          </p:cNvPicPr>
          <p:nvPr/>
        </p:nvPicPr>
        <p:blipFill>
          <a:blip r:embed="rId2"/>
          <a:stretch>
            <a:fillRect/>
          </a:stretch>
        </p:blipFill>
        <p:spPr>
          <a:xfrm>
            <a:off x="548640" y="2935224"/>
            <a:ext cx="420624" cy="420624"/>
          </a:xfrm>
          <a:prstGeom prst="rect">
            <a:avLst/>
          </a:prstGeom>
        </p:spPr>
      </p:pic>
      <p:sp>
        <p:nvSpPr>
          <p:cNvPr id="6" name="Text 2"/>
          <p:cNvSpPr txBox="1"/>
          <p:nvPr/>
        </p:nvSpPr>
        <p:spPr>
          <a:xfrm>
            <a:off x="1143000"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Advance directives name a decision-maker and describe wishes</a:t>
            </a:r>
            <a:endParaRPr lang="en-US" sz="2000" dirty="0"/>
          </a:p>
        </p:txBody>
      </p:sp>
      <p:pic>
        <p:nvPicPr>
          <p:cNvPr id="7" name="Image 2" descr="preencoded.png">    </p:cNvPr>
          <p:cNvPicPr>
            <a:picLocks noChangeAspect="1"/>
          </p:cNvPicPr>
          <p:nvPr/>
        </p:nvPicPr>
        <p:blipFill>
          <a:blip r:embed="rId3"/>
          <a:stretch>
            <a:fillRect/>
          </a:stretch>
        </p:blipFill>
        <p:spPr>
          <a:xfrm>
            <a:off x="548640" y="4352544"/>
            <a:ext cx="420624" cy="420624"/>
          </a:xfrm>
          <a:prstGeom prst="rect">
            <a:avLst/>
          </a:prstGeom>
        </p:spPr>
      </p:pic>
      <p:sp>
        <p:nvSpPr>
          <p:cNvPr id="8" name="Text 3"/>
          <p:cNvSpPr txBox="1"/>
          <p:nvPr/>
        </p:nvSpPr>
        <p:spPr>
          <a:xfrm>
            <a:off x="1143000"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POLST-type orders are clinician-signed and followed across settings</a:t>
            </a:r>
            <a:endParaRPr lang="en-US" sz="2000" dirty="0"/>
          </a:p>
        </p:txBody>
      </p:sp>
      <p:pic>
        <p:nvPicPr>
          <p:cNvPr id="9" name="Image 3" descr="preencoded.png">    </p:cNvPr>
          <p:cNvPicPr>
            <a:picLocks noChangeAspect="1"/>
          </p:cNvPicPr>
          <p:nvPr/>
        </p:nvPicPr>
        <p:blipFill>
          <a:blip r:embed="rId4"/>
          <a:stretch>
            <a:fillRect/>
          </a:stretch>
        </p:blipFill>
        <p:spPr>
          <a:xfrm>
            <a:off x="6291072" y="1517904"/>
            <a:ext cx="420624" cy="420624"/>
          </a:xfrm>
          <a:prstGeom prst="rect">
            <a:avLst/>
          </a:prstGeom>
        </p:spPr>
      </p:pic>
      <p:sp>
        <p:nvSpPr>
          <p:cNvPr id="10" name="Text 4"/>
          <p:cNvSpPr txBox="1"/>
          <p:nvPr/>
        </p:nvSpPr>
        <p:spPr>
          <a:xfrm>
            <a:off x="6885432" y="146304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Capacity is decision-specific, time-specific, and presumed</a:t>
            </a:r>
            <a:endParaRPr lang="en-US" sz="2000" dirty="0"/>
          </a:p>
        </p:txBody>
      </p:sp>
      <p:pic>
        <p:nvPicPr>
          <p:cNvPr id="11" name="Image 4" descr="preencoded.png">    </p:cNvPr>
          <p:cNvPicPr>
            <a:picLocks noChangeAspect="1"/>
          </p:cNvPicPr>
          <p:nvPr/>
        </p:nvPicPr>
        <p:blipFill>
          <a:blip r:embed="rId5"/>
          <a:stretch>
            <a:fillRect/>
          </a:stretch>
        </p:blipFill>
        <p:spPr>
          <a:xfrm>
            <a:off x="6291072" y="2935224"/>
            <a:ext cx="420624" cy="420624"/>
          </a:xfrm>
          <a:prstGeom prst="rect">
            <a:avLst/>
          </a:prstGeom>
        </p:spPr>
      </p:pic>
      <p:sp>
        <p:nvSpPr>
          <p:cNvPr id="12" name="Text 5"/>
          <p:cNvSpPr txBox="1"/>
          <p:nvPr/>
        </p:nvSpPr>
        <p:spPr>
          <a:xfrm>
            <a:off x="6885432" y="288036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Surrogates should decide as the person would have decided</a:t>
            </a:r>
            <a:endParaRPr lang="en-US" sz="2000" dirty="0"/>
          </a:p>
        </p:txBody>
      </p:sp>
      <p:pic>
        <p:nvPicPr>
          <p:cNvPr id="13" name="Image 5" descr="preencoded.png">    </p:cNvPr>
          <p:cNvPicPr>
            <a:picLocks noChangeAspect="1"/>
          </p:cNvPicPr>
          <p:nvPr/>
        </p:nvPicPr>
        <p:blipFill>
          <a:blip r:embed="rId6"/>
          <a:stretch>
            <a:fillRect/>
          </a:stretch>
        </p:blipFill>
        <p:spPr>
          <a:xfrm>
            <a:off x="6291072" y="4352544"/>
            <a:ext cx="420624" cy="420624"/>
          </a:xfrm>
          <a:prstGeom prst="rect">
            <a:avLst/>
          </a:prstGeom>
        </p:spPr>
      </p:pic>
      <p:sp>
        <p:nvSpPr>
          <p:cNvPr id="14" name="Text 6"/>
          <p:cNvSpPr txBox="1"/>
          <p:nvPr/>
        </p:nvSpPr>
        <p:spPr>
          <a:xfrm>
            <a:off x="6885432" y="4297680"/>
            <a:ext cx="4754880" cy="132588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Support people to make their own choices as long as possible</a:t>
            </a:r>
            <a:endParaRPr lang="en-US" sz="2000" dirty="0"/>
          </a:p>
        </p:txBody>
      </p:sp>
      <p:pic>
        <p:nvPicPr>
          <p:cNvPr id="15" name="Image 6" descr="preencoded.png">    </p:cNvPr>
          <p:cNvPicPr>
            <a:picLocks noChangeAspect="1"/>
          </p:cNvPicPr>
          <p:nvPr/>
        </p:nvPicPr>
        <p:blipFill>
          <a:blip r:embed="rId7"/>
          <a:stretch>
            <a:fillRect/>
          </a:stretch>
        </p:blipFill>
        <p:spPr>
          <a:xfrm>
            <a:off x="548640" y="6382512"/>
            <a:ext cx="219456" cy="219456"/>
          </a:xfrm>
          <a:prstGeom prst="rect">
            <a:avLst/>
          </a:prstGeom>
        </p:spPr>
      </p:pic>
      <p:sp>
        <p:nvSpPr>
          <p:cNvPr id="16" name="Text 7"/>
          <p:cNvSpPr txBox="1"/>
          <p:nvPr/>
        </p:nvSpPr>
        <p:spPr>
          <a:xfrm>
            <a:off x="859536" y="6364224"/>
            <a:ext cx="7772400" cy="256032"/>
          </a:xfrm>
          <a:prstGeom prst="rect">
            <a:avLst/>
          </a:prstGeom>
          <a:noFill/>
          <a:ln/>
        </p:spPr>
        <p:txBody>
          <a:bodyPr wrap="square" lIns="0" tIns="0" rIns="0" bIns="0" rtlCol="0" anchor="ctr"/>
          <a:lstStyle/>
          <a:p>
            <a:pPr indent="0" marL="0">
              <a:buNone/>
            </a:pPr>
            <a:r>
              <a:rPr lang="en-US" sz="900" dirty="0">
                <a:solidFill>
                  <a:srgbClr val="C9DEDA"/>
                </a:solidFill>
                <a:latin typeface="Calibri" pitchFamily="34" charset="0"/>
                <a:ea typeface="Calibri" pitchFamily="34" charset="-122"/>
                <a:cs typeface="Calibri" pitchFamily="34" charset="-120"/>
              </a:rPr>
              <a:t>AbleLiving Memory Support  |  GUIDE Care Navigator Training  |  Module 5</a:t>
            </a:r>
            <a:endParaRPr lang="en-US" sz="900" dirty="0"/>
          </a:p>
        </p:txBody>
      </p:sp>
      <p:sp>
        <p:nvSpPr>
          <p:cNvPr id="17" name="Text 8"/>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C9DEDA"/>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lstStyle/>
          <a:p>
            <a:pPr indent="0" marL="0">
              <a:buNone/>
            </a:pPr>
            <a:r>
              <a:rPr lang="en-US" sz="3000" b="1" dirty="0">
                <a:solidFill>
                  <a:srgbClr val="28695F"/>
                </a:solidFill>
                <a:latin typeface="Cambria" pitchFamily="34" charset="0"/>
                <a:ea typeface="Cambria" pitchFamily="34" charset="-122"/>
                <a:cs typeface="Cambria" pitchFamily="34" charset="-120"/>
              </a:rPr>
              <a:t>Resources for This Module</a:t>
            </a:r>
            <a:endParaRPr lang="en-US" sz="3000" dirty="0"/>
          </a:p>
        </p:txBody>
      </p:sp>
      <p:sp>
        <p:nvSpPr>
          <p:cNvPr id="3" name="Text 1"/>
          <p:cNvSpPr txBox="1"/>
          <p:nvPr/>
        </p:nvSpPr>
        <p:spPr>
          <a:xfrm>
            <a:off x="548640" y="1417320"/>
            <a:ext cx="8961120" cy="4709160"/>
          </a:xfrm>
          <a:prstGeom prst="rect">
            <a:avLst/>
          </a:prstGeom>
          <a:noFill/>
          <a:ln/>
        </p:spPr>
        <p:txBody>
          <a:bodyPr wrap="square" lIns="0" tIns="0" rIns="0" bIns="0" rtlCol="0" anchor="t"/>
          <a:lstStyle/>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The Conversation Project: </a:t>
            </a:r>
            <a:r>
              <a:rPr lang="en-US" sz="1900" dirty="0">
                <a:solidFill>
                  <a:srgbClr val="24302D"/>
                </a:solidFill>
                <a:latin typeface="Calibri" pitchFamily="34" charset="0"/>
                <a:ea typeface="Calibri" pitchFamily="34" charset="-122"/>
                <a:cs typeface="Calibri" pitchFamily="34" charset="-120"/>
              </a:rPr>
              <a:t>free conversation starter kits, including a dementia-specific guide (theconversationproject.org)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PREPARE for Your Care: </a:t>
            </a:r>
            <a:r>
              <a:rPr lang="en-US" sz="1900" dirty="0">
                <a:solidFill>
                  <a:srgbClr val="24302D"/>
                </a:solidFill>
                <a:latin typeface="Calibri" pitchFamily="34" charset="0"/>
                <a:ea typeface="Calibri" pitchFamily="34" charset="-122"/>
                <a:cs typeface="Calibri" pitchFamily="34" charset="-120"/>
              </a:rPr>
              <a:t>easy-to-read advance care planning program and forms (prepareforyourcare.org)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National POLST: </a:t>
            </a:r>
            <a:r>
              <a:rPr lang="en-US" sz="1900" dirty="0">
                <a:solidFill>
                  <a:srgbClr val="24302D"/>
                </a:solidFill>
                <a:latin typeface="Calibri" pitchFamily="34" charset="0"/>
                <a:ea typeface="Calibri" pitchFamily="34" charset="-122"/>
                <a:cs typeface="Calibri" pitchFamily="34" charset="-120"/>
              </a:rPr>
              <a:t>state program information (polst.org)</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Florida: </a:t>
            </a:r>
            <a:r>
              <a:rPr lang="en-US" sz="1900" dirty="0">
                <a:solidFill>
                  <a:srgbClr val="24302D"/>
                </a:solidFill>
                <a:latin typeface="Calibri" pitchFamily="34" charset="0"/>
                <a:ea typeface="Calibri" pitchFamily="34" charset="-122"/>
                <a:cs typeface="Calibri" pitchFamily="34" charset="-120"/>
              </a:rPr>
              <a:t>Department of Elder Affairs and Department of Health (DNRO form DH 1896)</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Ohio: </a:t>
            </a:r>
            <a:r>
              <a:rPr lang="en-US" sz="1900" dirty="0">
                <a:solidFill>
                  <a:srgbClr val="24302D"/>
                </a:solidFill>
                <a:latin typeface="Calibri" pitchFamily="34" charset="0"/>
                <a:ea typeface="Calibri" pitchFamily="34" charset="-122"/>
                <a:cs typeface="Calibri" pitchFamily="34" charset="-120"/>
              </a:rPr>
              <a:t>Department of Health DNR Comfort Care program; Ohio advance directive forms</a:t>
            </a:r>
            <a:endParaRPr lang="en-US" sz="1900" dirty="0"/>
          </a:p>
          <a:p>
            <a:pPr marL="203200" indent="-203200">
              <a:spcAft>
                <a:spcPts val="1200"/>
              </a:spcAft>
              <a:buSzPct val="100000"/>
              <a:buChar char="•"/>
            </a:pPr>
            <a:r>
              <a:rPr lang="en-US" sz="1900" b="1" dirty="0">
                <a:solidFill>
                  <a:srgbClr val="28695F"/>
                </a:solidFill>
                <a:latin typeface="Calibri" pitchFamily="34" charset="0"/>
                <a:ea typeface="Calibri" pitchFamily="34" charset="-122"/>
                <a:cs typeface="Calibri" pitchFamily="34" charset="-120"/>
              </a:rPr>
              <a:t>Internal: </a:t>
            </a:r>
            <a:r>
              <a:rPr lang="en-US" sz="1900" dirty="0">
                <a:solidFill>
                  <a:srgbClr val="24302D"/>
                </a:solidFill>
                <a:latin typeface="Calibri" pitchFamily="34" charset="0"/>
                <a:ea typeface="Calibri" pitchFamily="34" charset="-122"/>
                <a:cs typeface="Calibri" pitchFamily="34" charset="-120"/>
              </a:rPr>
              <a:t>AbleLiving/MPS advance care planning workflow and witnessing policy</a:t>
            </a:r>
            <a:endParaRPr lang="en-US" sz="1900" dirty="0"/>
          </a:p>
        </p:txBody>
      </p:sp>
      <p:pic>
        <p:nvPicPr>
          <p:cNvPr id="4" name="Image 0" descr="preencoded.png">    </p:cNvPr>
          <p:cNvPicPr>
            <a:picLocks noChangeAspect="1"/>
          </p:cNvPicPr>
          <p:nvPr/>
        </p:nvPicPr>
        <p:blipFill>
          <a:blip r:embed="rId1">
            <a:alphaModFix amt="85000"/>
          </a:blip>
          <a:stretch>
            <a:fillRect/>
          </a:stretch>
        </p:blipFill>
        <p:spPr>
          <a:xfrm>
            <a:off x="10012680" y="3291840"/>
            <a:ext cx="1920240" cy="2432304"/>
          </a:xfrm>
          <a:prstGeom prst="rect">
            <a:avLst/>
          </a:prstGeom>
        </p:spPr>
      </p:pic>
      <p:pic>
        <p:nvPicPr>
          <p:cNvPr id="5" name="Image 1" descr="preencoded.png">    </p:cNvPr>
          <p:cNvPicPr>
            <a:picLocks noChangeAspect="1"/>
          </p:cNvPicPr>
          <p:nvPr/>
        </p:nvPicPr>
        <p:blipFill>
          <a:blip r:embed="rId2"/>
          <a:stretch>
            <a:fillRect/>
          </a:stretch>
        </p:blipFill>
        <p:spPr>
          <a:xfrm>
            <a:off x="548640" y="6309360"/>
            <a:ext cx="874762" cy="365760"/>
          </a:xfrm>
          <a:prstGeom prst="rect">
            <a:avLst/>
          </a:prstGeom>
        </p:spPr>
      </p:pic>
      <p:sp>
        <p:nvSpPr>
          <p:cNvPr id="6" name="Text 2"/>
          <p:cNvSpPr txBox="1"/>
          <p:nvPr/>
        </p:nvSpPr>
        <p:spPr>
          <a:xfrm>
            <a:off x="1606282" y="6364224"/>
            <a:ext cx="6400800" cy="256032"/>
          </a:xfrm>
          <a:prstGeom prst="rect">
            <a:avLst/>
          </a:prstGeom>
          <a:noFill/>
          <a:ln/>
        </p:spPr>
        <p:txBody>
          <a:bodyPr wrap="square" lIns="0" tIns="0" rIns="0" bIns="0" rtlCol="0" anchor="ctr"/>
          <a:lstStyle/>
          <a:p>
            <a:pPr indent="0" marL="0">
              <a:buNone/>
            </a:pPr>
            <a:r>
              <a:rPr lang="en-US" sz="900" dirty="0">
                <a:solidFill>
                  <a:srgbClr val="5E6B68"/>
                </a:solidFill>
                <a:latin typeface="Calibri" pitchFamily="34" charset="0"/>
                <a:ea typeface="Calibri" pitchFamily="34" charset="-122"/>
                <a:cs typeface="Calibri" pitchFamily="34" charset="-120"/>
              </a:rPr>
              <a:t>GUIDE Care Navigator Training  |  Module 5</a:t>
            </a:r>
            <a:endParaRPr lang="en-US" sz="900" dirty="0"/>
          </a:p>
        </p:txBody>
      </p:sp>
      <p:sp>
        <p:nvSpPr>
          <p:cNvPr id="7" name="Text 3"/>
          <p:cNvSpPr txBox="1"/>
          <p:nvPr/>
        </p:nvSpPr>
        <p:spPr>
          <a:xfrm>
            <a:off x="10911535" y="6364224"/>
            <a:ext cx="731520" cy="256032"/>
          </a:xfrm>
          <a:prstGeom prst="rect">
            <a:avLst/>
          </a:prstGeom>
          <a:noFill/>
          <a:ln/>
        </p:spPr>
        <p:txBody>
          <a:bodyPr wrap="square" lIns="0" tIns="0" rIns="0" bIns="0" rtlCol="0" anchor="ctr"/>
          <a:lstStyle/>
          <a:p>
            <a:pPr algn="r" indent="0" marL="0">
              <a:buNone/>
            </a:pPr>
            <a:r>
              <a:rPr lang="en-US" sz="900" dirty="0">
                <a:solidFill>
                  <a:srgbClr val="5E6B68"/>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8695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90000"/>
          </a:blip>
          <a:stretch>
            <a:fillRect/>
          </a:stretch>
        </p:blipFill>
        <p:spPr>
          <a:xfrm>
            <a:off x="7680960" y="320040"/>
            <a:ext cx="4754880" cy="6025896"/>
          </a:xfrm>
          <a:prstGeom prst="rect">
            <a:avLst/>
          </a:prstGeom>
        </p:spPr>
      </p:pic>
      <p:sp>
        <p:nvSpPr>
          <p:cNvPr id="3" name="Shape 0"/>
          <p:cNvSpPr/>
          <p:nvPr/>
        </p:nvSpPr>
        <p:spPr>
          <a:xfrm>
            <a:off x="548640" y="365760"/>
            <a:ext cx="2661628" cy="1261872"/>
          </a:xfrm>
          <a:prstGeom prst="roundRect">
            <a:avLst>
              <a:gd name="adj" fmla="val 7246"/>
            </a:avLst>
          </a:prstGeom>
          <a:solidFill>
            <a:srgbClr val="FFFFFF"/>
          </a:solidFill>
          <a:ln w="12700">
            <a:solidFill>
              <a:srgbClr val="FFFFFF"/>
            </a:solidFill>
            <a:prstDash val="solid"/>
          </a:ln>
        </p:spPr>
      </p:sp>
      <p:pic>
        <p:nvPicPr>
          <p:cNvPr id="4" name="Image 1" descr="preencoded.png">    </p:cNvPr>
          <p:cNvPicPr>
            <a:picLocks noChangeAspect="1"/>
          </p:cNvPicPr>
          <p:nvPr/>
        </p:nvPicPr>
        <p:blipFill>
          <a:blip r:embed="rId2"/>
          <a:stretch>
            <a:fillRect/>
          </a:stretch>
        </p:blipFill>
        <p:spPr>
          <a:xfrm>
            <a:off x="676656" y="493776"/>
            <a:ext cx="2405596" cy="1005840"/>
          </a:xfrm>
          <a:prstGeom prst="rect">
            <a:avLst/>
          </a:prstGeom>
        </p:spPr>
      </p:pic>
      <p:sp>
        <p:nvSpPr>
          <p:cNvPr id="5" name="Text 1"/>
          <p:cNvSpPr txBox="1"/>
          <p:nvPr/>
        </p:nvSpPr>
        <p:spPr>
          <a:xfrm>
            <a:off x="548640" y="2011680"/>
            <a:ext cx="69494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Questions &amp; Discussion</a:t>
            </a:r>
            <a:endParaRPr lang="en-US" sz="4400" dirty="0"/>
          </a:p>
        </p:txBody>
      </p:sp>
      <p:sp>
        <p:nvSpPr>
          <p:cNvPr id="6" name="Text 2"/>
          <p:cNvSpPr txBox="1"/>
          <p:nvPr/>
        </p:nvSpPr>
        <p:spPr>
          <a:xfrm>
            <a:off x="548640" y="3063240"/>
            <a:ext cx="6766560" cy="822960"/>
          </a:xfrm>
          <a:prstGeom prst="rect">
            <a:avLst/>
          </a:prstGeom>
          <a:noFill/>
          <a:ln/>
        </p:spPr>
        <p:txBody>
          <a:bodyPr wrap="square" lIns="0" tIns="0" rIns="0" bIns="0" rtlCol="0" anchor="t"/>
          <a:lstStyle/>
          <a:p>
            <a:pPr indent="0" marL="0">
              <a:buNone/>
            </a:pPr>
            <a:r>
              <a:rPr lang="en-US" sz="1800" dirty="0">
                <a:solidFill>
                  <a:srgbClr val="C9DEDA"/>
                </a:solidFill>
                <a:latin typeface="Calibri" pitchFamily="34" charset="0"/>
                <a:ea typeface="Calibri" pitchFamily="34" charset="-122"/>
                <a:cs typeface="Calibri" pitchFamily="34" charset="-120"/>
              </a:rPr>
              <a:t>Thank you for completing Module 5: Advance Care Planning &amp; Decision-Making Capacity.</a:t>
            </a:r>
            <a:endParaRPr lang="en-US" sz="1800" dirty="0"/>
          </a:p>
        </p:txBody>
      </p:sp>
      <p:sp>
        <p:nvSpPr>
          <p:cNvPr id="7" name="Shape 3"/>
          <p:cNvSpPr/>
          <p:nvPr/>
        </p:nvSpPr>
        <p:spPr>
          <a:xfrm>
            <a:off x="548640" y="4206240"/>
            <a:ext cx="6675120" cy="1097280"/>
          </a:xfrm>
          <a:prstGeom prst="roundRect">
            <a:avLst>
              <a:gd name="adj" fmla="val 10000"/>
            </a:avLst>
          </a:prstGeom>
          <a:solidFill>
            <a:srgbClr val="1D4F47"/>
          </a:solidFill>
          <a:ln w="12700">
            <a:solidFill>
              <a:srgbClr val="1D4F47"/>
            </a:solidFill>
            <a:prstDash val="solid"/>
          </a:ln>
        </p:spPr>
      </p:sp>
      <p:sp>
        <p:nvSpPr>
          <p:cNvPr id="8" name="Text 4"/>
          <p:cNvSpPr txBox="1"/>
          <p:nvPr/>
        </p:nvSpPr>
        <p:spPr>
          <a:xfrm>
            <a:off x="868680" y="4315968"/>
            <a:ext cx="5943600" cy="320040"/>
          </a:xfrm>
          <a:prstGeom prst="rect">
            <a:avLst/>
          </a:prstGeom>
          <a:noFill/>
          <a:ln/>
        </p:spPr>
        <p:txBody>
          <a:bodyPr wrap="square" lIns="0" tIns="0" rIns="0" bIns="0" rtlCol="0" anchor="t"/>
          <a:lstStyle/>
          <a:p>
            <a:pPr indent="0" marL="0">
              <a:buNone/>
            </a:pPr>
            <a:r>
              <a:rPr lang="en-US" sz="1200" b="1" spc="300" kern="0" dirty="0">
                <a:solidFill>
                  <a:srgbClr val="F8CB27"/>
                </a:solidFill>
                <a:latin typeface="Calibri" pitchFamily="34" charset="0"/>
                <a:ea typeface="Calibri" pitchFamily="34" charset="-122"/>
                <a:cs typeface="Calibri" pitchFamily="34" charset="-120"/>
              </a:rPr>
              <a:t>UP NEXT</a:t>
            </a:r>
            <a:endParaRPr lang="en-US" sz="1200" dirty="0"/>
          </a:p>
        </p:txBody>
      </p:sp>
      <p:sp>
        <p:nvSpPr>
          <p:cNvPr id="9" name="Text 5"/>
          <p:cNvSpPr txBox="1"/>
          <p:nvPr/>
        </p:nvSpPr>
        <p:spPr>
          <a:xfrm>
            <a:off x="868680" y="4617720"/>
            <a:ext cx="6126480" cy="5943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Module 6: Coordination of Medical Care &amp; Community Services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AbleLiving Memory Support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Care Navigator Training — Module 5: Advance Care Planning &amp; Decision-Making Capacity</dc:title>
  <dc:subject>PptxGenJS Presentation</dc:subject>
  <dc:creator>AbleLiving Memory Support</dc:creator>
  <cp:lastModifiedBy>AbleLiving Memory Support</cp:lastModifiedBy>
  <cp:revision>1</cp:revision>
  <dcterms:created xsi:type="dcterms:W3CDTF">2026-09-24T19:29:16Z</dcterms:created>
  <dcterms:modified xsi:type="dcterms:W3CDTF">2026-09-24T19:29:16Z</dcterms:modified>
</cp:coreProperties>
</file>