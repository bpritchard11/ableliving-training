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Welcome back. Module 2 covers three Appendix B topics: Overview of Assessments, Care Plan, and Person-Centered Planning. Take attendance for the training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Connect to Module 1: we now know what dementia is; next we learn how the team measures needs and turns them into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Preview the agenda. The role-play in the assessment section and the case study at the end are the core skill-building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Assessment is not paperwork for its own sake. A strong assessment tells the whole team who this person is, what they can still do, where they need help, and how the caregiver is coping. Without a baseline, a navigator cannot tell whether a change is new. Emphasize that reassessment is triggered not only by the calendar but by events: a hospitalization, a fall, a new behavior, or a change in caregiver.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Preparation makes visits calmer and more productive. Walk through AbleLiving/MPS field safety expectations, including check-in and check-out procedures and what to do if a home feels unsafe. Remind navigators to confirm interpreter needs in advance rather than relying on family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The GUIDE comprehensive assessment looks at both members of the dyad. Point out that navigators often gather much of the information for the Safety, Caregiver, and Goals domains through conversation and home observation, while clinicians lead the cognitive and medical components. Every domain feeds a section of the care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
Navigators are not expected to administer every tool. Scope depends on AbleLiving/MPS policy and your training; some structured screens (for example, the Zarit caregiver burden tool or ADL/IADL checklists) are commonly completed by trained non-clinical staff, while cognitive testing and interpretation belong to clinicians. What every navigator should know is the name of each tool, what it measures, and why the team uses it, so you can explain it to families and recognize results in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Home observation is one of the navigator's superpowers. A person may score well on a screening test but have expired food in the refrigerator, piles of unpaid bills, and pill bottles scattered on the counter. Those observations tell the team far more about real-world function than a score alone. Teach the phrase: "Show me how you usually do that" — for example, "Show me where you keep your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Each of these steps affects accuracy. A person tested in the late afternoon, without hearing aids, with a television on, will score worse than their true ability. Some people become anxious when they feel they are being "tested" — normalize it: "These are questions we ask everyone." If the caregiver needs to share sensitive observations (for example, incontinence or aggression), offer a private conversation rather than discussing it in front of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Invite participants to add to each list from their own experience. Reinforce that even a person with severe cognitive impairment can tell us what they enjoy, what hurts, and what frightens them — often through behavior rather than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Always offer the caregiver time alone. Many caregivers will not share how they are really doing in front of the person they care for. The back-up plan question is often eye-opening — many families have none, which becomes an important care plan goal. Caregiver support is covered in depth in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Good documentation is specific, objective, and uses the person's own words in quotation marks. It lets any team member understand the situation without having been there, supports clinical decisions, and demonstrates that required GUIDE services were delivered. Avoid labels and judgments such as "noncompliant" or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Give each group a scenario card, for example: "Mr. Lee, 78, moderate dementia, lives with his wife; she reports he has stopped showering." Circulate and coach. In the debrief, ask: What was hardest? How did you keep the person at the center while still getting accurate information from the caregiver?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 GUIDE care plan is person-centered and addresses both the beneficiary and the caregiver. It is not a list of diagnoses. Families should receive a copy they can understand. A useful test: if the caregiver read the plan, would they recognize their loved one and know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Care planning is a cycle, not a one-time event. Navigators drive the "Act" and "Monitor" stages through regular contact. When monitoring reveals that a goal is not working — for example, the family never used the adult day referral — that is information to bring back to the team,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Have participants rewrite one vague goal from their current caseload (de-identified) into a SMART goal. Note that goals should be in the words of the dyad where possible. "I want to stay in my own home" is a legitimate, person-centered goal that many interventions can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Use the AbleLiving/MPS care plan template when training on this slide. Each section should connect back to the assessment. The "Responsibility" column is where many plans fall short — when no one owns a task, it often does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Even in moderate to severe dementia, people can express preferences: "I don't like baths," "I love my garden," "I want my wife to stay with me." Including the beneficiary is required by the person-centered nature of GUIDE and is a matter of dignity. When the person and caregiver disagree, acknowledge both perspectives and look for options that meet both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The care plan is only useful if it reflects the current situation. Navigators are often the first to learn about triggers for an update. Report them to the team so the plan can be revised and shared again with the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Pause on this slide. Ask participants: "When was the last time someone asked what matters to you?" The shift from what is the matter to what matters is at the heart of person-centered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Person-centered care is a core expectation of GUIDE. The bathing example is powerful: many "refusals" disappear when care is matched to the person's lifelong habits. Ask for examples where changing the approach, not the person, solved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Many programs use a one-page "About Me" or life-story profile. Encourage navigators to complete one early — while the person can contribute — and to share it with in-home aides, respite providers, and hospital staff during transitions. It humanizes the person for every new caregiver.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 key skill is translation: knowing a person loved big band music is only useful if it becomes part of the plan — for example, playing that music during agitation-prone times. Give an example: a retired nurse who becomes calmer when asked to help fold towels, because helping others was her lifelong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This exercise helps participants experience what it feels like to share personal information and how much a short profile can reveal. Debrief: What surprised you? Which details would change how an aide gives care? Distribute the AbleLiving/MPS "About Me" template if 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Small groups (10 minutes), debrief (5 minutes). Look for answers such as: supervised morning walks with Diane, a neighbor, or a companion; an ID bracelet and GPS device; door chimes; meaningful "route" activities at home (sorting mail, delivering newspapers to neighbors with supervision); adult day with a walking program. Emphasize that locking him in addressed Diane's fear but ignored his need, and the behavior escalated — a classic example of why person-centered planning improves both safety and quality of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C. It reflects the person's lifelong routine and preferences and is specific and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Schedule at the person's best time of day for a fair and accurate assessment; ask the caregiver separately about afternoon behaviors.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C. It is specific, measurable, and uses the caregiver's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Open the floor for questions. Collect any parking-lot items and follow up before the next session. Confirm the knowledge check results are recorded in each participant's training file. Preview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23-2.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1.png"/><Relationship Id="rId3" Type="http://schemas.openxmlformats.org/officeDocument/2006/relationships/image" Target="../media/image-32-1.png"/><Relationship Id="rId4" Type="http://schemas.openxmlformats.org/officeDocument/2006/relationships/image" Target="../media/image-32-1.png"/><Relationship Id="rId5" Type="http://schemas.openxmlformats.org/officeDocument/2006/relationships/image" Target="../media/image-32-1.png"/><Relationship Id="rId6" Type="http://schemas.openxmlformats.org/officeDocument/2006/relationships/image" Target="../media/image-32-1.png"/><Relationship Id="rId7" Type="http://schemas.openxmlformats.org/officeDocument/2006/relationships/image" Target="../media/image-4-2.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1874520"/>
            <a:ext cx="6858000" cy="320040"/>
          </a:xfrm>
          <a:prstGeom prst="rect">
            <a:avLst/>
          </a:prstGeom>
          <a:noFill/>
          <a:ln/>
        </p:spPr>
        <p:txBody>
          <a:bodyPr wrap="square" lIns="0" tIns="0" rIns="0" bIns="0" rtlCol="0" anchor="t"/>
          <a:lstStyle/>
          <a:p>
            <a:pPr indent="0" marL="0">
              <a:buNone/>
            </a:pPr>
            <a:r>
              <a:rPr lang="en-US" sz="1300" b="1" spc="300" kern="0" dirty="0">
                <a:solidFill>
                  <a:srgbClr val="F8CB27"/>
                </a:solidFill>
                <a:latin typeface="Calibri" pitchFamily="34" charset="0"/>
                <a:ea typeface="Calibri" pitchFamily="34" charset="-122"/>
                <a:cs typeface="Calibri" pitchFamily="34" charset="-120"/>
              </a:rPr>
              <a:t>GUIDE CARE NAVIGATOR TRAINING</a:t>
            </a:r>
            <a:endParaRPr lang="en-US" sz="1300" dirty="0"/>
          </a:p>
        </p:txBody>
      </p:sp>
      <p:sp>
        <p:nvSpPr>
          <p:cNvPr id="6" name="Text 2"/>
          <p:cNvSpPr txBox="1"/>
          <p:nvPr/>
        </p:nvSpPr>
        <p:spPr>
          <a:xfrm>
            <a:off x="548640" y="2240280"/>
            <a:ext cx="6858000" cy="457200"/>
          </a:xfrm>
          <a:prstGeom prst="rect">
            <a:avLst/>
          </a:prstGeom>
          <a:noFill/>
          <a:ln/>
        </p:spPr>
        <p:txBody>
          <a:bodyPr wrap="square" lIns="0" tIns="0" rIns="0" bIns="0" rtlCol="0" anchor="t"/>
          <a:lstStyle/>
          <a:p>
            <a:pPr indent="0" marL="0">
              <a:buNone/>
            </a:pPr>
            <a:r>
              <a:rPr lang="en-US" sz="2200" i="1" dirty="0">
                <a:solidFill>
                  <a:srgbClr val="C9DEDA"/>
                </a:solidFill>
                <a:latin typeface="Cambria" pitchFamily="34" charset="0"/>
                <a:ea typeface="Cambria" pitchFamily="34" charset="-122"/>
                <a:cs typeface="Cambria" pitchFamily="34" charset="-120"/>
              </a:rPr>
              <a:t>Module 2</a:t>
            </a:r>
            <a:endParaRPr lang="en-US" sz="2200" dirty="0"/>
          </a:p>
        </p:txBody>
      </p:sp>
      <p:sp>
        <p:nvSpPr>
          <p:cNvPr id="7" name="Text 3"/>
          <p:cNvSpPr txBox="1"/>
          <p:nvPr/>
        </p:nvSpPr>
        <p:spPr>
          <a:xfrm>
            <a:off x="548640" y="269748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Assessments, Care Planning &amp; Person-Centered Planning</a:t>
            </a:r>
            <a:endParaRPr lang="en-US" sz="3800" dirty="0"/>
          </a:p>
        </p:txBody>
      </p:sp>
      <p:sp>
        <p:nvSpPr>
          <p:cNvPr id="8" name="Text 4"/>
          <p:cNvSpPr txBox="1"/>
          <p:nvPr/>
        </p:nvSpPr>
        <p:spPr>
          <a:xfrm>
            <a:off x="548640" y="4297680"/>
            <a:ext cx="6766560" cy="731520"/>
          </a:xfrm>
          <a:prstGeom prst="rect">
            <a:avLst/>
          </a:prstGeom>
          <a:noFill/>
          <a:ln/>
        </p:spPr>
        <p:txBody>
          <a:bodyPr wrap="square" lIns="0" tIns="0" rIns="0" bIns="0" rtlCol="0" anchor="t"/>
          <a:lstStyle/>
          <a:p>
            <a:pPr indent="0" marL="0">
              <a:buNone/>
            </a:pPr>
            <a:r>
              <a:rPr lang="en-US" sz="1600" dirty="0">
                <a:solidFill>
                  <a:srgbClr val="C9DEDA"/>
                </a:solidFill>
                <a:latin typeface="Calibri" pitchFamily="34" charset="0"/>
                <a:ea typeface="Calibri" pitchFamily="34" charset="-122"/>
                <a:cs typeface="Calibri" pitchFamily="34" charset="-120"/>
              </a:rPr>
              <a:t>Understanding dementia assessments, building a shared care plan, and keeping the person at the center of every decision</a:t>
            </a:r>
            <a:endParaRPr lang="en-US" sz="1600" dirty="0"/>
          </a:p>
        </p:txBody>
      </p:sp>
      <p:sp>
        <p:nvSpPr>
          <p:cNvPr id="9" name="Shape 5"/>
          <p:cNvSpPr/>
          <p:nvPr/>
        </p:nvSpPr>
        <p:spPr>
          <a:xfrm>
            <a:off x="548640" y="5303520"/>
            <a:ext cx="3017520" cy="502920"/>
          </a:xfrm>
          <a:prstGeom prst="roundRect">
            <a:avLst>
              <a:gd name="adj" fmla="val 49091"/>
            </a:avLst>
          </a:prstGeom>
          <a:solidFill>
            <a:srgbClr val="1D4F47"/>
          </a:solidFill>
          <a:ln w="12700">
            <a:solidFill>
              <a:srgbClr val="1D4F47"/>
            </a:solidFill>
            <a:prstDash val="solid"/>
          </a:ln>
        </p:spPr>
      </p:sp>
      <p:sp>
        <p:nvSpPr>
          <p:cNvPr id="10" name="Text 6"/>
          <p:cNvSpPr txBox="1"/>
          <p:nvPr/>
        </p:nvSpPr>
        <p:spPr>
          <a:xfrm>
            <a:off x="548640" y="530352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Approx. 167 minutes</a:t>
            </a:r>
            <a:endParaRPr lang="en-US" sz="1400" dirty="0"/>
          </a:p>
        </p:txBody>
      </p:sp>
      <p:sp>
        <p:nvSpPr>
          <p:cNvPr id="11" name="Text 7"/>
          <p:cNvSpPr txBox="1"/>
          <p:nvPr/>
        </p:nvSpPr>
        <p:spPr>
          <a:xfrm>
            <a:off x="3749040" y="5303520"/>
            <a:ext cx="4206240" cy="502920"/>
          </a:xfrm>
          <a:prstGeom prst="rect">
            <a:avLst/>
          </a:prstGeom>
          <a:noFill/>
          <a:ln/>
        </p:spPr>
        <p:txBody>
          <a:bodyPr wrap="square" lIns="0" tIns="0" rIns="0" bIns="0" rtlCol="0" anchor="ctr"/>
          <a:lstStyle/>
          <a:p>
            <a:pPr indent="0" marL="0">
              <a:buNone/>
            </a:pPr>
            <a:r>
              <a:rPr lang="en-US" sz="1200" dirty="0">
                <a:solidFill>
                  <a:srgbClr val="C9DEDA"/>
                </a:solidFill>
                <a:latin typeface="Calibri" pitchFamily="34" charset="0"/>
                <a:ea typeface="Calibri" pitchFamily="34" charset="-122"/>
                <a:cs typeface="Calibri" pitchFamily="34" charset="-120"/>
              </a:rPr>
              <a:t>Appendix B: Overview of Assessments; Care Plan; Person-Centered Planning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Learning Objectives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By the end of this module, you will be able to:</a:t>
            </a:r>
            <a:endParaRPr lang="en-US" sz="1600" dirty="0"/>
          </a:p>
        </p:txBody>
      </p:sp>
      <p:sp>
        <p:nvSpPr>
          <p:cNvPr id="4" name="Shape 2"/>
          <p:cNvSpPr/>
          <p:nvPr/>
        </p:nvSpPr>
        <p:spPr>
          <a:xfrm>
            <a:off x="548640" y="1965960"/>
            <a:ext cx="457200" cy="457200"/>
          </a:xfrm>
          <a:prstGeom prst="ellipse">
            <a:avLst/>
          </a:prstGeom>
          <a:solidFill>
            <a:srgbClr val="C78F2E"/>
          </a:solidFill>
          <a:ln w="12700">
            <a:solidFill>
              <a:srgbClr val="C78F2E"/>
            </a:solidFill>
            <a:prstDash val="solid"/>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8288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Explain why comprehensive assessment is the foundation of GUIDE care</a:t>
            </a:r>
            <a:endParaRPr lang="en-US" sz="1700" dirty="0"/>
          </a:p>
        </p:txBody>
      </p:sp>
      <p:sp>
        <p:nvSpPr>
          <p:cNvPr id="7" name="Shape 5"/>
          <p:cNvSpPr/>
          <p:nvPr/>
        </p:nvSpPr>
        <p:spPr>
          <a:xfrm>
            <a:off x="548640" y="2697480"/>
            <a:ext cx="457200" cy="457200"/>
          </a:xfrm>
          <a:prstGeom prst="ellipse">
            <a:avLst/>
          </a:prstGeom>
          <a:solidFill>
            <a:srgbClr val="C78F2E"/>
          </a:solidFill>
          <a:ln w="12700">
            <a:solidFill>
              <a:srgbClr val="C78F2E"/>
            </a:solidFill>
            <a:prstDash val="solid"/>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56032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Identify common dementia-related assessment tools and what each measures</a:t>
            </a:r>
            <a:endParaRPr lang="en-US" sz="1700" dirty="0"/>
          </a:p>
        </p:txBody>
      </p:sp>
      <p:sp>
        <p:nvSpPr>
          <p:cNvPr id="10" name="Shape 8"/>
          <p:cNvSpPr/>
          <p:nvPr/>
        </p:nvSpPr>
        <p:spPr>
          <a:xfrm>
            <a:off x="548640" y="3429000"/>
            <a:ext cx="457200" cy="457200"/>
          </a:xfrm>
          <a:prstGeom prst="ellipse">
            <a:avLst/>
          </a:prstGeom>
          <a:solidFill>
            <a:srgbClr val="C78F2E"/>
          </a:solidFill>
          <a:ln w="12700">
            <a:solidFill>
              <a:srgbClr val="C78F2E"/>
            </a:solidFill>
            <a:prstDash val="solid"/>
          </a:ln>
        </p:spPr>
      </p:sp>
      <p:sp>
        <p:nvSpPr>
          <p:cNvPr id="11" name="Text 9"/>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29184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Apply recommendations for a successful, dignified assessment visit</a:t>
            </a:r>
            <a:endParaRPr lang="en-US" sz="1700" dirty="0"/>
          </a:p>
        </p:txBody>
      </p:sp>
      <p:sp>
        <p:nvSpPr>
          <p:cNvPr id="13" name="Shape 11"/>
          <p:cNvSpPr/>
          <p:nvPr/>
        </p:nvSpPr>
        <p:spPr>
          <a:xfrm>
            <a:off x="548640" y="4160520"/>
            <a:ext cx="457200" cy="457200"/>
          </a:xfrm>
          <a:prstGeom prst="ellipse">
            <a:avLst/>
          </a:prstGeom>
          <a:solidFill>
            <a:srgbClr val="C78F2E"/>
          </a:solidFill>
          <a:ln w="12700">
            <a:solidFill>
              <a:srgbClr val="C78F2E"/>
            </a:solidFill>
            <a:prstDash val="solid"/>
          </a:ln>
        </p:spPr>
      </p:sp>
      <p:sp>
        <p:nvSpPr>
          <p:cNvPr id="14" name="Text 12"/>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02336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what a care plan is and its core components</a:t>
            </a:r>
            <a:endParaRPr lang="en-US" sz="1700" dirty="0"/>
          </a:p>
        </p:txBody>
      </p:sp>
      <p:sp>
        <p:nvSpPr>
          <p:cNvPr id="16" name="Shape 14"/>
          <p:cNvSpPr/>
          <p:nvPr/>
        </p:nvSpPr>
        <p:spPr>
          <a:xfrm>
            <a:off x="548640" y="4892040"/>
            <a:ext cx="457200" cy="457200"/>
          </a:xfrm>
          <a:prstGeom prst="ellipse">
            <a:avLst/>
          </a:prstGeom>
          <a:solidFill>
            <a:srgbClr val="C78F2E"/>
          </a:solidFill>
          <a:ln w="12700">
            <a:solidFill>
              <a:srgbClr val="C78F2E"/>
            </a:solidFill>
            <a:prstDash val="solid"/>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475488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Include the beneficiary and caregiver in developing the care plan</a:t>
            </a:r>
            <a:endParaRPr lang="en-US" sz="1700" dirty="0"/>
          </a:p>
        </p:txBody>
      </p:sp>
      <p:sp>
        <p:nvSpPr>
          <p:cNvPr id="19" name="Shape 17"/>
          <p:cNvSpPr/>
          <p:nvPr/>
        </p:nvSpPr>
        <p:spPr>
          <a:xfrm>
            <a:off x="548640" y="5623560"/>
            <a:ext cx="457200" cy="457200"/>
          </a:xfrm>
          <a:prstGeom prst="ellipse">
            <a:avLst/>
          </a:prstGeom>
          <a:solidFill>
            <a:srgbClr val="C78F2E"/>
          </a:solidFill>
          <a:ln w="12700">
            <a:solidFill>
              <a:srgbClr val="C78F2E"/>
            </a:solidFill>
            <a:prstDash val="solid"/>
          </a:ln>
        </p:spPr>
      </p:sp>
      <p:sp>
        <p:nvSpPr>
          <p:cNvPr id="20" name="Text 18"/>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1234440" y="54864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Define person-centered planning and incorporate it into every plan</a:t>
            </a:r>
            <a:endParaRPr lang="en-US" sz="1700" dirty="0"/>
          </a:p>
        </p:txBody>
      </p:sp>
      <p:pic>
        <p:nvPicPr>
          <p:cNvPr id="2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3"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4"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Module Agenda</a:t>
            </a:r>
            <a:endParaRPr lang="en-US" sz="3000" dirty="0"/>
          </a:p>
        </p:txBody>
      </p:sp>
      <p:sp>
        <p:nvSpPr>
          <p:cNvPr id="3" name="Shape 1"/>
          <p:cNvSpPr/>
          <p:nvPr/>
        </p:nvSpPr>
        <p:spPr>
          <a:xfrm>
            <a:off x="548640" y="1417320"/>
            <a:ext cx="8076895" cy="777240"/>
          </a:xfrm>
          <a:prstGeom prst="rect">
            <a:avLst/>
          </a:prstGeom>
          <a:solidFill>
            <a:srgbClr val="E8F1EF"/>
          </a:solidFill>
          <a:ln w="12700">
            <a:solidFill>
              <a:srgbClr val="E8F1EF"/>
            </a:solidFill>
            <a:prstDash val="solid"/>
          </a:ln>
        </p:spPr>
      </p:sp>
      <p:sp>
        <p:nvSpPr>
          <p:cNvPr id="4" name="Text 2"/>
          <p:cNvSpPr txBox="1"/>
          <p:nvPr/>
        </p:nvSpPr>
        <p:spPr>
          <a:xfrm>
            <a:off x="822960" y="141732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Welcome, objectives &amp; agenda</a:t>
            </a:r>
            <a:endParaRPr lang="en-US" sz="1700" dirty="0"/>
          </a:p>
        </p:txBody>
      </p:sp>
      <p:sp>
        <p:nvSpPr>
          <p:cNvPr id="5" name="Text 3"/>
          <p:cNvSpPr txBox="1"/>
          <p:nvPr/>
        </p:nvSpPr>
        <p:spPr>
          <a:xfrm>
            <a:off x="6888175" y="141732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 min</a:t>
            </a:r>
            <a:endParaRPr lang="en-US" sz="1600" dirty="0"/>
          </a:p>
        </p:txBody>
      </p:sp>
      <p:sp>
        <p:nvSpPr>
          <p:cNvPr id="6" name="Text 4"/>
          <p:cNvSpPr txBox="1"/>
          <p:nvPr/>
        </p:nvSpPr>
        <p:spPr>
          <a:xfrm>
            <a:off x="822960" y="219456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Overview of Assessments</a:t>
            </a:r>
            <a:endParaRPr lang="en-US" sz="1700" dirty="0"/>
          </a:p>
        </p:txBody>
      </p:sp>
      <p:sp>
        <p:nvSpPr>
          <p:cNvPr id="7" name="Text 5"/>
          <p:cNvSpPr txBox="1"/>
          <p:nvPr/>
        </p:nvSpPr>
        <p:spPr>
          <a:xfrm>
            <a:off x="6888175" y="219456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67 min</a:t>
            </a:r>
            <a:endParaRPr lang="en-US" sz="1600" dirty="0"/>
          </a:p>
        </p:txBody>
      </p:sp>
      <p:sp>
        <p:nvSpPr>
          <p:cNvPr id="8" name="Shape 6"/>
          <p:cNvSpPr/>
          <p:nvPr/>
        </p:nvSpPr>
        <p:spPr>
          <a:xfrm>
            <a:off x="548640" y="2971800"/>
            <a:ext cx="8076895" cy="777240"/>
          </a:xfrm>
          <a:prstGeom prst="rect">
            <a:avLst/>
          </a:prstGeom>
          <a:solidFill>
            <a:srgbClr val="E8F1EF"/>
          </a:solidFill>
          <a:ln w="12700">
            <a:solidFill>
              <a:srgbClr val="E8F1EF"/>
            </a:solidFill>
            <a:prstDash val="solid"/>
          </a:ln>
        </p:spPr>
      </p:sp>
      <p:sp>
        <p:nvSpPr>
          <p:cNvPr id="9" name="Text 7"/>
          <p:cNvSpPr txBox="1"/>
          <p:nvPr/>
        </p:nvSpPr>
        <p:spPr>
          <a:xfrm>
            <a:off x="822960" y="297180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The Care Plan</a:t>
            </a:r>
            <a:endParaRPr lang="en-US" sz="1700" dirty="0"/>
          </a:p>
        </p:txBody>
      </p:sp>
      <p:sp>
        <p:nvSpPr>
          <p:cNvPr id="10" name="Text 8"/>
          <p:cNvSpPr txBox="1"/>
          <p:nvPr/>
        </p:nvSpPr>
        <p:spPr>
          <a:xfrm>
            <a:off x="6888175" y="297180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30 min</a:t>
            </a:r>
            <a:endParaRPr lang="en-US" sz="1600" dirty="0"/>
          </a:p>
        </p:txBody>
      </p:sp>
      <p:sp>
        <p:nvSpPr>
          <p:cNvPr id="11" name="Text 9"/>
          <p:cNvSpPr txBox="1"/>
          <p:nvPr/>
        </p:nvSpPr>
        <p:spPr>
          <a:xfrm>
            <a:off x="822960" y="374904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Person-Centered Planning</a:t>
            </a:r>
            <a:endParaRPr lang="en-US" sz="1700" dirty="0"/>
          </a:p>
        </p:txBody>
      </p:sp>
      <p:sp>
        <p:nvSpPr>
          <p:cNvPr id="12" name="Text 10"/>
          <p:cNvSpPr txBox="1"/>
          <p:nvPr/>
        </p:nvSpPr>
        <p:spPr>
          <a:xfrm>
            <a:off x="6888175" y="374904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46 min</a:t>
            </a:r>
            <a:endParaRPr lang="en-US" sz="1600" dirty="0"/>
          </a:p>
        </p:txBody>
      </p:sp>
      <p:sp>
        <p:nvSpPr>
          <p:cNvPr id="13" name="Shape 11"/>
          <p:cNvSpPr/>
          <p:nvPr/>
        </p:nvSpPr>
        <p:spPr>
          <a:xfrm>
            <a:off x="548640" y="4526280"/>
            <a:ext cx="8076895" cy="777240"/>
          </a:xfrm>
          <a:prstGeom prst="rect">
            <a:avLst/>
          </a:prstGeom>
          <a:solidFill>
            <a:srgbClr val="E8F1EF"/>
          </a:solidFill>
          <a:ln w="12700">
            <a:solidFill>
              <a:srgbClr val="E8F1EF"/>
            </a:solidFill>
            <a:prstDash val="solid"/>
          </a:ln>
        </p:spPr>
      </p:sp>
      <p:sp>
        <p:nvSpPr>
          <p:cNvPr id="14" name="Text 12"/>
          <p:cNvSpPr txBox="1"/>
          <p:nvPr/>
        </p:nvSpPr>
        <p:spPr>
          <a:xfrm>
            <a:off x="822960" y="452628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check, takeaways &amp; resources</a:t>
            </a:r>
            <a:endParaRPr lang="en-US" sz="1700" dirty="0"/>
          </a:p>
        </p:txBody>
      </p:sp>
      <p:sp>
        <p:nvSpPr>
          <p:cNvPr id="15" name="Text 13"/>
          <p:cNvSpPr txBox="1"/>
          <p:nvPr/>
        </p:nvSpPr>
        <p:spPr>
          <a:xfrm>
            <a:off x="6888175" y="452628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17 min</a:t>
            </a:r>
            <a:endParaRPr lang="en-US" sz="1600" dirty="0"/>
          </a:p>
        </p:txBody>
      </p:sp>
      <p:sp>
        <p:nvSpPr>
          <p:cNvPr id="16" name="Text 14"/>
          <p:cNvSpPr txBox="1"/>
          <p:nvPr/>
        </p:nvSpPr>
        <p:spPr>
          <a:xfrm>
            <a:off x="822960" y="5440680"/>
            <a:ext cx="7802575" cy="411480"/>
          </a:xfrm>
          <a:prstGeom prst="rect">
            <a:avLst/>
          </a:prstGeom>
          <a:noFill/>
          <a:ln/>
        </p:spPr>
        <p:txBody>
          <a:bodyPr wrap="square" lIns="0" tIns="0" rIns="0" bIns="0" rtlCol="0" anchor="ctr"/>
          <a:lstStyle/>
          <a:p>
            <a:pPr indent="0" marL="0">
              <a:buNone/>
            </a:pPr>
            <a:r>
              <a:rPr lang="en-US" sz="1500" i="1" dirty="0">
                <a:solidFill>
                  <a:srgbClr val="5E6B68"/>
                </a:solidFill>
                <a:latin typeface="Calibri" pitchFamily="34" charset="0"/>
                <a:ea typeface="Calibri" pitchFamily="34" charset="-122"/>
                <a:cs typeface="Calibri" pitchFamily="34" charset="-120"/>
              </a:rPr>
              <a:t>Total: 167 minutes (about 2.8 hours)</a:t>
            </a:r>
            <a:endParaRPr lang="en-US" sz="1500" dirty="0"/>
          </a:p>
        </p:txBody>
      </p:sp>
      <p:pic>
        <p:nvPicPr>
          <p:cNvPr id="17" name="Image 0" descr="preencoded.png">    </p:cNvPr>
          <p:cNvPicPr>
            <a:picLocks noChangeAspect="1"/>
          </p:cNvPicPr>
          <p:nvPr/>
        </p:nvPicPr>
        <p:blipFill>
          <a:blip r:embed="rId1"/>
          <a:stretch>
            <a:fillRect/>
          </a:stretch>
        </p:blipFill>
        <p:spPr>
          <a:xfrm>
            <a:off x="9128455" y="1371600"/>
            <a:ext cx="2514600" cy="3182112"/>
          </a:xfrm>
          <a:prstGeom prst="rect">
            <a:avLst/>
          </a:prstGeom>
        </p:spPr>
      </p:pic>
      <p:pic>
        <p:nvPicPr>
          <p:cNvPr id="1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9" name="Text 1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0" name="Text 1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01</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Overview of Assessments</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What we measure, why it matters, and how to do it well</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2</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Why Assessment Matters in GUIDE</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Establishes a baseline </a:t>
            </a:r>
            <a:r>
              <a:rPr lang="en-US" sz="1800" dirty="0">
                <a:solidFill>
                  <a:srgbClr val="24302D"/>
                </a:solidFill>
                <a:latin typeface="Calibri" pitchFamily="34" charset="0"/>
                <a:ea typeface="Calibri" pitchFamily="34" charset="-122"/>
                <a:cs typeface="Calibri" pitchFamily="34" charset="-120"/>
              </a:rPr>
              <a:t>so the team can recognize change over time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Describes stage and needs </a:t>
            </a:r>
            <a:r>
              <a:rPr lang="en-US" sz="1800" dirty="0">
                <a:solidFill>
                  <a:srgbClr val="24302D"/>
                </a:solidFill>
                <a:latin typeface="Calibri" pitchFamily="34" charset="0"/>
                <a:ea typeface="Calibri" pitchFamily="34" charset="-122"/>
                <a:cs typeface="Calibri" pitchFamily="34" charset="-120"/>
              </a:rPr>
              <a:t>across cognition, function, behavior, safety, and caregiver strain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Supports tier assignment </a:t>
            </a:r>
            <a:r>
              <a:rPr lang="en-US" sz="1800" dirty="0">
                <a:solidFill>
                  <a:srgbClr val="24302D"/>
                </a:solidFill>
                <a:latin typeface="Calibri" pitchFamily="34" charset="0"/>
                <a:ea typeface="Calibri" pitchFamily="34" charset="-122"/>
                <a:cs typeface="Calibri" pitchFamily="34" charset="-120"/>
              </a:rPr>
              <a:t>based on caregiver status and complexity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Drives the care plan: </a:t>
            </a:r>
            <a:r>
              <a:rPr lang="en-US" sz="1800" dirty="0">
                <a:solidFill>
                  <a:srgbClr val="24302D"/>
                </a:solidFill>
                <a:latin typeface="Calibri" pitchFamily="34" charset="0"/>
                <a:ea typeface="Calibri" pitchFamily="34" charset="-122"/>
                <a:cs typeface="Calibri" pitchFamily="34" charset="-120"/>
              </a:rPr>
              <a:t>every goal and intervention should trace back to an assessed need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Is repeated </a:t>
            </a:r>
            <a:r>
              <a:rPr lang="en-US" sz="1800" dirty="0">
                <a:solidFill>
                  <a:srgbClr val="24302D"/>
                </a:solidFill>
                <a:latin typeface="Calibri" pitchFamily="34" charset="0"/>
                <a:ea typeface="Calibri" pitchFamily="34" charset="-122"/>
                <a:cs typeface="Calibri" pitchFamily="34" charset="-120"/>
              </a:rPr>
              <a:t>on a regular schedule and whenever there is a significant change</a:t>
            </a:r>
            <a:endParaRPr lang="en-US" sz="1800" dirty="0"/>
          </a:p>
        </p:txBody>
      </p:sp>
      <p:sp>
        <p:nvSpPr>
          <p:cNvPr id="4" name="Shape 2"/>
          <p:cNvSpPr/>
          <p:nvPr/>
        </p:nvSpPr>
        <p:spPr>
          <a:xfrm>
            <a:off x="7589520" y="1417320"/>
            <a:ext cx="4053535" cy="3677920"/>
          </a:xfrm>
          <a:prstGeom prst="roundRect">
            <a:avLst>
              <a:gd name="adj" fmla="val 298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Required under GUIDE</a:t>
            </a:r>
            <a:endParaRPr lang="en-US" sz="1800" dirty="0"/>
          </a:p>
        </p:txBody>
      </p:sp>
      <p:sp>
        <p:nvSpPr>
          <p:cNvPr id="7" name="Text 4"/>
          <p:cNvSpPr txBox="1"/>
          <p:nvPr/>
        </p:nvSpPr>
        <p:spPr>
          <a:xfrm>
            <a:off x="7863840" y="2423160"/>
            <a:ext cx="3504895" cy="258064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A comprehensive assessment of the beneficiary and caregiver, followed by a written care plan, is a core GUIDE service. Follow AbleLiving/MPS policy for timing, reassessment frequency, and documentation.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Preparing for a Home Visit</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Review</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Chart, care plan, recent calls, prior scores, and open referrals.</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Confirm</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Date, time, who will be present, and any interpreter needs.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Pack</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Forms or tablet, ID badge, resource materials, and PPE.</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Plan</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Your goals for the visit and the questions you must cover.</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Safety</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Check-in plan with your team; known pets or hazards at the home.</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Respect</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Allow time to arrive calmly, greet everyone, and settle in.</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Domains of a Comprehensive Assessment</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Cognition</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Memory, orientation, attention, language, and executive function; stage of dementia.</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Function</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Activities of daily living (ADLs) and instrumental activities of daily living (IADLs).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Behavior &amp; Mood</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Agitation, depression, anxiety, sleep, hallucinations, and other behavioral symptoms.</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Medical &amp; Medications</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Co-morbidities, current medications, pain, nutrition, hearing and vision.</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Safety &amp; Environment</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Falls, home hazards, wandering, driving, firearms, and abuse or neglect risk.</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Caregiver &amp; Goals</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Caregiver strain and needs, social supports, values, preferences, and goals of care.</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Assessment Tools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35666"/>
                <a:gridCol w="5060610"/>
                <a:gridCol w="3698138"/>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Measures</a:t>
                      </a:r>
                      <a:endParaRPr lang="en-US" sz="15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Mini-Cog</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Brief cognitive screen: 3-word recall plus clock drawing</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Quick screen, about 3 minutes</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MoCA / SLUMS</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Broader cognitive testing: memory, attention, language, executive function</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Clinician-administered; tracks change</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FAST / CDR</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Stage of dementia based on function (FAST) or clinical rating (CDR)</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Staging; hospice eligibility discussions</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Katz ADL Index</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Independence in bathing, dressing, toileting, transferring, continence, feeding</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Functional baseline and change</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Lawton IADL Scale</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Phone, shopping, cooking, housework, laundry, transportation, meds, finances</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Early functional decline</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NPI-Q</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Presence and severity of behavioral symptoms, and caregiver distress</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Behavioral symptom tracking</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PHQ-9 / Cornell Scale</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Depression; the Cornell Scale is designed for people with dementia</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Mood screening</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Zarit Burden Interview</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Caregiver burden and strain (full or short form)</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Caregiver assessment</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400" b="1" dirty="0">
                          <a:solidFill>
                            <a:srgbClr val="28695F"/>
                          </a:solidFill>
                          <a:latin typeface="Calibri" pitchFamily="34" charset="0"/>
                          <a:ea typeface="Calibri" pitchFamily="34" charset="-122"/>
                          <a:cs typeface="Calibri" pitchFamily="34" charset="-120"/>
                        </a:rPr>
                        <a:t>PAINAD</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Pain in people who cannot reliably report it (breathing, faces, body language)</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400" dirty="0">
                          <a:solidFill>
                            <a:srgbClr val="24302D"/>
                          </a:solidFill>
                          <a:latin typeface="Calibri" pitchFamily="34" charset="0"/>
                          <a:ea typeface="Calibri" pitchFamily="34" charset="-122"/>
                          <a:cs typeface="Calibri" pitchFamily="34" charset="-120"/>
                        </a:rPr>
                        <a:t>Pain in advanced dementia</a:t>
                      </a:r>
                      <a:endParaRPr lang="en-US" sz="14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5" name="Text 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6" name="Text 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Navigator's Role in Assessment</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Prepare: </a:t>
            </a:r>
            <a:r>
              <a:rPr lang="en-US" sz="1800" dirty="0">
                <a:solidFill>
                  <a:srgbClr val="24302D"/>
                </a:solidFill>
                <a:latin typeface="Calibri" pitchFamily="34" charset="0"/>
                <a:ea typeface="Calibri" pitchFamily="34" charset="-122"/>
                <a:cs typeface="Calibri" pitchFamily="34" charset="-120"/>
              </a:rPr>
              <a:t>review the chart, prior scores, and the reason for the visit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Gather history </a:t>
            </a:r>
            <a:r>
              <a:rPr lang="en-US" sz="1800" dirty="0">
                <a:solidFill>
                  <a:srgbClr val="24302D"/>
                </a:solidFill>
                <a:latin typeface="Calibri" pitchFamily="34" charset="0"/>
                <a:ea typeface="Calibri" pitchFamily="34" charset="-122"/>
                <a:cs typeface="Calibri" pitchFamily="34" charset="-120"/>
              </a:rPr>
              <a:t>from both the person and the caregiver — collateral information is essential</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Observe the home: </a:t>
            </a:r>
            <a:r>
              <a:rPr lang="en-US" sz="1800" dirty="0">
                <a:solidFill>
                  <a:srgbClr val="24302D"/>
                </a:solidFill>
                <a:latin typeface="Calibri" pitchFamily="34" charset="0"/>
                <a:ea typeface="Calibri" pitchFamily="34" charset="-122"/>
                <a:cs typeface="Calibri" pitchFamily="34" charset="-120"/>
              </a:rPr>
              <a:t>clutter, food in the refrigerator, medication storage, unopened mail, safety hazards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Administer </a:t>
            </a:r>
            <a:r>
              <a:rPr lang="en-US" sz="1800" dirty="0">
                <a:solidFill>
                  <a:srgbClr val="24302D"/>
                </a:solidFill>
                <a:latin typeface="Calibri" pitchFamily="34" charset="0"/>
                <a:ea typeface="Calibri" pitchFamily="34" charset="-122"/>
                <a:cs typeface="Calibri" pitchFamily="34" charset="-120"/>
              </a:rPr>
              <a:t>only the structured tools you are trained and authorized to use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Document objectively </a:t>
            </a:r>
            <a:r>
              <a:rPr lang="en-US" sz="1800" dirty="0">
                <a:solidFill>
                  <a:srgbClr val="24302D"/>
                </a:solidFill>
                <a:latin typeface="Calibri" pitchFamily="34" charset="0"/>
                <a:ea typeface="Calibri" pitchFamily="34" charset="-122"/>
                <a:cs typeface="Calibri" pitchFamily="34" charset="-120"/>
              </a:rPr>
              <a:t>using the person's and caregiver's own words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Flag red flags </a:t>
            </a:r>
            <a:r>
              <a:rPr lang="en-US" sz="1800" dirty="0">
                <a:solidFill>
                  <a:srgbClr val="24302D"/>
                </a:solidFill>
                <a:latin typeface="Calibri" pitchFamily="34" charset="0"/>
                <a:ea typeface="Calibri" pitchFamily="34" charset="-122"/>
                <a:cs typeface="Calibri" pitchFamily="34" charset="-120"/>
              </a:rPr>
              <a:t>to the clinician promptly</a:t>
            </a:r>
            <a:endParaRPr lang="en-US" sz="1800" dirty="0"/>
          </a:p>
        </p:txBody>
      </p:sp>
      <p:sp>
        <p:nvSpPr>
          <p:cNvPr id="4" name="Shape 2"/>
          <p:cNvSpPr/>
          <p:nvPr/>
        </p:nvSpPr>
        <p:spPr>
          <a:xfrm>
            <a:off x="7589520" y="1417320"/>
            <a:ext cx="4053535" cy="3677920"/>
          </a:xfrm>
          <a:prstGeom prst="roundRect">
            <a:avLst>
              <a:gd name="adj" fmla="val 2983"/>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Stay within scope</a:t>
            </a:r>
            <a:endParaRPr lang="en-US" sz="1800" dirty="0"/>
          </a:p>
        </p:txBody>
      </p:sp>
      <p:sp>
        <p:nvSpPr>
          <p:cNvPr id="7" name="Text 4"/>
          <p:cNvSpPr txBox="1"/>
          <p:nvPr/>
        </p:nvSpPr>
        <p:spPr>
          <a:xfrm>
            <a:off x="7863840" y="2423160"/>
            <a:ext cx="3504895" cy="258064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Navigators gather and report. Interpretation, diagnosis, and medical recommendations belong to the clinician. If a family asks, "What does her score mean?" — say you will have the clinician explain it.</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Recommendations for a Successful Assessment</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365760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Plan the Timing</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Schedule at the person's best time of day — often mornings. Avoid meals, naps, and sundowning hours.</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365760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Set the Environment</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Quiet room, TV off, good lighting. Confirm glasses and hearing aids are in place.</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365760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Build Rapport</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Introduce yourself each time. Start with light conversation about their interests.</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365760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Assess with Dignity</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Speak to the person first. Explain each step. Never quiz or correct in a demeaning way.</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365760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Close Well</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Thank them, summarize next steps, and confirm the plan with the caregiver.</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During the Assessment: Do and Avoid</a:t>
            </a:r>
            <a:endParaRPr lang="en-US" sz="3000" dirty="0"/>
          </a:p>
        </p:txBody>
      </p:sp>
      <p:sp>
        <p:nvSpPr>
          <p:cNvPr id="3" name="Shape 1"/>
          <p:cNvSpPr/>
          <p:nvPr/>
        </p:nvSpPr>
        <p:spPr>
          <a:xfrm>
            <a:off x="548640" y="1417320"/>
            <a:ext cx="5364328" cy="4709160"/>
          </a:xfrm>
          <a:prstGeom prst="roundRect">
            <a:avLst>
              <a:gd name="adj" fmla="val 2330"/>
            </a:avLst>
          </a:prstGeom>
          <a:solidFill>
            <a:srgbClr val="E8F1EF"/>
          </a:solidFill>
          <a:ln w="12700">
            <a:solidFill>
              <a:srgbClr val="E8F1EF"/>
            </a:solidFill>
            <a:prstDash val="solid"/>
          </a:ln>
        </p:spPr>
      </p:sp>
      <p:sp>
        <p:nvSpPr>
          <p:cNvPr id="4" name="Shape 2"/>
          <p:cNvSpPr/>
          <p:nvPr/>
        </p:nvSpPr>
        <p:spPr>
          <a:xfrm>
            <a:off x="548640" y="1417320"/>
            <a:ext cx="5364328" cy="640080"/>
          </a:xfrm>
          <a:prstGeom prst="roundRect">
            <a:avLst>
              <a:gd name="adj" fmla="val 17143"/>
            </a:avLst>
          </a:prstGeom>
          <a:solidFill>
            <a:srgbClr val="28695F"/>
          </a:solidFill>
          <a:ln w="12700">
            <a:solidFill>
              <a:srgbClr val="28695F"/>
            </a:solidFill>
            <a:prstDash val="solid"/>
          </a:ln>
        </p:spPr>
      </p:sp>
      <p:sp>
        <p:nvSpPr>
          <p:cNvPr id="5" name="Shape 3"/>
          <p:cNvSpPr/>
          <p:nvPr/>
        </p:nvSpPr>
        <p:spPr>
          <a:xfrm>
            <a:off x="548640" y="1783080"/>
            <a:ext cx="5364328" cy="274320"/>
          </a:xfrm>
          <a:prstGeom prst="rect">
            <a:avLst/>
          </a:prstGeom>
          <a:solidFill>
            <a:srgbClr val="28695F"/>
          </a:solidFill>
          <a:ln w="12700">
            <a:solidFill>
              <a:srgbClr val="28695F"/>
            </a:solidFill>
            <a:prstDash val="solid"/>
          </a:ln>
        </p:spPr>
      </p:sp>
      <p:sp>
        <p:nvSpPr>
          <p:cNvPr id="6" name="Text 4"/>
          <p:cNvSpPr txBox="1"/>
          <p:nvPr/>
        </p:nvSpPr>
        <p:spPr>
          <a:xfrm>
            <a:off x="822960"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Do</a:t>
            </a:r>
            <a:endParaRPr lang="en-US" sz="1900" dirty="0"/>
          </a:p>
        </p:txBody>
      </p:sp>
      <p:sp>
        <p:nvSpPr>
          <p:cNvPr id="7" name="Text 5"/>
          <p:cNvSpPr txBox="1"/>
          <p:nvPr/>
        </p:nvSpPr>
        <p:spPr>
          <a:xfrm>
            <a:off x="822960"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Address the person by their preferred name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Sit at eye level and speak clearly</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Allow extra time to respond</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Ask the caregiver for examples, not labels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Watch for fatigue and take breaks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Offer a private caregiver conversation</a:t>
            </a:r>
            <a:endParaRPr lang="en-US" sz="1700" dirty="0"/>
          </a:p>
        </p:txBody>
      </p:sp>
      <p:sp>
        <p:nvSpPr>
          <p:cNvPr id="8" name="Shape 6"/>
          <p:cNvSpPr/>
          <p:nvPr/>
        </p:nvSpPr>
        <p:spPr>
          <a:xfrm>
            <a:off x="6278728" y="1417320"/>
            <a:ext cx="5364328" cy="4709160"/>
          </a:xfrm>
          <a:prstGeom prst="roundRect">
            <a:avLst>
              <a:gd name="adj" fmla="val 2330"/>
            </a:avLst>
          </a:prstGeom>
          <a:solidFill>
            <a:srgbClr val="F8EFDF"/>
          </a:solidFill>
          <a:ln w="12700">
            <a:solidFill>
              <a:srgbClr val="F8EFDF"/>
            </a:solidFill>
            <a:prstDash val="solid"/>
          </a:ln>
        </p:spPr>
      </p:sp>
      <p:sp>
        <p:nvSpPr>
          <p:cNvPr id="9" name="Shape 7"/>
          <p:cNvSpPr/>
          <p:nvPr/>
        </p:nvSpPr>
        <p:spPr>
          <a:xfrm>
            <a:off x="6278728" y="1417320"/>
            <a:ext cx="5364328" cy="640080"/>
          </a:xfrm>
          <a:prstGeom prst="roundRect">
            <a:avLst>
              <a:gd name="adj" fmla="val 17143"/>
            </a:avLst>
          </a:prstGeom>
          <a:solidFill>
            <a:srgbClr val="C78F2E"/>
          </a:solidFill>
          <a:ln w="12700">
            <a:solidFill>
              <a:srgbClr val="C78F2E"/>
            </a:solidFill>
            <a:prstDash val="solid"/>
          </a:ln>
        </p:spPr>
      </p:sp>
      <p:sp>
        <p:nvSpPr>
          <p:cNvPr id="10" name="Shape 8"/>
          <p:cNvSpPr/>
          <p:nvPr/>
        </p:nvSpPr>
        <p:spPr>
          <a:xfrm>
            <a:off x="6278728" y="1783080"/>
            <a:ext cx="5364328" cy="274320"/>
          </a:xfrm>
          <a:prstGeom prst="rect">
            <a:avLst/>
          </a:prstGeom>
          <a:solidFill>
            <a:srgbClr val="C78F2E"/>
          </a:solidFill>
          <a:ln w="12700">
            <a:solidFill>
              <a:srgbClr val="C78F2E"/>
            </a:solidFill>
            <a:prstDash val="solid"/>
          </a:ln>
        </p:spPr>
      </p:sp>
      <p:sp>
        <p:nvSpPr>
          <p:cNvPr id="11" name="Text 9"/>
          <p:cNvSpPr txBox="1"/>
          <p:nvPr/>
        </p:nvSpPr>
        <p:spPr>
          <a:xfrm>
            <a:off x="6553048"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Avoid</a:t>
            </a:r>
            <a:endParaRPr lang="en-US" sz="1900" dirty="0"/>
          </a:p>
        </p:txBody>
      </p:sp>
      <p:sp>
        <p:nvSpPr>
          <p:cNvPr id="12" name="Text 10"/>
          <p:cNvSpPr txBox="1"/>
          <p:nvPr/>
        </p:nvSpPr>
        <p:spPr>
          <a:xfrm>
            <a:off x="6553048"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Talking about the person as if they are not there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Rushing or finishing their sentences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Correcting or arguing about wrong answers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Asking the caregiver to "test" them in front of you</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Pushing through when the person is distressed</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Assuming a low score means no preferences</a:t>
            </a:r>
            <a:endParaRPr lang="en-US" sz="1700" dirty="0"/>
          </a:p>
        </p:txBody>
      </p:sp>
      <p:pic>
        <p:nvPicPr>
          <p:cNvPr id="1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4"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5"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Assessing the Caregiver</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Who provides care, </a:t>
            </a:r>
            <a:r>
              <a:rPr lang="en-US" sz="1800" dirty="0">
                <a:solidFill>
                  <a:srgbClr val="24302D"/>
                </a:solidFill>
                <a:latin typeface="Calibri" pitchFamily="34" charset="0"/>
                <a:ea typeface="Calibri" pitchFamily="34" charset="-122"/>
                <a:cs typeface="Calibri" pitchFamily="34" charset="-120"/>
              </a:rPr>
              <a:t>how many hours a week, and for which tasks?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Their own health: </a:t>
            </a:r>
            <a:r>
              <a:rPr lang="en-US" sz="1800" dirty="0">
                <a:solidFill>
                  <a:srgbClr val="24302D"/>
                </a:solidFill>
                <a:latin typeface="Calibri" pitchFamily="34" charset="0"/>
                <a:ea typeface="Calibri" pitchFamily="34" charset="-122"/>
                <a:cs typeface="Calibri" pitchFamily="34" charset="-120"/>
              </a:rPr>
              <a:t>conditions, sleep, and missed appointments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Stress and mood: </a:t>
            </a:r>
            <a:r>
              <a:rPr lang="en-US" sz="1800" dirty="0">
                <a:solidFill>
                  <a:srgbClr val="24302D"/>
                </a:solidFill>
                <a:latin typeface="Calibri" pitchFamily="34" charset="0"/>
                <a:ea typeface="Calibri" pitchFamily="34" charset="-122"/>
                <a:cs typeface="Calibri" pitchFamily="34" charset="-120"/>
              </a:rPr>
              <a:t>use a structured tool such as the Zarit Burden Interview</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Knowledge and skills: </a:t>
            </a:r>
            <a:r>
              <a:rPr lang="en-US" sz="1800" dirty="0">
                <a:solidFill>
                  <a:srgbClr val="24302D"/>
                </a:solidFill>
                <a:latin typeface="Calibri" pitchFamily="34" charset="0"/>
                <a:ea typeface="Calibri" pitchFamily="34" charset="-122"/>
                <a:cs typeface="Calibri" pitchFamily="34" charset="-120"/>
              </a:rPr>
              <a:t>what they understand about dementia and what they want to learn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Other demands: </a:t>
            </a:r>
            <a:r>
              <a:rPr lang="en-US" sz="1800" dirty="0">
                <a:solidFill>
                  <a:srgbClr val="24302D"/>
                </a:solidFill>
                <a:latin typeface="Calibri" pitchFamily="34" charset="0"/>
                <a:ea typeface="Calibri" pitchFamily="34" charset="-122"/>
                <a:cs typeface="Calibri" pitchFamily="34" charset="-120"/>
              </a:rPr>
              <a:t>work, children, finances, and distance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Back-up plan: </a:t>
            </a:r>
            <a:r>
              <a:rPr lang="en-US" sz="1800" dirty="0">
                <a:solidFill>
                  <a:srgbClr val="24302D"/>
                </a:solidFill>
                <a:latin typeface="Calibri" pitchFamily="34" charset="0"/>
                <a:ea typeface="Calibri" pitchFamily="34" charset="-122"/>
                <a:cs typeface="Calibri" pitchFamily="34" charset="-120"/>
              </a:rPr>
              <a:t>who steps in if the caregiver is sick or unavailable?</a:t>
            </a:r>
            <a:endParaRPr lang="en-US" sz="1800" dirty="0"/>
          </a:p>
        </p:txBody>
      </p:sp>
      <p:sp>
        <p:nvSpPr>
          <p:cNvPr id="4" name="Shape 2"/>
          <p:cNvSpPr/>
          <p:nvPr/>
        </p:nvSpPr>
        <p:spPr>
          <a:xfrm>
            <a:off x="7589520" y="1417320"/>
            <a:ext cx="4053535" cy="2885440"/>
          </a:xfrm>
          <a:prstGeom prst="roundRect">
            <a:avLst>
              <a:gd name="adj" fmla="val 38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The dyad</a:t>
            </a:r>
            <a:endParaRPr lang="en-US" sz="1800" dirty="0"/>
          </a:p>
        </p:txBody>
      </p:sp>
      <p:sp>
        <p:nvSpPr>
          <p:cNvPr id="7" name="Text 4"/>
          <p:cNvSpPr txBox="1"/>
          <p:nvPr/>
        </p:nvSpPr>
        <p:spPr>
          <a:xfrm>
            <a:off x="7863840" y="2423160"/>
            <a:ext cx="3504895" cy="178816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GUIDE assesses both members of the dyad. A plan that works for the beneficiary but exhausts the caregiver will not last.</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Documenting Assessment Findings</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Weak Documentation</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Strong Documentation</a:t>
            </a:r>
            <a:endParaRPr lang="en-US" sz="1800" dirty="0"/>
          </a:p>
        </p:txBody>
      </p:sp>
      <p:sp>
        <p:nvSpPr>
          <p:cNvPr id="7" name="Shape 5"/>
          <p:cNvSpPr/>
          <p:nvPr/>
        </p:nvSpPr>
        <p:spPr>
          <a:xfrm>
            <a:off x="548640" y="2075688"/>
            <a:ext cx="5166360" cy="907542"/>
          </a:xfrm>
          <a:prstGeom prst="roundRect">
            <a:avLst>
              <a:gd name="adj" fmla="val 12091"/>
            </a:avLst>
          </a:prstGeom>
          <a:solidFill>
            <a:srgbClr val="E8F1EF"/>
          </a:solidFill>
          <a:ln w="12700">
            <a:solidFill>
              <a:srgbClr val="E8F1EF"/>
            </a:solidFill>
            <a:prstDash val="solid"/>
          </a:ln>
        </p:spPr>
      </p:sp>
      <p:sp>
        <p:nvSpPr>
          <p:cNvPr id="8" name="Shape 6"/>
          <p:cNvSpPr/>
          <p:nvPr/>
        </p:nvSpPr>
        <p:spPr>
          <a:xfrm>
            <a:off x="6464808" y="2075688"/>
            <a:ext cx="5178247" cy="907542"/>
          </a:xfrm>
          <a:prstGeom prst="roundRect">
            <a:avLst>
              <a:gd name="adj" fmla="val 12091"/>
            </a:avLst>
          </a:prstGeom>
          <a:solidFill>
            <a:srgbClr val="F8EFDF"/>
          </a:solidFill>
          <a:ln w="12700">
            <a:solidFill>
              <a:srgbClr val="F8EFDF"/>
            </a:solidFill>
            <a:prstDash val="solid"/>
          </a:ln>
        </p:spPr>
      </p:sp>
      <p:sp>
        <p:nvSpPr>
          <p:cNvPr id="9" name="Text 7"/>
          <p:cNvSpPr txBox="1"/>
          <p:nvPr/>
        </p:nvSpPr>
        <p:spPr>
          <a:xfrm>
            <a:off x="777240" y="2075688"/>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"Patient confused."</a:t>
            </a:r>
            <a:endParaRPr lang="en-US" sz="1600" dirty="0"/>
          </a:p>
        </p:txBody>
      </p:sp>
      <p:sp>
        <p:nvSpPr>
          <p:cNvPr id="10" name="Text 8"/>
          <p:cNvSpPr txBox="1"/>
          <p:nvPr/>
        </p:nvSpPr>
        <p:spPr>
          <a:xfrm>
            <a:off x="6693408" y="2075688"/>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"Did not know the month or year; asked the same question 4 times in 20 minutes."</a:t>
            </a:r>
            <a:endParaRPr lang="en-US" sz="1600" dirty="0"/>
          </a:p>
        </p:txBody>
      </p:sp>
      <p:sp>
        <p:nvSpPr>
          <p:cNvPr id="11" name="Shape 9"/>
          <p:cNvSpPr/>
          <p:nvPr/>
        </p:nvSpPr>
        <p:spPr>
          <a:xfrm>
            <a:off x="5934456" y="2346579"/>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346579"/>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3129534"/>
            <a:ext cx="5166360" cy="907542"/>
          </a:xfrm>
          <a:prstGeom prst="roundRect">
            <a:avLst>
              <a:gd name="adj" fmla="val 12091"/>
            </a:avLst>
          </a:prstGeom>
          <a:solidFill>
            <a:srgbClr val="E8F1EF"/>
          </a:solidFill>
          <a:ln w="12700">
            <a:solidFill>
              <a:srgbClr val="E8F1EF"/>
            </a:solidFill>
            <a:prstDash val="solid"/>
          </a:ln>
        </p:spPr>
      </p:sp>
      <p:sp>
        <p:nvSpPr>
          <p:cNvPr id="14" name="Shape 12"/>
          <p:cNvSpPr/>
          <p:nvPr/>
        </p:nvSpPr>
        <p:spPr>
          <a:xfrm>
            <a:off x="6464808" y="3129534"/>
            <a:ext cx="5178247" cy="907542"/>
          </a:xfrm>
          <a:prstGeom prst="roundRect">
            <a:avLst>
              <a:gd name="adj" fmla="val 12091"/>
            </a:avLst>
          </a:prstGeom>
          <a:solidFill>
            <a:srgbClr val="F8EFDF"/>
          </a:solidFill>
          <a:ln w="12700">
            <a:solidFill>
              <a:srgbClr val="F8EFDF"/>
            </a:solidFill>
            <a:prstDash val="solid"/>
          </a:ln>
        </p:spPr>
      </p:sp>
      <p:sp>
        <p:nvSpPr>
          <p:cNvPr id="15" name="Text 13"/>
          <p:cNvSpPr txBox="1"/>
          <p:nvPr/>
        </p:nvSpPr>
        <p:spPr>
          <a:xfrm>
            <a:off x="777240" y="3129534"/>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"Caregiver stressed."</a:t>
            </a:r>
            <a:endParaRPr lang="en-US" sz="1600" dirty="0"/>
          </a:p>
        </p:txBody>
      </p:sp>
      <p:sp>
        <p:nvSpPr>
          <p:cNvPr id="16" name="Text 14"/>
          <p:cNvSpPr txBox="1"/>
          <p:nvPr/>
        </p:nvSpPr>
        <p:spPr>
          <a:xfrm>
            <a:off x="6693408" y="3129534"/>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"Daughter states, 'I haven't slept a full night in weeks.' Zarit score recorded."</a:t>
            </a:r>
            <a:endParaRPr lang="en-US" sz="1600" dirty="0"/>
          </a:p>
        </p:txBody>
      </p:sp>
      <p:sp>
        <p:nvSpPr>
          <p:cNvPr id="17" name="Shape 15"/>
          <p:cNvSpPr/>
          <p:nvPr/>
        </p:nvSpPr>
        <p:spPr>
          <a:xfrm>
            <a:off x="5934456" y="3400425"/>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40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4183380"/>
            <a:ext cx="5166360" cy="907542"/>
          </a:xfrm>
          <a:prstGeom prst="roundRect">
            <a:avLst>
              <a:gd name="adj" fmla="val 12091"/>
            </a:avLst>
          </a:prstGeom>
          <a:solidFill>
            <a:srgbClr val="E8F1EF"/>
          </a:solidFill>
          <a:ln w="12700">
            <a:solidFill>
              <a:srgbClr val="E8F1EF"/>
            </a:solidFill>
            <a:prstDash val="solid"/>
          </a:ln>
        </p:spPr>
      </p:sp>
      <p:sp>
        <p:nvSpPr>
          <p:cNvPr id="20" name="Shape 18"/>
          <p:cNvSpPr/>
          <p:nvPr/>
        </p:nvSpPr>
        <p:spPr>
          <a:xfrm>
            <a:off x="6464808" y="4183380"/>
            <a:ext cx="5178247" cy="907542"/>
          </a:xfrm>
          <a:prstGeom prst="roundRect">
            <a:avLst>
              <a:gd name="adj" fmla="val 12091"/>
            </a:avLst>
          </a:prstGeom>
          <a:solidFill>
            <a:srgbClr val="F8EFDF"/>
          </a:solidFill>
          <a:ln w="12700">
            <a:solidFill>
              <a:srgbClr val="F8EFDF"/>
            </a:solidFill>
            <a:prstDash val="solid"/>
          </a:ln>
        </p:spPr>
      </p:sp>
      <p:sp>
        <p:nvSpPr>
          <p:cNvPr id="21" name="Text 19"/>
          <p:cNvSpPr txBox="1"/>
          <p:nvPr/>
        </p:nvSpPr>
        <p:spPr>
          <a:xfrm>
            <a:off x="777240" y="4183380"/>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"Home unsafe."</a:t>
            </a:r>
            <a:endParaRPr lang="en-US" sz="1600" dirty="0"/>
          </a:p>
        </p:txBody>
      </p:sp>
      <p:sp>
        <p:nvSpPr>
          <p:cNvPr id="22" name="Text 20"/>
          <p:cNvSpPr txBox="1"/>
          <p:nvPr/>
        </p:nvSpPr>
        <p:spPr>
          <a:xfrm>
            <a:off x="6693408" y="4183380"/>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"Throw rugs in hallway; no grab bars; stove knobs have no covers."</a:t>
            </a:r>
            <a:endParaRPr lang="en-US" sz="1600" dirty="0"/>
          </a:p>
        </p:txBody>
      </p:sp>
      <p:sp>
        <p:nvSpPr>
          <p:cNvPr id="23" name="Shape 21"/>
          <p:cNvSpPr/>
          <p:nvPr/>
        </p:nvSpPr>
        <p:spPr>
          <a:xfrm>
            <a:off x="5934456" y="4454271"/>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445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5237226"/>
            <a:ext cx="5166360" cy="907542"/>
          </a:xfrm>
          <a:prstGeom prst="roundRect">
            <a:avLst>
              <a:gd name="adj" fmla="val 12091"/>
            </a:avLst>
          </a:prstGeom>
          <a:solidFill>
            <a:srgbClr val="E8F1EF"/>
          </a:solidFill>
          <a:ln w="12700">
            <a:solidFill>
              <a:srgbClr val="E8F1EF"/>
            </a:solidFill>
            <a:prstDash val="solid"/>
          </a:ln>
        </p:spPr>
      </p:sp>
      <p:sp>
        <p:nvSpPr>
          <p:cNvPr id="26" name="Shape 24"/>
          <p:cNvSpPr/>
          <p:nvPr/>
        </p:nvSpPr>
        <p:spPr>
          <a:xfrm>
            <a:off x="6464808" y="5237226"/>
            <a:ext cx="5178247" cy="907542"/>
          </a:xfrm>
          <a:prstGeom prst="roundRect">
            <a:avLst>
              <a:gd name="adj" fmla="val 12091"/>
            </a:avLst>
          </a:prstGeom>
          <a:solidFill>
            <a:srgbClr val="F8EFDF"/>
          </a:solidFill>
          <a:ln w="12700">
            <a:solidFill>
              <a:srgbClr val="F8EFDF"/>
            </a:solidFill>
            <a:prstDash val="solid"/>
          </a:ln>
        </p:spPr>
      </p:sp>
      <p:sp>
        <p:nvSpPr>
          <p:cNvPr id="27" name="Text 25"/>
          <p:cNvSpPr txBox="1"/>
          <p:nvPr/>
        </p:nvSpPr>
        <p:spPr>
          <a:xfrm>
            <a:off x="777240" y="5237226"/>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"Doing OK with meds."</a:t>
            </a:r>
            <a:endParaRPr lang="en-US" sz="1600" dirty="0"/>
          </a:p>
        </p:txBody>
      </p:sp>
      <p:sp>
        <p:nvSpPr>
          <p:cNvPr id="28" name="Text 26"/>
          <p:cNvSpPr txBox="1"/>
          <p:nvPr/>
        </p:nvSpPr>
        <p:spPr>
          <a:xfrm>
            <a:off x="6693408" y="5237226"/>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"Weekly organizer filled by son; 2 missed doses found in Tuesday slot."</a:t>
            </a:r>
            <a:endParaRPr lang="en-US" sz="1600" dirty="0"/>
          </a:p>
        </p:txBody>
      </p:sp>
      <p:sp>
        <p:nvSpPr>
          <p:cNvPr id="29" name="Shape 27"/>
          <p:cNvSpPr/>
          <p:nvPr/>
        </p:nvSpPr>
        <p:spPr>
          <a:xfrm>
            <a:off x="5934456" y="5508117"/>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5508117"/>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1"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2" name="Text 2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33" name="Text 3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Role-Play: The Assessment Visit</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15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Groups of three: navigator, beneficiary, caregiver. Rotate roles.</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opens the visit: introduction, purpose, and permission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asks about daily routine and uses "Show me how you…" for one task</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Caregiver shares one concern; navigator offers a private follow-up</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Observer notes one strength and one improvement for the navigator</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Rotate roles and repeat (4 minutes each round)</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The Care Plan</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Turning assessment into action — together with the beneficiary</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2</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What Is a Care Plan?</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 written, shared plan </a:t>
            </a:r>
            <a:r>
              <a:rPr lang="en-US" sz="1800" dirty="0">
                <a:solidFill>
                  <a:srgbClr val="24302D"/>
                </a:solidFill>
                <a:latin typeface="Calibri" pitchFamily="34" charset="0"/>
                <a:ea typeface="Calibri" pitchFamily="34" charset="-122"/>
                <a:cs typeface="Calibri" pitchFamily="34" charset="-120"/>
              </a:rPr>
              <a:t>that describes what matters to the person and how the team will help</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Built from the assessment: </a:t>
            </a:r>
            <a:r>
              <a:rPr lang="en-US" sz="1800" dirty="0">
                <a:solidFill>
                  <a:srgbClr val="24302D"/>
                </a:solidFill>
                <a:latin typeface="Calibri" pitchFamily="34" charset="0"/>
                <a:ea typeface="Calibri" pitchFamily="34" charset="-122"/>
                <a:cs typeface="Calibri" pitchFamily="34" charset="-120"/>
              </a:rPr>
              <a:t>needs and strengths identified in every domain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Includes </a:t>
            </a:r>
            <a:r>
              <a:rPr lang="en-US" sz="1800" dirty="0">
                <a:solidFill>
                  <a:srgbClr val="24302D"/>
                </a:solidFill>
                <a:latin typeface="Calibri" pitchFamily="34" charset="0"/>
                <a:ea typeface="Calibri" pitchFamily="34" charset="-122"/>
                <a:cs typeface="Calibri" pitchFamily="34" charset="-120"/>
              </a:rPr>
              <a:t>goals, interventions, who is responsible, and when progress will be reviewed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Shared with the dyad </a:t>
            </a:r>
            <a:r>
              <a:rPr lang="en-US" sz="1800" dirty="0">
                <a:solidFill>
                  <a:srgbClr val="24302D"/>
                </a:solidFill>
                <a:latin typeface="Calibri" pitchFamily="34" charset="0"/>
                <a:ea typeface="Calibri" pitchFamily="34" charset="-122"/>
                <a:cs typeface="Calibri" pitchFamily="34" charset="-120"/>
              </a:rPr>
              <a:t>in plain language, and with the interdisciplinary team</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 living document, </a:t>
            </a:r>
            <a:r>
              <a:rPr lang="en-US" sz="1800" dirty="0">
                <a:solidFill>
                  <a:srgbClr val="24302D"/>
                </a:solidFill>
                <a:latin typeface="Calibri" pitchFamily="34" charset="0"/>
                <a:ea typeface="Calibri" pitchFamily="34" charset="-122"/>
                <a:cs typeface="Calibri" pitchFamily="34" charset="-120"/>
              </a:rPr>
              <a:t>updated at reassessment and whenever needs change</a:t>
            </a:r>
            <a:endParaRPr lang="en-US" sz="1800" dirty="0"/>
          </a:p>
        </p:txBody>
      </p:sp>
      <p:sp>
        <p:nvSpPr>
          <p:cNvPr id="4" name="Shape 2"/>
          <p:cNvSpPr/>
          <p:nvPr/>
        </p:nvSpPr>
        <p:spPr>
          <a:xfrm>
            <a:off x="7589520" y="1417320"/>
            <a:ext cx="4053535" cy="3952240"/>
          </a:xfrm>
          <a:prstGeom prst="roundRect">
            <a:avLst>
              <a:gd name="adj" fmla="val 2776"/>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 good care plan answers</a:t>
            </a:r>
            <a:endParaRPr lang="en-US" sz="1800" dirty="0"/>
          </a:p>
        </p:txBody>
      </p:sp>
      <p:sp>
        <p:nvSpPr>
          <p:cNvPr id="7" name="Text 4"/>
          <p:cNvSpPr txBox="1"/>
          <p:nvPr/>
        </p:nvSpPr>
        <p:spPr>
          <a:xfrm>
            <a:off x="7863840" y="2423160"/>
            <a:ext cx="3504895" cy="2854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What matters most to this person?</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What are the biggest risks right now?</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What will we do, and who will do it?</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How will we know it is working?</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Care Planning Cycle</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292608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Assess</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Comprehensive assessment of the person and caregiver.</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292608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Identify Needs</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Prioritize problems and strengths with the dyad.</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292608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Set Goals</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Specific, measurable goals that reflect what matters to them.</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292608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Act</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Interventions, referrals, education — each with an owner and date.</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292608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Monitor &amp; Update</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Check progress at contacts; revise when needs change.</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Writing Goals That Work</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Use SMART goals: Specific, Measurable, Achievable, Relevant, Time-bound.</a:t>
            </a:r>
            <a:endParaRPr lang="en-US" sz="1600" dirty="0"/>
          </a:p>
        </p:txBody>
      </p:sp>
      <p:sp>
        <p:nvSpPr>
          <p:cNvPr id="4" name="Shape 2"/>
          <p:cNvSpPr/>
          <p:nvPr/>
        </p:nvSpPr>
        <p:spPr>
          <a:xfrm>
            <a:off x="548640" y="1828800"/>
            <a:ext cx="5166360" cy="502920"/>
          </a:xfrm>
          <a:prstGeom prst="roundRect">
            <a:avLst>
              <a:gd name="adj" fmla="val 18182"/>
            </a:avLst>
          </a:prstGeom>
          <a:solidFill>
            <a:srgbClr val="28695F"/>
          </a:solidFill>
          <a:ln w="12700">
            <a:solidFill>
              <a:srgbClr val="28695F"/>
            </a:solidFill>
            <a:prstDash val="solid"/>
          </a:ln>
        </p:spPr>
      </p:sp>
      <p:sp>
        <p:nvSpPr>
          <p:cNvPr id="5" name="Text 3"/>
          <p:cNvSpPr txBox="1"/>
          <p:nvPr/>
        </p:nvSpPr>
        <p:spPr>
          <a:xfrm>
            <a:off x="777240" y="182880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Vague Goal</a:t>
            </a:r>
            <a:endParaRPr lang="en-US" sz="1800" dirty="0"/>
          </a:p>
        </p:txBody>
      </p:sp>
      <p:sp>
        <p:nvSpPr>
          <p:cNvPr id="6" name="Shape 4"/>
          <p:cNvSpPr/>
          <p:nvPr/>
        </p:nvSpPr>
        <p:spPr>
          <a:xfrm>
            <a:off x="6464808" y="1828800"/>
            <a:ext cx="5178247" cy="502920"/>
          </a:xfrm>
          <a:prstGeom prst="roundRect">
            <a:avLst>
              <a:gd name="adj" fmla="val 18182"/>
            </a:avLst>
          </a:prstGeom>
          <a:solidFill>
            <a:srgbClr val="C78F2E"/>
          </a:solidFill>
          <a:ln w="12700">
            <a:solidFill>
              <a:srgbClr val="C78F2E"/>
            </a:solidFill>
            <a:prstDash val="solid"/>
          </a:ln>
        </p:spPr>
      </p:sp>
      <p:sp>
        <p:nvSpPr>
          <p:cNvPr id="7" name="Text 5"/>
          <p:cNvSpPr txBox="1"/>
          <p:nvPr/>
        </p:nvSpPr>
        <p:spPr>
          <a:xfrm>
            <a:off x="6693408" y="182880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SMART Goal</a:t>
            </a:r>
            <a:endParaRPr lang="en-US" sz="1800" dirty="0"/>
          </a:p>
        </p:txBody>
      </p:sp>
      <p:sp>
        <p:nvSpPr>
          <p:cNvPr id="8" name="Shape 6"/>
          <p:cNvSpPr/>
          <p:nvPr/>
        </p:nvSpPr>
        <p:spPr>
          <a:xfrm>
            <a:off x="548640" y="2487168"/>
            <a:ext cx="5166360" cy="804672"/>
          </a:xfrm>
          <a:prstGeom prst="roundRect">
            <a:avLst>
              <a:gd name="adj" fmla="val 13636"/>
            </a:avLst>
          </a:prstGeom>
          <a:solidFill>
            <a:srgbClr val="E8F1EF"/>
          </a:solidFill>
          <a:ln w="12700">
            <a:solidFill>
              <a:srgbClr val="E8F1EF"/>
            </a:solidFill>
            <a:prstDash val="solid"/>
          </a:ln>
        </p:spPr>
      </p:sp>
      <p:sp>
        <p:nvSpPr>
          <p:cNvPr id="9" name="Shape 7"/>
          <p:cNvSpPr/>
          <p:nvPr/>
        </p:nvSpPr>
        <p:spPr>
          <a:xfrm>
            <a:off x="6464808" y="2487168"/>
            <a:ext cx="5178247" cy="804672"/>
          </a:xfrm>
          <a:prstGeom prst="roundRect">
            <a:avLst>
              <a:gd name="adj" fmla="val 13636"/>
            </a:avLst>
          </a:prstGeom>
          <a:solidFill>
            <a:srgbClr val="F8EFDF"/>
          </a:solidFill>
          <a:ln w="12700">
            <a:solidFill>
              <a:srgbClr val="F8EFDF"/>
            </a:solidFill>
            <a:prstDash val="solid"/>
          </a:ln>
        </p:spPr>
      </p:sp>
      <p:sp>
        <p:nvSpPr>
          <p:cNvPr id="10" name="Text 8"/>
          <p:cNvSpPr txBox="1"/>
          <p:nvPr/>
        </p:nvSpPr>
        <p:spPr>
          <a:xfrm>
            <a:off x="777240" y="2487168"/>
            <a:ext cx="4709160"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"Improve safety."</a:t>
            </a:r>
            <a:endParaRPr lang="en-US" sz="1500" dirty="0"/>
          </a:p>
        </p:txBody>
      </p:sp>
      <p:sp>
        <p:nvSpPr>
          <p:cNvPr id="11" name="Text 9"/>
          <p:cNvSpPr txBox="1"/>
          <p:nvPr/>
        </p:nvSpPr>
        <p:spPr>
          <a:xfrm>
            <a:off x="6693408" y="2487168"/>
            <a:ext cx="4721047"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"Install grab bars and a shower chair within 30 days; no bathroom falls over the next 3 months."</a:t>
            </a:r>
            <a:endParaRPr lang="en-US" sz="1500" dirty="0"/>
          </a:p>
        </p:txBody>
      </p:sp>
      <p:sp>
        <p:nvSpPr>
          <p:cNvPr id="12" name="Shape 10"/>
          <p:cNvSpPr/>
          <p:nvPr/>
        </p:nvSpPr>
        <p:spPr>
          <a:xfrm>
            <a:off x="5934456" y="2706624"/>
            <a:ext cx="365760" cy="365760"/>
          </a:xfrm>
          <a:prstGeom prst="ellipse">
            <a:avLst/>
          </a:prstGeom>
          <a:solidFill>
            <a:srgbClr val="FFFFFF"/>
          </a:solidFill>
          <a:ln w="19050">
            <a:solidFill>
              <a:srgbClr val="C9DEDA"/>
            </a:solidFill>
            <a:prstDash val="solid"/>
          </a:ln>
        </p:spPr>
      </p:sp>
      <p:sp>
        <p:nvSpPr>
          <p:cNvPr id="13" name="Text 11"/>
          <p:cNvSpPr txBox="1"/>
          <p:nvPr/>
        </p:nvSpPr>
        <p:spPr>
          <a:xfrm>
            <a:off x="5934456" y="270662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548640" y="3438144"/>
            <a:ext cx="5166360" cy="804672"/>
          </a:xfrm>
          <a:prstGeom prst="roundRect">
            <a:avLst>
              <a:gd name="adj" fmla="val 13636"/>
            </a:avLst>
          </a:prstGeom>
          <a:solidFill>
            <a:srgbClr val="E8F1EF"/>
          </a:solidFill>
          <a:ln w="12700">
            <a:solidFill>
              <a:srgbClr val="E8F1EF"/>
            </a:solidFill>
            <a:prstDash val="solid"/>
          </a:ln>
        </p:spPr>
      </p:sp>
      <p:sp>
        <p:nvSpPr>
          <p:cNvPr id="15" name="Shape 13"/>
          <p:cNvSpPr/>
          <p:nvPr/>
        </p:nvSpPr>
        <p:spPr>
          <a:xfrm>
            <a:off x="6464808" y="3438144"/>
            <a:ext cx="5178247" cy="804672"/>
          </a:xfrm>
          <a:prstGeom prst="roundRect">
            <a:avLst>
              <a:gd name="adj" fmla="val 13636"/>
            </a:avLst>
          </a:prstGeom>
          <a:solidFill>
            <a:srgbClr val="F8EFDF"/>
          </a:solidFill>
          <a:ln w="12700">
            <a:solidFill>
              <a:srgbClr val="F8EFDF"/>
            </a:solidFill>
            <a:prstDash val="solid"/>
          </a:ln>
        </p:spPr>
      </p:sp>
      <p:sp>
        <p:nvSpPr>
          <p:cNvPr id="16" name="Text 14"/>
          <p:cNvSpPr txBox="1"/>
          <p:nvPr/>
        </p:nvSpPr>
        <p:spPr>
          <a:xfrm>
            <a:off x="777240" y="3438144"/>
            <a:ext cx="4709160"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"Reduce caregiver stress."</a:t>
            </a:r>
            <a:endParaRPr lang="en-US" sz="1500" dirty="0"/>
          </a:p>
        </p:txBody>
      </p:sp>
      <p:sp>
        <p:nvSpPr>
          <p:cNvPr id="17" name="Text 15"/>
          <p:cNvSpPr txBox="1"/>
          <p:nvPr/>
        </p:nvSpPr>
        <p:spPr>
          <a:xfrm>
            <a:off x="6693408" y="3438144"/>
            <a:ext cx="4721047"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"Daughter will attend 2 support group sessions and use 4 hours of in-home respite this month."</a:t>
            </a:r>
            <a:endParaRPr lang="en-US" sz="1500" dirty="0"/>
          </a:p>
        </p:txBody>
      </p:sp>
      <p:sp>
        <p:nvSpPr>
          <p:cNvPr id="18" name="Shape 16"/>
          <p:cNvSpPr/>
          <p:nvPr/>
        </p:nvSpPr>
        <p:spPr>
          <a:xfrm>
            <a:off x="5934456" y="3657600"/>
            <a:ext cx="365760" cy="365760"/>
          </a:xfrm>
          <a:prstGeom prst="ellipse">
            <a:avLst/>
          </a:prstGeom>
          <a:solidFill>
            <a:srgbClr val="FFFFFF"/>
          </a:solidFill>
          <a:ln w="19050">
            <a:solidFill>
              <a:srgbClr val="C9DEDA"/>
            </a:solidFill>
            <a:prstDash val="solid"/>
          </a:ln>
        </p:spPr>
      </p:sp>
      <p:sp>
        <p:nvSpPr>
          <p:cNvPr id="19" name="Text 17"/>
          <p:cNvSpPr txBox="1"/>
          <p:nvPr/>
        </p:nvSpPr>
        <p:spPr>
          <a:xfrm>
            <a:off x="5934456" y="3657600"/>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548640" y="4389120"/>
            <a:ext cx="5166360" cy="804672"/>
          </a:xfrm>
          <a:prstGeom prst="roundRect">
            <a:avLst>
              <a:gd name="adj" fmla="val 13636"/>
            </a:avLst>
          </a:prstGeom>
          <a:solidFill>
            <a:srgbClr val="E8F1EF"/>
          </a:solidFill>
          <a:ln w="12700">
            <a:solidFill>
              <a:srgbClr val="E8F1EF"/>
            </a:solidFill>
            <a:prstDash val="solid"/>
          </a:ln>
        </p:spPr>
      </p:sp>
      <p:sp>
        <p:nvSpPr>
          <p:cNvPr id="21" name="Shape 19"/>
          <p:cNvSpPr/>
          <p:nvPr/>
        </p:nvSpPr>
        <p:spPr>
          <a:xfrm>
            <a:off x="6464808" y="4389120"/>
            <a:ext cx="5178247" cy="804672"/>
          </a:xfrm>
          <a:prstGeom prst="roundRect">
            <a:avLst>
              <a:gd name="adj" fmla="val 13636"/>
            </a:avLst>
          </a:prstGeom>
          <a:solidFill>
            <a:srgbClr val="F8EFDF"/>
          </a:solidFill>
          <a:ln w="12700">
            <a:solidFill>
              <a:srgbClr val="F8EFDF"/>
            </a:solidFill>
            <a:prstDash val="solid"/>
          </a:ln>
        </p:spPr>
      </p:sp>
      <p:sp>
        <p:nvSpPr>
          <p:cNvPr id="22" name="Text 20"/>
          <p:cNvSpPr txBox="1"/>
          <p:nvPr/>
        </p:nvSpPr>
        <p:spPr>
          <a:xfrm>
            <a:off x="777240" y="4389120"/>
            <a:ext cx="4709160"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"Help with medications."</a:t>
            </a:r>
            <a:endParaRPr lang="en-US" sz="1500" dirty="0"/>
          </a:p>
        </p:txBody>
      </p:sp>
      <p:sp>
        <p:nvSpPr>
          <p:cNvPr id="23" name="Text 21"/>
          <p:cNvSpPr txBox="1"/>
          <p:nvPr/>
        </p:nvSpPr>
        <p:spPr>
          <a:xfrm>
            <a:off x="6693408" y="4389120"/>
            <a:ext cx="4721047"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"Weekly pill organizer filled by son every Sunday; no missed doses at next review."</a:t>
            </a:r>
            <a:endParaRPr lang="en-US" sz="1500" dirty="0"/>
          </a:p>
        </p:txBody>
      </p:sp>
      <p:sp>
        <p:nvSpPr>
          <p:cNvPr id="24" name="Shape 22"/>
          <p:cNvSpPr/>
          <p:nvPr/>
        </p:nvSpPr>
        <p:spPr>
          <a:xfrm>
            <a:off x="5934456" y="4608576"/>
            <a:ext cx="365760" cy="365760"/>
          </a:xfrm>
          <a:prstGeom prst="ellipse">
            <a:avLst/>
          </a:prstGeom>
          <a:solidFill>
            <a:srgbClr val="FFFFFF"/>
          </a:solidFill>
          <a:ln w="19050">
            <a:solidFill>
              <a:srgbClr val="C9DEDA"/>
            </a:solidFill>
            <a:prstDash val="solid"/>
          </a:ln>
        </p:spPr>
      </p:sp>
      <p:sp>
        <p:nvSpPr>
          <p:cNvPr id="25" name="Text 23"/>
          <p:cNvSpPr txBox="1"/>
          <p:nvPr/>
        </p:nvSpPr>
        <p:spPr>
          <a:xfrm>
            <a:off x="5934456" y="4608576"/>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548640" y="5340096"/>
            <a:ext cx="5166360" cy="804672"/>
          </a:xfrm>
          <a:prstGeom prst="roundRect">
            <a:avLst>
              <a:gd name="adj" fmla="val 13636"/>
            </a:avLst>
          </a:prstGeom>
          <a:solidFill>
            <a:srgbClr val="E8F1EF"/>
          </a:solidFill>
          <a:ln w="12700">
            <a:solidFill>
              <a:srgbClr val="E8F1EF"/>
            </a:solidFill>
            <a:prstDash val="solid"/>
          </a:ln>
        </p:spPr>
      </p:sp>
      <p:sp>
        <p:nvSpPr>
          <p:cNvPr id="27" name="Shape 25"/>
          <p:cNvSpPr/>
          <p:nvPr/>
        </p:nvSpPr>
        <p:spPr>
          <a:xfrm>
            <a:off x="6464808" y="5340096"/>
            <a:ext cx="5178247" cy="804672"/>
          </a:xfrm>
          <a:prstGeom prst="roundRect">
            <a:avLst>
              <a:gd name="adj" fmla="val 13636"/>
            </a:avLst>
          </a:prstGeom>
          <a:solidFill>
            <a:srgbClr val="F8EFDF"/>
          </a:solidFill>
          <a:ln w="12700">
            <a:solidFill>
              <a:srgbClr val="F8EFDF"/>
            </a:solidFill>
            <a:prstDash val="solid"/>
          </a:ln>
        </p:spPr>
      </p:sp>
      <p:sp>
        <p:nvSpPr>
          <p:cNvPr id="28" name="Text 26"/>
          <p:cNvSpPr txBox="1"/>
          <p:nvPr/>
        </p:nvSpPr>
        <p:spPr>
          <a:xfrm>
            <a:off x="777240" y="5340096"/>
            <a:ext cx="4709160"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"Increase activity."</a:t>
            </a:r>
            <a:endParaRPr lang="en-US" sz="1500" dirty="0"/>
          </a:p>
        </p:txBody>
      </p:sp>
      <p:sp>
        <p:nvSpPr>
          <p:cNvPr id="29" name="Text 27"/>
          <p:cNvSpPr txBox="1"/>
          <p:nvPr/>
        </p:nvSpPr>
        <p:spPr>
          <a:xfrm>
            <a:off x="6693408" y="5340096"/>
            <a:ext cx="4721047" cy="804672"/>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"Mr. T will walk with his wife 15 minutes, 5 mornings a week."</a:t>
            </a:r>
            <a:endParaRPr lang="en-US" sz="1500" dirty="0"/>
          </a:p>
        </p:txBody>
      </p:sp>
      <p:sp>
        <p:nvSpPr>
          <p:cNvPr id="30" name="Shape 28"/>
          <p:cNvSpPr/>
          <p:nvPr/>
        </p:nvSpPr>
        <p:spPr>
          <a:xfrm>
            <a:off x="5934456" y="5559552"/>
            <a:ext cx="365760" cy="365760"/>
          </a:xfrm>
          <a:prstGeom prst="ellipse">
            <a:avLst/>
          </a:prstGeom>
          <a:solidFill>
            <a:srgbClr val="FFFFFF"/>
          </a:solidFill>
          <a:ln w="19050">
            <a:solidFill>
              <a:srgbClr val="C9DEDA"/>
            </a:solidFill>
            <a:prstDash val="solid"/>
          </a:ln>
        </p:spPr>
      </p:sp>
      <p:sp>
        <p:nvSpPr>
          <p:cNvPr id="31" name="Text 29"/>
          <p:cNvSpPr txBox="1"/>
          <p:nvPr/>
        </p:nvSpPr>
        <p:spPr>
          <a:xfrm>
            <a:off x="5934456" y="555955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3" name="Text 3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34" name="Text 3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Components of a Care Plan</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444532"/>
                <a:gridCol w="4324942"/>
                <a:gridCol w="4324942"/>
              </a:tblGrid>
              <a:tr h="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Component</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What It Includes</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Example</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What matters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The person's values, preferences, and goals in their own words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"I want to stay in my home and keep gardening."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Needs &amp; strengths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Assessed needs in each domain, and abilities to build 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Needs bathing help; still enjoys cooking with supervision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Goals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SMART goals for the beneficiary and the caregiver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No falls in the bathroom over the next 3 months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Interventions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Actions, referrals, and education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Grab bars; shower chair; OT home safety evaluation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Responsibility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Who will do each action, and by when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Navigator refers to OT by Friday; son installs grab bars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Review</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When and how progress will be checked</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Review at the monthly call and next visit</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5" name="Text 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6" name="Text 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Including the Beneficiary in the Plan</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Ask the person first: </a:t>
            </a:r>
            <a:r>
              <a:rPr lang="en-US" sz="1800" dirty="0">
                <a:solidFill>
                  <a:srgbClr val="24302D"/>
                </a:solidFill>
                <a:latin typeface="Calibri" pitchFamily="34" charset="0"/>
                <a:ea typeface="Calibri" pitchFamily="34" charset="-122"/>
                <a:cs typeface="Calibri" pitchFamily="34" charset="-120"/>
              </a:rPr>
              <a:t>"What is most important to you right now?"</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Match their ability: </a:t>
            </a:r>
            <a:r>
              <a:rPr lang="en-US" sz="1800" dirty="0">
                <a:solidFill>
                  <a:srgbClr val="24302D"/>
                </a:solidFill>
                <a:latin typeface="Calibri" pitchFamily="34" charset="0"/>
                <a:ea typeface="Calibri" pitchFamily="34" charset="-122"/>
                <a:cs typeface="Calibri" pitchFamily="34" charset="-120"/>
              </a:rPr>
              <a:t>offer simple choices rather than open-ended questions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plain language </a:t>
            </a:r>
            <a:r>
              <a:rPr lang="en-US" sz="1800" dirty="0">
                <a:solidFill>
                  <a:srgbClr val="24302D"/>
                </a:solidFill>
                <a:latin typeface="Calibri" pitchFamily="34" charset="0"/>
                <a:ea typeface="Calibri" pitchFamily="34" charset="-122"/>
                <a:cs typeface="Calibri" pitchFamily="34" charset="-120"/>
              </a:rPr>
              <a:t>and visual aids; check understanding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Honor stated preferences </a:t>
            </a:r>
            <a:r>
              <a:rPr lang="en-US" sz="1800" dirty="0">
                <a:solidFill>
                  <a:srgbClr val="24302D"/>
                </a:solidFill>
                <a:latin typeface="Calibri" pitchFamily="34" charset="0"/>
                <a:ea typeface="Calibri" pitchFamily="34" charset="-122"/>
                <a:cs typeface="Calibri" pitchFamily="34" charset="-120"/>
              </a:rPr>
              <a:t>even when the caregiver sees it differently — then problem-solve together</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Record the person's own words </a:t>
            </a:r>
            <a:r>
              <a:rPr lang="en-US" sz="1800" dirty="0">
                <a:solidFill>
                  <a:srgbClr val="24302D"/>
                </a:solidFill>
                <a:latin typeface="Calibri" pitchFamily="34" charset="0"/>
                <a:ea typeface="Calibri" pitchFamily="34" charset="-122"/>
                <a:cs typeface="Calibri" pitchFamily="34" charset="-120"/>
              </a:rPr>
              <a:t>in the goals section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Give the family a copy </a:t>
            </a:r>
            <a:r>
              <a:rPr lang="en-US" sz="1800" dirty="0">
                <a:solidFill>
                  <a:srgbClr val="24302D"/>
                </a:solidFill>
                <a:latin typeface="Calibri" pitchFamily="34" charset="0"/>
                <a:ea typeface="Calibri" pitchFamily="34" charset="-122"/>
                <a:cs typeface="Calibri" pitchFamily="34" charset="-120"/>
              </a:rPr>
              <a:t>and review it at each visit</a:t>
            </a:r>
            <a:endParaRPr lang="en-US" sz="1800" dirty="0"/>
          </a:p>
        </p:txBody>
      </p:sp>
      <p:sp>
        <p:nvSpPr>
          <p:cNvPr id="4" name="Shape 2"/>
          <p:cNvSpPr/>
          <p:nvPr/>
        </p:nvSpPr>
        <p:spPr>
          <a:xfrm>
            <a:off x="7589520" y="1417320"/>
            <a:ext cx="4053535" cy="3413760"/>
          </a:xfrm>
          <a:prstGeom prst="roundRect">
            <a:avLst>
              <a:gd name="adj" fmla="val 321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Why it matters</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People living with dementia who participate in their plans are more likely to accept help. Being excluded can feel frightening and dismissive — and can show up later as refusal of care.</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When to Update the Care Plan</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Scheduled Review</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At reassessment, per GUIDE and AbleLiving/MPS policy.</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Care Transition</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After an ED visit, hospital stay, or rehab admission.</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New Symptoms</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New behaviors, falls, weight loss, or functional decline.</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Caregiver Change</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Caregiver illness, burnout, a move, or a new caregiver.</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Goal Met or Missed</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 goal is achieved, or an intervention is not working.</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Dyad Request</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The person or family says something needs to change.</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03</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Person-Centered Planning</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Seeing the person, not just the diagnosis</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2</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F1E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9052560" y="1097280"/>
            <a:ext cx="2926080" cy="3703320"/>
          </a:xfrm>
          <a:prstGeom prst="rect">
            <a:avLst/>
          </a:prstGeom>
        </p:spPr>
      </p:pic>
      <p:pic>
        <p:nvPicPr>
          <p:cNvPr id="3" name="Image 1" descr="preencoded.png">    </p:cNvPr>
          <p:cNvPicPr>
            <a:picLocks noChangeAspect="1"/>
          </p:cNvPicPr>
          <p:nvPr/>
        </p:nvPicPr>
        <p:blipFill>
          <a:blip r:embed="rId2"/>
          <a:stretch>
            <a:fillRect/>
          </a:stretch>
        </p:blipFill>
        <p:spPr>
          <a:xfrm>
            <a:off x="731520" y="1097280"/>
            <a:ext cx="822960" cy="822960"/>
          </a:xfrm>
          <a:prstGeom prst="rect">
            <a:avLst/>
          </a:prstGeom>
        </p:spPr>
      </p:pic>
      <p:sp>
        <p:nvSpPr>
          <p:cNvPr id="4" name="Text 0"/>
          <p:cNvSpPr txBox="1"/>
          <p:nvPr/>
        </p:nvSpPr>
        <p:spPr>
          <a:xfrm>
            <a:off x="731520" y="2057400"/>
            <a:ext cx="8138160" cy="2377440"/>
          </a:xfrm>
          <a:prstGeom prst="rect">
            <a:avLst/>
          </a:prstGeom>
          <a:noFill/>
          <a:ln/>
        </p:spPr>
        <p:txBody>
          <a:bodyPr wrap="square" lIns="0" tIns="0" rIns="0" bIns="0" rtlCol="0" anchor="ctr"/>
          <a:lstStyle/>
          <a:p>
            <a:pPr indent="0" marL="0">
              <a:buNone/>
            </a:pPr>
            <a:r>
              <a:rPr lang="en-US" sz="3200" i="1" dirty="0">
                <a:solidFill>
                  <a:srgbClr val="28695F"/>
                </a:solidFill>
                <a:latin typeface="Cambria" pitchFamily="34" charset="0"/>
                <a:ea typeface="Cambria" pitchFamily="34" charset="-122"/>
                <a:cs typeface="Cambria" pitchFamily="34" charset="-120"/>
              </a:rPr>
              <a:t>Ask not only "What is the matter with you?" but "What matters to you?"</a:t>
            </a:r>
            <a:endParaRPr lang="en-US" sz="3200" dirty="0"/>
          </a:p>
        </p:txBody>
      </p:sp>
      <p:sp>
        <p:nvSpPr>
          <p:cNvPr id="5" name="Text 1"/>
          <p:cNvSpPr txBox="1"/>
          <p:nvPr/>
        </p:nvSpPr>
        <p:spPr>
          <a:xfrm>
            <a:off x="731520" y="4572000"/>
            <a:ext cx="8138160" cy="822960"/>
          </a:xfrm>
          <a:prstGeom prst="rect">
            <a:avLst/>
          </a:prstGeom>
          <a:noFill/>
          <a:ln/>
        </p:spPr>
        <p:txBody>
          <a:bodyPr wrap="square" lIns="0" tIns="0" rIns="0" bIns="0" rtlCol="0" anchor="t"/>
          <a:lstStyle/>
          <a:p>
            <a:pPr indent="0" marL="0">
              <a:buNone/>
            </a:pPr>
            <a:r>
              <a:rPr lang="en-US" sz="1600" dirty="0">
                <a:solidFill>
                  <a:srgbClr val="5E6B68"/>
                </a:solidFill>
                <a:latin typeface="Calibri" pitchFamily="34" charset="0"/>
                <a:ea typeface="Calibri" pitchFamily="34" charset="-122"/>
                <a:cs typeface="Calibri" pitchFamily="34" charset="-120"/>
              </a:rPr>
              <a:t>A guiding principle of person-centered care, widely used in age-friendly health systems</a:t>
            </a:r>
            <a:endParaRPr lang="en-US" sz="1600" dirty="0"/>
          </a:p>
        </p:txBody>
      </p:sp>
      <p:pic>
        <p:nvPicPr>
          <p:cNvPr id="6" name="Image 2" descr="preencoded.png">    </p:cNvPr>
          <p:cNvPicPr>
            <a:picLocks noChangeAspect="1"/>
          </p:cNvPicPr>
          <p:nvPr/>
        </p:nvPicPr>
        <p:blipFill>
          <a:blip r:embed="rId3"/>
          <a:stretch>
            <a:fillRect/>
          </a:stretch>
        </p:blipFill>
        <p:spPr>
          <a:xfrm>
            <a:off x="548640" y="6309360"/>
            <a:ext cx="874762" cy="365760"/>
          </a:xfrm>
          <a:prstGeom prst="rect">
            <a:avLst/>
          </a:prstGeom>
        </p:spPr>
      </p:pic>
      <p:sp>
        <p:nvSpPr>
          <p:cNvPr id="7"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8"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Task-Centered vs. Person-Centered</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Task-Centered</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Person-Centered</a:t>
            </a:r>
            <a:endParaRPr lang="en-US" sz="1800" dirty="0"/>
          </a:p>
        </p:txBody>
      </p:sp>
      <p:sp>
        <p:nvSpPr>
          <p:cNvPr id="7" name="Shape 5"/>
          <p:cNvSpPr/>
          <p:nvPr/>
        </p:nvSpPr>
        <p:spPr>
          <a:xfrm>
            <a:off x="548640" y="2075688"/>
            <a:ext cx="5166360" cy="696773"/>
          </a:xfrm>
          <a:prstGeom prst="roundRect">
            <a:avLst>
              <a:gd name="adj" fmla="val 15748"/>
            </a:avLst>
          </a:prstGeom>
          <a:solidFill>
            <a:srgbClr val="E8F1EF"/>
          </a:solidFill>
          <a:ln w="12700">
            <a:solidFill>
              <a:srgbClr val="E8F1EF"/>
            </a:solidFill>
            <a:prstDash val="solid"/>
          </a:ln>
        </p:spPr>
      </p:sp>
      <p:sp>
        <p:nvSpPr>
          <p:cNvPr id="8" name="Shape 6"/>
          <p:cNvSpPr/>
          <p:nvPr/>
        </p:nvSpPr>
        <p:spPr>
          <a:xfrm>
            <a:off x="6464808" y="2075688"/>
            <a:ext cx="5178247" cy="696773"/>
          </a:xfrm>
          <a:prstGeom prst="roundRect">
            <a:avLst>
              <a:gd name="adj" fmla="val 15748"/>
            </a:avLst>
          </a:prstGeom>
          <a:solidFill>
            <a:srgbClr val="F8EFDF"/>
          </a:solidFill>
          <a:ln w="12700">
            <a:solidFill>
              <a:srgbClr val="F8EFDF"/>
            </a:solidFill>
            <a:prstDash val="solid"/>
          </a:ln>
        </p:spPr>
      </p:sp>
      <p:sp>
        <p:nvSpPr>
          <p:cNvPr id="9" name="Text 7"/>
          <p:cNvSpPr txBox="1"/>
          <p:nvPr/>
        </p:nvSpPr>
        <p:spPr>
          <a:xfrm>
            <a:off x="777240" y="2075688"/>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Bath scheduled at 7 a.m. because it fits staff schedules</a:t>
            </a:r>
            <a:endParaRPr lang="en-US" sz="1700" dirty="0"/>
          </a:p>
        </p:txBody>
      </p:sp>
      <p:sp>
        <p:nvSpPr>
          <p:cNvPr id="10" name="Text 8"/>
          <p:cNvSpPr txBox="1"/>
          <p:nvPr/>
        </p:nvSpPr>
        <p:spPr>
          <a:xfrm>
            <a:off x="6693408" y="2075688"/>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Bath timed to the person's lifelong evening routine</a:t>
            </a:r>
            <a:endParaRPr lang="en-US" sz="1700" dirty="0"/>
          </a:p>
        </p:txBody>
      </p:sp>
      <p:sp>
        <p:nvSpPr>
          <p:cNvPr id="11" name="Shape 9"/>
          <p:cNvSpPr/>
          <p:nvPr/>
        </p:nvSpPr>
        <p:spPr>
          <a:xfrm>
            <a:off x="5934456" y="2241194"/>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24119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2918765"/>
            <a:ext cx="5166360" cy="696773"/>
          </a:xfrm>
          <a:prstGeom prst="roundRect">
            <a:avLst>
              <a:gd name="adj" fmla="val 15748"/>
            </a:avLst>
          </a:prstGeom>
          <a:solidFill>
            <a:srgbClr val="E8F1EF"/>
          </a:solidFill>
          <a:ln w="12700">
            <a:solidFill>
              <a:srgbClr val="E8F1EF"/>
            </a:solidFill>
            <a:prstDash val="solid"/>
          </a:ln>
        </p:spPr>
      </p:sp>
      <p:sp>
        <p:nvSpPr>
          <p:cNvPr id="14" name="Shape 12"/>
          <p:cNvSpPr/>
          <p:nvPr/>
        </p:nvSpPr>
        <p:spPr>
          <a:xfrm>
            <a:off x="6464808" y="2918765"/>
            <a:ext cx="5178247" cy="696773"/>
          </a:xfrm>
          <a:prstGeom prst="roundRect">
            <a:avLst>
              <a:gd name="adj" fmla="val 15748"/>
            </a:avLst>
          </a:prstGeom>
          <a:solidFill>
            <a:srgbClr val="F8EFDF"/>
          </a:solidFill>
          <a:ln w="12700">
            <a:solidFill>
              <a:srgbClr val="F8EFDF"/>
            </a:solidFill>
            <a:prstDash val="solid"/>
          </a:ln>
        </p:spPr>
      </p:sp>
      <p:sp>
        <p:nvSpPr>
          <p:cNvPr id="15" name="Text 13"/>
          <p:cNvSpPr txBox="1"/>
          <p:nvPr/>
        </p:nvSpPr>
        <p:spPr>
          <a:xfrm>
            <a:off x="777240" y="2918765"/>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Focuses on deficits and problems</a:t>
            </a:r>
            <a:endParaRPr lang="en-US" sz="1700" dirty="0"/>
          </a:p>
        </p:txBody>
      </p:sp>
      <p:sp>
        <p:nvSpPr>
          <p:cNvPr id="16" name="Text 14"/>
          <p:cNvSpPr txBox="1"/>
          <p:nvPr/>
        </p:nvSpPr>
        <p:spPr>
          <a:xfrm>
            <a:off x="6693408" y="2918765"/>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Builds on strengths and remaining abilities</a:t>
            </a:r>
            <a:endParaRPr lang="en-US" sz="1700" dirty="0"/>
          </a:p>
        </p:txBody>
      </p:sp>
      <p:sp>
        <p:nvSpPr>
          <p:cNvPr id="17" name="Shape 15"/>
          <p:cNvSpPr/>
          <p:nvPr/>
        </p:nvSpPr>
        <p:spPr>
          <a:xfrm>
            <a:off x="5934456" y="3084271"/>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08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3761842"/>
            <a:ext cx="5166360" cy="696773"/>
          </a:xfrm>
          <a:prstGeom prst="roundRect">
            <a:avLst>
              <a:gd name="adj" fmla="val 15748"/>
            </a:avLst>
          </a:prstGeom>
          <a:solidFill>
            <a:srgbClr val="E8F1EF"/>
          </a:solidFill>
          <a:ln w="12700">
            <a:solidFill>
              <a:srgbClr val="E8F1EF"/>
            </a:solidFill>
            <a:prstDash val="solid"/>
          </a:ln>
        </p:spPr>
      </p:sp>
      <p:sp>
        <p:nvSpPr>
          <p:cNvPr id="20" name="Shape 18"/>
          <p:cNvSpPr/>
          <p:nvPr/>
        </p:nvSpPr>
        <p:spPr>
          <a:xfrm>
            <a:off x="6464808" y="3761842"/>
            <a:ext cx="5178247" cy="696773"/>
          </a:xfrm>
          <a:prstGeom prst="roundRect">
            <a:avLst>
              <a:gd name="adj" fmla="val 15748"/>
            </a:avLst>
          </a:prstGeom>
          <a:solidFill>
            <a:srgbClr val="F8EFDF"/>
          </a:solidFill>
          <a:ln w="12700">
            <a:solidFill>
              <a:srgbClr val="F8EFDF"/>
            </a:solidFill>
            <a:prstDash val="solid"/>
          </a:ln>
        </p:spPr>
      </p:sp>
      <p:sp>
        <p:nvSpPr>
          <p:cNvPr id="21" name="Text 19"/>
          <p:cNvSpPr txBox="1"/>
          <p:nvPr/>
        </p:nvSpPr>
        <p:spPr>
          <a:xfrm>
            <a:off x="777240" y="3761842"/>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Plan written for the family, about the person</a:t>
            </a:r>
            <a:endParaRPr lang="en-US" sz="1700" dirty="0"/>
          </a:p>
        </p:txBody>
      </p:sp>
      <p:sp>
        <p:nvSpPr>
          <p:cNvPr id="22" name="Text 20"/>
          <p:cNvSpPr txBox="1"/>
          <p:nvPr/>
        </p:nvSpPr>
        <p:spPr>
          <a:xfrm>
            <a:off x="6693408" y="3761842"/>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Plan written with the person and family</a:t>
            </a:r>
            <a:endParaRPr lang="en-US" sz="1700" dirty="0"/>
          </a:p>
        </p:txBody>
      </p:sp>
      <p:sp>
        <p:nvSpPr>
          <p:cNvPr id="23" name="Shape 21"/>
          <p:cNvSpPr/>
          <p:nvPr/>
        </p:nvSpPr>
        <p:spPr>
          <a:xfrm>
            <a:off x="5934456" y="3927348"/>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392734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4604918"/>
            <a:ext cx="5166360" cy="696773"/>
          </a:xfrm>
          <a:prstGeom prst="roundRect">
            <a:avLst>
              <a:gd name="adj" fmla="val 15748"/>
            </a:avLst>
          </a:prstGeom>
          <a:solidFill>
            <a:srgbClr val="E8F1EF"/>
          </a:solidFill>
          <a:ln w="12700">
            <a:solidFill>
              <a:srgbClr val="E8F1EF"/>
            </a:solidFill>
            <a:prstDash val="solid"/>
          </a:ln>
        </p:spPr>
      </p:sp>
      <p:sp>
        <p:nvSpPr>
          <p:cNvPr id="26" name="Shape 24"/>
          <p:cNvSpPr/>
          <p:nvPr/>
        </p:nvSpPr>
        <p:spPr>
          <a:xfrm>
            <a:off x="6464808" y="4604918"/>
            <a:ext cx="5178247" cy="696773"/>
          </a:xfrm>
          <a:prstGeom prst="roundRect">
            <a:avLst>
              <a:gd name="adj" fmla="val 15748"/>
            </a:avLst>
          </a:prstGeom>
          <a:solidFill>
            <a:srgbClr val="F8EFDF"/>
          </a:solidFill>
          <a:ln w="12700">
            <a:solidFill>
              <a:srgbClr val="F8EFDF"/>
            </a:solidFill>
            <a:prstDash val="solid"/>
          </a:ln>
        </p:spPr>
      </p:sp>
      <p:sp>
        <p:nvSpPr>
          <p:cNvPr id="27" name="Text 25"/>
          <p:cNvSpPr txBox="1"/>
          <p:nvPr/>
        </p:nvSpPr>
        <p:spPr>
          <a:xfrm>
            <a:off x="777240" y="4604918"/>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Behavior viewed as a problem to control</a:t>
            </a:r>
            <a:endParaRPr lang="en-US" sz="1700" dirty="0"/>
          </a:p>
        </p:txBody>
      </p:sp>
      <p:sp>
        <p:nvSpPr>
          <p:cNvPr id="28" name="Text 26"/>
          <p:cNvSpPr txBox="1"/>
          <p:nvPr/>
        </p:nvSpPr>
        <p:spPr>
          <a:xfrm>
            <a:off x="6693408" y="4604918"/>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Behavior viewed as communication of a need</a:t>
            </a:r>
            <a:endParaRPr lang="en-US" sz="1700" dirty="0"/>
          </a:p>
        </p:txBody>
      </p:sp>
      <p:sp>
        <p:nvSpPr>
          <p:cNvPr id="29" name="Shape 27"/>
          <p:cNvSpPr/>
          <p:nvPr/>
        </p:nvSpPr>
        <p:spPr>
          <a:xfrm>
            <a:off x="5934456" y="4770425"/>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477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 y="5447995"/>
            <a:ext cx="5166360" cy="696773"/>
          </a:xfrm>
          <a:prstGeom prst="roundRect">
            <a:avLst>
              <a:gd name="adj" fmla="val 15748"/>
            </a:avLst>
          </a:prstGeom>
          <a:solidFill>
            <a:srgbClr val="E8F1EF"/>
          </a:solidFill>
          <a:ln w="12700">
            <a:solidFill>
              <a:srgbClr val="E8F1EF"/>
            </a:solidFill>
            <a:prstDash val="solid"/>
          </a:ln>
        </p:spPr>
      </p:sp>
      <p:sp>
        <p:nvSpPr>
          <p:cNvPr id="32" name="Shape 30"/>
          <p:cNvSpPr/>
          <p:nvPr/>
        </p:nvSpPr>
        <p:spPr>
          <a:xfrm>
            <a:off x="6464808" y="5447995"/>
            <a:ext cx="5178247" cy="696773"/>
          </a:xfrm>
          <a:prstGeom prst="roundRect">
            <a:avLst>
              <a:gd name="adj" fmla="val 15748"/>
            </a:avLst>
          </a:prstGeom>
          <a:solidFill>
            <a:srgbClr val="F8EFDF"/>
          </a:solidFill>
          <a:ln w="12700">
            <a:solidFill>
              <a:srgbClr val="F8EFDF"/>
            </a:solidFill>
            <a:prstDash val="solid"/>
          </a:ln>
        </p:spPr>
      </p:sp>
      <p:sp>
        <p:nvSpPr>
          <p:cNvPr id="33" name="Text 31"/>
          <p:cNvSpPr txBox="1"/>
          <p:nvPr/>
        </p:nvSpPr>
        <p:spPr>
          <a:xfrm>
            <a:off x="777240" y="5447995"/>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One-size-fits-all routines</a:t>
            </a:r>
            <a:endParaRPr lang="en-US" sz="1700" dirty="0"/>
          </a:p>
        </p:txBody>
      </p:sp>
      <p:sp>
        <p:nvSpPr>
          <p:cNvPr id="34" name="Text 32"/>
          <p:cNvSpPr txBox="1"/>
          <p:nvPr/>
        </p:nvSpPr>
        <p:spPr>
          <a:xfrm>
            <a:off x="6693408" y="5447995"/>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Routines reflect personal history and preferences</a:t>
            </a:r>
            <a:endParaRPr lang="en-US" sz="1700" dirty="0"/>
          </a:p>
        </p:txBody>
      </p:sp>
      <p:sp>
        <p:nvSpPr>
          <p:cNvPr id="35" name="Shape 33"/>
          <p:cNvSpPr/>
          <p:nvPr/>
        </p:nvSpPr>
        <p:spPr>
          <a:xfrm>
            <a:off x="5934456" y="5613502"/>
            <a:ext cx="365760" cy="365760"/>
          </a:xfrm>
          <a:prstGeom prst="ellipse">
            <a:avLst/>
          </a:prstGeom>
          <a:solidFill>
            <a:srgbClr val="FFFFFF"/>
          </a:solidFill>
          <a:ln w="19050">
            <a:solidFill>
              <a:srgbClr val="C9DEDA"/>
            </a:solidFill>
            <a:prstDash val="solid"/>
          </a:ln>
        </p:spPr>
      </p:sp>
      <p:sp>
        <p:nvSpPr>
          <p:cNvPr id="36" name="Text 34"/>
          <p:cNvSpPr txBox="1"/>
          <p:nvPr/>
        </p:nvSpPr>
        <p:spPr>
          <a:xfrm>
            <a:off x="5934456" y="561350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7"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8" name="Text 3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39" name="Text 3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Elements of a Person-Centered Plan</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Life Story</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Career, family, places lived, proudest moments, important roles.</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Values &amp; Beliefs</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Faith, culture, what gives life meaning, views on care and dignity.</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Routines</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Wake and sleep times, meals, bathing habits, rituals that bring comfort.</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Preferences</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Favorite foods, music, clothing, name they like to be called, dislikes.</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Strengths</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What the person can still do and enjoys doing, with or without help.</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Goals of Care</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Where they want to live, what they fear, and what quality of life means to them.</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Incorporating Person-Centered Planning</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292608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Discover</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Ask "what matters" questions; complete an "About Me" profile.</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292608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Translate</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Turn preferences into interventions (e.g., music before bathing).</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292608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Build on Strengths</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Keep the person doing what they still can, with support.</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292608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Share</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Give the profile to aides, respite, and hospital staff.</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292608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Revisit</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Preferences can change; review with each update.</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Build an "About Me" Profile</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12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Pairs; interview each other as if one partner were a beneficiary</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Interview your partner for 5 minutes using "what matters" questions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Capture: preferred name, life roles, routines, comforts, dislikes, and fears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Write three things every new caregiver should know about this person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Turn one preference into a care plan intervention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Switch roles</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 Thompson, age 76</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Mr. Thompson is a retired mail carrier with moderate dementia who lives with his wife, Diane. For 35 years he walked his route every morning, and he still wants to "go out and walk" at 7 a.m. every day.</a:t>
            </a:r>
            <a:endParaRPr lang="en-US" sz="1700" dirty="0"/>
          </a:p>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Last month he walked out the door alone and was found by a neighbor two streets away. Diane is frightened and wants to lock the doors and keep him inside. Since she started doing that, he has become restless, angry, and is sleeping poorly.</a:t>
            </a:r>
            <a:endParaRPr lang="en-US" sz="17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matters most to Mr. Thompson? To Diane?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strengths can the plan build on?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Write one person-centered SMART goal.</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safety interventions respect his routine?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will you include him in the plan?</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of the following is the best example of a person-centered care plan goal?</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"Patient will comply with bathing schedule."</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"Reduce behavioral problems."</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"Mrs. R will take her bath in the evening, as she always has, with her favorite music, 3 times per week."</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"Caregiver will manage all patient needs."</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You are scheduling a reassessment for a man who is usually calm in the morning but becomes agitated after 3 p.m. When should you schedule it?</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Late afternoon, to see him at his worst</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Mid-morning, at his best time of day</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Whenever the caregiver is at work</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It does not matter</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note is the best example of objective documentation?</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"Patient was being difficult today."</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"Caregiver seems overwhelmed."</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"Patient asked what day it was 5 times in 15 minutes; daughter said, 'This is new this week.'"</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"Things seem worse."</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8695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pic>
        <p:nvPicPr>
          <p:cNvPr id="3" name="Image 0" descr="preencoded.png">    </p:cNvPr>
          <p:cNvPicPr>
            <a:picLocks noChangeAspect="1"/>
          </p:cNvPicPr>
          <p:nvPr/>
        </p:nvPicPr>
        <p:blipFill>
          <a:blip r:embed="rId1"/>
          <a:stretch>
            <a:fillRect/>
          </a:stretch>
        </p:blipFill>
        <p:spPr>
          <a:xfrm>
            <a:off x="548640" y="1517904"/>
            <a:ext cx="420624" cy="420624"/>
          </a:xfrm>
          <a:prstGeom prst="rect">
            <a:avLst/>
          </a:prstGeom>
        </p:spPr>
      </p:pic>
      <p:sp>
        <p:nvSpPr>
          <p:cNvPr id="4" name="Text 1"/>
          <p:cNvSpPr txBox="1"/>
          <p:nvPr/>
        </p:nvSpPr>
        <p:spPr>
          <a:xfrm>
            <a:off x="1143000"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Assessment establishes the baseline that lets the team see change</a:t>
            </a:r>
            <a:endParaRPr lang="en-US" sz="2000" dirty="0"/>
          </a:p>
        </p:txBody>
      </p:sp>
      <p:pic>
        <p:nvPicPr>
          <p:cNvPr id="5" name="Image 1" descr="preencoded.png">    </p:cNvPr>
          <p:cNvPicPr>
            <a:picLocks noChangeAspect="1"/>
          </p:cNvPicPr>
          <p:nvPr/>
        </p:nvPicPr>
        <p:blipFill>
          <a:blip r:embed="rId2"/>
          <a:stretch>
            <a:fillRect/>
          </a:stretch>
        </p:blipFill>
        <p:spPr>
          <a:xfrm>
            <a:off x="548640" y="2935224"/>
            <a:ext cx="420624" cy="420624"/>
          </a:xfrm>
          <a:prstGeom prst="rect">
            <a:avLst/>
          </a:prstGeom>
        </p:spPr>
      </p:pic>
      <p:sp>
        <p:nvSpPr>
          <p:cNvPr id="6" name="Text 2"/>
          <p:cNvSpPr txBox="1"/>
          <p:nvPr/>
        </p:nvSpPr>
        <p:spPr>
          <a:xfrm>
            <a:off x="1143000"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Know what each tool measures — and stay within your scope</a:t>
            </a:r>
            <a:endParaRPr lang="en-US" sz="2000" dirty="0"/>
          </a:p>
        </p:txBody>
      </p:sp>
      <p:pic>
        <p:nvPicPr>
          <p:cNvPr id="7" name="Image 2" descr="preencoded.png">    </p:cNvPr>
          <p:cNvPicPr>
            <a:picLocks noChangeAspect="1"/>
          </p:cNvPicPr>
          <p:nvPr/>
        </p:nvPicPr>
        <p:blipFill>
          <a:blip r:embed="rId3"/>
          <a:stretch>
            <a:fillRect/>
          </a:stretch>
        </p:blipFill>
        <p:spPr>
          <a:xfrm>
            <a:off x="548640" y="4352544"/>
            <a:ext cx="420624" cy="420624"/>
          </a:xfrm>
          <a:prstGeom prst="rect">
            <a:avLst/>
          </a:prstGeom>
        </p:spPr>
      </p:pic>
      <p:sp>
        <p:nvSpPr>
          <p:cNvPr id="8" name="Text 3"/>
          <p:cNvSpPr txBox="1"/>
          <p:nvPr/>
        </p:nvSpPr>
        <p:spPr>
          <a:xfrm>
            <a:off x="1143000"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Best time of day, quiet space, glasses and hearing aids on</a:t>
            </a:r>
            <a:endParaRPr lang="en-US" sz="2000" dirty="0"/>
          </a:p>
        </p:txBody>
      </p:sp>
      <p:pic>
        <p:nvPicPr>
          <p:cNvPr id="9" name="Image 3" descr="preencoded.png">    </p:cNvPr>
          <p:cNvPicPr>
            <a:picLocks noChangeAspect="1"/>
          </p:cNvPicPr>
          <p:nvPr/>
        </p:nvPicPr>
        <p:blipFill>
          <a:blip r:embed="rId4"/>
          <a:stretch>
            <a:fillRect/>
          </a:stretch>
        </p:blipFill>
        <p:spPr>
          <a:xfrm>
            <a:off x="6291072" y="1517904"/>
            <a:ext cx="420624" cy="420624"/>
          </a:xfrm>
          <a:prstGeom prst="rect">
            <a:avLst/>
          </a:prstGeom>
        </p:spPr>
      </p:pic>
      <p:sp>
        <p:nvSpPr>
          <p:cNvPr id="10" name="Text 4"/>
          <p:cNvSpPr txBox="1"/>
          <p:nvPr/>
        </p:nvSpPr>
        <p:spPr>
          <a:xfrm>
            <a:off x="6885432"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Care plans are written, shared, living documents with owners and dates</a:t>
            </a:r>
            <a:endParaRPr lang="en-US" sz="2000" dirty="0"/>
          </a:p>
        </p:txBody>
      </p:sp>
      <p:pic>
        <p:nvPicPr>
          <p:cNvPr id="11" name="Image 4" descr="preencoded.png">    </p:cNvPr>
          <p:cNvPicPr>
            <a:picLocks noChangeAspect="1"/>
          </p:cNvPicPr>
          <p:nvPr/>
        </p:nvPicPr>
        <p:blipFill>
          <a:blip r:embed="rId5"/>
          <a:stretch>
            <a:fillRect/>
          </a:stretch>
        </p:blipFill>
        <p:spPr>
          <a:xfrm>
            <a:off x="6291072" y="2935224"/>
            <a:ext cx="420624" cy="420624"/>
          </a:xfrm>
          <a:prstGeom prst="rect">
            <a:avLst/>
          </a:prstGeom>
        </p:spPr>
      </p:pic>
      <p:sp>
        <p:nvSpPr>
          <p:cNvPr id="12" name="Text 5"/>
          <p:cNvSpPr txBox="1"/>
          <p:nvPr/>
        </p:nvSpPr>
        <p:spPr>
          <a:xfrm>
            <a:off x="6885432"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Include the beneficiary in their own plan at every stage</a:t>
            </a:r>
            <a:endParaRPr lang="en-US" sz="2000" dirty="0"/>
          </a:p>
        </p:txBody>
      </p:sp>
      <p:pic>
        <p:nvPicPr>
          <p:cNvPr id="13" name="Image 5" descr="preencoded.png">    </p:cNvPr>
          <p:cNvPicPr>
            <a:picLocks noChangeAspect="1"/>
          </p:cNvPicPr>
          <p:nvPr/>
        </p:nvPicPr>
        <p:blipFill>
          <a:blip r:embed="rId6"/>
          <a:stretch>
            <a:fillRect/>
          </a:stretch>
        </p:blipFill>
        <p:spPr>
          <a:xfrm>
            <a:off x="6291072" y="4352544"/>
            <a:ext cx="420624" cy="420624"/>
          </a:xfrm>
          <a:prstGeom prst="rect">
            <a:avLst/>
          </a:prstGeom>
        </p:spPr>
      </p:pic>
      <p:sp>
        <p:nvSpPr>
          <p:cNvPr id="14" name="Text 6"/>
          <p:cNvSpPr txBox="1"/>
          <p:nvPr/>
        </p:nvSpPr>
        <p:spPr>
          <a:xfrm>
            <a:off x="6885432"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Ask "What matters to you?" — then build it into the plan</a:t>
            </a:r>
            <a:endParaRPr lang="en-US" sz="2000" dirty="0"/>
          </a:p>
        </p:txBody>
      </p:sp>
      <p:pic>
        <p:nvPicPr>
          <p:cNvPr id="15" name="Image 6" descr="preencoded.png">    </p:cNvPr>
          <p:cNvPicPr>
            <a:picLocks noChangeAspect="1"/>
          </p:cNvPicPr>
          <p:nvPr/>
        </p:nvPicPr>
        <p:blipFill>
          <a:blip r:embed="rId7"/>
          <a:stretch>
            <a:fillRect/>
          </a:stretch>
        </p:blipFill>
        <p:spPr>
          <a:xfrm>
            <a:off x="548640" y="6382512"/>
            <a:ext cx="219456" cy="219456"/>
          </a:xfrm>
          <a:prstGeom prst="rect">
            <a:avLst/>
          </a:prstGeom>
        </p:spPr>
      </p:pic>
      <p:sp>
        <p:nvSpPr>
          <p:cNvPr id="16" name="Text 7"/>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2</a:t>
            </a:r>
            <a:endParaRPr lang="en-US" sz="900" dirty="0"/>
          </a:p>
        </p:txBody>
      </p:sp>
      <p:sp>
        <p:nvSpPr>
          <p:cNvPr id="17"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Resources for This Module</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Alzheimer's Association: </a:t>
            </a:r>
            <a:r>
              <a:rPr lang="en-US" sz="1900" dirty="0">
                <a:solidFill>
                  <a:srgbClr val="24302D"/>
                </a:solidFill>
                <a:latin typeface="Calibri" pitchFamily="34" charset="0"/>
                <a:ea typeface="Calibri" pitchFamily="34" charset="-122"/>
                <a:cs typeface="Calibri" pitchFamily="34" charset="-120"/>
              </a:rPr>
              <a:t>Cognitive Assessment Toolkit and care planning resources (alz.org/professionals)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Institute for Healthcare Improvement: </a:t>
            </a:r>
            <a:r>
              <a:rPr lang="en-US" sz="1900" dirty="0">
                <a:solidFill>
                  <a:srgbClr val="24302D"/>
                </a:solidFill>
                <a:latin typeface="Calibri" pitchFamily="34" charset="0"/>
                <a:ea typeface="Calibri" pitchFamily="34" charset="-122"/>
                <a:cs typeface="Calibri" pitchFamily="34" charset="-120"/>
              </a:rPr>
              <a:t>Age-Friendly Health Systems and the "4Ms" — What Matters, Medication, Mentation, Mobility</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National Institute on Aging: </a:t>
            </a:r>
            <a:r>
              <a:rPr lang="en-US" sz="1900" dirty="0">
                <a:solidFill>
                  <a:srgbClr val="24302D"/>
                </a:solidFill>
                <a:latin typeface="Calibri" pitchFamily="34" charset="0"/>
                <a:ea typeface="Calibri" pitchFamily="34" charset="-122"/>
                <a:cs typeface="Calibri" pitchFamily="34" charset="-120"/>
              </a:rPr>
              <a:t>Assessing cognitive impairment in older patients (nia.nih.gov)</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Tool references: </a:t>
            </a:r>
            <a:r>
              <a:rPr lang="en-US" sz="1900" dirty="0">
                <a:solidFill>
                  <a:srgbClr val="24302D"/>
                </a:solidFill>
                <a:latin typeface="Calibri" pitchFamily="34" charset="0"/>
                <a:ea typeface="Calibri" pitchFamily="34" charset="-122"/>
                <a:cs typeface="Calibri" pitchFamily="34" charset="-120"/>
              </a:rPr>
              <a:t>Mini-Cog, Katz ADL, Lawton IADL, Zarit Burden Interview, PAINAD</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Internal: </a:t>
            </a:r>
            <a:r>
              <a:rPr lang="en-US" sz="1900" dirty="0">
                <a:solidFill>
                  <a:srgbClr val="24302D"/>
                </a:solidFill>
                <a:latin typeface="Calibri" pitchFamily="34" charset="0"/>
                <a:ea typeface="Calibri" pitchFamily="34" charset="-122"/>
                <a:cs typeface="Calibri" pitchFamily="34" charset="-120"/>
              </a:rPr>
              <a:t>AbleLiving/MPS assessment forms, care plan template, and "About Me" profile</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2</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2011680"/>
            <a:ext cx="69494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548640" y="3063240"/>
            <a:ext cx="6766560" cy="82296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Thank you for completing Module 2: Assessments, Care Planning &amp; Person-Centered Planning.</a:t>
            </a:r>
            <a:endParaRPr lang="en-US" sz="1800" dirty="0"/>
          </a:p>
        </p:txBody>
      </p:sp>
      <p:sp>
        <p:nvSpPr>
          <p:cNvPr id="7" name="Shape 3"/>
          <p:cNvSpPr/>
          <p:nvPr/>
        </p:nvSpPr>
        <p:spPr>
          <a:xfrm>
            <a:off x="548640" y="4206240"/>
            <a:ext cx="6675120" cy="1097280"/>
          </a:xfrm>
          <a:prstGeom prst="roundRect">
            <a:avLst>
              <a:gd name="adj" fmla="val 10000"/>
            </a:avLst>
          </a:prstGeom>
          <a:solidFill>
            <a:srgbClr val="1D4F47"/>
          </a:solidFill>
          <a:ln w="12700">
            <a:solidFill>
              <a:srgbClr val="1D4F47"/>
            </a:solidFill>
            <a:prstDash val="solid"/>
          </a:ln>
        </p:spPr>
      </p:sp>
      <p:sp>
        <p:nvSpPr>
          <p:cNvPr id="8" name="Text 4"/>
          <p:cNvSpPr txBox="1"/>
          <p:nvPr/>
        </p:nvSpPr>
        <p:spPr>
          <a:xfrm>
            <a:off x="868680" y="4315968"/>
            <a:ext cx="5943600" cy="320040"/>
          </a:xfrm>
          <a:prstGeom prst="rect">
            <a:avLst/>
          </a:prstGeom>
          <a:noFill/>
          <a:ln/>
        </p:spPr>
        <p:txBody>
          <a:bodyPr wrap="square" lIns="0" tIns="0" rIns="0" bIns="0" rtlCol="0" anchor="t"/>
          <a:lstStyle/>
          <a:p>
            <a:pPr indent="0" marL="0">
              <a:buNone/>
            </a:pPr>
            <a:r>
              <a:rPr lang="en-US" sz="1200" b="1" spc="300" kern="0" dirty="0">
                <a:solidFill>
                  <a:srgbClr val="F8CB27"/>
                </a:solidFill>
                <a:latin typeface="Calibri" pitchFamily="34" charset="0"/>
                <a:ea typeface="Calibri" pitchFamily="34" charset="-122"/>
                <a:cs typeface="Calibri" pitchFamily="34" charset="-120"/>
              </a:rPr>
              <a:t>UP NEXT</a:t>
            </a:r>
            <a:endParaRPr lang="en-US" sz="1200" dirty="0"/>
          </a:p>
        </p:txBody>
      </p:sp>
      <p:sp>
        <p:nvSpPr>
          <p:cNvPr id="9" name="Text 5"/>
          <p:cNvSpPr txBox="1"/>
          <p:nvPr/>
        </p:nvSpPr>
        <p:spPr>
          <a:xfrm>
            <a:off x="868680" y="4617720"/>
            <a:ext cx="6126480" cy="5943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Module 3: Challenging Behaviors &amp; Communication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AbleLiving Memory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Care Navigator Training — Module 2: Assessments, Care Planning &amp; Person-Centered Planning</dc:title>
  <dc:subject>PptxGenJS Presentation</dc:subject>
  <dc:creator>AbleLiving Memory Support</dc:creator>
  <cp:lastModifiedBy>AbleLiving Memory Support</cp:lastModifiedBy>
  <cp:revision>1</cp:revision>
  <dcterms:created xsi:type="dcterms:W3CDTF">2026-09-24T19:29:14Z</dcterms:created>
  <dcterms:modified xsi:type="dcterms:W3CDTF">2026-09-24T19:29:14Z</dcterms:modified>
</cp:coreProperties>
</file>