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Module 4 covers two Appendix B topics: Functional Needs (including medication monitoring) and Safety (including driving, elder abuse, neglect, financial exploitation, and access to weapons and dangerous substances). Take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ADLs are the basic self-care tasks measured by tools such as the Katz Index. IADLs are the more complex tasks needed to live independently, measured by tools such as the Lawton IADL Scale. IADLs require planning, judgment, and memory, so they are usually affected first. A person who can still dress and bathe may be unable to pay bills or take medications correctly — and that gap is often invisible until something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Specific questions produce accurate answers. People living with dementia frequently report doing tasks they no longer do, not from dishonesty but because the disease affects insight. Caregivers may also underreport out of embarrassment or loyalty. Combine what you hear with what you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This pattern helps navigators anticipate needs and plan ahead. When a person begins to struggle with finances or medications, it is time to talk about who will take over those tasks and about bathing and dressing support that may be needed in the future. Patterns vary — for example, people with vascular or Lewy body dementia may have early mobility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
Navigators can suggest practical strategies and make referrals, such as asking the clinician about a physical therapy or occupational therapy evaluation for home safety and mobility. Report weight loss, coughing or choking while eating, new incontinence, and falls to the clinician; these can signal medical issues or disease progression.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Dehydration is a common trigger for delirium, urinary tract infections, falls, and hospitalization, especially in hot Florida summers. Swallowing problems become more common in later stages and can lead to aspiration pneumonia — a speech-language pathology evaluation may be needed. Home-delivered meal programs can help people who live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Incontinence is one of the most difficult changes for families and is a common reason for nursing home placement. Caregivers may be embarrassed to raise it, so ask directly and privately. Supplies may be available through some community programs or Medicaid; check local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Medication problems are one of the most common preventable causes of harm in people with dementia. Medications with strong anticholinergic effects are on lists such as the American Geriatrics Society Beers Criteria of medications to avoid in older adults with dementia. Navigators do not change medications, but a navigator who notices an over-the-counter sleep aid in the medicine cabinet and reports it can prevent real harm.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Match the tool to the person's stage and living situation. A weekly organizer works if the caregiver can fill it and the person can follow a routine; it does not work for someone who takes the whole week's pills at once. For people who live alone, a locked dispenser with remote alerts may be the difference between staying home and needing more help. Always coordinate changes to how medications are packaged with the clinician and pharmacy.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A "brown bag" review — gathering every prescription, over-the-counter medicine, vitamin, and supplement in the home — is one of the most effective ways to find problems. Include creams, eye drops, inhalers, and medicines kept in other rooms or in the car. Medication management is a required GUIDE service, and documenting each review supports both quality and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
Prepare mock labels in advance that include at least: a duplicate prescription from two different prescribers, an over-the-counter diphenhydramine sleep aid, a discontinued medication still in the home, and a dose on the bottle that differs from the list. Debrief on how to report discrepancies clearly and without alarming the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Clear reports allow the clinician or pharmacist to act quickly. Always document what you found and whom you notified. If a caregiver asks whether they should skip a dose, tell them you will get an answer from the clinician right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Many home safety changes are inexpensive. Emergency readiness is especially important in Florida during hurricane season: families should know their evacuation zone, register with the local special needs shelter program if eligible, and keep a go-bag with medications and documents. In Ohio, winter storm and power outage planning is equally important. Refer to occupational therapy for a full home safety evaluation when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Falls are one of the most common causes of injury and hospitalization for people living with dementia. Many are preventable with simple changes. A physical therapy or occupational therapy evaluation can provide a tailored plan. Every fall should be reported, even if there is no visible injury.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Disasters are especially dangerous for people living with dementia, who may not understand warnings or may resist leaving home. Review emergency plans at the start of each hurricane season in Florida and before winter in Ohio. Include medical equipment that needs power, such as oxygen concentrators.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Wandering can happen at any stage when a person can still walk. A person who wanders is at risk of injury, dehydration, and exposure — heat is a major risk in Florida summers, and cold in Ohio winters. Encourage caregivers to prepare a one-page "missing person" sheet in advance. Many local law enforcement agencies and organizations offer return or tracking programs; check what is available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Giving up driving is one of the most emotional losses for people with dementia. Suggest the family frame the conversation around safety and caring, and let the clinician be the "bad guy" if needed. When a person continues to drive unsafely, families may need to hide keys, disable the car, or sell it. Know the reporting process in your state and follow AbleLiving/MPS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Dementia can cause paranoia, misidentification of family members as intruders, and impaired judgment, making access to firearms a serious risk to the person and others. Asking about firearms is a standard safety question, not a political one. Document the answer and the plan. If there is an immediate threat, call 911.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People living with dementia are at significantly higher risk of abuse because they may not be able to recognize or report it. Abuse can come from family, paid caregivers, or strangers. Caregiver stress is a known risk factor for neglect and abuse — this is one reason caregiver support is part of GUIDE. Navigators are often the only outside person in the home and must know the 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Review the internal reporting procedure step by step. Emphasize that reporting is not an accusation; it asks trained investigators to look into a concern. Protect the person's safety first. Do not confront the suspected abuser or investigate yourself. Document what you observed and heard objectively, including direct quotes, and record the date, time, and report reference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People living with dementia are prime targets because scams exploit memory loss and trust. Protective steps: call blocking, a trusted person monitoring accounts, limits on cards, and the reminder that legitimate agencies never demand gift cards. Report suspected fraud per policy; victims can also contact local law enforcement and the FTC.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
Small groups (10 minutes), debrief (5). Key points: (1) Possible financial exploitation — report to the state hotline (Florida or Ohio as appropriate) and notify the supervisor; (2) Loaded firearm with possible paranoia or hallucinations ("hearing noises") — high risk; involve the clinician and son, discuss removal or secure storage; if immediate threat, 911; (3) Fire risk — stove shut-off device; (4) Medication — locked dispenser, pharmacy packaging, clinician review; (5) Living alone with increasing needs — care plan update, son involvement, in-home services. Discuss the tension between respecting independence and preventing harm.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
Prepare a simple floor plan with planted hazards: throw rugs, a dark hallway, no grab bars, an unlocked medicine cabinet, cleaning products under the sink, a firearm in the bedroom closet, car keys by the door, and a stove with no shut-off. Debrief by ranking risks and discussing how to raise them respectfully with the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ANSWER: C. Complex IADLs such as managing finances and medications are usually affected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ANSWER: C. Suspicion is enough to report. Do not investigate or confront; report and document per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ANSWER: B. Firearm access combined with misidentification is a serious safety risk requiring prompt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Open the floor for questions. Collect any parking-lot items and follow up before the next session. Confirm the knowledge check results are recorded in each participant's training file. Preview the next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image" Target="../media/image-6-1.png"/><Relationship Id="rId5" Type="http://schemas.openxmlformats.org/officeDocument/2006/relationships/image" Target="../media/image-6-1.png"/><Relationship Id="rId6" Type="http://schemas.openxmlformats.org/officeDocument/2006/relationships/image" Target="../media/image-6-1.png"/><Relationship Id="rId7" Type="http://schemas.openxmlformats.org/officeDocument/2006/relationships/image" Target="../media/image-1-2.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image" Target="../media/image-6-1.png"/><Relationship Id="rId5" Type="http://schemas.openxmlformats.org/officeDocument/2006/relationships/image" Target="../media/image-6-1.png"/><Relationship Id="rId6" Type="http://schemas.openxmlformats.org/officeDocument/2006/relationships/image" Target="../media/image-6-1.png"/><Relationship Id="rId7" Type="http://schemas.openxmlformats.org/officeDocument/2006/relationships/image" Target="../media/image-1-2.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image" Target="../media/image-6-1.png"/><Relationship Id="rId5" Type="http://schemas.openxmlformats.org/officeDocument/2006/relationships/image" Target="../media/image-6-1.png"/><Relationship Id="rId6" Type="http://schemas.openxmlformats.org/officeDocument/2006/relationships/image" Target="../media/image-6-1.png"/><Relationship Id="rId7" Type="http://schemas.openxmlformats.org/officeDocument/2006/relationships/image" Target="../media/image-1-2.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image" Target="../media/image-6-1.png"/><Relationship Id="rId5" Type="http://schemas.openxmlformats.org/officeDocument/2006/relationships/image" Target="../media/image-6-1.png"/><Relationship Id="rId6" Type="http://schemas.openxmlformats.org/officeDocument/2006/relationships/image" Target="../media/image-6-1.png"/><Relationship Id="rId7" Type="http://schemas.openxmlformats.org/officeDocument/2006/relationships/image" Target="../media/image-1-2.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image" Target="../media/image-6-1.png"/><Relationship Id="rId5" Type="http://schemas.openxmlformats.org/officeDocument/2006/relationships/image" Target="../media/image-6-1.png"/><Relationship Id="rId6" Type="http://schemas.openxmlformats.org/officeDocument/2006/relationships/image" Target="../media/image-6-1.png"/><Relationship Id="rId7" Type="http://schemas.openxmlformats.org/officeDocument/2006/relationships/image" Target="../media/image-1-2.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1.png"/><Relationship Id="rId3" Type="http://schemas.openxmlformats.org/officeDocument/2006/relationships/image" Target="../media/image-32-1.png"/><Relationship Id="rId4" Type="http://schemas.openxmlformats.org/officeDocument/2006/relationships/image" Target="../media/image-32-1.png"/><Relationship Id="rId5" Type="http://schemas.openxmlformats.org/officeDocument/2006/relationships/image" Target="../media/image-32-1.png"/><Relationship Id="rId6" Type="http://schemas.openxmlformats.org/officeDocument/2006/relationships/image" Target="../media/image-32-1.png"/><Relationship Id="rId7" Type="http://schemas.openxmlformats.org/officeDocument/2006/relationships/image" Target="../media/image-4-2.png"/><Relationship Id="rId8" Type="http://schemas.openxmlformats.org/officeDocument/2006/relationships/slideLayout" Target="../slideLayouts/slideLayout1.xml"/><Relationship Id="rId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7680960" y="320040"/>
            <a:ext cx="4754880" cy="6025896"/>
          </a:xfrm>
          <a:prstGeom prst="rect">
            <a:avLst/>
          </a:prstGeom>
        </p:spPr>
      </p:pic>
      <p:sp>
        <p:nvSpPr>
          <p:cNvPr id="3" name="Shape 0"/>
          <p:cNvSpPr/>
          <p:nvPr/>
        </p:nvSpPr>
        <p:spPr>
          <a:xfrm>
            <a:off x="548640" y="365760"/>
            <a:ext cx="2661628" cy="1261872"/>
          </a:xfrm>
          <a:prstGeom prst="roundRect">
            <a:avLst>
              <a:gd name="adj" fmla="val 7246"/>
            </a:avLst>
          </a:prstGeom>
          <a:solidFill>
            <a:srgbClr val="FFFFFF"/>
          </a:solidFill>
          <a:ln w="12700">
            <a:solidFill>
              <a:srgbClr val="FFFFFF"/>
            </a:solidFill>
            <a:prstDash val="solid"/>
          </a:ln>
        </p:spPr>
      </p:sp>
      <p:pic>
        <p:nvPicPr>
          <p:cNvPr id="4" name="Image 1" descr="preencoded.png">    </p:cNvPr>
          <p:cNvPicPr>
            <a:picLocks noChangeAspect="1"/>
          </p:cNvPicPr>
          <p:nvPr/>
        </p:nvPicPr>
        <p:blipFill>
          <a:blip r:embed="rId2"/>
          <a:stretch>
            <a:fillRect/>
          </a:stretch>
        </p:blipFill>
        <p:spPr>
          <a:xfrm>
            <a:off x="676656" y="493776"/>
            <a:ext cx="2405596" cy="1005840"/>
          </a:xfrm>
          <a:prstGeom prst="rect">
            <a:avLst/>
          </a:prstGeom>
        </p:spPr>
      </p:pic>
      <p:sp>
        <p:nvSpPr>
          <p:cNvPr id="5" name="Text 1"/>
          <p:cNvSpPr txBox="1"/>
          <p:nvPr/>
        </p:nvSpPr>
        <p:spPr>
          <a:xfrm>
            <a:off x="548640" y="1874520"/>
            <a:ext cx="6858000" cy="320040"/>
          </a:xfrm>
          <a:prstGeom prst="rect">
            <a:avLst/>
          </a:prstGeom>
          <a:noFill/>
          <a:ln/>
        </p:spPr>
        <p:txBody>
          <a:bodyPr wrap="square" lIns="0" tIns="0" rIns="0" bIns="0" rtlCol="0" anchor="t"/>
          <a:lstStyle/>
          <a:p>
            <a:pPr indent="0" marL="0">
              <a:buNone/>
            </a:pPr>
            <a:r>
              <a:rPr lang="en-US" sz="1300" b="1" spc="300" kern="0" dirty="0">
                <a:solidFill>
                  <a:srgbClr val="F8CB27"/>
                </a:solidFill>
                <a:latin typeface="Calibri" pitchFamily="34" charset="0"/>
                <a:ea typeface="Calibri" pitchFamily="34" charset="-122"/>
                <a:cs typeface="Calibri" pitchFamily="34" charset="-120"/>
              </a:rPr>
              <a:t>GUIDE CARE NAVIGATOR TRAINING</a:t>
            </a:r>
            <a:endParaRPr lang="en-US" sz="1300" dirty="0"/>
          </a:p>
        </p:txBody>
      </p:sp>
      <p:sp>
        <p:nvSpPr>
          <p:cNvPr id="6" name="Text 2"/>
          <p:cNvSpPr txBox="1"/>
          <p:nvPr/>
        </p:nvSpPr>
        <p:spPr>
          <a:xfrm>
            <a:off x="548640" y="2240280"/>
            <a:ext cx="6858000" cy="457200"/>
          </a:xfrm>
          <a:prstGeom prst="rect">
            <a:avLst/>
          </a:prstGeom>
          <a:noFill/>
          <a:ln/>
        </p:spPr>
        <p:txBody>
          <a:bodyPr wrap="square" lIns="0" tIns="0" rIns="0" bIns="0" rtlCol="0" anchor="t"/>
          <a:lstStyle/>
          <a:p>
            <a:pPr indent="0" marL="0">
              <a:buNone/>
            </a:pPr>
            <a:r>
              <a:rPr lang="en-US" sz="2200" i="1" dirty="0">
                <a:solidFill>
                  <a:srgbClr val="C9DEDA"/>
                </a:solidFill>
                <a:latin typeface="Cambria" pitchFamily="34" charset="0"/>
                <a:ea typeface="Cambria" pitchFamily="34" charset="-122"/>
                <a:cs typeface="Cambria" pitchFamily="34" charset="-120"/>
              </a:rPr>
              <a:t>Module 4</a:t>
            </a:r>
            <a:endParaRPr lang="en-US" sz="2200" dirty="0"/>
          </a:p>
        </p:txBody>
      </p:sp>
      <p:sp>
        <p:nvSpPr>
          <p:cNvPr id="7" name="Text 3"/>
          <p:cNvSpPr txBox="1"/>
          <p:nvPr/>
        </p:nvSpPr>
        <p:spPr>
          <a:xfrm>
            <a:off x="548640" y="2697480"/>
            <a:ext cx="694944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Functional Needs, Medication Management &amp; Safety</a:t>
            </a:r>
            <a:endParaRPr lang="en-US" sz="3800" dirty="0"/>
          </a:p>
        </p:txBody>
      </p:sp>
      <p:sp>
        <p:nvSpPr>
          <p:cNvPr id="8" name="Text 4"/>
          <p:cNvSpPr txBox="1"/>
          <p:nvPr/>
        </p:nvSpPr>
        <p:spPr>
          <a:xfrm>
            <a:off x="548640" y="4297680"/>
            <a:ext cx="6766560" cy="731520"/>
          </a:xfrm>
          <a:prstGeom prst="rect">
            <a:avLst/>
          </a:prstGeom>
          <a:noFill/>
          <a:ln/>
        </p:spPr>
        <p:txBody>
          <a:bodyPr wrap="square" lIns="0" tIns="0" rIns="0" bIns="0" rtlCol="0" anchor="t"/>
          <a:lstStyle/>
          <a:p>
            <a:pPr indent="0" marL="0">
              <a:buNone/>
            </a:pPr>
            <a:r>
              <a:rPr lang="en-US" sz="1600" dirty="0">
                <a:solidFill>
                  <a:srgbClr val="C9DEDA"/>
                </a:solidFill>
                <a:latin typeface="Calibri" pitchFamily="34" charset="0"/>
                <a:ea typeface="Calibri" pitchFamily="34" charset="-122"/>
                <a:cs typeface="Calibri" pitchFamily="34" charset="-120"/>
              </a:rPr>
              <a:t>Evaluating ADLs and IADLs, supporting safe medication routines, and protecting people living with dementia at home, in public, and from abuse</a:t>
            </a:r>
            <a:endParaRPr lang="en-US" sz="1600" dirty="0"/>
          </a:p>
        </p:txBody>
      </p:sp>
      <p:sp>
        <p:nvSpPr>
          <p:cNvPr id="9" name="Shape 5"/>
          <p:cNvSpPr/>
          <p:nvPr/>
        </p:nvSpPr>
        <p:spPr>
          <a:xfrm>
            <a:off x="548640" y="5303520"/>
            <a:ext cx="3017520" cy="502920"/>
          </a:xfrm>
          <a:prstGeom prst="roundRect">
            <a:avLst>
              <a:gd name="adj" fmla="val 49091"/>
            </a:avLst>
          </a:prstGeom>
          <a:solidFill>
            <a:srgbClr val="1D4F47"/>
          </a:solidFill>
          <a:ln w="12700">
            <a:solidFill>
              <a:srgbClr val="1D4F47"/>
            </a:solidFill>
            <a:prstDash val="solid"/>
          </a:ln>
        </p:spPr>
      </p:sp>
      <p:sp>
        <p:nvSpPr>
          <p:cNvPr id="10" name="Text 6"/>
          <p:cNvSpPr txBox="1"/>
          <p:nvPr/>
        </p:nvSpPr>
        <p:spPr>
          <a:xfrm>
            <a:off x="548640" y="5303520"/>
            <a:ext cx="30175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Approx. 170 minutes</a:t>
            </a:r>
            <a:endParaRPr lang="en-US" sz="1400" dirty="0"/>
          </a:p>
        </p:txBody>
      </p:sp>
      <p:sp>
        <p:nvSpPr>
          <p:cNvPr id="11" name="Text 7"/>
          <p:cNvSpPr txBox="1"/>
          <p:nvPr/>
        </p:nvSpPr>
        <p:spPr>
          <a:xfrm>
            <a:off x="3749040" y="5303520"/>
            <a:ext cx="4206240" cy="502920"/>
          </a:xfrm>
          <a:prstGeom prst="rect">
            <a:avLst/>
          </a:prstGeom>
          <a:noFill/>
          <a:ln/>
        </p:spPr>
        <p:txBody>
          <a:bodyPr wrap="square" lIns="0" tIns="0" rIns="0" bIns="0" rtlCol="0" anchor="ctr"/>
          <a:lstStyle/>
          <a:p>
            <a:pPr indent="0" marL="0">
              <a:buNone/>
            </a:pPr>
            <a:r>
              <a:rPr lang="en-US" sz="1200" dirty="0">
                <a:solidFill>
                  <a:srgbClr val="C9DEDA"/>
                </a:solidFill>
                <a:latin typeface="Calibri" pitchFamily="34" charset="0"/>
                <a:ea typeface="Calibri" pitchFamily="34" charset="-122"/>
                <a:cs typeface="Calibri" pitchFamily="34" charset="-120"/>
              </a:rPr>
              <a:t>Appendix B: Functional Needs; Safety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Learning Objectives</a:t>
            </a:r>
            <a:endParaRPr lang="en-US" sz="30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indent="0" marL="0">
              <a:buNone/>
            </a:pPr>
            <a:r>
              <a:rPr lang="en-US" sz="1600" i="1" dirty="0">
                <a:solidFill>
                  <a:srgbClr val="5E6B68"/>
                </a:solidFill>
                <a:latin typeface="Calibri" pitchFamily="34" charset="0"/>
                <a:ea typeface="Calibri" pitchFamily="34" charset="-122"/>
                <a:cs typeface="Calibri" pitchFamily="34" charset="-120"/>
              </a:rPr>
              <a:t>By the end of this module, you will be able to:</a:t>
            </a:r>
            <a:endParaRPr lang="en-US" sz="1600" dirty="0"/>
          </a:p>
        </p:txBody>
      </p:sp>
      <p:sp>
        <p:nvSpPr>
          <p:cNvPr id="4" name="Shape 2"/>
          <p:cNvSpPr/>
          <p:nvPr/>
        </p:nvSpPr>
        <p:spPr>
          <a:xfrm>
            <a:off x="548640" y="1965960"/>
            <a:ext cx="457200" cy="457200"/>
          </a:xfrm>
          <a:prstGeom prst="ellipse">
            <a:avLst/>
          </a:prstGeom>
          <a:solidFill>
            <a:srgbClr val="C78F2E"/>
          </a:solidFill>
          <a:ln w="12700">
            <a:solidFill>
              <a:srgbClr val="C78F2E"/>
            </a:solidFill>
            <a:prstDash val="solid"/>
          </a:ln>
        </p:spPr>
      </p:sp>
      <p:sp>
        <p:nvSpPr>
          <p:cNvPr id="5" name="Text 3"/>
          <p:cNvSpPr txBox="1"/>
          <p:nvPr/>
        </p:nvSpPr>
        <p:spPr>
          <a:xfrm>
            <a:off x="54864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82880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Define ADLs and IADLs and explain how each is evaluated</a:t>
            </a:r>
            <a:endParaRPr lang="en-US" sz="1700" dirty="0"/>
          </a:p>
        </p:txBody>
      </p:sp>
      <p:sp>
        <p:nvSpPr>
          <p:cNvPr id="7" name="Shape 5"/>
          <p:cNvSpPr/>
          <p:nvPr/>
        </p:nvSpPr>
        <p:spPr>
          <a:xfrm>
            <a:off x="548640" y="2697480"/>
            <a:ext cx="457200" cy="457200"/>
          </a:xfrm>
          <a:prstGeom prst="ellipse">
            <a:avLst/>
          </a:prstGeom>
          <a:solidFill>
            <a:srgbClr val="C78F2E"/>
          </a:solidFill>
          <a:ln w="12700">
            <a:solidFill>
              <a:srgbClr val="C78F2E"/>
            </a:solidFill>
            <a:prstDash val="solid"/>
          </a:ln>
        </p:spPr>
      </p:sp>
      <p:sp>
        <p:nvSpPr>
          <p:cNvPr id="8" name="Text 6"/>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234440" y="256032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Describe common functional changes due to dementia and how to address them</a:t>
            </a:r>
            <a:endParaRPr lang="en-US" sz="1700" dirty="0"/>
          </a:p>
        </p:txBody>
      </p:sp>
      <p:sp>
        <p:nvSpPr>
          <p:cNvPr id="10" name="Shape 8"/>
          <p:cNvSpPr/>
          <p:nvPr/>
        </p:nvSpPr>
        <p:spPr>
          <a:xfrm>
            <a:off x="548640" y="3429000"/>
            <a:ext cx="457200" cy="457200"/>
          </a:xfrm>
          <a:prstGeom prst="ellipse">
            <a:avLst/>
          </a:prstGeom>
          <a:solidFill>
            <a:srgbClr val="C78F2E"/>
          </a:solidFill>
          <a:ln w="12700">
            <a:solidFill>
              <a:srgbClr val="C78F2E"/>
            </a:solidFill>
            <a:prstDash val="solid"/>
          </a:ln>
        </p:spPr>
      </p:sp>
      <p:sp>
        <p:nvSpPr>
          <p:cNvPr id="11" name="Text 9"/>
          <p:cNvSpPr txBox="1"/>
          <p:nvPr/>
        </p:nvSpPr>
        <p:spPr>
          <a:xfrm>
            <a:off x="548640" y="3429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234440" y="329184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Support safe medication monitoring and a reliable medication schedule</a:t>
            </a:r>
            <a:endParaRPr lang="en-US" sz="1700" dirty="0"/>
          </a:p>
        </p:txBody>
      </p:sp>
      <p:sp>
        <p:nvSpPr>
          <p:cNvPr id="13" name="Shape 11"/>
          <p:cNvSpPr/>
          <p:nvPr/>
        </p:nvSpPr>
        <p:spPr>
          <a:xfrm>
            <a:off x="548640" y="4160520"/>
            <a:ext cx="457200" cy="457200"/>
          </a:xfrm>
          <a:prstGeom prst="ellipse">
            <a:avLst/>
          </a:prstGeom>
          <a:solidFill>
            <a:srgbClr val="C78F2E"/>
          </a:solidFill>
          <a:ln w="12700">
            <a:solidFill>
              <a:srgbClr val="C78F2E"/>
            </a:solidFill>
            <a:prstDash val="solid"/>
          </a:ln>
        </p:spPr>
      </p:sp>
      <p:sp>
        <p:nvSpPr>
          <p:cNvPr id="14" name="Text 12"/>
          <p:cNvSpPr txBox="1"/>
          <p:nvPr/>
        </p:nvSpPr>
        <p:spPr>
          <a:xfrm>
            <a:off x="548640" y="4160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234440" y="402336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Identify safety risks at home, in public, and while driving</a:t>
            </a:r>
            <a:endParaRPr lang="en-US" sz="1700" dirty="0"/>
          </a:p>
        </p:txBody>
      </p:sp>
      <p:sp>
        <p:nvSpPr>
          <p:cNvPr id="16" name="Shape 14"/>
          <p:cNvSpPr/>
          <p:nvPr/>
        </p:nvSpPr>
        <p:spPr>
          <a:xfrm>
            <a:off x="548640" y="4892040"/>
            <a:ext cx="457200" cy="457200"/>
          </a:xfrm>
          <a:prstGeom prst="ellipse">
            <a:avLst/>
          </a:prstGeom>
          <a:solidFill>
            <a:srgbClr val="C78F2E"/>
          </a:solidFill>
          <a:ln w="12700">
            <a:solidFill>
              <a:srgbClr val="C78F2E"/>
            </a:solidFill>
            <a:prstDash val="solid"/>
          </a:ln>
        </p:spPr>
      </p:sp>
      <p:sp>
        <p:nvSpPr>
          <p:cNvPr id="17" name="Text 15"/>
          <p:cNvSpPr txBox="1"/>
          <p:nvPr/>
        </p:nvSpPr>
        <p:spPr>
          <a:xfrm>
            <a:off x="548640" y="4892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8" name="Text 16"/>
          <p:cNvSpPr txBox="1"/>
          <p:nvPr/>
        </p:nvSpPr>
        <p:spPr>
          <a:xfrm>
            <a:off x="1234440" y="475488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Recognize elder abuse, neglect, and financial exploitation and know how to report</a:t>
            </a:r>
            <a:endParaRPr lang="en-US" sz="1700" dirty="0"/>
          </a:p>
        </p:txBody>
      </p:sp>
      <p:sp>
        <p:nvSpPr>
          <p:cNvPr id="19" name="Shape 17"/>
          <p:cNvSpPr/>
          <p:nvPr/>
        </p:nvSpPr>
        <p:spPr>
          <a:xfrm>
            <a:off x="548640" y="5623560"/>
            <a:ext cx="457200" cy="457200"/>
          </a:xfrm>
          <a:prstGeom prst="ellipse">
            <a:avLst/>
          </a:prstGeom>
          <a:solidFill>
            <a:srgbClr val="C78F2E"/>
          </a:solidFill>
          <a:ln w="12700">
            <a:solidFill>
              <a:srgbClr val="C78F2E"/>
            </a:solidFill>
            <a:prstDash val="solid"/>
          </a:ln>
        </p:spPr>
      </p:sp>
      <p:sp>
        <p:nvSpPr>
          <p:cNvPr id="20" name="Text 18"/>
          <p:cNvSpPr txBox="1"/>
          <p:nvPr/>
        </p:nvSpPr>
        <p:spPr>
          <a:xfrm>
            <a:off x="548640" y="5623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21" name="Text 19"/>
          <p:cNvSpPr txBox="1"/>
          <p:nvPr/>
        </p:nvSpPr>
        <p:spPr>
          <a:xfrm>
            <a:off x="1234440" y="548640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Address access to firearms and other dangerous substances</a:t>
            </a:r>
            <a:endParaRPr lang="en-US" sz="1700" dirty="0"/>
          </a:p>
        </p:txBody>
      </p:sp>
      <p:pic>
        <p:nvPicPr>
          <p:cNvPr id="22"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3" name="Text 20"/>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24" name="Text 21"/>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Module Agenda</a:t>
            </a:r>
            <a:endParaRPr lang="en-US" sz="3000" dirty="0"/>
          </a:p>
        </p:txBody>
      </p:sp>
      <p:sp>
        <p:nvSpPr>
          <p:cNvPr id="3" name="Shape 1"/>
          <p:cNvSpPr/>
          <p:nvPr/>
        </p:nvSpPr>
        <p:spPr>
          <a:xfrm>
            <a:off x="548640" y="1417320"/>
            <a:ext cx="8076895" cy="777240"/>
          </a:xfrm>
          <a:prstGeom prst="rect">
            <a:avLst/>
          </a:prstGeom>
          <a:solidFill>
            <a:srgbClr val="E8F1EF"/>
          </a:solidFill>
          <a:ln w="12700">
            <a:solidFill>
              <a:srgbClr val="E8F1EF"/>
            </a:solidFill>
            <a:prstDash val="solid"/>
          </a:ln>
        </p:spPr>
      </p:sp>
      <p:sp>
        <p:nvSpPr>
          <p:cNvPr id="4" name="Text 2"/>
          <p:cNvSpPr txBox="1"/>
          <p:nvPr/>
        </p:nvSpPr>
        <p:spPr>
          <a:xfrm>
            <a:off x="822960" y="141732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Welcome, objectives &amp; agenda</a:t>
            </a:r>
            <a:endParaRPr lang="en-US" sz="1700" dirty="0"/>
          </a:p>
        </p:txBody>
      </p:sp>
      <p:sp>
        <p:nvSpPr>
          <p:cNvPr id="5" name="Text 3"/>
          <p:cNvSpPr txBox="1"/>
          <p:nvPr/>
        </p:nvSpPr>
        <p:spPr>
          <a:xfrm>
            <a:off x="6888175" y="141732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7 min</a:t>
            </a:r>
            <a:endParaRPr lang="en-US" sz="1600" dirty="0"/>
          </a:p>
        </p:txBody>
      </p:sp>
      <p:sp>
        <p:nvSpPr>
          <p:cNvPr id="6" name="Text 4"/>
          <p:cNvSpPr txBox="1"/>
          <p:nvPr/>
        </p:nvSpPr>
        <p:spPr>
          <a:xfrm>
            <a:off x="822960" y="219456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ADLs and IADLs</a:t>
            </a:r>
            <a:endParaRPr lang="en-US" sz="1700" dirty="0"/>
          </a:p>
        </p:txBody>
      </p:sp>
      <p:sp>
        <p:nvSpPr>
          <p:cNvPr id="7" name="Text 5"/>
          <p:cNvSpPr txBox="1"/>
          <p:nvPr/>
        </p:nvSpPr>
        <p:spPr>
          <a:xfrm>
            <a:off x="6888175" y="219456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35 min</a:t>
            </a:r>
            <a:endParaRPr lang="en-US" sz="1600" dirty="0"/>
          </a:p>
        </p:txBody>
      </p:sp>
      <p:sp>
        <p:nvSpPr>
          <p:cNvPr id="8" name="Shape 6"/>
          <p:cNvSpPr/>
          <p:nvPr/>
        </p:nvSpPr>
        <p:spPr>
          <a:xfrm>
            <a:off x="548640" y="2971800"/>
            <a:ext cx="8076895" cy="777240"/>
          </a:xfrm>
          <a:prstGeom prst="rect">
            <a:avLst/>
          </a:prstGeom>
          <a:solidFill>
            <a:srgbClr val="E8F1EF"/>
          </a:solidFill>
          <a:ln w="12700">
            <a:solidFill>
              <a:srgbClr val="E8F1EF"/>
            </a:solidFill>
            <a:prstDash val="solid"/>
          </a:ln>
        </p:spPr>
      </p:sp>
      <p:sp>
        <p:nvSpPr>
          <p:cNvPr id="9" name="Text 7"/>
          <p:cNvSpPr txBox="1"/>
          <p:nvPr/>
        </p:nvSpPr>
        <p:spPr>
          <a:xfrm>
            <a:off x="822960" y="297180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Medication Management</a:t>
            </a:r>
            <a:endParaRPr lang="en-US" sz="1700" dirty="0"/>
          </a:p>
        </p:txBody>
      </p:sp>
      <p:sp>
        <p:nvSpPr>
          <p:cNvPr id="10" name="Text 8"/>
          <p:cNvSpPr txBox="1"/>
          <p:nvPr/>
        </p:nvSpPr>
        <p:spPr>
          <a:xfrm>
            <a:off x="6888175" y="297180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32 min</a:t>
            </a:r>
            <a:endParaRPr lang="en-US" sz="1600" dirty="0"/>
          </a:p>
        </p:txBody>
      </p:sp>
      <p:sp>
        <p:nvSpPr>
          <p:cNvPr id="11" name="Text 9"/>
          <p:cNvSpPr txBox="1"/>
          <p:nvPr/>
        </p:nvSpPr>
        <p:spPr>
          <a:xfrm>
            <a:off x="822960" y="374904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Safety</a:t>
            </a:r>
            <a:endParaRPr lang="en-US" sz="1700" dirty="0"/>
          </a:p>
        </p:txBody>
      </p:sp>
      <p:sp>
        <p:nvSpPr>
          <p:cNvPr id="12" name="Text 10"/>
          <p:cNvSpPr txBox="1"/>
          <p:nvPr/>
        </p:nvSpPr>
        <p:spPr>
          <a:xfrm>
            <a:off x="6888175" y="374904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79 min</a:t>
            </a:r>
            <a:endParaRPr lang="en-US" sz="1600" dirty="0"/>
          </a:p>
        </p:txBody>
      </p:sp>
      <p:sp>
        <p:nvSpPr>
          <p:cNvPr id="13" name="Shape 11"/>
          <p:cNvSpPr/>
          <p:nvPr/>
        </p:nvSpPr>
        <p:spPr>
          <a:xfrm>
            <a:off x="548640" y="4526280"/>
            <a:ext cx="8076895" cy="777240"/>
          </a:xfrm>
          <a:prstGeom prst="rect">
            <a:avLst/>
          </a:prstGeom>
          <a:solidFill>
            <a:srgbClr val="E8F1EF"/>
          </a:solidFill>
          <a:ln w="12700">
            <a:solidFill>
              <a:srgbClr val="E8F1EF"/>
            </a:solidFill>
            <a:prstDash val="solid"/>
          </a:ln>
        </p:spPr>
      </p:sp>
      <p:sp>
        <p:nvSpPr>
          <p:cNvPr id="14" name="Text 12"/>
          <p:cNvSpPr txBox="1"/>
          <p:nvPr/>
        </p:nvSpPr>
        <p:spPr>
          <a:xfrm>
            <a:off x="822960" y="452628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Knowledge check, takeaways &amp; resources</a:t>
            </a:r>
            <a:endParaRPr lang="en-US" sz="1700" dirty="0"/>
          </a:p>
        </p:txBody>
      </p:sp>
      <p:sp>
        <p:nvSpPr>
          <p:cNvPr id="15" name="Text 13"/>
          <p:cNvSpPr txBox="1"/>
          <p:nvPr/>
        </p:nvSpPr>
        <p:spPr>
          <a:xfrm>
            <a:off x="6888175" y="452628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17 min</a:t>
            </a:r>
            <a:endParaRPr lang="en-US" sz="1600" dirty="0"/>
          </a:p>
        </p:txBody>
      </p:sp>
      <p:sp>
        <p:nvSpPr>
          <p:cNvPr id="16" name="Text 14"/>
          <p:cNvSpPr txBox="1"/>
          <p:nvPr/>
        </p:nvSpPr>
        <p:spPr>
          <a:xfrm>
            <a:off x="822960" y="5440680"/>
            <a:ext cx="7802575" cy="411480"/>
          </a:xfrm>
          <a:prstGeom prst="rect">
            <a:avLst/>
          </a:prstGeom>
          <a:noFill/>
          <a:ln/>
        </p:spPr>
        <p:txBody>
          <a:bodyPr wrap="square" lIns="0" tIns="0" rIns="0" bIns="0" rtlCol="0" anchor="ctr"/>
          <a:lstStyle/>
          <a:p>
            <a:pPr indent="0" marL="0">
              <a:buNone/>
            </a:pPr>
            <a:r>
              <a:rPr lang="en-US" sz="1500" i="1" dirty="0">
                <a:solidFill>
                  <a:srgbClr val="5E6B68"/>
                </a:solidFill>
                <a:latin typeface="Calibri" pitchFamily="34" charset="0"/>
                <a:ea typeface="Calibri" pitchFamily="34" charset="-122"/>
                <a:cs typeface="Calibri" pitchFamily="34" charset="-120"/>
              </a:rPr>
              <a:t>Total: 170 minutes (about 2.8 hours)</a:t>
            </a:r>
            <a:endParaRPr lang="en-US" sz="1500" dirty="0"/>
          </a:p>
        </p:txBody>
      </p:sp>
      <p:pic>
        <p:nvPicPr>
          <p:cNvPr id="17" name="Image 0" descr="preencoded.png">    </p:cNvPr>
          <p:cNvPicPr>
            <a:picLocks noChangeAspect="1"/>
          </p:cNvPicPr>
          <p:nvPr/>
        </p:nvPicPr>
        <p:blipFill>
          <a:blip r:embed="rId1"/>
          <a:stretch>
            <a:fillRect/>
          </a:stretch>
        </p:blipFill>
        <p:spPr>
          <a:xfrm>
            <a:off x="9128455" y="1371600"/>
            <a:ext cx="2514600" cy="3182112"/>
          </a:xfrm>
          <a:prstGeom prst="rect">
            <a:avLst/>
          </a:prstGeom>
        </p:spPr>
      </p:pic>
      <p:pic>
        <p:nvPicPr>
          <p:cNvPr id="1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9" name="Text 1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20" name="Text 1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8138160" y="548640"/>
            <a:ext cx="4206240" cy="5330952"/>
          </a:xfrm>
          <a:prstGeom prst="rect">
            <a:avLst/>
          </a:prstGeom>
        </p:spPr>
      </p:pic>
      <p:sp>
        <p:nvSpPr>
          <p:cNvPr id="3" name="Text 0"/>
          <p:cNvSpPr txBox="1"/>
          <p:nvPr/>
        </p:nvSpPr>
        <p:spPr>
          <a:xfrm>
            <a:off x="731520" y="1188720"/>
            <a:ext cx="2743200" cy="1371600"/>
          </a:xfrm>
          <a:prstGeom prst="rect">
            <a:avLst/>
          </a:prstGeom>
          <a:noFill/>
          <a:ln/>
        </p:spPr>
        <p:txBody>
          <a:bodyPr wrap="square" lIns="0" tIns="0" rIns="0" bIns="0" rtlCol="0" anchor="t"/>
          <a:lstStyle/>
          <a:p>
            <a:pPr indent="0" marL="0">
              <a:buNone/>
            </a:pPr>
            <a:r>
              <a:rPr lang="en-US" sz="8800" b="1" dirty="0">
                <a:solidFill>
                  <a:srgbClr val="F8CB27"/>
                </a:solidFill>
                <a:latin typeface="Cambria" pitchFamily="34" charset="0"/>
                <a:ea typeface="Cambria" pitchFamily="34" charset="-122"/>
                <a:cs typeface="Cambria" pitchFamily="34" charset="-120"/>
              </a:rPr>
              <a:t>01</a:t>
            </a:r>
            <a:endParaRPr lang="en-US" sz="8800" dirty="0"/>
          </a:p>
        </p:txBody>
      </p:sp>
      <p:sp>
        <p:nvSpPr>
          <p:cNvPr id="4" name="Text 1"/>
          <p:cNvSpPr txBox="1"/>
          <p:nvPr/>
        </p:nvSpPr>
        <p:spPr>
          <a:xfrm>
            <a:off x="731520" y="2103120"/>
            <a:ext cx="7132320" cy="1783080"/>
          </a:xfrm>
          <a:prstGeom prst="rect">
            <a:avLst/>
          </a:prstGeom>
          <a:noFill/>
          <a:ln/>
        </p:spPr>
        <p:txBody>
          <a:bodyPr wrap="square" lIns="0" tIns="0" rIns="0" bIns="0"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ADLs and IADLs</a:t>
            </a:r>
            <a:endParaRPr lang="en-US" sz="3800" dirty="0"/>
          </a:p>
        </p:txBody>
      </p:sp>
      <p:sp>
        <p:nvSpPr>
          <p:cNvPr id="5" name="Text 2"/>
          <p:cNvSpPr txBox="1"/>
          <p:nvPr/>
        </p:nvSpPr>
        <p:spPr>
          <a:xfrm>
            <a:off x="731520" y="3977640"/>
            <a:ext cx="6949440" cy="91440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What people can do — and where they need help</a:t>
            </a:r>
            <a:endParaRPr lang="en-US" sz="1800" dirty="0"/>
          </a:p>
        </p:txBody>
      </p:sp>
      <p:pic>
        <p:nvPicPr>
          <p:cNvPr id="6" name="Image 1" descr="preencoded.png">    </p:cNvPr>
          <p:cNvPicPr>
            <a:picLocks noChangeAspect="1"/>
          </p:cNvPicPr>
          <p:nvPr/>
        </p:nvPicPr>
        <p:blipFill>
          <a:blip r:embed="rId2"/>
          <a:stretch>
            <a:fillRect/>
          </a:stretch>
        </p:blipFill>
        <p:spPr>
          <a:xfrm>
            <a:off x="548640" y="6382512"/>
            <a:ext cx="219456" cy="219456"/>
          </a:xfrm>
          <a:prstGeom prst="rect">
            <a:avLst/>
          </a:prstGeom>
        </p:spPr>
      </p:pic>
      <p:sp>
        <p:nvSpPr>
          <p:cNvPr id="7" name="Text 3"/>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4</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Activities of Daily Living</a:t>
            </a:r>
            <a:endParaRPr lang="en-US" sz="3000" dirty="0"/>
          </a:p>
        </p:txBody>
      </p:sp>
      <p:sp>
        <p:nvSpPr>
          <p:cNvPr id="3" name="Shape 1"/>
          <p:cNvSpPr/>
          <p:nvPr/>
        </p:nvSpPr>
        <p:spPr>
          <a:xfrm>
            <a:off x="548640" y="1417320"/>
            <a:ext cx="5364328" cy="4709160"/>
          </a:xfrm>
          <a:prstGeom prst="roundRect">
            <a:avLst>
              <a:gd name="adj" fmla="val 2330"/>
            </a:avLst>
          </a:prstGeom>
          <a:solidFill>
            <a:srgbClr val="E8F1EF"/>
          </a:solidFill>
          <a:ln w="12700">
            <a:solidFill>
              <a:srgbClr val="E8F1EF"/>
            </a:solidFill>
            <a:prstDash val="solid"/>
          </a:ln>
        </p:spPr>
      </p:sp>
      <p:sp>
        <p:nvSpPr>
          <p:cNvPr id="4" name="Shape 2"/>
          <p:cNvSpPr/>
          <p:nvPr/>
        </p:nvSpPr>
        <p:spPr>
          <a:xfrm>
            <a:off x="548640" y="1417320"/>
            <a:ext cx="5364328" cy="640080"/>
          </a:xfrm>
          <a:prstGeom prst="roundRect">
            <a:avLst>
              <a:gd name="adj" fmla="val 17143"/>
            </a:avLst>
          </a:prstGeom>
          <a:solidFill>
            <a:srgbClr val="28695F"/>
          </a:solidFill>
          <a:ln w="12700">
            <a:solidFill>
              <a:srgbClr val="28695F"/>
            </a:solidFill>
            <a:prstDash val="solid"/>
          </a:ln>
        </p:spPr>
      </p:sp>
      <p:sp>
        <p:nvSpPr>
          <p:cNvPr id="5" name="Shape 3"/>
          <p:cNvSpPr/>
          <p:nvPr/>
        </p:nvSpPr>
        <p:spPr>
          <a:xfrm>
            <a:off x="548640" y="1783080"/>
            <a:ext cx="5364328" cy="274320"/>
          </a:xfrm>
          <a:prstGeom prst="rect">
            <a:avLst/>
          </a:prstGeom>
          <a:solidFill>
            <a:srgbClr val="28695F"/>
          </a:solidFill>
          <a:ln w="12700">
            <a:solidFill>
              <a:srgbClr val="28695F"/>
            </a:solidFill>
            <a:prstDash val="solid"/>
          </a:ln>
        </p:spPr>
      </p:sp>
      <p:sp>
        <p:nvSpPr>
          <p:cNvPr id="6" name="Text 4"/>
          <p:cNvSpPr txBox="1"/>
          <p:nvPr/>
        </p:nvSpPr>
        <p:spPr>
          <a:xfrm>
            <a:off x="822960" y="1417320"/>
            <a:ext cx="4815688" cy="6400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ADLs: Basic Self-Care</a:t>
            </a:r>
            <a:endParaRPr lang="en-US" sz="1900" dirty="0"/>
          </a:p>
        </p:txBody>
      </p:sp>
      <p:sp>
        <p:nvSpPr>
          <p:cNvPr id="7" name="Text 5"/>
          <p:cNvSpPr txBox="1"/>
          <p:nvPr/>
        </p:nvSpPr>
        <p:spPr>
          <a:xfrm>
            <a:off x="822960" y="2286000"/>
            <a:ext cx="4815688" cy="365760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Bathing</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Dressing</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Toileting</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Transferring (bed, chair, toilet)</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Continence</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Eating (feeding oneself)</a:t>
            </a:r>
            <a:endParaRPr lang="en-US" sz="1700" dirty="0"/>
          </a:p>
        </p:txBody>
      </p:sp>
      <p:sp>
        <p:nvSpPr>
          <p:cNvPr id="8" name="Shape 6"/>
          <p:cNvSpPr/>
          <p:nvPr/>
        </p:nvSpPr>
        <p:spPr>
          <a:xfrm>
            <a:off x="6278728" y="1417320"/>
            <a:ext cx="5364328" cy="4709160"/>
          </a:xfrm>
          <a:prstGeom prst="roundRect">
            <a:avLst>
              <a:gd name="adj" fmla="val 2330"/>
            </a:avLst>
          </a:prstGeom>
          <a:solidFill>
            <a:srgbClr val="F8EFDF"/>
          </a:solidFill>
          <a:ln w="12700">
            <a:solidFill>
              <a:srgbClr val="F8EFDF"/>
            </a:solidFill>
            <a:prstDash val="solid"/>
          </a:ln>
        </p:spPr>
      </p:sp>
      <p:sp>
        <p:nvSpPr>
          <p:cNvPr id="9" name="Shape 7"/>
          <p:cNvSpPr/>
          <p:nvPr/>
        </p:nvSpPr>
        <p:spPr>
          <a:xfrm>
            <a:off x="6278728" y="1417320"/>
            <a:ext cx="5364328" cy="640080"/>
          </a:xfrm>
          <a:prstGeom prst="roundRect">
            <a:avLst>
              <a:gd name="adj" fmla="val 17143"/>
            </a:avLst>
          </a:prstGeom>
          <a:solidFill>
            <a:srgbClr val="C78F2E"/>
          </a:solidFill>
          <a:ln w="12700">
            <a:solidFill>
              <a:srgbClr val="C78F2E"/>
            </a:solidFill>
            <a:prstDash val="solid"/>
          </a:ln>
        </p:spPr>
      </p:sp>
      <p:sp>
        <p:nvSpPr>
          <p:cNvPr id="10" name="Shape 8"/>
          <p:cNvSpPr/>
          <p:nvPr/>
        </p:nvSpPr>
        <p:spPr>
          <a:xfrm>
            <a:off x="6278728" y="1783080"/>
            <a:ext cx="5364328" cy="274320"/>
          </a:xfrm>
          <a:prstGeom prst="rect">
            <a:avLst/>
          </a:prstGeom>
          <a:solidFill>
            <a:srgbClr val="C78F2E"/>
          </a:solidFill>
          <a:ln w="12700">
            <a:solidFill>
              <a:srgbClr val="C78F2E"/>
            </a:solidFill>
            <a:prstDash val="solid"/>
          </a:ln>
        </p:spPr>
      </p:sp>
      <p:sp>
        <p:nvSpPr>
          <p:cNvPr id="11" name="Text 9"/>
          <p:cNvSpPr txBox="1"/>
          <p:nvPr/>
        </p:nvSpPr>
        <p:spPr>
          <a:xfrm>
            <a:off x="6553048" y="1417320"/>
            <a:ext cx="4815688" cy="6400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IADLs: Living Independently</a:t>
            </a:r>
            <a:endParaRPr lang="en-US" sz="1900" dirty="0"/>
          </a:p>
        </p:txBody>
      </p:sp>
      <p:sp>
        <p:nvSpPr>
          <p:cNvPr id="12" name="Text 10"/>
          <p:cNvSpPr txBox="1"/>
          <p:nvPr/>
        </p:nvSpPr>
        <p:spPr>
          <a:xfrm>
            <a:off x="6553048" y="2286000"/>
            <a:ext cx="4815688" cy="365760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Managing medications</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Managing money and bills</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Shopping</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Preparing meals</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Housekeeping and laundry</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Using the telephone</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Transportation and driving</a:t>
            </a:r>
            <a:endParaRPr lang="en-US" sz="1700" dirty="0"/>
          </a:p>
        </p:txBody>
      </p:sp>
      <p:pic>
        <p:nvPicPr>
          <p:cNvPr id="13"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14" name="Text 11"/>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15" name="Text 12"/>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Evaluating ADLs and IADLs</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Use structured tools: </a:t>
            </a:r>
            <a:r>
              <a:rPr lang="en-US" sz="1800" dirty="0">
                <a:solidFill>
                  <a:srgbClr val="24302D"/>
                </a:solidFill>
                <a:latin typeface="Calibri" pitchFamily="34" charset="0"/>
                <a:ea typeface="Calibri" pitchFamily="34" charset="-122"/>
                <a:cs typeface="Calibri" pitchFamily="34" charset="-120"/>
              </a:rPr>
              <a:t>Katz ADL Index and Lawton IADL Scale, per AbleLiving/MPS forms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Ask both members of the dyad </a:t>
            </a:r>
            <a:r>
              <a:rPr lang="en-US" sz="1800" dirty="0">
                <a:solidFill>
                  <a:srgbClr val="24302D"/>
                </a:solidFill>
                <a:latin typeface="Calibri" pitchFamily="34" charset="0"/>
                <a:ea typeface="Calibri" pitchFamily="34" charset="-122"/>
                <a:cs typeface="Calibri" pitchFamily="34" charset="-120"/>
              </a:rPr>
              <a:t>— people with dementia often overestimate their abilities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Observe when possible: </a:t>
            </a:r>
            <a:r>
              <a:rPr lang="en-US" sz="1800" dirty="0">
                <a:solidFill>
                  <a:srgbClr val="24302D"/>
                </a:solidFill>
                <a:latin typeface="Calibri" pitchFamily="34" charset="0"/>
                <a:ea typeface="Calibri" pitchFamily="34" charset="-122"/>
                <a:cs typeface="Calibri" pitchFamily="34" charset="-120"/>
              </a:rPr>
              <a:t>"Can you show me how you get into the shower?"</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Rate the level of help: </a:t>
            </a:r>
            <a:r>
              <a:rPr lang="en-US" sz="1800" dirty="0">
                <a:solidFill>
                  <a:srgbClr val="24302D"/>
                </a:solidFill>
                <a:latin typeface="Calibri" pitchFamily="34" charset="0"/>
                <a:ea typeface="Calibri" pitchFamily="34" charset="-122"/>
                <a:cs typeface="Calibri" pitchFamily="34" charset="-120"/>
              </a:rPr>
              <a:t>independent, needs setup or reminders, needs hands-on help, or fully dependent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Look for evidence </a:t>
            </a:r>
            <a:r>
              <a:rPr lang="en-US" sz="1800" dirty="0">
                <a:solidFill>
                  <a:srgbClr val="24302D"/>
                </a:solidFill>
                <a:latin typeface="Calibri" pitchFamily="34" charset="0"/>
                <a:ea typeface="Calibri" pitchFamily="34" charset="-122"/>
                <a:cs typeface="Calibri" pitchFamily="34" charset="-120"/>
              </a:rPr>
              <a:t>in the home: spoiled food, unpaid bills, unwashed clothing, burned pots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Track change over time </a:t>
            </a:r>
            <a:r>
              <a:rPr lang="en-US" sz="1800" dirty="0">
                <a:solidFill>
                  <a:srgbClr val="24302D"/>
                </a:solidFill>
                <a:latin typeface="Calibri" pitchFamily="34" charset="0"/>
                <a:ea typeface="Calibri" pitchFamily="34" charset="-122"/>
                <a:cs typeface="Calibri" pitchFamily="34" charset="-120"/>
              </a:rPr>
              <a:t>and report new losses to the clinician</a:t>
            </a:r>
            <a:endParaRPr lang="en-US" sz="1800" dirty="0"/>
          </a:p>
        </p:txBody>
      </p:sp>
      <p:sp>
        <p:nvSpPr>
          <p:cNvPr id="4" name="Shape 2"/>
          <p:cNvSpPr/>
          <p:nvPr/>
        </p:nvSpPr>
        <p:spPr>
          <a:xfrm>
            <a:off x="7589520" y="1417320"/>
            <a:ext cx="4053535" cy="2885440"/>
          </a:xfrm>
          <a:prstGeom prst="roundRect">
            <a:avLst>
              <a:gd name="adj" fmla="val 3803"/>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Ask about the "how," not just the "whether"</a:t>
            </a:r>
            <a:endParaRPr lang="en-US" sz="1800" dirty="0"/>
          </a:p>
        </p:txBody>
      </p:sp>
      <p:sp>
        <p:nvSpPr>
          <p:cNvPr id="7" name="Text 4"/>
          <p:cNvSpPr txBox="1"/>
          <p:nvPr/>
        </p:nvSpPr>
        <p:spPr>
          <a:xfrm>
            <a:off x="7863840" y="2423160"/>
            <a:ext cx="3504895" cy="178816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"Does your mother bathe?" may get a yes. "When was her last full bath, and who helped?" gives you the real picture.</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The Typical Pattern of Functional Loss</a:t>
            </a:r>
            <a:endParaRPr lang="en-US" sz="30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indent="0" marL="0">
              <a:buNone/>
            </a:pPr>
            <a:r>
              <a:rPr lang="en-US" sz="1600" i="1" dirty="0">
                <a:solidFill>
                  <a:srgbClr val="5E6B68"/>
                </a:solidFill>
                <a:latin typeface="Calibri" pitchFamily="34" charset="0"/>
                <a:ea typeface="Calibri" pitchFamily="34" charset="-122"/>
                <a:cs typeface="Calibri" pitchFamily="34" charset="-120"/>
              </a:rPr>
              <a:t>Abilities are usually lost in roughly the reverse order they were learned in childhood.</a:t>
            </a:r>
            <a:endParaRPr lang="en-US" sz="1600" dirty="0"/>
          </a:p>
        </p:txBody>
      </p:sp>
      <p:sp>
        <p:nvSpPr>
          <p:cNvPr id="4" name="Shape 2"/>
          <p:cNvSpPr/>
          <p:nvPr/>
        </p:nvSpPr>
        <p:spPr>
          <a:xfrm>
            <a:off x="1849717" y="2240280"/>
            <a:ext cx="8492261" cy="0"/>
          </a:xfrm>
          <a:prstGeom prst="line">
            <a:avLst/>
          </a:prstGeom>
          <a:noFill/>
          <a:ln w="38100">
            <a:solidFill>
              <a:srgbClr val="C9DEDA"/>
            </a:solidFill>
            <a:prstDash val="solid"/>
          </a:ln>
        </p:spPr>
      </p:sp>
      <p:sp>
        <p:nvSpPr>
          <p:cNvPr id="5" name="Shape 3"/>
          <p:cNvSpPr/>
          <p:nvPr/>
        </p:nvSpPr>
        <p:spPr>
          <a:xfrm>
            <a:off x="1483957" y="1874520"/>
            <a:ext cx="731520" cy="731520"/>
          </a:xfrm>
          <a:prstGeom prst="ellipse">
            <a:avLst/>
          </a:prstGeom>
          <a:solidFill>
            <a:srgbClr val="28695F"/>
          </a:solidFill>
          <a:ln w="12700">
            <a:solidFill>
              <a:srgbClr val="28695F"/>
            </a:solidFill>
            <a:prstDash val="solid"/>
          </a:ln>
        </p:spPr>
      </p:sp>
      <p:sp>
        <p:nvSpPr>
          <p:cNvPr id="6" name="Text 4"/>
          <p:cNvSpPr txBox="1"/>
          <p:nvPr/>
        </p:nvSpPr>
        <p:spPr>
          <a:xfrm>
            <a:off x="1483957" y="187452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Shape 5"/>
          <p:cNvSpPr/>
          <p:nvPr/>
        </p:nvSpPr>
        <p:spPr>
          <a:xfrm>
            <a:off x="548640" y="2834640"/>
            <a:ext cx="2602154" cy="2926080"/>
          </a:xfrm>
          <a:prstGeom prst="roundRect">
            <a:avLst>
              <a:gd name="adj" fmla="val 4217"/>
            </a:avLst>
          </a:prstGeom>
          <a:solidFill>
            <a:srgbClr val="E8F1EF"/>
          </a:solidFill>
          <a:ln w="12700">
            <a:solidFill>
              <a:srgbClr val="E8F1EF"/>
            </a:solidFill>
            <a:prstDash val="solid"/>
          </a:ln>
        </p:spPr>
      </p:sp>
      <p:sp>
        <p:nvSpPr>
          <p:cNvPr id="8" name="Text 6"/>
          <p:cNvSpPr txBox="1"/>
          <p:nvPr/>
        </p:nvSpPr>
        <p:spPr>
          <a:xfrm>
            <a:off x="731520" y="2971800"/>
            <a:ext cx="2236394"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Complex IADLs</a:t>
            </a:r>
            <a:endParaRPr lang="en-US" sz="1800" dirty="0"/>
          </a:p>
        </p:txBody>
      </p:sp>
      <p:sp>
        <p:nvSpPr>
          <p:cNvPr id="9" name="Text 7"/>
          <p:cNvSpPr txBox="1"/>
          <p:nvPr/>
        </p:nvSpPr>
        <p:spPr>
          <a:xfrm>
            <a:off x="731520" y="3657600"/>
            <a:ext cx="2236394" cy="228600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Finances, medications, driving, planning meals, and managing appointments.</a:t>
            </a:r>
            <a:endParaRPr lang="en-US" sz="1700" dirty="0"/>
          </a:p>
        </p:txBody>
      </p:sp>
      <p:sp>
        <p:nvSpPr>
          <p:cNvPr id="10" name="Shape 8"/>
          <p:cNvSpPr/>
          <p:nvPr/>
        </p:nvSpPr>
        <p:spPr>
          <a:xfrm>
            <a:off x="4314711" y="1874520"/>
            <a:ext cx="731520" cy="731520"/>
          </a:xfrm>
          <a:prstGeom prst="ellipse">
            <a:avLst/>
          </a:prstGeom>
          <a:solidFill>
            <a:srgbClr val="C78F2E"/>
          </a:solidFill>
          <a:ln w="12700">
            <a:solidFill>
              <a:srgbClr val="C78F2E"/>
            </a:solidFill>
            <a:prstDash val="solid"/>
          </a:ln>
        </p:spPr>
      </p:sp>
      <p:sp>
        <p:nvSpPr>
          <p:cNvPr id="11" name="Text 9"/>
          <p:cNvSpPr txBox="1"/>
          <p:nvPr/>
        </p:nvSpPr>
        <p:spPr>
          <a:xfrm>
            <a:off x="4314711" y="187452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Shape 10"/>
          <p:cNvSpPr/>
          <p:nvPr/>
        </p:nvSpPr>
        <p:spPr>
          <a:xfrm>
            <a:off x="3379394" y="2834640"/>
            <a:ext cx="2602154" cy="2926080"/>
          </a:xfrm>
          <a:prstGeom prst="roundRect">
            <a:avLst>
              <a:gd name="adj" fmla="val 4217"/>
            </a:avLst>
          </a:prstGeom>
          <a:solidFill>
            <a:srgbClr val="E8F1EF"/>
          </a:solidFill>
          <a:ln w="12700">
            <a:solidFill>
              <a:srgbClr val="E8F1EF"/>
            </a:solidFill>
            <a:prstDash val="solid"/>
          </a:ln>
        </p:spPr>
      </p:sp>
      <p:sp>
        <p:nvSpPr>
          <p:cNvPr id="13" name="Text 11"/>
          <p:cNvSpPr txBox="1"/>
          <p:nvPr/>
        </p:nvSpPr>
        <p:spPr>
          <a:xfrm>
            <a:off x="3562274" y="2971800"/>
            <a:ext cx="2236394"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Household IADLs</a:t>
            </a:r>
            <a:endParaRPr lang="en-US" sz="1800" dirty="0"/>
          </a:p>
        </p:txBody>
      </p:sp>
      <p:sp>
        <p:nvSpPr>
          <p:cNvPr id="14" name="Text 12"/>
          <p:cNvSpPr txBox="1"/>
          <p:nvPr/>
        </p:nvSpPr>
        <p:spPr>
          <a:xfrm>
            <a:off x="3562274" y="3657600"/>
            <a:ext cx="2236394" cy="228600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Cooking, shopping, housework, laundry, and using the phone.</a:t>
            </a:r>
            <a:endParaRPr lang="en-US" sz="1700" dirty="0"/>
          </a:p>
        </p:txBody>
      </p:sp>
      <p:sp>
        <p:nvSpPr>
          <p:cNvPr id="15" name="Shape 13"/>
          <p:cNvSpPr/>
          <p:nvPr/>
        </p:nvSpPr>
        <p:spPr>
          <a:xfrm>
            <a:off x="7145465" y="1874520"/>
            <a:ext cx="731520" cy="731520"/>
          </a:xfrm>
          <a:prstGeom prst="ellipse">
            <a:avLst/>
          </a:prstGeom>
          <a:solidFill>
            <a:srgbClr val="28695F"/>
          </a:solidFill>
          <a:ln w="12700">
            <a:solidFill>
              <a:srgbClr val="28695F"/>
            </a:solidFill>
            <a:prstDash val="solid"/>
          </a:ln>
        </p:spPr>
      </p:sp>
      <p:sp>
        <p:nvSpPr>
          <p:cNvPr id="16" name="Text 14"/>
          <p:cNvSpPr txBox="1"/>
          <p:nvPr/>
        </p:nvSpPr>
        <p:spPr>
          <a:xfrm>
            <a:off x="7145465" y="187452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Shape 15"/>
          <p:cNvSpPr/>
          <p:nvPr/>
        </p:nvSpPr>
        <p:spPr>
          <a:xfrm>
            <a:off x="6210148" y="2834640"/>
            <a:ext cx="2602154" cy="2926080"/>
          </a:xfrm>
          <a:prstGeom prst="roundRect">
            <a:avLst>
              <a:gd name="adj" fmla="val 4217"/>
            </a:avLst>
          </a:prstGeom>
          <a:solidFill>
            <a:srgbClr val="E8F1EF"/>
          </a:solidFill>
          <a:ln w="12700">
            <a:solidFill>
              <a:srgbClr val="E8F1EF"/>
            </a:solidFill>
            <a:prstDash val="solid"/>
          </a:ln>
        </p:spPr>
      </p:sp>
      <p:sp>
        <p:nvSpPr>
          <p:cNvPr id="18" name="Text 16"/>
          <p:cNvSpPr txBox="1"/>
          <p:nvPr/>
        </p:nvSpPr>
        <p:spPr>
          <a:xfrm>
            <a:off x="6393028" y="2971800"/>
            <a:ext cx="2236394"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Complex ADLs</a:t>
            </a:r>
            <a:endParaRPr lang="en-US" sz="1800" dirty="0"/>
          </a:p>
        </p:txBody>
      </p:sp>
      <p:sp>
        <p:nvSpPr>
          <p:cNvPr id="19" name="Text 17"/>
          <p:cNvSpPr txBox="1"/>
          <p:nvPr/>
        </p:nvSpPr>
        <p:spPr>
          <a:xfrm>
            <a:off x="6393028" y="3657600"/>
            <a:ext cx="2236394" cy="228600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Bathing, choosing clothing, and dressing in the right order.</a:t>
            </a:r>
            <a:endParaRPr lang="en-US" sz="1700" dirty="0"/>
          </a:p>
        </p:txBody>
      </p:sp>
      <p:sp>
        <p:nvSpPr>
          <p:cNvPr id="20" name="Shape 18"/>
          <p:cNvSpPr/>
          <p:nvPr/>
        </p:nvSpPr>
        <p:spPr>
          <a:xfrm>
            <a:off x="9976218" y="1874520"/>
            <a:ext cx="731520" cy="731520"/>
          </a:xfrm>
          <a:prstGeom prst="ellipse">
            <a:avLst/>
          </a:prstGeom>
          <a:solidFill>
            <a:srgbClr val="C78F2E"/>
          </a:solidFill>
          <a:ln w="12700">
            <a:solidFill>
              <a:srgbClr val="C78F2E"/>
            </a:solidFill>
            <a:prstDash val="solid"/>
          </a:ln>
        </p:spPr>
      </p:sp>
      <p:sp>
        <p:nvSpPr>
          <p:cNvPr id="21" name="Text 19"/>
          <p:cNvSpPr txBox="1"/>
          <p:nvPr/>
        </p:nvSpPr>
        <p:spPr>
          <a:xfrm>
            <a:off x="9976218" y="187452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2" name="Shape 20"/>
          <p:cNvSpPr/>
          <p:nvPr/>
        </p:nvSpPr>
        <p:spPr>
          <a:xfrm>
            <a:off x="9040901" y="2834640"/>
            <a:ext cx="2602154" cy="2926080"/>
          </a:xfrm>
          <a:prstGeom prst="roundRect">
            <a:avLst>
              <a:gd name="adj" fmla="val 4217"/>
            </a:avLst>
          </a:prstGeom>
          <a:solidFill>
            <a:srgbClr val="E8F1EF"/>
          </a:solidFill>
          <a:ln w="12700">
            <a:solidFill>
              <a:srgbClr val="E8F1EF"/>
            </a:solidFill>
            <a:prstDash val="solid"/>
          </a:ln>
        </p:spPr>
      </p:sp>
      <p:sp>
        <p:nvSpPr>
          <p:cNvPr id="23" name="Text 21"/>
          <p:cNvSpPr txBox="1"/>
          <p:nvPr/>
        </p:nvSpPr>
        <p:spPr>
          <a:xfrm>
            <a:off x="9223781" y="2971800"/>
            <a:ext cx="2236394"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Basic ADLs</a:t>
            </a:r>
            <a:endParaRPr lang="en-US" sz="1800" dirty="0"/>
          </a:p>
        </p:txBody>
      </p:sp>
      <p:sp>
        <p:nvSpPr>
          <p:cNvPr id="24" name="Text 22"/>
          <p:cNvSpPr txBox="1"/>
          <p:nvPr/>
        </p:nvSpPr>
        <p:spPr>
          <a:xfrm>
            <a:off x="9223781" y="3657600"/>
            <a:ext cx="2236394" cy="228600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Toileting, continence, walking, transferring, and eating.</a:t>
            </a:r>
            <a:endParaRPr lang="en-US" sz="1700" dirty="0"/>
          </a:p>
        </p:txBody>
      </p:sp>
      <p:pic>
        <p:nvPicPr>
          <p:cNvPr id="25"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6" name="Text 23"/>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27" name="Text 2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Common Changes and How to Address Them</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80409"/>
                <a:gridCol w="4136901"/>
                <a:gridCol w="5077105"/>
              </a:tblGrid>
              <a:tr h="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Area</a:t>
                      </a:r>
                      <a:endParaRPr lang="en-US" sz="17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Common Changes</a:t>
                      </a:r>
                      <a:endParaRPr lang="en-US" sz="17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Strategies to Suggest</a:t>
                      </a:r>
                      <a:endParaRPr lang="en-US" sz="17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Bathing</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Fear of water, refusing, forgetting to bathe, fall risk</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Shower chair, grab bars, handheld shower, warm room, towel for privacy, follow lifelong routine</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Dressing</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Wrong order, wearing the same clothes, weather-inappropriate</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Lay out clothes in order, limit choices, easy fasteners, remove out-of-season clothing</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Eating</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Forgetting to eat, weight loss, difficulty with utensils, swallowing problems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Finger foods, contrasting plate colors, eat together; report weight loss or coughing</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Toileting</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Accidents, not finding the bathroom, constipation</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Scheduled bathroom trips, signage and night lights, easy clothing; report changes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Mobility</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Unsteady gait, falls, difficulty with transfers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Remove trip hazards, proper footwear; request PT/OT evaluation</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Finances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Unpaid bills, scams, unusual purchases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Automatic bill pay, trusted person oversight, financial power of attorney</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bl>
          </a:graphicData>
        </a:graphic>
      </p:graphicFrame>
      <p:pic>
        <p:nvPicPr>
          <p:cNvPr id="4"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5" name="Text 1"/>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6" name="Text 2"/>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Nutrition and Hydration</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Common problems: </a:t>
            </a:r>
            <a:r>
              <a:rPr lang="en-US" sz="1800" dirty="0">
                <a:solidFill>
                  <a:srgbClr val="24302D"/>
                </a:solidFill>
                <a:latin typeface="Calibri" pitchFamily="34" charset="0"/>
                <a:ea typeface="Calibri" pitchFamily="34" charset="-122"/>
                <a:cs typeface="Calibri" pitchFamily="34" charset="-120"/>
              </a:rPr>
              <a:t>forgetting to eat, eating the same foods, difficulty with utensils, reduced thirst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Make meals easier: </a:t>
            </a:r>
            <a:r>
              <a:rPr lang="en-US" sz="1800" dirty="0">
                <a:solidFill>
                  <a:srgbClr val="24302D"/>
                </a:solidFill>
                <a:latin typeface="Calibri" pitchFamily="34" charset="0"/>
                <a:ea typeface="Calibri" pitchFamily="34" charset="-122"/>
                <a:cs typeface="Calibri" pitchFamily="34" charset="-120"/>
              </a:rPr>
              <a:t>finger foods, one or two items at a time, contrasting plate colors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Eat together: </a:t>
            </a:r>
            <a:r>
              <a:rPr lang="en-US" sz="1800" dirty="0">
                <a:solidFill>
                  <a:srgbClr val="24302D"/>
                </a:solidFill>
                <a:latin typeface="Calibri" pitchFamily="34" charset="0"/>
                <a:ea typeface="Calibri" pitchFamily="34" charset="-122"/>
                <a:cs typeface="Calibri" pitchFamily="34" charset="-120"/>
              </a:rPr>
              <a:t>people often eat better with company and by mirroring others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Offer fluids often: </a:t>
            </a:r>
            <a:r>
              <a:rPr lang="en-US" sz="1800" dirty="0">
                <a:solidFill>
                  <a:srgbClr val="24302D"/>
                </a:solidFill>
                <a:latin typeface="Calibri" pitchFamily="34" charset="0"/>
                <a:ea typeface="Calibri" pitchFamily="34" charset="-122"/>
                <a:cs typeface="Calibri" pitchFamily="34" charset="-120"/>
              </a:rPr>
              <a:t>water, juice, soups, and foods with high water content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Watch for red flags: </a:t>
            </a:r>
            <a:r>
              <a:rPr lang="en-US" sz="1800" dirty="0">
                <a:solidFill>
                  <a:srgbClr val="24302D"/>
                </a:solidFill>
                <a:latin typeface="Calibri" pitchFamily="34" charset="0"/>
                <a:ea typeface="Calibri" pitchFamily="34" charset="-122"/>
                <a:cs typeface="Calibri" pitchFamily="34" charset="-120"/>
              </a:rPr>
              <a:t>weight loss, coughing or choking, pocketing food, dark urine</a:t>
            </a:r>
            <a:endParaRPr lang="en-US" sz="1800" dirty="0"/>
          </a:p>
        </p:txBody>
      </p:sp>
      <p:sp>
        <p:nvSpPr>
          <p:cNvPr id="4" name="Shape 2"/>
          <p:cNvSpPr/>
          <p:nvPr/>
        </p:nvSpPr>
        <p:spPr>
          <a:xfrm>
            <a:off x="7589520" y="1417320"/>
            <a:ext cx="4053535" cy="3159760"/>
          </a:xfrm>
          <a:prstGeom prst="roundRect">
            <a:avLst>
              <a:gd name="adj" fmla="val 3473"/>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Report to the clinician</a:t>
            </a:r>
            <a:endParaRPr lang="en-US" sz="1800" dirty="0"/>
          </a:p>
        </p:txBody>
      </p:sp>
      <p:sp>
        <p:nvSpPr>
          <p:cNvPr id="7" name="Text 4"/>
          <p:cNvSpPr txBox="1"/>
          <p:nvPr/>
        </p:nvSpPr>
        <p:spPr>
          <a:xfrm>
            <a:off x="7863840" y="2423160"/>
            <a:ext cx="3504895" cy="206248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Unintended weight loss</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Coughing or choking during meals</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Signs of dehydration</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Mouth or dental pain</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Continence Care with Dignity</a:t>
            </a:r>
            <a:endParaRPr lang="en-US" sz="3000" dirty="0"/>
          </a:p>
        </p:txBody>
      </p:sp>
      <p:sp>
        <p:nvSpPr>
          <p:cNvPr id="3" name="Text 1"/>
          <p:cNvSpPr txBox="1"/>
          <p:nvPr/>
        </p:nvSpPr>
        <p:spPr>
          <a:xfrm>
            <a:off x="548640" y="1417320"/>
            <a:ext cx="8961120" cy="4709160"/>
          </a:xfrm>
          <a:prstGeom prst="rect">
            <a:avLst/>
          </a:prstGeom>
          <a:noFill/>
          <a:ln/>
        </p:spPr>
        <p:txBody>
          <a:bodyPr wrap="square" lIns="0" tIns="0" rIns="0" bIns="0" rtlCol="0" anchor="t"/>
          <a:lstStyle/>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New incontinence </a:t>
            </a:r>
            <a:r>
              <a:rPr lang="en-US" sz="1900" dirty="0">
                <a:solidFill>
                  <a:srgbClr val="24302D"/>
                </a:solidFill>
                <a:latin typeface="Calibri" pitchFamily="34" charset="0"/>
                <a:ea typeface="Calibri" pitchFamily="34" charset="-122"/>
                <a:cs typeface="Calibri" pitchFamily="34" charset="-120"/>
              </a:rPr>
              <a:t>can have a treatable cause such as infection, constipation, or medication — report it</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Scheduled bathroom trips </a:t>
            </a:r>
            <a:r>
              <a:rPr lang="en-US" sz="1900" dirty="0">
                <a:solidFill>
                  <a:srgbClr val="24302D"/>
                </a:solidFill>
                <a:latin typeface="Calibri" pitchFamily="34" charset="0"/>
                <a:ea typeface="Calibri" pitchFamily="34" charset="-122"/>
                <a:cs typeface="Calibri" pitchFamily="34" charset="-120"/>
              </a:rPr>
              <a:t>every two to three hours and before and after meals</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Make the bathroom easy to find: </a:t>
            </a:r>
            <a:r>
              <a:rPr lang="en-US" sz="1900" dirty="0">
                <a:solidFill>
                  <a:srgbClr val="24302D"/>
                </a:solidFill>
                <a:latin typeface="Calibri" pitchFamily="34" charset="0"/>
                <a:ea typeface="Calibri" pitchFamily="34" charset="-122"/>
                <a:cs typeface="Calibri" pitchFamily="34" charset="-120"/>
              </a:rPr>
              <a:t>signs, a picture on the door, night lights, door left open</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Easy clothing: </a:t>
            </a:r>
            <a:r>
              <a:rPr lang="en-US" sz="1900" dirty="0">
                <a:solidFill>
                  <a:srgbClr val="24302D"/>
                </a:solidFill>
                <a:latin typeface="Calibri" pitchFamily="34" charset="0"/>
                <a:ea typeface="Calibri" pitchFamily="34" charset="-122"/>
                <a:cs typeface="Calibri" pitchFamily="34" charset="-120"/>
              </a:rPr>
              <a:t>elastic waists and simple fasteners</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Watch for nonverbal cues: </a:t>
            </a:r>
            <a:r>
              <a:rPr lang="en-US" sz="1900" dirty="0">
                <a:solidFill>
                  <a:srgbClr val="24302D"/>
                </a:solidFill>
                <a:latin typeface="Calibri" pitchFamily="34" charset="0"/>
                <a:ea typeface="Calibri" pitchFamily="34" charset="-122"/>
                <a:cs typeface="Calibri" pitchFamily="34" charset="-120"/>
              </a:rPr>
              <a:t>restlessness, tugging at clothes, or pacing</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Protect skin and dignity: </a:t>
            </a:r>
            <a:r>
              <a:rPr lang="en-US" sz="1900" dirty="0">
                <a:solidFill>
                  <a:srgbClr val="24302D"/>
                </a:solidFill>
                <a:latin typeface="Calibri" pitchFamily="34" charset="0"/>
                <a:ea typeface="Calibri" pitchFamily="34" charset="-122"/>
                <a:cs typeface="Calibri" pitchFamily="34" charset="-120"/>
              </a:rPr>
              <a:t>prompt changes, gentle cleansing, private and matter-of-fact language</a:t>
            </a:r>
            <a:endParaRPr lang="en-US" sz="1900" dirty="0"/>
          </a:p>
        </p:txBody>
      </p:sp>
      <p:pic>
        <p:nvPicPr>
          <p:cNvPr id="4" name="Image 0" descr="preencoded.png">    </p:cNvPr>
          <p:cNvPicPr>
            <a:picLocks noChangeAspect="1"/>
          </p:cNvPicPr>
          <p:nvPr/>
        </p:nvPicPr>
        <p:blipFill>
          <a:blip r:embed="rId1">
            <a:alphaModFix amt="85000"/>
          </a:blip>
          <a:stretch>
            <a:fillRect/>
          </a:stretch>
        </p:blipFill>
        <p:spPr>
          <a:xfrm>
            <a:off x="10012680" y="3291840"/>
            <a:ext cx="1920240" cy="2432304"/>
          </a:xfrm>
          <a:prstGeom prst="rect">
            <a:avLst/>
          </a:prstGeom>
        </p:spPr>
      </p:pic>
      <p:pic>
        <p:nvPicPr>
          <p:cNvPr id="5"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6" name="Text 2"/>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7" name="Text 3"/>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8138160" y="548640"/>
            <a:ext cx="4206240" cy="5330952"/>
          </a:xfrm>
          <a:prstGeom prst="rect">
            <a:avLst/>
          </a:prstGeom>
        </p:spPr>
      </p:pic>
      <p:sp>
        <p:nvSpPr>
          <p:cNvPr id="3" name="Text 0"/>
          <p:cNvSpPr txBox="1"/>
          <p:nvPr/>
        </p:nvSpPr>
        <p:spPr>
          <a:xfrm>
            <a:off x="731520" y="1188720"/>
            <a:ext cx="2743200" cy="1371600"/>
          </a:xfrm>
          <a:prstGeom prst="rect">
            <a:avLst/>
          </a:prstGeom>
          <a:noFill/>
          <a:ln/>
        </p:spPr>
        <p:txBody>
          <a:bodyPr wrap="square" lIns="0" tIns="0" rIns="0" bIns="0" rtlCol="0" anchor="t"/>
          <a:lstStyle/>
          <a:p>
            <a:pPr indent="0" marL="0">
              <a:buNone/>
            </a:pPr>
            <a:r>
              <a:rPr lang="en-US" sz="8800" b="1" dirty="0">
                <a:solidFill>
                  <a:srgbClr val="F8CB27"/>
                </a:solidFill>
                <a:latin typeface="Cambria" pitchFamily="34" charset="0"/>
                <a:ea typeface="Cambria" pitchFamily="34" charset="-122"/>
                <a:cs typeface="Cambria" pitchFamily="34" charset="-120"/>
              </a:rPr>
              <a:t>02</a:t>
            </a:r>
            <a:endParaRPr lang="en-US" sz="8800" dirty="0"/>
          </a:p>
        </p:txBody>
      </p:sp>
      <p:sp>
        <p:nvSpPr>
          <p:cNvPr id="4" name="Text 1"/>
          <p:cNvSpPr txBox="1"/>
          <p:nvPr/>
        </p:nvSpPr>
        <p:spPr>
          <a:xfrm>
            <a:off x="731520" y="2103120"/>
            <a:ext cx="7132320" cy="1783080"/>
          </a:xfrm>
          <a:prstGeom prst="rect">
            <a:avLst/>
          </a:prstGeom>
          <a:noFill/>
          <a:ln/>
        </p:spPr>
        <p:txBody>
          <a:bodyPr wrap="square" lIns="0" tIns="0" rIns="0" bIns="0"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Medication Management</a:t>
            </a:r>
            <a:endParaRPr lang="en-US" sz="3800" dirty="0"/>
          </a:p>
        </p:txBody>
      </p:sp>
      <p:sp>
        <p:nvSpPr>
          <p:cNvPr id="5" name="Text 2"/>
          <p:cNvSpPr txBox="1"/>
          <p:nvPr/>
        </p:nvSpPr>
        <p:spPr>
          <a:xfrm>
            <a:off x="731520" y="3977640"/>
            <a:ext cx="6949440" cy="91440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Monitoring medications and maintaining a medication schedule</a:t>
            </a:r>
            <a:endParaRPr lang="en-US" sz="1800" dirty="0"/>
          </a:p>
        </p:txBody>
      </p:sp>
      <p:pic>
        <p:nvPicPr>
          <p:cNvPr id="6" name="Image 1" descr="preencoded.png">    </p:cNvPr>
          <p:cNvPicPr>
            <a:picLocks noChangeAspect="1"/>
          </p:cNvPicPr>
          <p:nvPr/>
        </p:nvPicPr>
        <p:blipFill>
          <a:blip r:embed="rId2"/>
          <a:stretch>
            <a:fillRect/>
          </a:stretch>
        </p:blipFill>
        <p:spPr>
          <a:xfrm>
            <a:off x="548640" y="6382512"/>
            <a:ext cx="219456" cy="219456"/>
          </a:xfrm>
          <a:prstGeom prst="rect">
            <a:avLst/>
          </a:prstGeom>
        </p:spPr>
      </p:pic>
      <p:sp>
        <p:nvSpPr>
          <p:cNvPr id="7" name="Text 3"/>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4</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Why Medications Are High-Risk in Dementia</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Missed or doubled doses </a:t>
            </a:r>
            <a:r>
              <a:rPr lang="en-US" sz="1800" dirty="0">
                <a:solidFill>
                  <a:srgbClr val="24302D"/>
                </a:solidFill>
                <a:latin typeface="Calibri" pitchFamily="34" charset="0"/>
                <a:ea typeface="Calibri" pitchFamily="34" charset="-122"/>
                <a:cs typeface="Calibri" pitchFamily="34" charset="-120"/>
              </a:rPr>
              <a:t>when the person forgets whether they took them</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Polypharmacy: </a:t>
            </a:r>
            <a:r>
              <a:rPr lang="en-US" sz="1800" dirty="0">
                <a:solidFill>
                  <a:srgbClr val="24302D"/>
                </a:solidFill>
                <a:latin typeface="Calibri" pitchFamily="34" charset="0"/>
                <a:ea typeface="Calibri" pitchFamily="34" charset="-122"/>
                <a:cs typeface="Calibri" pitchFamily="34" charset="-120"/>
              </a:rPr>
              <a:t>many people take multiple medications from several prescribers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Some medications worsen confusion, </a:t>
            </a:r>
            <a:r>
              <a:rPr lang="en-US" sz="1800" dirty="0">
                <a:solidFill>
                  <a:srgbClr val="24302D"/>
                </a:solidFill>
                <a:latin typeface="Calibri" pitchFamily="34" charset="0"/>
                <a:ea typeface="Calibri" pitchFamily="34" charset="-122"/>
                <a:cs typeface="Calibri" pitchFamily="34" charset="-120"/>
              </a:rPr>
              <a:t>including sleep aids, certain allergy and bladder medicines, and sedatives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Side effects may go unreported </a:t>
            </a:r>
            <a:r>
              <a:rPr lang="en-US" sz="1800" dirty="0">
                <a:solidFill>
                  <a:srgbClr val="24302D"/>
                </a:solidFill>
                <a:latin typeface="Calibri" pitchFamily="34" charset="0"/>
                <a:ea typeface="Calibri" pitchFamily="34" charset="-122"/>
                <a:cs typeface="Calibri" pitchFamily="34" charset="-120"/>
              </a:rPr>
              <a:t>or show up as falls, sleepiness, or behavior change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Transitions </a:t>
            </a:r>
            <a:r>
              <a:rPr lang="en-US" sz="1800" dirty="0">
                <a:solidFill>
                  <a:srgbClr val="24302D"/>
                </a:solidFill>
                <a:latin typeface="Calibri" pitchFamily="34" charset="0"/>
                <a:ea typeface="Calibri" pitchFamily="34" charset="-122"/>
                <a:cs typeface="Calibri" pitchFamily="34" charset="-120"/>
              </a:rPr>
              <a:t>(hospital, rehab) often change medications without the family understanding why</a:t>
            </a:r>
            <a:endParaRPr lang="en-US" sz="1800" dirty="0"/>
          </a:p>
        </p:txBody>
      </p:sp>
      <p:sp>
        <p:nvSpPr>
          <p:cNvPr id="4" name="Shape 2"/>
          <p:cNvSpPr/>
          <p:nvPr/>
        </p:nvSpPr>
        <p:spPr>
          <a:xfrm>
            <a:off x="7589520" y="1417320"/>
            <a:ext cx="4053535" cy="4572000"/>
          </a:xfrm>
          <a:prstGeom prst="roundRect">
            <a:avLst>
              <a:gd name="adj" fmla="val 2707"/>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Warning signs to report</a:t>
            </a:r>
            <a:endParaRPr lang="en-US" sz="1800" dirty="0"/>
          </a:p>
        </p:txBody>
      </p:sp>
      <p:sp>
        <p:nvSpPr>
          <p:cNvPr id="7" name="Text 4"/>
          <p:cNvSpPr txBox="1"/>
          <p:nvPr/>
        </p:nvSpPr>
        <p:spPr>
          <a:xfrm>
            <a:off x="7863840" y="2423160"/>
            <a:ext cx="3504895" cy="34747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Pill bottles emptier or fuller than expected</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Pills found on the floor or in pockets</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New dizziness, falls, or sleepiness</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New confusion or agitation</a:t>
            </a:r>
            <a:endParaRPr lang="en-US" sz="1600" dirty="0"/>
          </a:p>
          <a:p>
            <a:pPr marL="203200" indent="-203200">
              <a:spcAft>
                <a:spcPts val="800"/>
              </a:spcAft>
              <a:buSzPct val="100000"/>
              <a:buChar char="•"/>
            </a:pPr>
            <a:r>
              <a:rPr lang="en-US" sz="1600" dirty="0">
                <a:solidFill>
                  <a:srgbClr val="24302D"/>
                </a:solidFill>
                <a:latin typeface="Calibri" pitchFamily="34" charset="0"/>
                <a:ea typeface="Calibri" pitchFamily="34" charset="-122"/>
                <a:cs typeface="Calibri" pitchFamily="34" charset="-120"/>
              </a:rPr>
              <a:t>Duplicate bottles of the same medication</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Tools That Support Safe Medication Use</a:t>
            </a:r>
            <a:endParaRPr lang="en-US" sz="3000" dirty="0"/>
          </a:p>
        </p:txBody>
      </p:sp>
      <p:sp>
        <p:nvSpPr>
          <p:cNvPr id="3" name="Shape 1"/>
          <p:cNvSpPr/>
          <p:nvPr/>
        </p:nvSpPr>
        <p:spPr>
          <a:xfrm>
            <a:off x="548640" y="1417320"/>
            <a:ext cx="351525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Weekly Pill Organizers</a:t>
            </a:r>
            <a:endParaRPr lang="en-US" sz="1700" dirty="0"/>
          </a:p>
        </p:txBody>
      </p:sp>
      <p:sp>
        <p:nvSpPr>
          <p:cNvPr id="6" name="Text 3"/>
          <p:cNvSpPr txBox="1"/>
          <p:nvPr/>
        </p:nvSpPr>
        <p:spPr>
          <a:xfrm>
            <a:off x="768096"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Filled by the caregiver or a nurse; easy to see if a dose was missed.</a:t>
            </a:r>
            <a:endParaRPr lang="en-US" sz="1650" dirty="0"/>
          </a:p>
        </p:txBody>
      </p:sp>
      <p:sp>
        <p:nvSpPr>
          <p:cNvPr id="7" name="Shape 4"/>
          <p:cNvSpPr/>
          <p:nvPr/>
        </p:nvSpPr>
        <p:spPr>
          <a:xfrm>
            <a:off x="4338218" y="1417320"/>
            <a:ext cx="351525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4539386" y="1618488"/>
            <a:ext cx="420624" cy="420624"/>
          </a:xfrm>
          <a:prstGeom prst="rect">
            <a:avLst/>
          </a:prstGeom>
        </p:spPr>
      </p:pic>
      <p:sp>
        <p:nvSpPr>
          <p:cNvPr id="9" name="Text 5"/>
          <p:cNvSpPr txBox="1"/>
          <p:nvPr/>
        </p:nvSpPr>
        <p:spPr>
          <a:xfrm>
            <a:off x="5088026"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Pharmacy Blister Packs</a:t>
            </a:r>
            <a:endParaRPr lang="en-US" sz="1700" dirty="0"/>
          </a:p>
        </p:txBody>
      </p:sp>
      <p:sp>
        <p:nvSpPr>
          <p:cNvPr id="10" name="Text 6"/>
          <p:cNvSpPr txBox="1"/>
          <p:nvPr/>
        </p:nvSpPr>
        <p:spPr>
          <a:xfrm>
            <a:off x="4557674"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Pre-sorted by date and time; ask the pharmacy about packaging services.</a:t>
            </a:r>
            <a:endParaRPr lang="en-US" sz="1650" dirty="0"/>
          </a:p>
        </p:txBody>
      </p:sp>
      <p:sp>
        <p:nvSpPr>
          <p:cNvPr id="11" name="Shape 7"/>
          <p:cNvSpPr/>
          <p:nvPr/>
        </p:nvSpPr>
        <p:spPr>
          <a:xfrm>
            <a:off x="8127797" y="1417320"/>
            <a:ext cx="351525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8328965" y="1618488"/>
            <a:ext cx="420624" cy="420624"/>
          </a:xfrm>
          <a:prstGeom prst="rect">
            <a:avLst/>
          </a:prstGeom>
        </p:spPr>
      </p:pic>
      <p:sp>
        <p:nvSpPr>
          <p:cNvPr id="13" name="Text 8"/>
          <p:cNvSpPr txBox="1"/>
          <p:nvPr/>
        </p:nvSpPr>
        <p:spPr>
          <a:xfrm>
            <a:off x="8877605"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Locked Automatic Dispensers</a:t>
            </a:r>
            <a:endParaRPr lang="en-US" sz="1700" dirty="0"/>
          </a:p>
        </p:txBody>
      </p:sp>
      <p:sp>
        <p:nvSpPr>
          <p:cNvPr id="14" name="Text 9"/>
          <p:cNvSpPr txBox="1"/>
          <p:nvPr/>
        </p:nvSpPr>
        <p:spPr>
          <a:xfrm>
            <a:off x="8347253"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Release only the scheduled dose, with alarms; helpful for people who live alone.</a:t>
            </a:r>
            <a:endParaRPr lang="en-US" sz="1650" dirty="0"/>
          </a:p>
        </p:txBody>
      </p:sp>
      <p:sp>
        <p:nvSpPr>
          <p:cNvPr id="15" name="Shape 10"/>
          <p:cNvSpPr/>
          <p:nvPr/>
        </p:nvSpPr>
        <p:spPr>
          <a:xfrm>
            <a:off x="548640" y="3909060"/>
            <a:ext cx="351525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749808" y="4110228"/>
            <a:ext cx="420624" cy="420624"/>
          </a:xfrm>
          <a:prstGeom prst="rect">
            <a:avLst/>
          </a:prstGeom>
        </p:spPr>
      </p:pic>
      <p:sp>
        <p:nvSpPr>
          <p:cNvPr id="17" name="Text 11"/>
          <p:cNvSpPr txBox="1"/>
          <p:nvPr/>
        </p:nvSpPr>
        <p:spPr>
          <a:xfrm>
            <a:off x="1298448"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Simplified Regimens</a:t>
            </a:r>
            <a:endParaRPr lang="en-US" sz="1700" dirty="0"/>
          </a:p>
        </p:txBody>
      </p:sp>
      <p:sp>
        <p:nvSpPr>
          <p:cNvPr id="18" name="Text 12"/>
          <p:cNvSpPr txBox="1"/>
          <p:nvPr/>
        </p:nvSpPr>
        <p:spPr>
          <a:xfrm>
            <a:off x="768096"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Ask the clinician whether doses can be consolidated or medications stopped.</a:t>
            </a:r>
            <a:endParaRPr lang="en-US" sz="1650" dirty="0"/>
          </a:p>
        </p:txBody>
      </p:sp>
      <p:sp>
        <p:nvSpPr>
          <p:cNvPr id="19" name="Shape 13"/>
          <p:cNvSpPr/>
          <p:nvPr/>
        </p:nvSpPr>
        <p:spPr>
          <a:xfrm>
            <a:off x="4338218" y="3909060"/>
            <a:ext cx="3515258" cy="2217420"/>
          </a:xfrm>
          <a:prstGeom prst="roundRect">
            <a:avLst>
              <a:gd name="adj" fmla="val 4948"/>
            </a:avLst>
          </a:prstGeom>
          <a:solidFill>
            <a:srgbClr val="E8F1EF"/>
          </a:solidFill>
          <a:ln w="12700">
            <a:solidFill>
              <a:srgbClr val="E8F1EF"/>
            </a:solidFill>
            <a:prstDash val="solid"/>
          </a:ln>
        </p:spPr>
      </p:sp>
      <p:pic>
        <p:nvPicPr>
          <p:cNvPr id="20" name="Image 4" descr="preencoded.png">    </p:cNvPr>
          <p:cNvPicPr>
            <a:picLocks noChangeAspect="1"/>
          </p:cNvPicPr>
          <p:nvPr/>
        </p:nvPicPr>
        <p:blipFill>
          <a:blip r:embed="rId5"/>
          <a:stretch>
            <a:fillRect/>
          </a:stretch>
        </p:blipFill>
        <p:spPr>
          <a:xfrm>
            <a:off x="4539386" y="4110228"/>
            <a:ext cx="420624" cy="420624"/>
          </a:xfrm>
          <a:prstGeom prst="rect">
            <a:avLst/>
          </a:prstGeom>
        </p:spPr>
      </p:pic>
      <p:sp>
        <p:nvSpPr>
          <p:cNvPr id="21" name="Text 14"/>
          <p:cNvSpPr txBox="1"/>
          <p:nvPr/>
        </p:nvSpPr>
        <p:spPr>
          <a:xfrm>
            <a:off x="5088026"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Accurate Medication List</a:t>
            </a:r>
            <a:endParaRPr lang="en-US" sz="1700" dirty="0"/>
          </a:p>
        </p:txBody>
      </p:sp>
      <p:sp>
        <p:nvSpPr>
          <p:cNvPr id="22" name="Text 15"/>
          <p:cNvSpPr txBox="1"/>
          <p:nvPr/>
        </p:nvSpPr>
        <p:spPr>
          <a:xfrm>
            <a:off x="4557674"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One up-to-date list, kept in the home and shared with all providers.</a:t>
            </a:r>
            <a:endParaRPr lang="en-US" sz="1650" dirty="0"/>
          </a:p>
        </p:txBody>
      </p:sp>
      <p:sp>
        <p:nvSpPr>
          <p:cNvPr id="23" name="Shape 16"/>
          <p:cNvSpPr/>
          <p:nvPr/>
        </p:nvSpPr>
        <p:spPr>
          <a:xfrm>
            <a:off x="8127797" y="3909060"/>
            <a:ext cx="3515258" cy="2217420"/>
          </a:xfrm>
          <a:prstGeom prst="roundRect">
            <a:avLst>
              <a:gd name="adj" fmla="val 4948"/>
            </a:avLst>
          </a:prstGeom>
          <a:solidFill>
            <a:srgbClr val="E8F1EF"/>
          </a:solidFill>
          <a:ln w="12700">
            <a:solidFill>
              <a:srgbClr val="E8F1EF"/>
            </a:solidFill>
            <a:prstDash val="solid"/>
          </a:ln>
        </p:spPr>
      </p:sp>
      <p:pic>
        <p:nvPicPr>
          <p:cNvPr id="24" name="Image 5" descr="preencoded.png">    </p:cNvPr>
          <p:cNvPicPr>
            <a:picLocks noChangeAspect="1"/>
          </p:cNvPicPr>
          <p:nvPr/>
        </p:nvPicPr>
        <p:blipFill>
          <a:blip r:embed="rId6"/>
          <a:stretch>
            <a:fillRect/>
          </a:stretch>
        </p:blipFill>
        <p:spPr>
          <a:xfrm>
            <a:off x="8328965" y="4110228"/>
            <a:ext cx="420624" cy="420624"/>
          </a:xfrm>
          <a:prstGeom prst="rect">
            <a:avLst/>
          </a:prstGeom>
        </p:spPr>
      </p:pic>
      <p:sp>
        <p:nvSpPr>
          <p:cNvPr id="25" name="Text 17"/>
          <p:cNvSpPr txBox="1"/>
          <p:nvPr/>
        </p:nvSpPr>
        <p:spPr>
          <a:xfrm>
            <a:off x="8877605"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Supervised Administration</a:t>
            </a:r>
            <a:endParaRPr lang="en-US" sz="1700" dirty="0"/>
          </a:p>
        </p:txBody>
      </p:sp>
      <p:sp>
        <p:nvSpPr>
          <p:cNvPr id="26" name="Text 18"/>
          <p:cNvSpPr txBox="1"/>
          <p:nvPr/>
        </p:nvSpPr>
        <p:spPr>
          <a:xfrm>
            <a:off x="8347253"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The caregiver hands each dose and watches it being taken.</a:t>
            </a:r>
            <a:endParaRPr lang="en-US" sz="1650" dirty="0"/>
          </a:p>
        </p:txBody>
      </p:sp>
      <p:pic>
        <p:nvPicPr>
          <p:cNvPr id="27" name="Image 6" descr="preencoded.png">    </p:cNvPr>
          <p:cNvPicPr>
            <a:picLocks noChangeAspect="1"/>
          </p:cNvPicPr>
          <p:nvPr/>
        </p:nvPicPr>
        <p:blipFill>
          <a:blip r:embed="rId7"/>
          <a:stretch>
            <a:fillRect/>
          </a:stretch>
        </p:blipFill>
        <p:spPr>
          <a:xfrm>
            <a:off x="548640" y="6309360"/>
            <a:ext cx="874762" cy="365760"/>
          </a:xfrm>
          <a:prstGeom prst="rect">
            <a:avLst/>
          </a:prstGeom>
        </p:spPr>
      </p:pic>
      <p:sp>
        <p:nvSpPr>
          <p:cNvPr id="28" name="Text 1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29" name="Text 2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Monitoring and Maintaining a Medication Schedule</a:t>
            </a:r>
            <a:endParaRPr lang="en-US" sz="3000" dirty="0"/>
          </a:p>
        </p:txBody>
      </p:sp>
      <p:sp>
        <p:nvSpPr>
          <p:cNvPr id="3" name="Shape 1"/>
          <p:cNvSpPr/>
          <p:nvPr/>
        </p:nvSpPr>
        <p:spPr>
          <a:xfrm>
            <a:off x="1566642" y="1874520"/>
            <a:ext cx="9058412" cy="0"/>
          </a:xfrm>
          <a:prstGeom prst="line">
            <a:avLst/>
          </a:prstGeom>
          <a:noFill/>
          <a:ln w="38100">
            <a:solidFill>
              <a:srgbClr val="C9DEDA"/>
            </a:solidFill>
            <a:prstDash val="solid"/>
          </a:ln>
        </p:spPr>
      </p:sp>
      <p:sp>
        <p:nvSpPr>
          <p:cNvPr id="4" name="Shape 2"/>
          <p:cNvSpPr/>
          <p:nvPr/>
        </p:nvSpPr>
        <p:spPr>
          <a:xfrm>
            <a:off x="1200882" y="1508760"/>
            <a:ext cx="731520" cy="731520"/>
          </a:xfrm>
          <a:prstGeom prst="ellipse">
            <a:avLst/>
          </a:prstGeom>
          <a:solidFill>
            <a:srgbClr val="28695F"/>
          </a:solidFill>
          <a:ln w="12700">
            <a:solidFill>
              <a:srgbClr val="28695F"/>
            </a:solidFill>
            <a:prstDash val="solid"/>
          </a:ln>
        </p:spPr>
      </p:sp>
      <p:sp>
        <p:nvSpPr>
          <p:cNvPr id="5" name="Text 3"/>
          <p:cNvSpPr txBox="1"/>
          <p:nvPr/>
        </p:nvSpPr>
        <p:spPr>
          <a:xfrm>
            <a:off x="1200882"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Shape 4"/>
          <p:cNvSpPr/>
          <p:nvPr/>
        </p:nvSpPr>
        <p:spPr>
          <a:xfrm>
            <a:off x="548640" y="2468880"/>
            <a:ext cx="2036003" cy="3657600"/>
          </a:xfrm>
          <a:prstGeom prst="roundRect">
            <a:avLst>
              <a:gd name="adj" fmla="val 5389"/>
            </a:avLst>
          </a:prstGeom>
          <a:solidFill>
            <a:srgbClr val="E8F1EF"/>
          </a:solidFill>
          <a:ln w="12700">
            <a:solidFill>
              <a:srgbClr val="E8F1EF"/>
            </a:solidFill>
            <a:prstDash val="solid"/>
          </a:ln>
        </p:spPr>
      </p:sp>
      <p:sp>
        <p:nvSpPr>
          <p:cNvPr id="7" name="Text 5"/>
          <p:cNvSpPr txBox="1"/>
          <p:nvPr/>
        </p:nvSpPr>
        <p:spPr>
          <a:xfrm>
            <a:off x="731520"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Reconcile</a:t>
            </a:r>
            <a:endParaRPr lang="en-US" sz="1600" dirty="0"/>
          </a:p>
        </p:txBody>
      </p:sp>
      <p:sp>
        <p:nvSpPr>
          <p:cNvPr id="8" name="Text 6"/>
          <p:cNvSpPr txBox="1"/>
          <p:nvPr/>
        </p:nvSpPr>
        <p:spPr>
          <a:xfrm>
            <a:off x="731520"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Compare every bottle in the home with the medication list at each visit and after any transition.</a:t>
            </a:r>
            <a:endParaRPr lang="en-US" sz="1700" dirty="0"/>
          </a:p>
        </p:txBody>
      </p:sp>
      <p:sp>
        <p:nvSpPr>
          <p:cNvPr id="9" name="Shape 7"/>
          <p:cNvSpPr/>
          <p:nvPr/>
        </p:nvSpPr>
        <p:spPr>
          <a:xfrm>
            <a:off x="3465485" y="1508760"/>
            <a:ext cx="731520" cy="731520"/>
          </a:xfrm>
          <a:prstGeom prst="ellipse">
            <a:avLst/>
          </a:prstGeom>
          <a:solidFill>
            <a:srgbClr val="C78F2E"/>
          </a:solidFill>
          <a:ln w="12700">
            <a:solidFill>
              <a:srgbClr val="C78F2E"/>
            </a:solidFill>
            <a:prstDash val="solid"/>
          </a:ln>
        </p:spPr>
      </p:sp>
      <p:sp>
        <p:nvSpPr>
          <p:cNvPr id="10" name="Text 8"/>
          <p:cNvSpPr txBox="1"/>
          <p:nvPr/>
        </p:nvSpPr>
        <p:spPr>
          <a:xfrm>
            <a:off x="3465485"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Shape 9"/>
          <p:cNvSpPr/>
          <p:nvPr/>
        </p:nvSpPr>
        <p:spPr>
          <a:xfrm>
            <a:off x="2813243" y="2468880"/>
            <a:ext cx="2036003" cy="3657600"/>
          </a:xfrm>
          <a:prstGeom prst="roundRect">
            <a:avLst>
              <a:gd name="adj" fmla="val 5389"/>
            </a:avLst>
          </a:prstGeom>
          <a:solidFill>
            <a:srgbClr val="E8F1EF"/>
          </a:solidFill>
          <a:ln w="12700">
            <a:solidFill>
              <a:srgbClr val="E8F1EF"/>
            </a:solidFill>
            <a:prstDash val="solid"/>
          </a:ln>
        </p:spPr>
      </p:sp>
      <p:sp>
        <p:nvSpPr>
          <p:cNvPr id="12" name="Text 10"/>
          <p:cNvSpPr txBox="1"/>
          <p:nvPr/>
        </p:nvSpPr>
        <p:spPr>
          <a:xfrm>
            <a:off x="2996123"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Anchor to Routine</a:t>
            </a:r>
            <a:endParaRPr lang="en-US" sz="1600" dirty="0"/>
          </a:p>
        </p:txBody>
      </p:sp>
      <p:sp>
        <p:nvSpPr>
          <p:cNvPr id="13" name="Text 11"/>
          <p:cNvSpPr txBox="1"/>
          <p:nvPr/>
        </p:nvSpPr>
        <p:spPr>
          <a:xfrm>
            <a:off x="2996123"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Tie doses to daily habits like breakfast or bedtime.</a:t>
            </a:r>
            <a:endParaRPr lang="en-US" sz="1700" dirty="0"/>
          </a:p>
        </p:txBody>
      </p:sp>
      <p:sp>
        <p:nvSpPr>
          <p:cNvPr id="14" name="Shape 12"/>
          <p:cNvSpPr/>
          <p:nvPr/>
        </p:nvSpPr>
        <p:spPr>
          <a:xfrm>
            <a:off x="5730088" y="1508760"/>
            <a:ext cx="731520" cy="731520"/>
          </a:xfrm>
          <a:prstGeom prst="ellipse">
            <a:avLst/>
          </a:prstGeom>
          <a:solidFill>
            <a:srgbClr val="28695F"/>
          </a:solidFill>
          <a:ln w="12700">
            <a:solidFill>
              <a:srgbClr val="28695F"/>
            </a:solidFill>
            <a:prstDash val="solid"/>
          </a:ln>
        </p:spPr>
      </p:sp>
      <p:sp>
        <p:nvSpPr>
          <p:cNvPr id="15" name="Text 13"/>
          <p:cNvSpPr txBox="1"/>
          <p:nvPr/>
        </p:nvSpPr>
        <p:spPr>
          <a:xfrm>
            <a:off x="5730088"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Shape 14"/>
          <p:cNvSpPr/>
          <p:nvPr/>
        </p:nvSpPr>
        <p:spPr>
          <a:xfrm>
            <a:off x="5077846" y="2468880"/>
            <a:ext cx="2036003" cy="3657600"/>
          </a:xfrm>
          <a:prstGeom prst="roundRect">
            <a:avLst>
              <a:gd name="adj" fmla="val 5389"/>
            </a:avLst>
          </a:prstGeom>
          <a:solidFill>
            <a:srgbClr val="E8F1EF"/>
          </a:solidFill>
          <a:ln w="12700">
            <a:solidFill>
              <a:srgbClr val="E8F1EF"/>
            </a:solidFill>
            <a:prstDash val="solid"/>
          </a:ln>
        </p:spPr>
      </p:sp>
      <p:sp>
        <p:nvSpPr>
          <p:cNvPr id="17" name="Text 15"/>
          <p:cNvSpPr txBox="1"/>
          <p:nvPr/>
        </p:nvSpPr>
        <p:spPr>
          <a:xfrm>
            <a:off x="5260726"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Check Adherence</a:t>
            </a:r>
            <a:endParaRPr lang="en-US" sz="1600" dirty="0"/>
          </a:p>
        </p:txBody>
      </p:sp>
      <p:sp>
        <p:nvSpPr>
          <p:cNvPr id="18" name="Text 16"/>
          <p:cNvSpPr txBox="1"/>
          <p:nvPr/>
        </p:nvSpPr>
        <p:spPr>
          <a:xfrm>
            <a:off x="5260726"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Look at the organizer, count pills when appropriate, and ask specific questions.</a:t>
            </a:r>
            <a:endParaRPr lang="en-US" sz="1700" dirty="0"/>
          </a:p>
        </p:txBody>
      </p:sp>
      <p:sp>
        <p:nvSpPr>
          <p:cNvPr id="19" name="Shape 17"/>
          <p:cNvSpPr/>
          <p:nvPr/>
        </p:nvSpPr>
        <p:spPr>
          <a:xfrm>
            <a:off x="7994691" y="1508760"/>
            <a:ext cx="731520" cy="731520"/>
          </a:xfrm>
          <a:prstGeom prst="ellipse">
            <a:avLst/>
          </a:prstGeom>
          <a:solidFill>
            <a:srgbClr val="C78F2E"/>
          </a:solidFill>
          <a:ln w="12700">
            <a:solidFill>
              <a:srgbClr val="C78F2E"/>
            </a:solidFill>
            <a:prstDash val="solid"/>
          </a:ln>
        </p:spPr>
      </p:sp>
      <p:sp>
        <p:nvSpPr>
          <p:cNvPr id="20" name="Text 18"/>
          <p:cNvSpPr txBox="1"/>
          <p:nvPr/>
        </p:nvSpPr>
        <p:spPr>
          <a:xfrm>
            <a:off x="7994691"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Shape 19"/>
          <p:cNvSpPr/>
          <p:nvPr/>
        </p:nvSpPr>
        <p:spPr>
          <a:xfrm>
            <a:off x="7342449" y="2468880"/>
            <a:ext cx="2036003" cy="3657600"/>
          </a:xfrm>
          <a:prstGeom prst="roundRect">
            <a:avLst>
              <a:gd name="adj" fmla="val 5389"/>
            </a:avLst>
          </a:prstGeom>
          <a:solidFill>
            <a:srgbClr val="E8F1EF"/>
          </a:solidFill>
          <a:ln w="12700">
            <a:solidFill>
              <a:srgbClr val="E8F1EF"/>
            </a:solidFill>
            <a:prstDash val="solid"/>
          </a:ln>
        </p:spPr>
      </p:sp>
      <p:sp>
        <p:nvSpPr>
          <p:cNvPr id="22" name="Text 20"/>
          <p:cNvSpPr txBox="1"/>
          <p:nvPr/>
        </p:nvSpPr>
        <p:spPr>
          <a:xfrm>
            <a:off x="7525329"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Watch for Effects</a:t>
            </a:r>
            <a:endParaRPr lang="en-US" sz="1600" dirty="0"/>
          </a:p>
        </p:txBody>
      </p:sp>
      <p:sp>
        <p:nvSpPr>
          <p:cNvPr id="23" name="Text 21"/>
          <p:cNvSpPr txBox="1"/>
          <p:nvPr/>
        </p:nvSpPr>
        <p:spPr>
          <a:xfrm>
            <a:off x="7525329"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Note sleepiness, dizziness, falls, appetite, and behavior changes.</a:t>
            </a:r>
            <a:endParaRPr lang="en-US" sz="1700" dirty="0"/>
          </a:p>
        </p:txBody>
      </p:sp>
      <p:sp>
        <p:nvSpPr>
          <p:cNvPr id="24" name="Shape 22"/>
          <p:cNvSpPr/>
          <p:nvPr/>
        </p:nvSpPr>
        <p:spPr>
          <a:xfrm>
            <a:off x="10259294" y="1508760"/>
            <a:ext cx="731520" cy="731520"/>
          </a:xfrm>
          <a:prstGeom prst="ellipse">
            <a:avLst/>
          </a:prstGeom>
          <a:solidFill>
            <a:srgbClr val="28695F"/>
          </a:solidFill>
          <a:ln w="12700">
            <a:solidFill>
              <a:srgbClr val="28695F"/>
            </a:solidFill>
            <a:prstDash val="solid"/>
          </a:ln>
        </p:spPr>
      </p:sp>
      <p:sp>
        <p:nvSpPr>
          <p:cNvPr id="25" name="Text 23"/>
          <p:cNvSpPr txBox="1"/>
          <p:nvPr/>
        </p:nvSpPr>
        <p:spPr>
          <a:xfrm>
            <a:off x="10259294"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6" name="Shape 24"/>
          <p:cNvSpPr/>
          <p:nvPr/>
        </p:nvSpPr>
        <p:spPr>
          <a:xfrm>
            <a:off x="9607052" y="2468880"/>
            <a:ext cx="2036003" cy="3657600"/>
          </a:xfrm>
          <a:prstGeom prst="roundRect">
            <a:avLst>
              <a:gd name="adj" fmla="val 5389"/>
            </a:avLst>
          </a:prstGeom>
          <a:solidFill>
            <a:srgbClr val="E8F1EF"/>
          </a:solidFill>
          <a:ln w="12700">
            <a:solidFill>
              <a:srgbClr val="E8F1EF"/>
            </a:solidFill>
            <a:prstDash val="solid"/>
          </a:ln>
        </p:spPr>
      </p:sp>
      <p:sp>
        <p:nvSpPr>
          <p:cNvPr id="27" name="Text 25"/>
          <p:cNvSpPr txBox="1"/>
          <p:nvPr/>
        </p:nvSpPr>
        <p:spPr>
          <a:xfrm>
            <a:off x="9789932"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Report &amp; Document</a:t>
            </a:r>
            <a:endParaRPr lang="en-US" sz="1600" dirty="0"/>
          </a:p>
        </p:txBody>
      </p:sp>
      <p:sp>
        <p:nvSpPr>
          <p:cNvPr id="28" name="Text 26"/>
          <p:cNvSpPr txBox="1"/>
          <p:nvPr/>
        </p:nvSpPr>
        <p:spPr>
          <a:xfrm>
            <a:off x="9789932"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Send discrepancies and concerns to the clinician promptly.</a:t>
            </a:r>
            <a:endParaRPr lang="en-US" sz="1700" dirty="0"/>
          </a:p>
        </p:txBody>
      </p:sp>
      <p:pic>
        <p:nvPicPr>
          <p:cNvPr id="29"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30" name="Text 27"/>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31" name="Text 2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Brown-Bag Medication Review</a:t>
            </a:r>
            <a:endParaRPr lang="en-US" sz="3000" dirty="0"/>
          </a:p>
        </p:txBody>
      </p:sp>
      <p:sp>
        <p:nvSpPr>
          <p:cNvPr id="3" name="Shape 1"/>
          <p:cNvSpPr/>
          <p:nvPr/>
        </p:nvSpPr>
        <p:spPr>
          <a:xfrm>
            <a:off x="548640" y="1417320"/>
            <a:ext cx="3566160" cy="4709160"/>
          </a:xfrm>
          <a:prstGeom prst="roundRect">
            <a:avLst>
              <a:gd name="adj" fmla="val 3077"/>
            </a:avLst>
          </a:prstGeom>
          <a:solidFill>
            <a:srgbClr val="F8EFDF"/>
          </a:solidFill>
          <a:ln w="12700">
            <a:solidFill>
              <a:srgbClr val="F8EFDF"/>
            </a:solidFill>
            <a:prstDash val="solid"/>
          </a:ln>
        </p:spPr>
      </p:sp>
      <p:sp>
        <p:nvSpPr>
          <p:cNvPr id="4" name="Shape 2"/>
          <p:cNvSpPr/>
          <p:nvPr/>
        </p:nvSpPr>
        <p:spPr>
          <a:xfrm>
            <a:off x="1691640" y="1783080"/>
            <a:ext cx="1280160" cy="1280160"/>
          </a:xfrm>
          <a:prstGeom prst="ellipse">
            <a:avLst/>
          </a:prstGeom>
          <a:solidFill>
            <a:srgbClr val="C78F2E"/>
          </a:solidFill>
          <a:ln w="12700">
            <a:solidFill>
              <a:srgbClr val="C78F2E"/>
            </a:solidFill>
            <a:prstDash val="solid"/>
          </a:ln>
        </p:spPr>
      </p:sp>
      <p:pic>
        <p:nvPicPr>
          <p:cNvPr id="5" name="Image 0" descr="preencoded.png">    </p:cNvPr>
          <p:cNvPicPr>
            <a:picLocks noChangeAspect="1"/>
          </p:cNvPicPr>
          <p:nvPr/>
        </p:nvPicPr>
        <p:blipFill>
          <a:blip r:embed="rId1"/>
          <a:stretch>
            <a:fillRect/>
          </a:stretch>
        </p:blipFill>
        <p:spPr>
          <a:xfrm>
            <a:off x="1965960" y="2057400"/>
            <a:ext cx="731520" cy="731520"/>
          </a:xfrm>
          <a:prstGeom prst="rect">
            <a:avLst/>
          </a:prstGeom>
        </p:spPr>
      </p:pic>
      <p:sp>
        <p:nvSpPr>
          <p:cNvPr id="6" name="Text 3"/>
          <p:cNvSpPr txBox="1"/>
          <p:nvPr/>
        </p:nvSpPr>
        <p:spPr>
          <a:xfrm>
            <a:off x="548640" y="3246120"/>
            <a:ext cx="3566160" cy="320040"/>
          </a:xfrm>
          <a:prstGeom prst="rect">
            <a:avLst/>
          </a:prstGeom>
          <a:noFill/>
          <a:ln/>
        </p:spPr>
        <p:txBody>
          <a:bodyPr wrap="square" lIns="0" tIns="0" rIns="0" bIns="0" rtlCol="0" anchor="t"/>
          <a:lstStyle/>
          <a:p>
            <a:pPr algn="ctr" indent="0" marL="0">
              <a:buNone/>
            </a:pPr>
            <a:r>
              <a:rPr lang="en-US" sz="1200" b="1" spc="300" kern="0" dirty="0">
                <a:solidFill>
                  <a:srgbClr val="C78F2E"/>
                </a:solidFill>
                <a:latin typeface="Calibri" pitchFamily="34" charset="0"/>
                <a:ea typeface="Calibri" pitchFamily="34" charset="-122"/>
                <a:cs typeface="Calibri" pitchFamily="34" charset="-120"/>
              </a:rPr>
              <a:t>ACTIVITY</a:t>
            </a:r>
            <a:endParaRPr lang="en-US" sz="1200" dirty="0"/>
          </a:p>
        </p:txBody>
      </p:sp>
      <p:sp>
        <p:nvSpPr>
          <p:cNvPr id="7" name="Text 4"/>
          <p:cNvSpPr txBox="1"/>
          <p:nvPr/>
        </p:nvSpPr>
        <p:spPr>
          <a:xfrm>
            <a:off x="548640" y="3611880"/>
            <a:ext cx="3566160" cy="548640"/>
          </a:xfrm>
          <a:prstGeom prst="rect">
            <a:avLst/>
          </a:prstGeom>
          <a:noFill/>
          <a:ln/>
        </p:spPr>
        <p:txBody>
          <a:bodyPr wrap="square" lIns="0" tIns="0" rIns="0" bIns="0" rtlCol="0" anchor="ctr"/>
          <a:lstStyle/>
          <a:p>
            <a:pPr algn="ctr" indent="0" marL="0">
              <a:buNone/>
            </a:pPr>
            <a:r>
              <a:rPr lang="en-US" sz="2600" b="1" dirty="0">
                <a:solidFill>
                  <a:srgbClr val="28695F"/>
                </a:solidFill>
                <a:latin typeface="Cambria" pitchFamily="34" charset="0"/>
                <a:ea typeface="Cambria" pitchFamily="34" charset="-122"/>
                <a:cs typeface="Cambria" pitchFamily="34" charset="-120"/>
              </a:rPr>
              <a:t>12 minutes</a:t>
            </a:r>
            <a:endParaRPr lang="en-US" sz="2600" dirty="0"/>
          </a:p>
        </p:txBody>
      </p:sp>
      <p:sp>
        <p:nvSpPr>
          <p:cNvPr id="8" name="Text 5"/>
          <p:cNvSpPr txBox="1"/>
          <p:nvPr/>
        </p:nvSpPr>
        <p:spPr>
          <a:xfrm>
            <a:off x="822960" y="4251960"/>
            <a:ext cx="3017520" cy="1645920"/>
          </a:xfrm>
          <a:prstGeom prst="rect">
            <a:avLst/>
          </a:prstGeom>
          <a:noFill/>
          <a:ln/>
        </p:spPr>
        <p:txBody>
          <a:bodyPr wrap="square" lIns="0" tIns="0" rIns="0" bIns="0" rtlCol="0" anchor="t"/>
          <a:lstStyle/>
          <a:p>
            <a:pPr algn="ctr" indent="0" marL="0">
              <a:buNone/>
            </a:pPr>
            <a:r>
              <a:rPr lang="en-US" sz="1500" dirty="0">
                <a:solidFill>
                  <a:srgbClr val="24302D"/>
                </a:solidFill>
                <a:latin typeface="Calibri" pitchFamily="34" charset="0"/>
                <a:ea typeface="Calibri" pitchFamily="34" charset="-122"/>
                <a:cs typeface="Calibri" pitchFamily="34" charset="-120"/>
              </a:rPr>
              <a:t>Pairs with a sample medication list and a set of mock bottle labels</a:t>
            </a:r>
            <a:endParaRPr lang="en-US" sz="1500" dirty="0"/>
          </a:p>
        </p:txBody>
      </p:sp>
      <p:sp>
        <p:nvSpPr>
          <p:cNvPr id="9" name="Text 6"/>
          <p:cNvSpPr txBox="1"/>
          <p:nvPr/>
        </p:nvSpPr>
        <p:spPr>
          <a:xfrm>
            <a:off x="4526280" y="1417320"/>
            <a:ext cx="7116775" cy="502920"/>
          </a:xfrm>
          <a:prstGeom prst="rect">
            <a:avLst/>
          </a:prstGeom>
          <a:noFill/>
          <a:ln/>
        </p:spPr>
        <p:txBody>
          <a:bodyPr wrap="square" lIns="0" tIns="0" rIns="0" bIns="0" rtlCol="0" anchor="ctr"/>
          <a:lstStyle/>
          <a:p>
            <a:pPr indent="0" marL="0">
              <a:buNone/>
            </a:pPr>
            <a:r>
              <a:rPr lang="en-US" sz="2000" b="1" dirty="0">
                <a:solidFill>
                  <a:srgbClr val="28695F"/>
                </a:solidFill>
                <a:latin typeface="Cambria" pitchFamily="34" charset="0"/>
                <a:ea typeface="Cambria" pitchFamily="34" charset="-122"/>
                <a:cs typeface="Cambria" pitchFamily="34" charset="-120"/>
              </a:rPr>
              <a:t>Instructions</a:t>
            </a:r>
            <a:endParaRPr lang="en-US" sz="2000" dirty="0"/>
          </a:p>
        </p:txBody>
      </p:sp>
      <p:sp>
        <p:nvSpPr>
          <p:cNvPr id="10" name="Text 7"/>
          <p:cNvSpPr txBox="1"/>
          <p:nvPr/>
        </p:nvSpPr>
        <p:spPr>
          <a:xfrm>
            <a:off x="4526280" y="2103120"/>
            <a:ext cx="7116775" cy="4023360"/>
          </a:xfrm>
          <a:prstGeom prst="rect">
            <a:avLst/>
          </a:prstGeom>
          <a:noFill/>
          <a:ln/>
        </p:spPr>
        <p:txBody>
          <a:bodyPr wrap="square" lIns="0" tIns="0" rIns="0" bIns="0" rtlCol="0" anchor="t"/>
          <a:lstStyle/>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Compare each mock bottle to the medication list provided</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Identify discrepancies: duplicates, missing items, different doses, expired bottles</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Circle any over-the-counter sleep aids or allergy medicines</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Draft the message you would send to the clinician</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Share one finding with the group</a:t>
            </a:r>
            <a:endParaRPr lang="en-US" sz="1600" dirty="0"/>
          </a:p>
        </p:txBody>
      </p:sp>
      <p:pic>
        <p:nvPicPr>
          <p:cNvPr id="11"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2" name="Text 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13" name="Text 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Communicating Medication Concerns</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Be specific: </a:t>
            </a:r>
            <a:r>
              <a:rPr lang="en-US" sz="1800" dirty="0">
                <a:solidFill>
                  <a:srgbClr val="24302D"/>
                </a:solidFill>
                <a:latin typeface="Calibri" pitchFamily="34" charset="0"/>
                <a:ea typeface="Calibri" pitchFamily="34" charset="-122"/>
                <a:cs typeface="Calibri" pitchFamily="34" charset="-120"/>
              </a:rPr>
              <a:t>name the medication, the dose on the bottle, and what you observed</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Include the source: </a:t>
            </a:r>
            <a:r>
              <a:rPr lang="en-US" sz="1800" dirty="0">
                <a:solidFill>
                  <a:srgbClr val="24302D"/>
                </a:solidFill>
                <a:latin typeface="Calibri" pitchFamily="34" charset="0"/>
                <a:ea typeface="Calibri" pitchFamily="34" charset="-122"/>
                <a:cs typeface="Calibri" pitchFamily="34" charset="-120"/>
              </a:rPr>
              <a:t>what you saw versus what the caregiver reported</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Note timing: </a:t>
            </a:r>
            <a:r>
              <a:rPr lang="en-US" sz="1800" dirty="0">
                <a:solidFill>
                  <a:srgbClr val="24302D"/>
                </a:solidFill>
                <a:latin typeface="Calibri" pitchFamily="34" charset="0"/>
                <a:ea typeface="Calibri" pitchFamily="34" charset="-122"/>
                <a:cs typeface="Calibri" pitchFamily="34" charset="-120"/>
              </a:rPr>
              <a:t>when the problem started and any recent changes or transitions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Use SBAR </a:t>
            </a:r>
            <a:r>
              <a:rPr lang="en-US" sz="1800" dirty="0">
                <a:solidFill>
                  <a:srgbClr val="24302D"/>
                </a:solidFill>
                <a:latin typeface="Calibri" pitchFamily="34" charset="0"/>
                <a:ea typeface="Calibri" pitchFamily="34" charset="-122"/>
                <a:cs typeface="Calibri" pitchFamily="34" charset="-120"/>
              </a:rPr>
              <a:t>for urgent concerns (covered in Module 6)</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Never advise </a:t>
            </a:r>
            <a:r>
              <a:rPr lang="en-US" sz="1800" dirty="0">
                <a:solidFill>
                  <a:srgbClr val="24302D"/>
                </a:solidFill>
                <a:latin typeface="Calibri" pitchFamily="34" charset="0"/>
                <a:ea typeface="Calibri" pitchFamily="34" charset="-122"/>
                <a:cs typeface="Calibri" pitchFamily="34" charset="-120"/>
              </a:rPr>
              <a:t>the family to stop, start, or change a medication yourself</a:t>
            </a:r>
            <a:endParaRPr lang="en-US" sz="1800" dirty="0"/>
          </a:p>
        </p:txBody>
      </p:sp>
      <p:sp>
        <p:nvSpPr>
          <p:cNvPr id="4" name="Shape 2"/>
          <p:cNvSpPr/>
          <p:nvPr/>
        </p:nvSpPr>
        <p:spPr>
          <a:xfrm>
            <a:off x="7589520" y="1417320"/>
            <a:ext cx="4053535" cy="3413760"/>
          </a:xfrm>
          <a:prstGeom prst="roundRect">
            <a:avLst>
              <a:gd name="adj" fmla="val 3214"/>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Example message</a:t>
            </a:r>
            <a:endParaRPr lang="en-US" sz="1800" dirty="0"/>
          </a:p>
        </p:txBody>
      </p:sp>
      <p:sp>
        <p:nvSpPr>
          <p:cNvPr id="7" name="Text 4"/>
          <p:cNvSpPr txBox="1"/>
          <p:nvPr/>
        </p:nvSpPr>
        <p:spPr>
          <a:xfrm>
            <a:off x="7863840" y="2423160"/>
            <a:ext cx="3504895" cy="231648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"Found two bottles of the same blood pressure medicine from different prescribers; caregiver has been giving both since the hospital discharge last week. Patient reports dizziness when standing."</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8138160" y="548640"/>
            <a:ext cx="4206240" cy="5330952"/>
          </a:xfrm>
          <a:prstGeom prst="rect">
            <a:avLst/>
          </a:prstGeom>
        </p:spPr>
      </p:pic>
      <p:sp>
        <p:nvSpPr>
          <p:cNvPr id="3" name="Text 0"/>
          <p:cNvSpPr txBox="1"/>
          <p:nvPr/>
        </p:nvSpPr>
        <p:spPr>
          <a:xfrm>
            <a:off x="731520" y="1188720"/>
            <a:ext cx="2743200" cy="1371600"/>
          </a:xfrm>
          <a:prstGeom prst="rect">
            <a:avLst/>
          </a:prstGeom>
          <a:noFill/>
          <a:ln/>
        </p:spPr>
        <p:txBody>
          <a:bodyPr wrap="square" lIns="0" tIns="0" rIns="0" bIns="0" rtlCol="0" anchor="t"/>
          <a:lstStyle/>
          <a:p>
            <a:pPr indent="0" marL="0">
              <a:buNone/>
            </a:pPr>
            <a:r>
              <a:rPr lang="en-US" sz="8800" b="1" dirty="0">
                <a:solidFill>
                  <a:srgbClr val="F8CB27"/>
                </a:solidFill>
                <a:latin typeface="Cambria" pitchFamily="34" charset="0"/>
                <a:ea typeface="Cambria" pitchFamily="34" charset="-122"/>
                <a:cs typeface="Cambria" pitchFamily="34" charset="-120"/>
              </a:rPr>
              <a:t>03</a:t>
            </a:r>
            <a:endParaRPr lang="en-US" sz="8800" dirty="0"/>
          </a:p>
        </p:txBody>
      </p:sp>
      <p:sp>
        <p:nvSpPr>
          <p:cNvPr id="4" name="Text 1"/>
          <p:cNvSpPr txBox="1"/>
          <p:nvPr/>
        </p:nvSpPr>
        <p:spPr>
          <a:xfrm>
            <a:off x="731520" y="2103120"/>
            <a:ext cx="7132320" cy="1783080"/>
          </a:xfrm>
          <a:prstGeom prst="rect">
            <a:avLst/>
          </a:prstGeom>
          <a:noFill/>
          <a:ln/>
        </p:spPr>
        <p:txBody>
          <a:bodyPr wrap="square" lIns="0" tIns="0" rIns="0" bIns="0"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Safety</a:t>
            </a:r>
            <a:endParaRPr lang="en-US" sz="3800" dirty="0"/>
          </a:p>
        </p:txBody>
      </p:sp>
      <p:sp>
        <p:nvSpPr>
          <p:cNvPr id="5" name="Text 2"/>
          <p:cNvSpPr txBox="1"/>
          <p:nvPr/>
        </p:nvSpPr>
        <p:spPr>
          <a:xfrm>
            <a:off x="731520" y="3977640"/>
            <a:ext cx="6949440" cy="91440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At home, in public, on the road, and from harm</a:t>
            </a:r>
            <a:endParaRPr lang="en-US" sz="1800" dirty="0"/>
          </a:p>
        </p:txBody>
      </p:sp>
      <p:pic>
        <p:nvPicPr>
          <p:cNvPr id="6" name="Image 1" descr="preencoded.png">    </p:cNvPr>
          <p:cNvPicPr>
            <a:picLocks noChangeAspect="1"/>
          </p:cNvPicPr>
          <p:nvPr/>
        </p:nvPicPr>
        <p:blipFill>
          <a:blip r:embed="rId2"/>
          <a:stretch>
            <a:fillRect/>
          </a:stretch>
        </p:blipFill>
        <p:spPr>
          <a:xfrm>
            <a:off x="548640" y="6382512"/>
            <a:ext cx="219456" cy="219456"/>
          </a:xfrm>
          <a:prstGeom prst="rect">
            <a:avLst/>
          </a:prstGeom>
        </p:spPr>
      </p:pic>
      <p:sp>
        <p:nvSpPr>
          <p:cNvPr id="7" name="Text 3"/>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4</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Home Safety Considerations</a:t>
            </a:r>
            <a:endParaRPr lang="en-US" sz="3000" dirty="0"/>
          </a:p>
        </p:txBody>
      </p:sp>
      <p:sp>
        <p:nvSpPr>
          <p:cNvPr id="3" name="Shape 1"/>
          <p:cNvSpPr/>
          <p:nvPr/>
        </p:nvSpPr>
        <p:spPr>
          <a:xfrm>
            <a:off x="548640" y="1417320"/>
            <a:ext cx="351525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Falls</a:t>
            </a:r>
            <a:endParaRPr lang="en-US" sz="1700" dirty="0"/>
          </a:p>
        </p:txBody>
      </p:sp>
      <p:sp>
        <p:nvSpPr>
          <p:cNvPr id="6" name="Text 3"/>
          <p:cNvSpPr txBox="1"/>
          <p:nvPr/>
        </p:nvSpPr>
        <p:spPr>
          <a:xfrm>
            <a:off x="768096"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Remove throw rugs and clutter; add railings, grab bars, and night lights.</a:t>
            </a:r>
            <a:endParaRPr lang="en-US" sz="1650" dirty="0"/>
          </a:p>
        </p:txBody>
      </p:sp>
      <p:sp>
        <p:nvSpPr>
          <p:cNvPr id="7" name="Shape 4"/>
          <p:cNvSpPr/>
          <p:nvPr/>
        </p:nvSpPr>
        <p:spPr>
          <a:xfrm>
            <a:off x="4338218" y="1417320"/>
            <a:ext cx="351525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4539386" y="1618488"/>
            <a:ext cx="420624" cy="420624"/>
          </a:xfrm>
          <a:prstGeom prst="rect">
            <a:avLst/>
          </a:prstGeom>
        </p:spPr>
      </p:pic>
      <p:sp>
        <p:nvSpPr>
          <p:cNvPr id="9" name="Text 5"/>
          <p:cNvSpPr txBox="1"/>
          <p:nvPr/>
        </p:nvSpPr>
        <p:spPr>
          <a:xfrm>
            <a:off x="5088026"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Kitchen &amp; Fire</a:t>
            </a:r>
            <a:endParaRPr lang="en-US" sz="1700" dirty="0"/>
          </a:p>
        </p:txBody>
      </p:sp>
      <p:sp>
        <p:nvSpPr>
          <p:cNvPr id="10" name="Text 6"/>
          <p:cNvSpPr txBox="1"/>
          <p:nvPr/>
        </p:nvSpPr>
        <p:spPr>
          <a:xfrm>
            <a:off x="4557674"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Stove knob covers or automatic shut-offs; working smoke detectors.</a:t>
            </a:r>
            <a:endParaRPr lang="en-US" sz="1650" dirty="0"/>
          </a:p>
        </p:txBody>
      </p:sp>
      <p:sp>
        <p:nvSpPr>
          <p:cNvPr id="11" name="Shape 7"/>
          <p:cNvSpPr/>
          <p:nvPr/>
        </p:nvSpPr>
        <p:spPr>
          <a:xfrm>
            <a:off x="8127797" y="1417320"/>
            <a:ext cx="351525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8328965" y="1618488"/>
            <a:ext cx="420624" cy="420624"/>
          </a:xfrm>
          <a:prstGeom prst="rect">
            <a:avLst/>
          </a:prstGeom>
        </p:spPr>
      </p:pic>
      <p:sp>
        <p:nvSpPr>
          <p:cNvPr id="13" name="Text 8"/>
          <p:cNvSpPr txBox="1"/>
          <p:nvPr/>
        </p:nvSpPr>
        <p:spPr>
          <a:xfrm>
            <a:off x="8877605"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Bathroom</a:t>
            </a:r>
            <a:endParaRPr lang="en-US" sz="1700" dirty="0"/>
          </a:p>
        </p:txBody>
      </p:sp>
      <p:sp>
        <p:nvSpPr>
          <p:cNvPr id="14" name="Text 9"/>
          <p:cNvSpPr txBox="1"/>
          <p:nvPr/>
        </p:nvSpPr>
        <p:spPr>
          <a:xfrm>
            <a:off x="8347253"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Non-slip mats, shower chair, and water heater set to 120°F or lower.</a:t>
            </a:r>
            <a:endParaRPr lang="en-US" sz="1650" dirty="0"/>
          </a:p>
        </p:txBody>
      </p:sp>
      <p:sp>
        <p:nvSpPr>
          <p:cNvPr id="15" name="Shape 10"/>
          <p:cNvSpPr/>
          <p:nvPr/>
        </p:nvSpPr>
        <p:spPr>
          <a:xfrm>
            <a:off x="548640" y="3909060"/>
            <a:ext cx="351525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749808" y="4110228"/>
            <a:ext cx="420624" cy="420624"/>
          </a:xfrm>
          <a:prstGeom prst="rect">
            <a:avLst/>
          </a:prstGeom>
        </p:spPr>
      </p:pic>
      <p:sp>
        <p:nvSpPr>
          <p:cNvPr id="17" name="Text 11"/>
          <p:cNvSpPr txBox="1"/>
          <p:nvPr/>
        </p:nvSpPr>
        <p:spPr>
          <a:xfrm>
            <a:off x="1298448"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Lighting</a:t>
            </a:r>
            <a:endParaRPr lang="en-US" sz="1700" dirty="0"/>
          </a:p>
        </p:txBody>
      </p:sp>
      <p:sp>
        <p:nvSpPr>
          <p:cNvPr id="18" name="Text 12"/>
          <p:cNvSpPr txBox="1"/>
          <p:nvPr/>
        </p:nvSpPr>
        <p:spPr>
          <a:xfrm>
            <a:off x="768096"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Bright, even lighting; reduce shadows and glare that cause confusion.</a:t>
            </a:r>
            <a:endParaRPr lang="en-US" sz="1650" dirty="0"/>
          </a:p>
        </p:txBody>
      </p:sp>
      <p:sp>
        <p:nvSpPr>
          <p:cNvPr id="19" name="Shape 13"/>
          <p:cNvSpPr/>
          <p:nvPr/>
        </p:nvSpPr>
        <p:spPr>
          <a:xfrm>
            <a:off x="4338218" y="3909060"/>
            <a:ext cx="3515258" cy="2217420"/>
          </a:xfrm>
          <a:prstGeom prst="roundRect">
            <a:avLst>
              <a:gd name="adj" fmla="val 4948"/>
            </a:avLst>
          </a:prstGeom>
          <a:solidFill>
            <a:srgbClr val="E8F1EF"/>
          </a:solidFill>
          <a:ln w="12700">
            <a:solidFill>
              <a:srgbClr val="E8F1EF"/>
            </a:solidFill>
            <a:prstDash val="solid"/>
          </a:ln>
        </p:spPr>
      </p:sp>
      <p:pic>
        <p:nvPicPr>
          <p:cNvPr id="20" name="Image 4" descr="preencoded.png">    </p:cNvPr>
          <p:cNvPicPr>
            <a:picLocks noChangeAspect="1"/>
          </p:cNvPicPr>
          <p:nvPr/>
        </p:nvPicPr>
        <p:blipFill>
          <a:blip r:embed="rId5"/>
          <a:stretch>
            <a:fillRect/>
          </a:stretch>
        </p:blipFill>
        <p:spPr>
          <a:xfrm>
            <a:off x="4539386" y="4110228"/>
            <a:ext cx="420624" cy="420624"/>
          </a:xfrm>
          <a:prstGeom prst="rect">
            <a:avLst/>
          </a:prstGeom>
        </p:spPr>
      </p:pic>
      <p:sp>
        <p:nvSpPr>
          <p:cNvPr id="21" name="Text 14"/>
          <p:cNvSpPr txBox="1"/>
          <p:nvPr/>
        </p:nvSpPr>
        <p:spPr>
          <a:xfrm>
            <a:off x="5088026"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Exits &amp; Locks</a:t>
            </a:r>
            <a:endParaRPr lang="en-US" sz="1700" dirty="0"/>
          </a:p>
        </p:txBody>
      </p:sp>
      <p:sp>
        <p:nvSpPr>
          <p:cNvPr id="22" name="Text 15"/>
          <p:cNvSpPr txBox="1"/>
          <p:nvPr/>
        </p:nvSpPr>
        <p:spPr>
          <a:xfrm>
            <a:off x="4557674"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Door chimes or alarms; locks placed high or low, out of usual sight lines.</a:t>
            </a:r>
            <a:endParaRPr lang="en-US" sz="1650" dirty="0"/>
          </a:p>
        </p:txBody>
      </p:sp>
      <p:sp>
        <p:nvSpPr>
          <p:cNvPr id="23" name="Shape 16"/>
          <p:cNvSpPr/>
          <p:nvPr/>
        </p:nvSpPr>
        <p:spPr>
          <a:xfrm>
            <a:off x="8127797" y="3909060"/>
            <a:ext cx="3515258" cy="2217420"/>
          </a:xfrm>
          <a:prstGeom prst="roundRect">
            <a:avLst>
              <a:gd name="adj" fmla="val 4948"/>
            </a:avLst>
          </a:prstGeom>
          <a:solidFill>
            <a:srgbClr val="E8F1EF"/>
          </a:solidFill>
          <a:ln w="12700">
            <a:solidFill>
              <a:srgbClr val="E8F1EF"/>
            </a:solidFill>
            <a:prstDash val="solid"/>
          </a:ln>
        </p:spPr>
      </p:sp>
      <p:pic>
        <p:nvPicPr>
          <p:cNvPr id="24" name="Image 5" descr="preencoded.png">    </p:cNvPr>
          <p:cNvPicPr>
            <a:picLocks noChangeAspect="1"/>
          </p:cNvPicPr>
          <p:nvPr/>
        </p:nvPicPr>
        <p:blipFill>
          <a:blip r:embed="rId6"/>
          <a:stretch>
            <a:fillRect/>
          </a:stretch>
        </p:blipFill>
        <p:spPr>
          <a:xfrm>
            <a:off x="8328965" y="4110228"/>
            <a:ext cx="420624" cy="420624"/>
          </a:xfrm>
          <a:prstGeom prst="rect">
            <a:avLst/>
          </a:prstGeom>
        </p:spPr>
      </p:pic>
      <p:sp>
        <p:nvSpPr>
          <p:cNvPr id="25" name="Text 17"/>
          <p:cNvSpPr txBox="1"/>
          <p:nvPr/>
        </p:nvSpPr>
        <p:spPr>
          <a:xfrm>
            <a:off x="8877605"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Emergency Readiness</a:t>
            </a:r>
            <a:endParaRPr lang="en-US" sz="1700" dirty="0"/>
          </a:p>
        </p:txBody>
      </p:sp>
      <p:sp>
        <p:nvSpPr>
          <p:cNvPr id="26" name="Text 18"/>
          <p:cNvSpPr txBox="1"/>
          <p:nvPr/>
        </p:nvSpPr>
        <p:spPr>
          <a:xfrm>
            <a:off x="8347253"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Posted contact list, medication list, and a hurricane or storm plan.</a:t>
            </a:r>
            <a:endParaRPr lang="en-US" sz="1650" dirty="0"/>
          </a:p>
        </p:txBody>
      </p:sp>
      <p:pic>
        <p:nvPicPr>
          <p:cNvPr id="27" name="Image 6" descr="preencoded.png">    </p:cNvPr>
          <p:cNvPicPr>
            <a:picLocks noChangeAspect="1"/>
          </p:cNvPicPr>
          <p:nvPr/>
        </p:nvPicPr>
        <p:blipFill>
          <a:blip r:embed="rId7"/>
          <a:stretch>
            <a:fillRect/>
          </a:stretch>
        </p:blipFill>
        <p:spPr>
          <a:xfrm>
            <a:off x="548640" y="6309360"/>
            <a:ext cx="874762" cy="365760"/>
          </a:xfrm>
          <a:prstGeom prst="rect">
            <a:avLst/>
          </a:prstGeom>
        </p:spPr>
      </p:pic>
      <p:sp>
        <p:nvSpPr>
          <p:cNvPr id="28" name="Text 1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29" name="Text 2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Fall Prevention Checklist</a:t>
            </a:r>
            <a:endParaRPr lang="en-US" sz="3000" dirty="0"/>
          </a:p>
        </p:txBody>
      </p:sp>
      <p:sp>
        <p:nvSpPr>
          <p:cNvPr id="3" name="Shape 1"/>
          <p:cNvSpPr/>
          <p:nvPr/>
        </p:nvSpPr>
        <p:spPr>
          <a:xfrm>
            <a:off x="548640" y="1417320"/>
            <a:ext cx="351525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Floors</a:t>
            </a:r>
            <a:endParaRPr lang="en-US" sz="1700" dirty="0"/>
          </a:p>
        </p:txBody>
      </p:sp>
      <p:sp>
        <p:nvSpPr>
          <p:cNvPr id="6" name="Text 3"/>
          <p:cNvSpPr txBox="1"/>
          <p:nvPr/>
        </p:nvSpPr>
        <p:spPr>
          <a:xfrm>
            <a:off x="768096"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Remove throw rugs and cords; clear pathways; fix loose flooring.</a:t>
            </a:r>
            <a:endParaRPr lang="en-US" sz="1650" dirty="0"/>
          </a:p>
        </p:txBody>
      </p:sp>
      <p:sp>
        <p:nvSpPr>
          <p:cNvPr id="7" name="Shape 4"/>
          <p:cNvSpPr/>
          <p:nvPr/>
        </p:nvSpPr>
        <p:spPr>
          <a:xfrm>
            <a:off x="4338218" y="1417320"/>
            <a:ext cx="351525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4539386" y="1618488"/>
            <a:ext cx="420624" cy="420624"/>
          </a:xfrm>
          <a:prstGeom prst="rect">
            <a:avLst/>
          </a:prstGeom>
        </p:spPr>
      </p:pic>
      <p:sp>
        <p:nvSpPr>
          <p:cNvPr id="9" name="Text 5"/>
          <p:cNvSpPr txBox="1"/>
          <p:nvPr/>
        </p:nvSpPr>
        <p:spPr>
          <a:xfrm>
            <a:off x="5088026"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Lighting</a:t>
            </a:r>
            <a:endParaRPr lang="en-US" sz="1700" dirty="0"/>
          </a:p>
        </p:txBody>
      </p:sp>
      <p:sp>
        <p:nvSpPr>
          <p:cNvPr id="10" name="Text 6"/>
          <p:cNvSpPr txBox="1"/>
          <p:nvPr/>
        </p:nvSpPr>
        <p:spPr>
          <a:xfrm>
            <a:off x="4557674"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Night lights from bed to bathroom; switches at room entrances.</a:t>
            </a:r>
            <a:endParaRPr lang="en-US" sz="1650" dirty="0"/>
          </a:p>
        </p:txBody>
      </p:sp>
      <p:sp>
        <p:nvSpPr>
          <p:cNvPr id="11" name="Shape 7"/>
          <p:cNvSpPr/>
          <p:nvPr/>
        </p:nvSpPr>
        <p:spPr>
          <a:xfrm>
            <a:off x="8127797" y="1417320"/>
            <a:ext cx="351525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8328965" y="1618488"/>
            <a:ext cx="420624" cy="420624"/>
          </a:xfrm>
          <a:prstGeom prst="rect">
            <a:avLst/>
          </a:prstGeom>
        </p:spPr>
      </p:pic>
      <p:sp>
        <p:nvSpPr>
          <p:cNvPr id="13" name="Text 8"/>
          <p:cNvSpPr txBox="1"/>
          <p:nvPr/>
        </p:nvSpPr>
        <p:spPr>
          <a:xfrm>
            <a:off x="8877605"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Bathroom</a:t>
            </a:r>
            <a:endParaRPr lang="en-US" sz="1700" dirty="0"/>
          </a:p>
        </p:txBody>
      </p:sp>
      <p:sp>
        <p:nvSpPr>
          <p:cNvPr id="14" name="Text 9"/>
          <p:cNvSpPr txBox="1"/>
          <p:nvPr/>
        </p:nvSpPr>
        <p:spPr>
          <a:xfrm>
            <a:off x="8347253"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Grab bars, raised toilet seat, shower chair, non-slip mats.</a:t>
            </a:r>
            <a:endParaRPr lang="en-US" sz="1650" dirty="0"/>
          </a:p>
        </p:txBody>
      </p:sp>
      <p:sp>
        <p:nvSpPr>
          <p:cNvPr id="15" name="Shape 10"/>
          <p:cNvSpPr/>
          <p:nvPr/>
        </p:nvSpPr>
        <p:spPr>
          <a:xfrm>
            <a:off x="548640" y="3909060"/>
            <a:ext cx="351525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749808" y="4110228"/>
            <a:ext cx="420624" cy="420624"/>
          </a:xfrm>
          <a:prstGeom prst="rect">
            <a:avLst/>
          </a:prstGeom>
        </p:spPr>
      </p:pic>
      <p:sp>
        <p:nvSpPr>
          <p:cNvPr id="17" name="Text 11"/>
          <p:cNvSpPr txBox="1"/>
          <p:nvPr/>
        </p:nvSpPr>
        <p:spPr>
          <a:xfrm>
            <a:off x="1298448"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Stairs</a:t>
            </a:r>
            <a:endParaRPr lang="en-US" sz="1700" dirty="0"/>
          </a:p>
        </p:txBody>
      </p:sp>
      <p:sp>
        <p:nvSpPr>
          <p:cNvPr id="18" name="Text 12"/>
          <p:cNvSpPr txBox="1"/>
          <p:nvPr/>
        </p:nvSpPr>
        <p:spPr>
          <a:xfrm>
            <a:off x="768096"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Sturdy railings on both sides; contrasting tape on step edges.</a:t>
            </a:r>
            <a:endParaRPr lang="en-US" sz="1650" dirty="0"/>
          </a:p>
        </p:txBody>
      </p:sp>
      <p:sp>
        <p:nvSpPr>
          <p:cNvPr id="19" name="Shape 13"/>
          <p:cNvSpPr/>
          <p:nvPr/>
        </p:nvSpPr>
        <p:spPr>
          <a:xfrm>
            <a:off x="4338218" y="3909060"/>
            <a:ext cx="3515258" cy="2217420"/>
          </a:xfrm>
          <a:prstGeom prst="roundRect">
            <a:avLst>
              <a:gd name="adj" fmla="val 4948"/>
            </a:avLst>
          </a:prstGeom>
          <a:solidFill>
            <a:srgbClr val="E8F1EF"/>
          </a:solidFill>
          <a:ln w="12700">
            <a:solidFill>
              <a:srgbClr val="E8F1EF"/>
            </a:solidFill>
            <a:prstDash val="solid"/>
          </a:ln>
        </p:spPr>
      </p:sp>
      <p:pic>
        <p:nvPicPr>
          <p:cNvPr id="20" name="Image 4" descr="preencoded.png">    </p:cNvPr>
          <p:cNvPicPr>
            <a:picLocks noChangeAspect="1"/>
          </p:cNvPicPr>
          <p:nvPr/>
        </p:nvPicPr>
        <p:blipFill>
          <a:blip r:embed="rId5"/>
          <a:stretch>
            <a:fillRect/>
          </a:stretch>
        </p:blipFill>
        <p:spPr>
          <a:xfrm>
            <a:off x="4539386" y="4110228"/>
            <a:ext cx="420624" cy="420624"/>
          </a:xfrm>
          <a:prstGeom prst="rect">
            <a:avLst/>
          </a:prstGeom>
        </p:spPr>
      </p:pic>
      <p:sp>
        <p:nvSpPr>
          <p:cNvPr id="21" name="Text 14"/>
          <p:cNvSpPr txBox="1"/>
          <p:nvPr/>
        </p:nvSpPr>
        <p:spPr>
          <a:xfrm>
            <a:off x="5088026"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Footwear</a:t>
            </a:r>
            <a:endParaRPr lang="en-US" sz="1700" dirty="0"/>
          </a:p>
        </p:txBody>
      </p:sp>
      <p:sp>
        <p:nvSpPr>
          <p:cNvPr id="22" name="Text 15"/>
          <p:cNvSpPr txBox="1"/>
          <p:nvPr/>
        </p:nvSpPr>
        <p:spPr>
          <a:xfrm>
            <a:off x="4557674"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Well-fitting, closed-back, non-slip shoes — not socks or loose slippers.</a:t>
            </a:r>
            <a:endParaRPr lang="en-US" sz="1650" dirty="0"/>
          </a:p>
        </p:txBody>
      </p:sp>
      <p:sp>
        <p:nvSpPr>
          <p:cNvPr id="23" name="Shape 16"/>
          <p:cNvSpPr/>
          <p:nvPr/>
        </p:nvSpPr>
        <p:spPr>
          <a:xfrm>
            <a:off x="8127797" y="3909060"/>
            <a:ext cx="3515258" cy="2217420"/>
          </a:xfrm>
          <a:prstGeom prst="roundRect">
            <a:avLst>
              <a:gd name="adj" fmla="val 4948"/>
            </a:avLst>
          </a:prstGeom>
          <a:solidFill>
            <a:srgbClr val="E8F1EF"/>
          </a:solidFill>
          <a:ln w="12700">
            <a:solidFill>
              <a:srgbClr val="E8F1EF"/>
            </a:solidFill>
            <a:prstDash val="solid"/>
          </a:ln>
        </p:spPr>
      </p:sp>
      <p:pic>
        <p:nvPicPr>
          <p:cNvPr id="24" name="Image 5" descr="preencoded.png">    </p:cNvPr>
          <p:cNvPicPr>
            <a:picLocks noChangeAspect="1"/>
          </p:cNvPicPr>
          <p:nvPr/>
        </p:nvPicPr>
        <p:blipFill>
          <a:blip r:embed="rId6"/>
          <a:stretch>
            <a:fillRect/>
          </a:stretch>
        </p:blipFill>
        <p:spPr>
          <a:xfrm>
            <a:off x="8328965" y="4110228"/>
            <a:ext cx="420624" cy="420624"/>
          </a:xfrm>
          <a:prstGeom prst="rect">
            <a:avLst/>
          </a:prstGeom>
        </p:spPr>
      </p:pic>
      <p:sp>
        <p:nvSpPr>
          <p:cNvPr id="25" name="Text 17"/>
          <p:cNvSpPr txBox="1"/>
          <p:nvPr/>
        </p:nvSpPr>
        <p:spPr>
          <a:xfrm>
            <a:off x="8877605"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Health</a:t>
            </a:r>
            <a:endParaRPr lang="en-US" sz="1700" dirty="0"/>
          </a:p>
        </p:txBody>
      </p:sp>
      <p:sp>
        <p:nvSpPr>
          <p:cNvPr id="26" name="Text 18"/>
          <p:cNvSpPr txBox="1"/>
          <p:nvPr/>
        </p:nvSpPr>
        <p:spPr>
          <a:xfrm>
            <a:off x="8347253"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Report dizziness, new medications, and vision changes; request PT for strength and balance.</a:t>
            </a:r>
            <a:endParaRPr lang="en-US" sz="1650" dirty="0"/>
          </a:p>
        </p:txBody>
      </p:sp>
      <p:pic>
        <p:nvPicPr>
          <p:cNvPr id="27" name="Image 6" descr="preencoded.png">    </p:cNvPr>
          <p:cNvPicPr>
            <a:picLocks noChangeAspect="1"/>
          </p:cNvPicPr>
          <p:nvPr/>
        </p:nvPicPr>
        <p:blipFill>
          <a:blip r:embed="rId7"/>
          <a:stretch>
            <a:fillRect/>
          </a:stretch>
        </p:blipFill>
        <p:spPr>
          <a:xfrm>
            <a:off x="548640" y="6309360"/>
            <a:ext cx="874762" cy="365760"/>
          </a:xfrm>
          <a:prstGeom prst="rect">
            <a:avLst/>
          </a:prstGeom>
        </p:spPr>
      </p:pic>
      <p:sp>
        <p:nvSpPr>
          <p:cNvPr id="28" name="Text 1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29" name="Text 2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Emergency and Disaster Preparedness</a:t>
            </a:r>
            <a:endParaRPr lang="en-US" sz="3000" dirty="0"/>
          </a:p>
        </p:txBody>
      </p:sp>
      <p:sp>
        <p:nvSpPr>
          <p:cNvPr id="3" name="Text 1"/>
          <p:cNvSpPr txBox="1"/>
          <p:nvPr/>
        </p:nvSpPr>
        <p:spPr>
          <a:xfrm>
            <a:off x="548640" y="1417320"/>
            <a:ext cx="8961120" cy="4709160"/>
          </a:xfrm>
          <a:prstGeom prst="rect">
            <a:avLst/>
          </a:prstGeom>
          <a:noFill/>
          <a:ln/>
        </p:spPr>
        <p:txBody>
          <a:bodyPr wrap="square" lIns="0" tIns="0" rIns="0" bIns="0" rtlCol="0" anchor="t"/>
          <a:lstStyle/>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Florida: </a:t>
            </a:r>
            <a:r>
              <a:rPr lang="en-US" sz="1900" dirty="0">
                <a:solidFill>
                  <a:srgbClr val="24302D"/>
                </a:solidFill>
                <a:latin typeface="Calibri" pitchFamily="34" charset="0"/>
                <a:ea typeface="Calibri" pitchFamily="34" charset="-122"/>
                <a:cs typeface="Calibri" pitchFamily="34" charset="-120"/>
              </a:rPr>
              <a:t>know the evacuation zone; ask whether the person should register for the county special needs shelter; plan for heat and power loss</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Ohio: </a:t>
            </a:r>
            <a:r>
              <a:rPr lang="en-US" sz="1900" dirty="0">
                <a:solidFill>
                  <a:srgbClr val="24302D"/>
                </a:solidFill>
                <a:latin typeface="Calibri" pitchFamily="34" charset="0"/>
                <a:ea typeface="Calibri" pitchFamily="34" charset="-122"/>
                <a:cs typeface="Calibri" pitchFamily="34" charset="-120"/>
              </a:rPr>
              <a:t>plan for winter storms, extreme cold, and power outages</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Go-bag: </a:t>
            </a:r>
            <a:r>
              <a:rPr lang="en-US" sz="1900" dirty="0">
                <a:solidFill>
                  <a:srgbClr val="24302D"/>
                </a:solidFill>
                <a:latin typeface="Calibri" pitchFamily="34" charset="0"/>
                <a:ea typeface="Calibri" pitchFamily="34" charset="-122"/>
                <a:cs typeface="Calibri" pitchFamily="34" charset="-120"/>
              </a:rPr>
              <a:t>medications for at least a week, medication list, ID, insurance cards, key documents, comfort items</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Communication plan: </a:t>
            </a:r>
            <a:r>
              <a:rPr lang="en-US" sz="1900" dirty="0">
                <a:solidFill>
                  <a:srgbClr val="24302D"/>
                </a:solidFill>
                <a:latin typeface="Calibri" pitchFamily="34" charset="0"/>
                <a:ea typeface="Calibri" pitchFamily="34" charset="-122"/>
                <a:cs typeface="Calibri" pitchFamily="34" charset="-120"/>
              </a:rPr>
              <a:t>who checks on the person, and how the family stays in touch</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Change is stressful: </a:t>
            </a:r>
            <a:r>
              <a:rPr lang="en-US" sz="1900" dirty="0">
                <a:solidFill>
                  <a:srgbClr val="24302D"/>
                </a:solidFill>
                <a:latin typeface="Calibri" pitchFamily="34" charset="0"/>
                <a:ea typeface="Calibri" pitchFamily="34" charset="-122"/>
                <a:cs typeface="Calibri" pitchFamily="34" charset="-120"/>
              </a:rPr>
              <a:t>evacuation can trigger confusion and behaviors — bring familiar items</a:t>
            </a:r>
            <a:endParaRPr lang="en-US" sz="1900" dirty="0"/>
          </a:p>
        </p:txBody>
      </p:sp>
      <p:pic>
        <p:nvPicPr>
          <p:cNvPr id="4" name="Image 0" descr="preencoded.png">    </p:cNvPr>
          <p:cNvPicPr>
            <a:picLocks noChangeAspect="1"/>
          </p:cNvPicPr>
          <p:nvPr/>
        </p:nvPicPr>
        <p:blipFill>
          <a:blip r:embed="rId1">
            <a:alphaModFix amt="85000"/>
          </a:blip>
          <a:stretch>
            <a:fillRect/>
          </a:stretch>
        </p:blipFill>
        <p:spPr>
          <a:xfrm>
            <a:off x="10012680" y="3291840"/>
            <a:ext cx="1920240" cy="2432304"/>
          </a:xfrm>
          <a:prstGeom prst="rect">
            <a:avLst/>
          </a:prstGeom>
        </p:spPr>
      </p:pic>
      <p:pic>
        <p:nvPicPr>
          <p:cNvPr id="5"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6" name="Text 2"/>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7" name="Text 3"/>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Wandering and Safety in Public</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Wandering is common: </a:t>
            </a:r>
            <a:r>
              <a:rPr lang="en-US" sz="1800" dirty="0">
                <a:solidFill>
                  <a:srgbClr val="24302D"/>
                </a:solidFill>
                <a:latin typeface="Calibri" pitchFamily="34" charset="0"/>
                <a:ea typeface="Calibri" pitchFamily="34" charset="-122"/>
                <a:cs typeface="Calibri" pitchFamily="34" charset="-120"/>
              </a:rPr>
              <a:t>the Alzheimer's Association estimates 6 in 10 people with dementia will wander</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Know the triggers: </a:t>
            </a:r>
            <a:r>
              <a:rPr lang="en-US" sz="1800" dirty="0">
                <a:solidFill>
                  <a:srgbClr val="24302D"/>
                </a:solidFill>
                <a:latin typeface="Calibri" pitchFamily="34" charset="0"/>
                <a:ea typeface="Calibri" pitchFamily="34" charset="-122"/>
                <a:cs typeface="Calibri" pitchFamily="34" charset="-120"/>
              </a:rPr>
              <a:t>restlessness, looking for "home," trying to get to work, unmet needs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Prevent: </a:t>
            </a:r>
            <a:r>
              <a:rPr lang="en-US" sz="1800" dirty="0">
                <a:solidFill>
                  <a:srgbClr val="24302D"/>
                </a:solidFill>
                <a:latin typeface="Calibri" pitchFamily="34" charset="0"/>
                <a:ea typeface="Calibri" pitchFamily="34" charset="-122"/>
                <a:cs typeface="Calibri" pitchFamily="34" charset="-120"/>
              </a:rPr>
              <a:t>daily exercise, routine, door chimes, and supervised outings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Prepare: </a:t>
            </a:r>
            <a:r>
              <a:rPr lang="en-US" sz="1800" dirty="0">
                <a:solidFill>
                  <a:srgbClr val="24302D"/>
                </a:solidFill>
                <a:latin typeface="Calibri" pitchFamily="34" charset="0"/>
                <a:ea typeface="Calibri" pitchFamily="34" charset="-122"/>
                <a:cs typeface="Calibri" pitchFamily="34" charset="-120"/>
              </a:rPr>
              <a:t>ID bracelet, recent photo, list of likely destinations, informed neighbors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Consider technology: </a:t>
            </a:r>
            <a:r>
              <a:rPr lang="en-US" sz="1800" dirty="0">
                <a:solidFill>
                  <a:srgbClr val="24302D"/>
                </a:solidFill>
                <a:latin typeface="Calibri" pitchFamily="34" charset="0"/>
                <a:ea typeface="Calibri" pitchFamily="34" charset="-122"/>
                <a:cs typeface="Calibri" pitchFamily="34" charset="-120"/>
              </a:rPr>
              <a:t>GPS tracking devices, and enrollment in local return programs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Act fast: </a:t>
            </a:r>
            <a:r>
              <a:rPr lang="en-US" sz="1800" dirty="0">
                <a:solidFill>
                  <a:srgbClr val="24302D"/>
                </a:solidFill>
                <a:latin typeface="Calibri" pitchFamily="34" charset="0"/>
                <a:ea typeface="Calibri" pitchFamily="34" charset="-122"/>
                <a:cs typeface="Calibri" pitchFamily="34" charset="-120"/>
              </a:rPr>
              <a:t>search no more than 15 minutes, then call 911</a:t>
            </a:r>
            <a:endParaRPr lang="en-US" sz="1800" dirty="0"/>
          </a:p>
        </p:txBody>
      </p:sp>
      <p:sp>
        <p:nvSpPr>
          <p:cNvPr id="4" name="Shape 2"/>
          <p:cNvSpPr/>
          <p:nvPr/>
        </p:nvSpPr>
        <p:spPr>
          <a:xfrm>
            <a:off x="7589520" y="1417320"/>
            <a:ext cx="4053535" cy="3413760"/>
          </a:xfrm>
          <a:prstGeom prst="roundRect">
            <a:avLst>
              <a:gd name="adj" fmla="val 3214"/>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In public places</a:t>
            </a:r>
            <a:endParaRPr lang="en-US" sz="1800" dirty="0"/>
          </a:p>
        </p:txBody>
      </p:sp>
      <p:sp>
        <p:nvSpPr>
          <p:cNvPr id="7" name="Text 4"/>
          <p:cNvSpPr txBox="1"/>
          <p:nvPr/>
        </p:nvSpPr>
        <p:spPr>
          <a:xfrm>
            <a:off x="7863840" y="2423160"/>
            <a:ext cx="3504895" cy="231648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Crowds, noise, and unfamiliar settings increase confusion. Plan outings for quiet times, keep them short, and use family or companion restrooms so the caregiver can assist.</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Driving Safety</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Warning signs: </a:t>
            </a:r>
            <a:r>
              <a:rPr lang="en-US" sz="1800" dirty="0">
                <a:solidFill>
                  <a:srgbClr val="24302D"/>
                </a:solidFill>
                <a:latin typeface="Calibri" pitchFamily="34" charset="0"/>
                <a:ea typeface="Calibri" pitchFamily="34" charset="-122"/>
                <a:cs typeface="Calibri" pitchFamily="34" charset="-120"/>
              </a:rPr>
              <a:t>getting lost on familiar routes, new dents or scrapes, near-misses, confusing the gas and brake, family members afraid to ride along</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Start early: </a:t>
            </a:r>
            <a:r>
              <a:rPr lang="en-US" sz="1800" dirty="0">
                <a:solidFill>
                  <a:srgbClr val="24302D"/>
                </a:solidFill>
                <a:latin typeface="Calibri" pitchFamily="34" charset="0"/>
                <a:ea typeface="Calibri" pitchFamily="34" charset="-122"/>
                <a:cs typeface="Calibri" pitchFamily="34" charset="-120"/>
              </a:rPr>
              <a:t>discuss driving plans in the early stage, before a crisis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Involve the clinician: </a:t>
            </a:r>
            <a:r>
              <a:rPr lang="en-US" sz="1800" dirty="0">
                <a:solidFill>
                  <a:srgbClr val="24302D"/>
                </a:solidFill>
                <a:latin typeface="Calibri" pitchFamily="34" charset="0"/>
                <a:ea typeface="Calibri" pitchFamily="34" charset="-122"/>
                <a:cs typeface="Calibri" pitchFamily="34" charset="-120"/>
              </a:rPr>
              <a:t>who may recommend a formal driving evaluation by an occupational therapist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Preserve dignity: </a:t>
            </a:r>
            <a:r>
              <a:rPr lang="en-US" sz="1800" dirty="0">
                <a:solidFill>
                  <a:srgbClr val="24302D"/>
                </a:solidFill>
                <a:latin typeface="Calibri" pitchFamily="34" charset="0"/>
                <a:ea typeface="Calibri" pitchFamily="34" charset="-122"/>
                <a:cs typeface="Calibri" pitchFamily="34" charset="-120"/>
              </a:rPr>
              <a:t>acknowledge what driving means for independence and identity</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Plan alternatives: </a:t>
            </a:r>
            <a:r>
              <a:rPr lang="en-US" sz="1800" dirty="0">
                <a:solidFill>
                  <a:srgbClr val="24302D"/>
                </a:solidFill>
                <a:latin typeface="Calibri" pitchFamily="34" charset="0"/>
                <a:ea typeface="Calibri" pitchFamily="34" charset="-122"/>
                <a:cs typeface="Calibri" pitchFamily="34" charset="-120"/>
              </a:rPr>
              <a:t>family rides, community transportation, and ride services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State rules vary: </a:t>
            </a:r>
            <a:r>
              <a:rPr lang="en-US" sz="1800" dirty="0">
                <a:solidFill>
                  <a:srgbClr val="24302D"/>
                </a:solidFill>
                <a:latin typeface="Calibri" pitchFamily="34" charset="0"/>
                <a:ea typeface="Calibri" pitchFamily="34" charset="-122"/>
                <a:cs typeface="Calibri" pitchFamily="34" charset="-120"/>
              </a:rPr>
              <a:t>Florida and Ohio have processes to report unsafe drivers to the licensing agency</a:t>
            </a:r>
            <a:endParaRPr lang="en-US" sz="1800" dirty="0"/>
          </a:p>
        </p:txBody>
      </p:sp>
      <p:sp>
        <p:nvSpPr>
          <p:cNvPr id="4" name="Shape 2"/>
          <p:cNvSpPr/>
          <p:nvPr/>
        </p:nvSpPr>
        <p:spPr>
          <a:xfrm>
            <a:off x="7589520" y="1417320"/>
            <a:ext cx="4053535" cy="3413760"/>
          </a:xfrm>
          <a:prstGeom prst="roundRect">
            <a:avLst>
              <a:gd name="adj" fmla="val 3214"/>
            </a:avLst>
          </a:prstGeom>
          <a:solidFill>
            <a:srgbClr val="F8EFDF"/>
          </a:solidFill>
          <a:ln w="12700">
            <a:solidFill>
              <a:srgbClr val="F8EFD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C78F2E"/>
                </a:solidFill>
                <a:latin typeface="Cambria" pitchFamily="34" charset="0"/>
                <a:ea typeface="Cambria" pitchFamily="34" charset="-122"/>
                <a:cs typeface="Cambria" pitchFamily="34" charset="-120"/>
              </a:rPr>
              <a:t>Navigator role</a:t>
            </a:r>
            <a:endParaRPr lang="en-US" sz="1800" dirty="0"/>
          </a:p>
        </p:txBody>
      </p:sp>
      <p:sp>
        <p:nvSpPr>
          <p:cNvPr id="7" name="Text 4"/>
          <p:cNvSpPr txBox="1"/>
          <p:nvPr/>
        </p:nvSpPr>
        <p:spPr>
          <a:xfrm>
            <a:off x="7863840" y="2423160"/>
            <a:ext cx="3504895" cy="231648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Help families recognize warning signs, prepare for the conversation, and plan transportation. Never tell a family a person is "safe to drive" — that is a clinical and legal determination.</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Weapons and Dangerous Substances</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Ask every household </a:t>
            </a:r>
            <a:r>
              <a:rPr lang="en-US" sz="1800" dirty="0">
                <a:solidFill>
                  <a:srgbClr val="24302D"/>
                </a:solidFill>
                <a:latin typeface="Calibri" pitchFamily="34" charset="0"/>
                <a:ea typeface="Calibri" pitchFamily="34" charset="-122"/>
                <a:cs typeface="Calibri" pitchFamily="34" charset="-120"/>
              </a:rPr>
              <a:t>whether there are firearms in the home — in a routine, non-judgmental way</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Firearms: </a:t>
            </a:r>
            <a:r>
              <a:rPr lang="en-US" sz="1800" dirty="0">
                <a:solidFill>
                  <a:srgbClr val="24302D"/>
                </a:solidFill>
                <a:latin typeface="Calibri" pitchFamily="34" charset="0"/>
                <a:ea typeface="Calibri" pitchFamily="34" charset="-122"/>
                <a:cs typeface="Calibri" pitchFamily="34" charset="-120"/>
              </a:rPr>
              <a:t>store unloaded and locked, lock ammunition separately, or remove from the home entirely (for example, with a trusted relative)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Other dangerous items: </a:t>
            </a:r>
            <a:r>
              <a:rPr lang="en-US" sz="1800" dirty="0">
                <a:solidFill>
                  <a:srgbClr val="24302D"/>
                </a:solidFill>
                <a:latin typeface="Calibri" pitchFamily="34" charset="0"/>
                <a:ea typeface="Calibri" pitchFamily="34" charset="-122"/>
                <a:cs typeface="Calibri" pitchFamily="34" charset="-120"/>
              </a:rPr>
              <a:t>power tools, knives, lawn equipment, and car keys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Toxic substances: </a:t>
            </a:r>
            <a:r>
              <a:rPr lang="en-US" sz="1800" dirty="0">
                <a:solidFill>
                  <a:srgbClr val="24302D"/>
                </a:solidFill>
                <a:latin typeface="Calibri" pitchFamily="34" charset="0"/>
                <a:ea typeface="Calibri" pitchFamily="34" charset="-122"/>
                <a:cs typeface="Calibri" pitchFamily="34" charset="-120"/>
              </a:rPr>
              <a:t>lock up cleaning products, chemicals, and alcohol; watch for items that look like food or drink</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Medications: </a:t>
            </a:r>
            <a:r>
              <a:rPr lang="en-US" sz="1800" dirty="0">
                <a:solidFill>
                  <a:srgbClr val="24302D"/>
                </a:solidFill>
                <a:latin typeface="Calibri" pitchFamily="34" charset="0"/>
                <a:ea typeface="Calibri" pitchFamily="34" charset="-122"/>
                <a:cs typeface="Calibri" pitchFamily="34" charset="-120"/>
              </a:rPr>
              <a:t>lock up all medicines, including the caregiver's</a:t>
            </a:r>
            <a:endParaRPr lang="en-US" sz="1800" dirty="0"/>
          </a:p>
        </p:txBody>
      </p:sp>
      <p:sp>
        <p:nvSpPr>
          <p:cNvPr id="4" name="Shape 2"/>
          <p:cNvSpPr/>
          <p:nvPr/>
        </p:nvSpPr>
        <p:spPr>
          <a:xfrm>
            <a:off x="7589520" y="1417320"/>
            <a:ext cx="4053535" cy="3149600"/>
          </a:xfrm>
          <a:prstGeom prst="roundRect">
            <a:avLst>
              <a:gd name="adj" fmla="val 3484"/>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A simple script</a:t>
            </a:r>
            <a:endParaRPr lang="en-US" sz="1800" dirty="0"/>
          </a:p>
        </p:txBody>
      </p:sp>
      <p:sp>
        <p:nvSpPr>
          <p:cNvPr id="7" name="Text 4"/>
          <p:cNvSpPr txBox="1"/>
          <p:nvPr/>
        </p:nvSpPr>
        <p:spPr>
          <a:xfrm>
            <a:off x="7863840" y="2423160"/>
            <a:ext cx="3504895" cy="205232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"We ask every family about firearms and other safety items at home, because dementia can affect judgment and recognition. Are there any guns in the home?"</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Recognizing Elder Abuse and Neglect</a:t>
            </a:r>
            <a:endParaRPr lang="en-US" sz="3000" dirty="0"/>
          </a:p>
        </p:txBody>
      </p:sp>
      <p:sp>
        <p:nvSpPr>
          <p:cNvPr id="3" name="Shape 1"/>
          <p:cNvSpPr/>
          <p:nvPr/>
        </p:nvSpPr>
        <p:spPr>
          <a:xfrm>
            <a:off x="548640" y="1417320"/>
            <a:ext cx="351525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Physical Abuse</a:t>
            </a:r>
            <a:endParaRPr lang="en-US" sz="1700" dirty="0"/>
          </a:p>
        </p:txBody>
      </p:sp>
      <p:sp>
        <p:nvSpPr>
          <p:cNvPr id="6" name="Text 3"/>
          <p:cNvSpPr txBox="1"/>
          <p:nvPr/>
        </p:nvSpPr>
        <p:spPr>
          <a:xfrm>
            <a:off x="768096"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Unexplained bruises, burns, or fractures; injuries in various stages of healing.</a:t>
            </a:r>
            <a:endParaRPr lang="en-US" sz="1650" dirty="0"/>
          </a:p>
        </p:txBody>
      </p:sp>
      <p:sp>
        <p:nvSpPr>
          <p:cNvPr id="7" name="Shape 4"/>
          <p:cNvSpPr/>
          <p:nvPr/>
        </p:nvSpPr>
        <p:spPr>
          <a:xfrm>
            <a:off x="4338218" y="1417320"/>
            <a:ext cx="351525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4539386" y="1618488"/>
            <a:ext cx="420624" cy="420624"/>
          </a:xfrm>
          <a:prstGeom prst="rect">
            <a:avLst/>
          </a:prstGeom>
        </p:spPr>
      </p:pic>
      <p:sp>
        <p:nvSpPr>
          <p:cNvPr id="9" name="Text 5"/>
          <p:cNvSpPr txBox="1"/>
          <p:nvPr/>
        </p:nvSpPr>
        <p:spPr>
          <a:xfrm>
            <a:off x="5088026"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Emotional Abuse</a:t>
            </a:r>
            <a:endParaRPr lang="en-US" sz="1700" dirty="0"/>
          </a:p>
        </p:txBody>
      </p:sp>
      <p:sp>
        <p:nvSpPr>
          <p:cNvPr id="10" name="Text 6"/>
          <p:cNvSpPr txBox="1"/>
          <p:nvPr/>
        </p:nvSpPr>
        <p:spPr>
          <a:xfrm>
            <a:off x="4557674"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Yelling, threats, humiliation, isolation; the person seems fearful or withdrawn.</a:t>
            </a:r>
            <a:endParaRPr lang="en-US" sz="1650" dirty="0"/>
          </a:p>
        </p:txBody>
      </p:sp>
      <p:sp>
        <p:nvSpPr>
          <p:cNvPr id="11" name="Shape 7"/>
          <p:cNvSpPr/>
          <p:nvPr/>
        </p:nvSpPr>
        <p:spPr>
          <a:xfrm>
            <a:off x="8127797" y="1417320"/>
            <a:ext cx="351525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8328965" y="1618488"/>
            <a:ext cx="420624" cy="420624"/>
          </a:xfrm>
          <a:prstGeom prst="rect">
            <a:avLst/>
          </a:prstGeom>
        </p:spPr>
      </p:pic>
      <p:sp>
        <p:nvSpPr>
          <p:cNvPr id="13" name="Text 8"/>
          <p:cNvSpPr txBox="1"/>
          <p:nvPr/>
        </p:nvSpPr>
        <p:spPr>
          <a:xfrm>
            <a:off x="8877605"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Sexual Abuse</a:t>
            </a:r>
            <a:endParaRPr lang="en-US" sz="1700" dirty="0"/>
          </a:p>
        </p:txBody>
      </p:sp>
      <p:sp>
        <p:nvSpPr>
          <p:cNvPr id="14" name="Text 9"/>
          <p:cNvSpPr txBox="1"/>
          <p:nvPr/>
        </p:nvSpPr>
        <p:spPr>
          <a:xfrm>
            <a:off x="8347253"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Any non-consensual sexual contact; unexplained genital injury or infection.</a:t>
            </a:r>
            <a:endParaRPr lang="en-US" sz="1650" dirty="0"/>
          </a:p>
        </p:txBody>
      </p:sp>
      <p:sp>
        <p:nvSpPr>
          <p:cNvPr id="15" name="Shape 10"/>
          <p:cNvSpPr/>
          <p:nvPr/>
        </p:nvSpPr>
        <p:spPr>
          <a:xfrm>
            <a:off x="548640" y="3909060"/>
            <a:ext cx="351525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749808" y="4110228"/>
            <a:ext cx="420624" cy="420624"/>
          </a:xfrm>
          <a:prstGeom prst="rect">
            <a:avLst/>
          </a:prstGeom>
        </p:spPr>
      </p:pic>
      <p:sp>
        <p:nvSpPr>
          <p:cNvPr id="17" name="Text 11"/>
          <p:cNvSpPr txBox="1"/>
          <p:nvPr/>
        </p:nvSpPr>
        <p:spPr>
          <a:xfrm>
            <a:off x="1298448"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Neglect</a:t>
            </a:r>
            <a:endParaRPr lang="en-US" sz="1700" dirty="0"/>
          </a:p>
        </p:txBody>
      </p:sp>
      <p:sp>
        <p:nvSpPr>
          <p:cNvPr id="18" name="Text 12"/>
          <p:cNvSpPr txBox="1"/>
          <p:nvPr/>
        </p:nvSpPr>
        <p:spPr>
          <a:xfrm>
            <a:off x="768096"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Poor hygiene, weight loss, pressure sores, missing aids, unsafe conditions.</a:t>
            </a:r>
            <a:endParaRPr lang="en-US" sz="1650" dirty="0"/>
          </a:p>
        </p:txBody>
      </p:sp>
      <p:sp>
        <p:nvSpPr>
          <p:cNvPr id="19" name="Shape 13"/>
          <p:cNvSpPr/>
          <p:nvPr/>
        </p:nvSpPr>
        <p:spPr>
          <a:xfrm>
            <a:off x="4338218" y="3909060"/>
            <a:ext cx="3515258" cy="2217420"/>
          </a:xfrm>
          <a:prstGeom prst="roundRect">
            <a:avLst>
              <a:gd name="adj" fmla="val 4948"/>
            </a:avLst>
          </a:prstGeom>
          <a:solidFill>
            <a:srgbClr val="E8F1EF"/>
          </a:solidFill>
          <a:ln w="12700">
            <a:solidFill>
              <a:srgbClr val="E8F1EF"/>
            </a:solidFill>
            <a:prstDash val="solid"/>
          </a:ln>
        </p:spPr>
      </p:sp>
      <p:pic>
        <p:nvPicPr>
          <p:cNvPr id="20" name="Image 4" descr="preencoded.png">    </p:cNvPr>
          <p:cNvPicPr>
            <a:picLocks noChangeAspect="1"/>
          </p:cNvPicPr>
          <p:nvPr/>
        </p:nvPicPr>
        <p:blipFill>
          <a:blip r:embed="rId5"/>
          <a:stretch>
            <a:fillRect/>
          </a:stretch>
        </p:blipFill>
        <p:spPr>
          <a:xfrm>
            <a:off x="4539386" y="4110228"/>
            <a:ext cx="420624" cy="420624"/>
          </a:xfrm>
          <a:prstGeom prst="rect">
            <a:avLst/>
          </a:prstGeom>
        </p:spPr>
      </p:pic>
      <p:sp>
        <p:nvSpPr>
          <p:cNvPr id="21" name="Text 14"/>
          <p:cNvSpPr txBox="1"/>
          <p:nvPr/>
        </p:nvSpPr>
        <p:spPr>
          <a:xfrm>
            <a:off x="5088026"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Self-Neglect</a:t>
            </a:r>
            <a:endParaRPr lang="en-US" sz="1700" dirty="0"/>
          </a:p>
        </p:txBody>
      </p:sp>
      <p:sp>
        <p:nvSpPr>
          <p:cNvPr id="22" name="Text 15"/>
          <p:cNvSpPr txBox="1"/>
          <p:nvPr/>
        </p:nvSpPr>
        <p:spPr>
          <a:xfrm>
            <a:off x="4557674"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A person living alone who can no longer meet their own basic needs.</a:t>
            </a:r>
            <a:endParaRPr lang="en-US" sz="1650" dirty="0"/>
          </a:p>
        </p:txBody>
      </p:sp>
      <p:sp>
        <p:nvSpPr>
          <p:cNvPr id="23" name="Shape 16"/>
          <p:cNvSpPr/>
          <p:nvPr/>
        </p:nvSpPr>
        <p:spPr>
          <a:xfrm>
            <a:off x="8127797" y="3909060"/>
            <a:ext cx="3515258" cy="2217420"/>
          </a:xfrm>
          <a:prstGeom prst="roundRect">
            <a:avLst>
              <a:gd name="adj" fmla="val 4948"/>
            </a:avLst>
          </a:prstGeom>
          <a:solidFill>
            <a:srgbClr val="E8F1EF"/>
          </a:solidFill>
          <a:ln w="12700">
            <a:solidFill>
              <a:srgbClr val="E8F1EF"/>
            </a:solidFill>
            <a:prstDash val="solid"/>
          </a:ln>
        </p:spPr>
      </p:sp>
      <p:pic>
        <p:nvPicPr>
          <p:cNvPr id="24" name="Image 5" descr="preencoded.png">    </p:cNvPr>
          <p:cNvPicPr>
            <a:picLocks noChangeAspect="1"/>
          </p:cNvPicPr>
          <p:nvPr/>
        </p:nvPicPr>
        <p:blipFill>
          <a:blip r:embed="rId6"/>
          <a:stretch>
            <a:fillRect/>
          </a:stretch>
        </p:blipFill>
        <p:spPr>
          <a:xfrm>
            <a:off x="8328965" y="4110228"/>
            <a:ext cx="420624" cy="420624"/>
          </a:xfrm>
          <a:prstGeom prst="rect">
            <a:avLst/>
          </a:prstGeom>
        </p:spPr>
      </p:pic>
      <p:sp>
        <p:nvSpPr>
          <p:cNvPr id="25" name="Text 17"/>
          <p:cNvSpPr txBox="1"/>
          <p:nvPr/>
        </p:nvSpPr>
        <p:spPr>
          <a:xfrm>
            <a:off x="8877605"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Financial Exploitation</a:t>
            </a:r>
            <a:endParaRPr lang="en-US" sz="1700" dirty="0"/>
          </a:p>
        </p:txBody>
      </p:sp>
      <p:sp>
        <p:nvSpPr>
          <p:cNvPr id="26" name="Text 18"/>
          <p:cNvSpPr txBox="1"/>
          <p:nvPr/>
        </p:nvSpPr>
        <p:spPr>
          <a:xfrm>
            <a:off x="8347253"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Missing money, sudden changes to wills or accounts, new "friends."</a:t>
            </a:r>
            <a:endParaRPr lang="en-US" sz="1650" dirty="0"/>
          </a:p>
        </p:txBody>
      </p:sp>
      <p:pic>
        <p:nvPicPr>
          <p:cNvPr id="27" name="Image 6" descr="preencoded.png">    </p:cNvPr>
          <p:cNvPicPr>
            <a:picLocks noChangeAspect="1"/>
          </p:cNvPicPr>
          <p:nvPr/>
        </p:nvPicPr>
        <p:blipFill>
          <a:blip r:embed="rId7"/>
          <a:stretch>
            <a:fillRect/>
          </a:stretch>
        </p:blipFill>
        <p:spPr>
          <a:xfrm>
            <a:off x="548640" y="6309360"/>
            <a:ext cx="874762" cy="365760"/>
          </a:xfrm>
          <a:prstGeom prst="rect">
            <a:avLst/>
          </a:prstGeom>
        </p:spPr>
      </p:pic>
      <p:sp>
        <p:nvSpPr>
          <p:cNvPr id="28" name="Text 1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29" name="Text 2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Financial Exploitation and Reporting</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Red flags: </a:t>
            </a:r>
            <a:r>
              <a:rPr lang="en-US" sz="1800" dirty="0">
                <a:solidFill>
                  <a:srgbClr val="24302D"/>
                </a:solidFill>
                <a:latin typeface="Calibri" pitchFamily="34" charset="0"/>
                <a:ea typeface="Calibri" pitchFamily="34" charset="-122"/>
                <a:cs typeface="Calibri" pitchFamily="34" charset="-120"/>
              </a:rPr>
              <a:t>unpaid bills despite adequate income, large withdrawals, new names on accounts, gift cards, lottery or romance scams, a caregiver controlling all mail</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Suspicion is enough: </a:t>
            </a:r>
            <a:r>
              <a:rPr lang="en-US" sz="1800" dirty="0">
                <a:solidFill>
                  <a:srgbClr val="24302D"/>
                </a:solidFill>
                <a:latin typeface="Calibri" pitchFamily="34" charset="0"/>
                <a:ea typeface="Calibri" pitchFamily="34" charset="-122"/>
                <a:cs typeface="Calibri" pitchFamily="34" charset="-120"/>
              </a:rPr>
              <a:t>you do not need proof to make a report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Florida: </a:t>
            </a:r>
            <a:r>
              <a:rPr lang="en-US" sz="1800" dirty="0">
                <a:solidFill>
                  <a:srgbClr val="24302D"/>
                </a:solidFill>
                <a:latin typeface="Calibri" pitchFamily="34" charset="0"/>
                <a:ea typeface="Calibri" pitchFamily="34" charset="-122"/>
                <a:cs typeface="Calibri" pitchFamily="34" charset="-120"/>
              </a:rPr>
              <a:t>Florida Abuse Hotline, 1-800-962-2873 (1-800-96-ABUSE), or report online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Ohio: </a:t>
            </a:r>
            <a:r>
              <a:rPr lang="en-US" sz="1800" dirty="0">
                <a:solidFill>
                  <a:srgbClr val="24302D"/>
                </a:solidFill>
                <a:latin typeface="Calibri" pitchFamily="34" charset="0"/>
                <a:ea typeface="Calibri" pitchFamily="34" charset="-122"/>
                <a:cs typeface="Calibri" pitchFamily="34" charset="-120"/>
              </a:rPr>
              <a:t>Adult Protective Services, 1-855-644-6277 (1-855-OHIO-APS)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Immediate danger: </a:t>
            </a:r>
            <a:r>
              <a:rPr lang="en-US" sz="1800" dirty="0">
                <a:solidFill>
                  <a:srgbClr val="24302D"/>
                </a:solidFill>
                <a:latin typeface="Calibri" pitchFamily="34" charset="0"/>
                <a:ea typeface="Calibri" pitchFamily="34" charset="-122"/>
                <a:cs typeface="Calibri" pitchFamily="34" charset="-120"/>
              </a:rPr>
              <a:t>call 911 first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Tell your supervisor </a:t>
            </a:r>
            <a:r>
              <a:rPr lang="en-US" sz="1800" dirty="0">
                <a:solidFill>
                  <a:srgbClr val="24302D"/>
                </a:solidFill>
                <a:latin typeface="Calibri" pitchFamily="34" charset="0"/>
                <a:ea typeface="Calibri" pitchFamily="34" charset="-122"/>
                <a:cs typeface="Calibri" pitchFamily="34" charset="-120"/>
              </a:rPr>
              <a:t>and document per AbleLiving/MPS policy</a:t>
            </a:r>
            <a:endParaRPr lang="en-US" sz="1800" dirty="0"/>
          </a:p>
        </p:txBody>
      </p:sp>
      <p:sp>
        <p:nvSpPr>
          <p:cNvPr id="4" name="Shape 2"/>
          <p:cNvSpPr/>
          <p:nvPr/>
        </p:nvSpPr>
        <p:spPr>
          <a:xfrm>
            <a:off x="7589520" y="1417320"/>
            <a:ext cx="4053535" cy="3942080"/>
          </a:xfrm>
          <a:prstGeom prst="roundRect">
            <a:avLst>
              <a:gd name="adj" fmla="val 2784"/>
            </a:avLst>
          </a:prstGeom>
          <a:solidFill>
            <a:srgbClr val="F8EFDF"/>
          </a:solidFill>
          <a:ln w="12700">
            <a:solidFill>
              <a:srgbClr val="F8EFD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C78F2E"/>
                </a:solidFill>
                <a:latin typeface="Cambria" pitchFamily="34" charset="0"/>
                <a:ea typeface="Cambria" pitchFamily="34" charset="-122"/>
                <a:cs typeface="Cambria" pitchFamily="34" charset="-120"/>
              </a:rPr>
              <a:t>Mandatory reporting</a:t>
            </a:r>
            <a:endParaRPr lang="en-US" sz="1800" dirty="0"/>
          </a:p>
        </p:txBody>
      </p:sp>
      <p:sp>
        <p:nvSpPr>
          <p:cNvPr id="7" name="Text 4"/>
          <p:cNvSpPr txBox="1"/>
          <p:nvPr/>
        </p:nvSpPr>
        <p:spPr>
          <a:xfrm>
            <a:off x="7863840" y="2423160"/>
            <a:ext cx="3504895" cy="284480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Florida and Ohio both require certain professionals to report suspected abuse, neglect, or exploitation of vulnerable adults. Follow AbleLiving/MPS policy, which may require every staff member to report. Verify hotline numbers annually.</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Common Scams Targeting Older Adults</a:t>
            </a:r>
            <a:endParaRPr lang="en-US" sz="3000" dirty="0"/>
          </a:p>
        </p:txBody>
      </p:sp>
      <p:sp>
        <p:nvSpPr>
          <p:cNvPr id="3" name="Shape 1"/>
          <p:cNvSpPr/>
          <p:nvPr/>
        </p:nvSpPr>
        <p:spPr>
          <a:xfrm>
            <a:off x="548640" y="1417320"/>
            <a:ext cx="351525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Impostor Calls</a:t>
            </a:r>
            <a:endParaRPr lang="en-US" sz="1700" dirty="0"/>
          </a:p>
        </p:txBody>
      </p:sp>
      <p:sp>
        <p:nvSpPr>
          <p:cNvPr id="6" name="Text 3"/>
          <p:cNvSpPr txBox="1"/>
          <p:nvPr/>
        </p:nvSpPr>
        <p:spPr>
          <a:xfrm>
            <a:off x="768096"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Callers pretending to be Medicare, the IRS, Social Security, or the bank.</a:t>
            </a:r>
            <a:endParaRPr lang="en-US" sz="1650" dirty="0"/>
          </a:p>
        </p:txBody>
      </p:sp>
      <p:sp>
        <p:nvSpPr>
          <p:cNvPr id="7" name="Shape 4"/>
          <p:cNvSpPr/>
          <p:nvPr/>
        </p:nvSpPr>
        <p:spPr>
          <a:xfrm>
            <a:off x="4338218" y="1417320"/>
            <a:ext cx="351525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4539386" y="1618488"/>
            <a:ext cx="420624" cy="420624"/>
          </a:xfrm>
          <a:prstGeom prst="rect">
            <a:avLst/>
          </a:prstGeom>
        </p:spPr>
      </p:pic>
      <p:sp>
        <p:nvSpPr>
          <p:cNvPr id="9" name="Text 5"/>
          <p:cNvSpPr txBox="1"/>
          <p:nvPr/>
        </p:nvSpPr>
        <p:spPr>
          <a:xfrm>
            <a:off x="5088026"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Grandparent Scam</a:t>
            </a:r>
            <a:endParaRPr lang="en-US" sz="1700" dirty="0"/>
          </a:p>
        </p:txBody>
      </p:sp>
      <p:sp>
        <p:nvSpPr>
          <p:cNvPr id="10" name="Text 6"/>
          <p:cNvSpPr txBox="1"/>
          <p:nvPr/>
        </p:nvSpPr>
        <p:spPr>
          <a:xfrm>
            <a:off x="4557674"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"Your grandson is in jail and needs bail money — don't tell anyone."</a:t>
            </a:r>
            <a:endParaRPr lang="en-US" sz="1650" dirty="0"/>
          </a:p>
        </p:txBody>
      </p:sp>
      <p:sp>
        <p:nvSpPr>
          <p:cNvPr id="11" name="Shape 7"/>
          <p:cNvSpPr/>
          <p:nvPr/>
        </p:nvSpPr>
        <p:spPr>
          <a:xfrm>
            <a:off x="8127797" y="1417320"/>
            <a:ext cx="351525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8328965" y="1618488"/>
            <a:ext cx="420624" cy="420624"/>
          </a:xfrm>
          <a:prstGeom prst="rect">
            <a:avLst/>
          </a:prstGeom>
        </p:spPr>
      </p:pic>
      <p:sp>
        <p:nvSpPr>
          <p:cNvPr id="13" name="Text 8"/>
          <p:cNvSpPr txBox="1"/>
          <p:nvPr/>
        </p:nvSpPr>
        <p:spPr>
          <a:xfrm>
            <a:off x="8877605"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Romance Scams</a:t>
            </a:r>
            <a:endParaRPr lang="en-US" sz="1700" dirty="0"/>
          </a:p>
        </p:txBody>
      </p:sp>
      <p:sp>
        <p:nvSpPr>
          <p:cNvPr id="14" name="Text 9"/>
          <p:cNvSpPr txBox="1"/>
          <p:nvPr/>
        </p:nvSpPr>
        <p:spPr>
          <a:xfrm>
            <a:off x="8347253"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An online "friend" who needs money for an emergency or travel.</a:t>
            </a:r>
            <a:endParaRPr lang="en-US" sz="1650" dirty="0"/>
          </a:p>
        </p:txBody>
      </p:sp>
      <p:sp>
        <p:nvSpPr>
          <p:cNvPr id="15" name="Shape 10"/>
          <p:cNvSpPr/>
          <p:nvPr/>
        </p:nvSpPr>
        <p:spPr>
          <a:xfrm>
            <a:off x="548640" y="3909060"/>
            <a:ext cx="351525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749808" y="4110228"/>
            <a:ext cx="420624" cy="420624"/>
          </a:xfrm>
          <a:prstGeom prst="rect">
            <a:avLst/>
          </a:prstGeom>
        </p:spPr>
      </p:pic>
      <p:sp>
        <p:nvSpPr>
          <p:cNvPr id="17" name="Text 11"/>
          <p:cNvSpPr txBox="1"/>
          <p:nvPr/>
        </p:nvSpPr>
        <p:spPr>
          <a:xfrm>
            <a:off x="1298448"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Prize &amp; Lottery</a:t>
            </a:r>
            <a:endParaRPr lang="en-US" sz="1700" dirty="0"/>
          </a:p>
        </p:txBody>
      </p:sp>
      <p:sp>
        <p:nvSpPr>
          <p:cNvPr id="18" name="Text 12"/>
          <p:cNvSpPr txBox="1"/>
          <p:nvPr/>
        </p:nvSpPr>
        <p:spPr>
          <a:xfrm>
            <a:off x="768096"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"You've won! Just pay the taxes and fees first."</a:t>
            </a:r>
            <a:endParaRPr lang="en-US" sz="1650" dirty="0"/>
          </a:p>
        </p:txBody>
      </p:sp>
      <p:sp>
        <p:nvSpPr>
          <p:cNvPr id="19" name="Shape 13"/>
          <p:cNvSpPr/>
          <p:nvPr/>
        </p:nvSpPr>
        <p:spPr>
          <a:xfrm>
            <a:off x="4338218" y="3909060"/>
            <a:ext cx="3515258" cy="2217420"/>
          </a:xfrm>
          <a:prstGeom prst="roundRect">
            <a:avLst>
              <a:gd name="adj" fmla="val 4948"/>
            </a:avLst>
          </a:prstGeom>
          <a:solidFill>
            <a:srgbClr val="E8F1EF"/>
          </a:solidFill>
          <a:ln w="12700">
            <a:solidFill>
              <a:srgbClr val="E8F1EF"/>
            </a:solidFill>
            <a:prstDash val="solid"/>
          </a:ln>
        </p:spPr>
      </p:sp>
      <p:pic>
        <p:nvPicPr>
          <p:cNvPr id="20" name="Image 4" descr="preencoded.png">    </p:cNvPr>
          <p:cNvPicPr>
            <a:picLocks noChangeAspect="1"/>
          </p:cNvPicPr>
          <p:nvPr/>
        </p:nvPicPr>
        <p:blipFill>
          <a:blip r:embed="rId5"/>
          <a:stretch>
            <a:fillRect/>
          </a:stretch>
        </p:blipFill>
        <p:spPr>
          <a:xfrm>
            <a:off x="4539386" y="4110228"/>
            <a:ext cx="420624" cy="420624"/>
          </a:xfrm>
          <a:prstGeom prst="rect">
            <a:avLst/>
          </a:prstGeom>
        </p:spPr>
      </p:pic>
      <p:sp>
        <p:nvSpPr>
          <p:cNvPr id="21" name="Text 14"/>
          <p:cNvSpPr txBox="1"/>
          <p:nvPr/>
        </p:nvSpPr>
        <p:spPr>
          <a:xfrm>
            <a:off x="5088026"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Home Repair</a:t>
            </a:r>
            <a:endParaRPr lang="en-US" sz="1700" dirty="0"/>
          </a:p>
        </p:txBody>
      </p:sp>
      <p:sp>
        <p:nvSpPr>
          <p:cNvPr id="22" name="Text 15"/>
          <p:cNvSpPr txBox="1"/>
          <p:nvPr/>
        </p:nvSpPr>
        <p:spPr>
          <a:xfrm>
            <a:off x="4557674"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Door-to-door contractors demanding payment up front.</a:t>
            </a:r>
            <a:endParaRPr lang="en-US" sz="1650" dirty="0"/>
          </a:p>
        </p:txBody>
      </p:sp>
      <p:sp>
        <p:nvSpPr>
          <p:cNvPr id="23" name="Shape 16"/>
          <p:cNvSpPr/>
          <p:nvPr/>
        </p:nvSpPr>
        <p:spPr>
          <a:xfrm>
            <a:off x="8127797" y="3909060"/>
            <a:ext cx="3515258" cy="2217420"/>
          </a:xfrm>
          <a:prstGeom prst="roundRect">
            <a:avLst>
              <a:gd name="adj" fmla="val 4948"/>
            </a:avLst>
          </a:prstGeom>
          <a:solidFill>
            <a:srgbClr val="E8F1EF"/>
          </a:solidFill>
          <a:ln w="12700">
            <a:solidFill>
              <a:srgbClr val="E8F1EF"/>
            </a:solidFill>
            <a:prstDash val="solid"/>
          </a:ln>
        </p:spPr>
      </p:sp>
      <p:pic>
        <p:nvPicPr>
          <p:cNvPr id="24" name="Image 5" descr="preencoded.png">    </p:cNvPr>
          <p:cNvPicPr>
            <a:picLocks noChangeAspect="1"/>
          </p:cNvPicPr>
          <p:nvPr/>
        </p:nvPicPr>
        <p:blipFill>
          <a:blip r:embed="rId6"/>
          <a:stretch>
            <a:fillRect/>
          </a:stretch>
        </p:blipFill>
        <p:spPr>
          <a:xfrm>
            <a:off x="8328965" y="4110228"/>
            <a:ext cx="420624" cy="420624"/>
          </a:xfrm>
          <a:prstGeom prst="rect">
            <a:avLst/>
          </a:prstGeom>
        </p:spPr>
      </p:pic>
      <p:sp>
        <p:nvSpPr>
          <p:cNvPr id="25" name="Text 17"/>
          <p:cNvSpPr txBox="1"/>
          <p:nvPr/>
        </p:nvSpPr>
        <p:spPr>
          <a:xfrm>
            <a:off x="8877605"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Gift Card Requests</a:t>
            </a:r>
            <a:endParaRPr lang="en-US" sz="1700" dirty="0"/>
          </a:p>
        </p:txBody>
      </p:sp>
      <p:sp>
        <p:nvSpPr>
          <p:cNvPr id="26" name="Text 18"/>
          <p:cNvSpPr txBox="1"/>
          <p:nvPr/>
        </p:nvSpPr>
        <p:spPr>
          <a:xfrm>
            <a:off x="8347253"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Any request to pay by gift card is a red flag.</a:t>
            </a:r>
            <a:endParaRPr lang="en-US" sz="1650" dirty="0"/>
          </a:p>
        </p:txBody>
      </p:sp>
      <p:pic>
        <p:nvPicPr>
          <p:cNvPr id="27" name="Image 6" descr="preencoded.png">    </p:cNvPr>
          <p:cNvPicPr>
            <a:picLocks noChangeAspect="1"/>
          </p:cNvPicPr>
          <p:nvPr/>
        </p:nvPicPr>
        <p:blipFill>
          <a:blip r:embed="rId7"/>
          <a:stretch>
            <a:fillRect/>
          </a:stretch>
        </p:blipFill>
        <p:spPr>
          <a:xfrm>
            <a:off x="548640" y="6309360"/>
            <a:ext cx="874762" cy="365760"/>
          </a:xfrm>
          <a:prstGeom prst="rect">
            <a:avLst/>
          </a:prstGeom>
        </p:spPr>
      </p:pic>
      <p:sp>
        <p:nvSpPr>
          <p:cNvPr id="28" name="Text 1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29" name="Text 2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Case Study</a:t>
            </a:r>
            <a:endParaRPr lang="en-US" sz="3000" dirty="0"/>
          </a:p>
        </p:txBody>
      </p:sp>
      <p:sp>
        <p:nvSpPr>
          <p:cNvPr id="3" name="Shape 1"/>
          <p:cNvSpPr/>
          <p:nvPr/>
        </p:nvSpPr>
        <p:spPr>
          <a:xfrm>
            <a:off x="548640" y="1417320"/>
            <a:ext cx="6583680" cy="4709160"/>
          </a:xfrm>
          <a:prstGeom prst="roundRect">
            <a:avLst>
              <a:gd name="adj" fmla="val 2330"/>
            </a:avLst>
          </a:prstGeom>
          <a:solidFill>
            <a:srgbClr val="E8F1EF"/>
          </a:solidFill>
          <a:ln w="12700">
            <a:solidFill>
              <a:srgbClr val="E8F1EF"/>
            </a:solidFill>
            <a:prstDash val="solid"/>
          </a:ln>
        </p:spPr>
      </p:sp>
      <p:sp>
        <p:nvSpPr>
          <p:cNvPr id="4" name="Text 2"/>
          <p:cNvSpPr txBox="1"/>
          <p:nvPr/>
        </p:nvSpPr>
        <p:spPr>
          <a:xfrm>
            <a:off x="868680" y="1645920"/>
            <a:ext cx="2743200" cy="274320"/>
          </a:xfrm>
          <a:prstGeom prst="rect">
            <a:avLst/>
          </a:prstGeom>
          <a:noFill/>
          <a:ln/>
        </p:spPr>
        <p:txBody>
          <a:bodyPr wrap="square" lIns="0" tIns="0" rIns="0" bIns="0" rtlCol="0" anchor="t"/>
          <a:lstStyle/>
          <a:p>
            <a:pPr indent="0" marL="0">
              <a:buNone/>
            </a:pPr>
            <a:r>
              <a:rPr lang="en-US" sz="1100" b="1" spc="300" kern="0" dirty="0">
                <a:solidFill>
                  <a:srgbClr val="C78F2E"/>
                </a:solidFill>
                <a:latin typeface="Calibri" pitchFamily="34" charset="0"/>
                <a:ea typeface="Calibri" pitchFamily="34" charset="-122"/>
                <a:cs typeface="Calibri" pitchFamily="34" charset="-120"/>
              </a:rPr>
              <a:t>CASE STUDY</a:t>
            </a:r>
            <a:endParaRPr lang="en-US" sz="1100" dirty="0"/>
          </a:p>
        </p:txBody>
      </p:sp>
      <p:sp>
        <p:nvSpPr>
          <p:cNvPr id="5" name="Text 3"/>
          <p:cNvSpPr txBox="1"/>
          <p:nvPr/>
        </p:nvSpPr>
        <p:spPr>
          <a:xfrm>
            <a:off x="868680" y="1920240"/>
            <a:ext cx="5943600" cy="548640"/>
          </a:xfrm>
          <a:prstGeom prst="rect">
            <a:avLst/>
          </a:prstGeom>
          <a:noFill/>
          <a:ln/>
        </p:spPr>
        <p:txBody>
          <a:bodyPr wrap="square" lIns="0" tIns="0" rIns="0" bIns="0" rtlCol="0" anchor="ctr"/>
          <a:lstStyle/>
          <a:p>
            <a:pPr indent="0" marL="0">
              <a:buNone/>
            </a:pPr>
            <a:r>
              <a:rPr lang="en-US" sz="2200" b="1" dirty="0">
                <a:solidFill>
                  <a:srgbClr val="28695F"/>
                </a:solidFill>
                <a:latin typeface="Cambria" pitchFamily="34" charset="0"/>
                <a:ea typeface="Cambria" pitchFamily="34" charset="-122"/>
                <a:cs typeface="Cambria" pitchFamily="34" charset="-120"/>
              </a:rPr>
              <a:t>Mr. Delgado, age 83</a:t>
            </a:r>
            <a:endParaRPr lang="en-US" sz="2200" dirty="0"/>
          </a:p>
        </p:txBody>
      </p:sp>
      <p:sp>
        <p:nvSpPr>
          <p:cNvPr id="6" name="Text 4"/>
          <p:cNvSpPr txBox="1"/>
          <p:nvPr/>
        </p:nvSpPr>
        <p:spPr>
          <a:xfrm>
            <a:off x="868680" y="2560320"/>
            <a:ext cx="5943600" cy="3383280"/>
          </a:xfrm>
          <a:prstGeom prst="rect">
            <a:avLst/>
          </a:prstGeom>
          <a:noFill/>
          <a:ln/>
        </p:spPr>
        <p:txBody>
          <a:bodyPr wrap="square" lIns="0" tIns="0" rIns="0" bIns="0" rtlCol="0" anchor="t"/>
          <a:lstStyle/>
          <a:p>
            <a:pPr indent="0" marL="0">
              <a:spcAft>
                <a:spcPts val="1000"/>
              </a:spcAft>
              <a:buNone/>
            </a:pPr>
            <a:r>
              <a:rPr lang="en-US" sz="1500" dirty="0">
                <a:solidFill>
                  <a:srgbClr val="24302D"/>
                </a:solidFill>
                <a:latin typeface="Calibri" pitchFamily="34" charset="0"/>
                <a:ea typeface="Calibri" pitchFamily="34" charset="-122"/>
                <a:cs typeface="Calibri" pitchFamily="34" charset="-120"/>
              </a:rPr>
              <a:t>Mr. Delgado has mild-to-moderate vascular dementia and lives alone. His son lives two hours away. During your home visit you notice burned pots in the sink, a stove knob left on, and several pill bottles on the counter with missed doses.</a:t>
            </a:r>
            <a:endParaRPr lang="en-US" sz="1500" dirty="0"/>
          </a:p>
          <a:p>
            <a:pPr indent="0" marL="0">
              <a:spcAft>
                <a:spcPts val="1000"/>
              </a:spcAft>
              <a:buNone/>
            </a:pPr>
            <a:r>
              <a:rPr lang="en-US" sz="1500" dirty="0">
                <a:solidFill>
                  <a:srgbClr val="24302D"/>
                </a:solidFill>
                <a:latin typeface="Calibri" pitchFamily="34" charset="0"/>
                <a:ea typeface="Calibri" pitchFamily="34" charset="-122"/>
                <a:cs typeface="Calibri" pitchFamily="34" charset="-120"/>
              </a:rPr>
              <a:t>Mr. Delgado tells you his new friend "Rick" has been helping him with his bills and recently borrowed his debit card. He also mentions he keeps a loaded handgun in his nightstand "in case someone breaks in," because he has been hearing noises at night.</a:t>
            </a:r>
            <a:endParaRPr lang="en-US" sz="1500" dirty="0"/>
          </a:p>
        </p:txBody>
      </p:sp>
      <p:pic>
        <p:nvPicPr>
          <p:cNvPr id="7" name="Image 0" descr="preencoded.png">    </p:cNvPr>
          <p:cNvPicPr>
            <a:picLocks noChangeAspect="1"/>
          </p:cNvPicPr>
          <p:nvPr/>
        </p:nvPicPr>
        <p:blipFill>
          <a:blip r:embed="rId1"/>
          <a:stretch>
            <a:fillRect/>
          </a:stretch>
        </p:blipFill>
        <p:spPr>
          <a:xfrm>
            <a:off x="7543800" y="1508760"/>
            <a:ext cx="502920" cy="502920"/>
          </a:xfrm>
          <a:prstGeom prst="rect">
            <a:avLst/>
          </a:prstGeom>
        </p:spPr>
      </p:pic>
      <p:sp>
        <p:nvSpPr>
          <p:cNvPr id="8" name="Text 5"/>
          <p:cNvSpPr txBox="1"/>
          <p:nvPr/>
        </p:nvSpPr>
        <p:spPr>
          <a:xfrm>
            <a:off x="8183880" y="1508760"/>
            <a:ext cx="3459175" cy="502920"/>
          </a:xfrm>
          <a:prstGeom prst="rect">
            <a:avLst/>
          </a:prstGeom>
          <a:noFill/>
          <a:ln/>
        </p:spPr>
        <p:txBody>
          <a:bodyPr wrap="square" lIns="0" tIns="0" rIns="0" bIns="0" rtlCol="0" anchor="ctr"/>
          <a:lstStyle/>
          <a:p>
            <a:pPr indent="0" marL="0">
              <a:buNone/>
            </a:pPr>
            <a:r>
              <a:rPr lang="en-US" sz="2000" b="1" dirty="0">
                <a:solidFill>
                  <a:srgbClr val="C78F2E"/>
                </a:solidFill>
                <a:latin typeface="Cambria" pitchFamily="34" charset="0"/>
                <a:ea typeface="Cambria" pitchFamily="34" charset="-122"/>
                <a:cs typeface="Cambria" pitchFamily="34" charset="-120"/>
              </a:rPr>
              <a:t>Discuss</a:t>
            </a:r>
            <a:endParaRPr lang="en-US" sz="2000" dirty="0"/>
          </a:p>
        </p:txBody>
      </p:sp>
      <p:sp>
        <p:nvSpPr>
          <p:cNvPr id="9" name="Text 6"/>
          <p:cNvSpPr txBox="1"/>
          <p:nvPr/>
        </p:nvSpPr>
        <p:spPr>
          <a:xfrm>
            <a:off x="7543800" y="2240280"/>
            <a:ext cx="4099255" cy="3886200"/>
          </a:xfrm>
          <a:prstGeom prst="rect">
            <a:avLst/>
          </a:prstGeom>
          <a:noFill/>
          <a:ln/>
        </p:spPr>
        <p:txBody>
          <a:bodyPr wrap="square" lIns="0" tIns="0" rIns="0" bIns="0" rtlCol="0" anchor="t"/>
          <a:lstStyle/>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List every safety concern you identify.</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Which concerns need action today?</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Who must be notified, and in what order?</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How would you raise the firearm with him?</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What home and medication supports could help him remain at home?</a:t>
            </a:r>
            <a:endParaRPr lang="en-US" sz="1600" dirty="0"/>
          </a:p>
        </p:txBody>
      </p:sp>
      <p:pic>
        <p:nvPicPr>
          <p:cNvPr id="10"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1" name="Text 7"/>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12" name="Text 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Home Safety Walk-Through</a:t>
            </a:r>
            <a:endParaRPr lang="en-US" sz="3000" dirty="0"/>
          </a:p>
        </p:txBody>
      </p:sp>
      <p:sp>
        <p:nvSpPr>
          <p:cNvPr id="3" name="Shape 1"/>
          <p:cNvSpPr/>
          <p:nvPr/>
        </p:nvSpPr>
        <p:spPr>
          <a:xfrm>
            <a:off x="548640" y="1417320"/>
            <a:ext cx="3566160" cy="4709160"/>
          </a:xfrm>
          <a:prstGeom prst="roundRect">
            <a:avLst>
              <a:gd name="adj" fmla="val 3077"/>
            </a:avLst>
          </a:prstGeom>
          <a:solidFill>
            <a:srgbClr val="F8EFDF"/>
          </a:solidFill>
          <a:ln w="12700">
            <a:solidFill>
              <a:srgbClr val="F8EFDF"/>
            </a:solidFill>
            <a:prstDash val="solid"/>
          </a:ln>
        </p:spPr>
      </p:sp>
      <p:sp>
        <p:nvSpPr>
          <p:cNvPr id="4" name="Shape 2"/>
          <p:cNvSpPr/>
          <p:nvPr/>
        </p:nvSpPr>
        <p:spPr>
          <a:xfrm>
            <a:off x="1691640" y="1783080"/>
            <a:ext cx="1280160" cy="1280160"/>
          </a:xfrm>
          <a:prstGeom prst="ellipse">
            <a:avLst/>
          </a:prstGeom>
          <a:solidFill>
            <a:srgbClr val="C78F2E"/>
          </a:solidFill>
          <a:ln w="12700">
            <a:solidFill>
              <a:srgbClr val="C78F2E"/>
            </a:solidFill>
            <a:prstDash val="solid"/>
          </a:ln>
        </p:spPr>
      </p:sp>
      <p:pic>
        <p:nvPicPr>
          <p:cNvPr id="5" name="Image 0" descr="preencoded.png">    </p:cNvPr>
          <p:cNvPicPr>
            <a:picLocks noChangeAspect="1"/>
          </p:cNvPicPr>
          <p:nvPr/>
        </p:nvPicPr>
        <p:blipFill>
          <a:blip r:embed="rId1"/>
          <a:stretch>
            <a:fillRect/>
          </a:stretch>
        </p:blipFill>
        <p:spPr>
          <a:xfrm>
            <a:off x="1965960" y="2057400"/>
            <a:ext cx="731520" cy="731520"/>
          </a:xfrm>
          <a:prstGeom prst="rect">
            <a:avLst/>
          </a:prstGeom>
        </p:spPr>
      </p:pic>
      <p:sp>
        <p:nvSpPr>
          <p:cNvPr id="6" name="Text 3"/>
          <p:cNvSpPr txBox="1"/>
          <p:nvPr/>
        </p:nvSpPr>
        <p:spPr>
          <a:xfrm>
            <a:off x="548640" y="3246120"/>
            <a:ext cx="3566160" cy="320040"/>
          </a:xfrm>
          <a:prstGeom prst="rect">
            <a:avLst/>
          </a:prstGeom>
          <a:noFill/>
          <a:ln/>
        </p:spPr>
        <p:txBody>
          <a:bodyPr wrap="square" lIns="0" tIns="0" rIns="0" bIns="0" rtlCol="0" anchor="t"/>
          <a:lstStyle/>
          <a:p>
            <a:pPr algn="ctr" indent="0" marL="0">
              <a:buNone/>
            </a:pPr>
            <a:r>
              <a:rPr lang="en-US" sz="1200" b="1" spc="300" kern="0" dirty="0">
                <a:solidFill>
                  <a:srgbClr val="C78F2E"/>
                </a:solidFill>
                <a:latin typeface="Calibri" pitchFamily="34" charset="0"/>
                <a:ea typeface="Calibri" pitchFamily="34" charset="-122"/>
                <a:cs typeface="Calibri" pitchFamily="34" charset="-120"/>
              </a:rPr>
              <a:t>ACTIVITY</a:t>
            </a:r>
            <a:endParaRPr lang="en-US" sz="1200" dirty="0"/>
          </a:p>
        </p:txBody>
      </p:sp>
      <p:sp>
        <p:nvSpPr>
          <p:cNvPr id="7" name="Text 4"/>
          <p:cNvSpPr txBox="1"/>
          <p:nvPr/>
        </p:nvSpPr>
        <p:spPr>
          <a:xfrm>
            <a:off x="548640" y="3611880"/>
            <a:ext cx="3566160" cy="548640"/>
          </a:xfrm>
          <a:prstGeom prst="rect">
            <a:avLst/>
          </a:prstGeom>
          <a:noFill/>
          <a:ln/>
        </p:spPr>
        <p:txBody>
          <a:bodyPr wrap="square" lIns="0" tIns="0" rIns="0" bIns="0" rtlCol="0" anchor="ctr"/>
          <a:lstStyle/>
          <a:p>
            <a:pPr algn="ctr" indent="0" marL="0">
              <a:buNone/>
            </a:pPr>
            <a:r>
              <a:rPr lang="en-US" sz="2600" b="1" dirty="0">
                <a:solidFill>
                  <a:srgbClr val="28695F"/>
                </a:solidFill>
                <a:latin typeface="Cambria" pitchFamily="34" charset="0"/>
                <a:ea typeface="Cambria" pitchFamily="34" charset="-122"/>
                <a:cs typeface="Cambria" pitchFamily="34" charset="-120"/>
              </a:rPr>
              <a:t>15 minutes</a:t>
            </a:r>
            <a:endParaRPr lang="en-US" sz="2600" dirty="0"/>
          </a:p>
        </p:txBody>
      </p:sp>
      <p:sp>
        <p:nvSpPr>
          <p:cNvPr id="8" name="Text 5"/>
          <p:cNvSpPr txBox="1"/>
          <p:nvPr/>
        </p:nvSpPr>
        <p:spPr>
          <a:xfrm>
            <a:off x="822960" y="4251960"/>
            <a:ext cx="3017520" cy="1645920"/>
          </a:xfrm>
          <a:prstGeom prst="rect">
            <a:avLst/>
          </a:prstGeom>
          <a:noFill/>
          <a:ln/>
        </p:spPr>
        <p:txBody>
          <a:bodyPr wrap="square" lIns="0" tIns="0" rIns="0" bIns="0" rtlCol="0" anchor="t"/>
          <a:lstStyle/>
          <a:p>
            <a:pPr algn="ctr" indent="0" marL="0">
              <a:buNone/>
            </a:pPr>
            <a:r>
              <a:rPr lang="en-US" sz="1500" dirty="0">
                <a:solidFill>
                  <a:srgbClr val="24302D"/>
                </a:solidFill>
                <a:latin typeface="Calibri" pitchFamily="34" charset="0"/>
                <a:ea typeface="Calibri" pitchFamily="34" charset="-122"/>
                <a:cs typeface="Calibri" pitchFamily="34" charset="-120"/>
              </a:rPr>
              <a:t>Small groups with a home floor plan and a safety checklist</a:t>
            </a:r>
            <a:endParaRPr lang="en-US" sz="1500" dirty="0"/>
          </a:p>
        </p:txBody>
      </p:sp>
      <p:sp>
        <p:nvSpPr>
          <p:cNvPr id="9" name="Text 6"/>
          <p:cNvSpPr txBox="1"/>
          <p:nvPr/>
        </p:nvSpPr>
        <p:spPr>
          <a:xfrm>
            <a:off x="4526280" y="1417320"/>
            <a:ext cx="7116775" cy="502920"/>
          </a:xfrm>
          <a:prstGeom prst="rect">
            <a:avLst/>
          </a:prstGeom>
          <a:noFill/>
          <a:ln/>
        </p:spPr>
        <p:txBody>
          <a:bodyPr wrap="square" lIns="0" tIns="0" rIns="0" bIns="0" rtlCol="0" anchor="ctr"/>
          <a:lstStyle/>
          <a:p>
            <a:pPr indent="0" marL="0">
              <a:buNone/>
            </a:pPr>
            <a:r>
              <a:rPr lang="en-US" sz="2000" b="1" dirty="0">
                <a:solidFill>
                  <a:srgbClr val="28695F"/>
                </a:solidFill>
                <a:latin typeface="Cambria" pitchFamily="34" charset="0"/>
                <a:ea typeface="Cambria" pitchFamily="34" charset="-122"/>
                <a:cs typeface="Cambria" pitchFamily="34" charset="-120"/>
              </a:rPr>
              <a:t>Instructions</a:t>
            </a:r>
            <a:endParaRPr lang="en-US" sz="2000" dirty="0"/>
          </a:p>
        </p:txBody>
      </p:sp>
      <p:sp>
        <p:nvSpPr>
          <p:cNvPr id="10" name="Text 7"/>
          <p:cNvSpPr txBox="1"/>
          <p:nvPr/>
        </p:nvSpPr>
        <p:spPr>
          <a:xfrm>
            <a:off x="4526280" y="2103120"/>
            <a:ext cx="7116775" cy="4023360"/>
          </a:xfrm>
          <a:prstGeom prst="rect">
            <a:avLst/>
          </a:prstGeom>
          <a:noFill/>
          <a:ln/>
        </p:spPr>
        <p:txBody>
          <a:bodyPr wrap="square" lIns="0" tIns="0" rIns="0" bIns="0" rtlCol="0" anchor="t"/>
          <a:lstStyle/>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Review the floor plan and scenario provided</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Walk through each room and mark hazards on the plan</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Identify the top three risks for this household</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Recommend low-cost fixes for each</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Decide which items need a clinician or OT referral</a:t>
            </a:r>
            <a:endParaRPr lang="en-US" sz="1600" dirty="0"/>
          </a:p>
        </p:txBody>
      </p:sp>
      <p:pic>
        <p:nvPicPr>
          <p:cNvPr id="11"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2" name="Text 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13" name="Text 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Knowledge Check</a:t>
            </a:r>
            <a:endParaRPr lang="en-US" sz="3000" dirty="0"/>
          </a:p>
        </p:txBody>
      </p:sp>
      <p:sp>
        <p:nvSpPr>
          <p:cNvPr id="3" name="Text 1"/>
          <p:cNvSpPr txBox="1"/>
          <p:nvPr/>
        </p:nvSpPr>
        <p:spPr>
          <a:xfrm>
            <a:off x="548640" y="1371600"/>
            <a:ext cx="11094415" cy="1097280"/>
          </a:xfrm>
          <a:prstGeom prst="rect">
            <a:avLst/>
          </a:prstGeom>
          <a:noFill/>
          <a:ln/>
        </p:spPr>
        <p:txBody>
          <a:bodyPr wrap="square" lIns="0" tIns="0" rIns="0" bIns="0" rtlCol="0" anchor="ctr"/>
          <a:lstStyle/>
          <a:p>
            <a:pPr indent="0" marL="0">
              <a:buNone/>
            </a:pPr>
            <a:r>
              <a:rPr lang="en-US" sz="2200" dirty="0">
                <a:solidFill>
                  <a:srgbClr val="24302D"/>
                </a:solidFill>
                <a:latin typeface="Cambria" pitchFamily="34" charset="0"/>
                <a:ea typeface="Cambria" pitchFamily="34" charset="-122"/>
                <a:cs typeface="Cambria" pitchFamily="34" charset="-120"/>
              </a:rPr>
              <a:t>Which set of activities is typically lost FIRST in dementia?</a:t>
            </a:r>
            <a:endParaRPr lang="en-US" sz="2200" dirty="0"/>
          </a:p>
        </p:txBody>
      </p:sp>
      <p:sp>
        <p:nvSpPr>
          <p:cNvPr id="4" name="Shape 2"/>
          <p:cNvSpPr/>
          <p:nvPr/>
        </p:nvSpPr>
        <p:spPr>
          <a:xfrm>
            <a:off x="548640" y="2743200"/>
            <a:ext cx="5410048" cy="1463040"/>
          </a:xfrm>
          <a:prstGeom prst="roundRect">
            <a:avLst>
              <a:gd name="adj" fmla="val 7500"/>
            </a:avLst>
          </a:prstGeom>
          <a:solidFill>
            <a:srgbClr val="E8F1EF"/>
          </a:solidFill>
          <a:ln w="12700">
            <a:solidFill>
              <a:srgbClr val="E8F1EF"/>
            </a:solidFill>
            <a:prstDash val="solid"/>
          </a:ln>
        </p:spPr>
      </p:sp>
      <p:sp>
        <p:nvSpPr>
          <p:cNvPr id="5" name="Shape 3"/>
          <p:cNvSpPr/>
          <p:nvPr/>
        </p:nvSpPr>
        <p:spPr>
          <a:xfrm>
            <a:off x="822960" y="3200400"/>
            <a:ext cx="548640" cy="548640"/>
          </a:xfrm>
          <a:prstGeom prst="ellipse">
            <a:avLst/>
          </a:prstGeom>
          <a:solidFill>
            <a:srgbClr val="28695F"/>
          </a:solidFill>
          <a:ln w="12700">
            <a:solidFill>
              <a:srgbClr val="28695F"/>
            </a:solidFill>
            <a:prstDash val="solid"/>
          </a:ln>
        </p:spPr>
      </p:sp>
      <p:sp>
        <p:nvSpPr>
          <p:cNvPr id="6" name="Text 4"/>
          <p:cNvSpPr txBox="1"/>
          <p:nvPr/>
        </p:nvSpPr>
        <p:spPr>
          <a:xfrm>
            <a:off x="822960"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600200"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Eating and walking</a:t>
            </a:r>
            <a:endParaRPr lang="en-US" sz="1700" dirty="0"/>
          </a:p>
        </p:txBody>
      </p:sp>
      <p:sp>
        <p:nvSpPr>
          <p:cNvPr id="8" name="Shape 6"/>
          <p:cNvSpPr/>
          <p:nvPr/>
        </p:nvSpPr>
        <p:spPr>
          <a:xfrm>
            <a:off x="6233008" y="2743200"/>
            <a:ext cx="5410048" cy="1463040"/>
          </a:xfrm>
          <a:prstGeom prst="roundRect">
            <a:avLst>
              <a:gd name="adj" fmla="val 7500"/>
            </a:avLst>
          </a:prstGeom>
          <a:solidFill>
            <a:srgbClr val="F8EFDF"/>
          </a:solidFill>
          <a:ln w="12700">
            <a:solidFill>
              <a:srgbClr val="F8EFDF"/>
            </a:solidFill>
            <a:prstDash val="solid"/>
          </a:ln>
        </p:spPr>
      </p:sp>
      <p:sp>
        <p:nvSpPr>
          <p:cNvPr id="9" name="Shape 7"/>
          <p:cNvSpPr/>
          <p:nvPr/>
        </p:nvSpPr>
        <p:spPr>
          <a:xfrm>
            <a:off x="6507328" y="3200400"/>
            <a:ext cx="548640" cy="548640"/>
          </a:xfrm>
          <a:prstGeom prst="ellipse">
            <a:avLst/>
          </a:prstGeom>
          <a:solidFill>
            <a:srgbClr val="C78F2E"/>
          </a:solidFill>
          <a:ln w="12700">
            <a:solidFill>
              <a:srgbClr val="C78F2E"/>
            </a:solidFill>
            <a:prstDash val="solid"/>
          </a:ln>
        </p:spPr>
      </p:sp>
      <p:sp>
        <p:nvSpPr>
          <p:cNvPr id="10" name="Text 8"/>
          <p:cNvSpPr txBox="1"/>
          <p:nvPr/>
        </p:nvSpPr>
        <p:spPr>
          <a:xfrm>
            <a:off x="6507328"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1" name="Text 9"/>
          <p:cNvSpPr txBox="1"/>
          <p:nvPr/>
        </p:nvSpPr>
        <p:spPr>
          <a:xfrm>
            <a:off x="7284568"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Toileting and continence</a:t>
            </a:r>
            <a:endParaRPr lang="en-US" sz="1700" dirty="0"/>
          </a:p>
        </p:txBody>
      </p:sp>
      <p:sp>
        <p:nvSpPr>
          <p:cNvPr id="12" name="Shape 10"/>
          <p:cNvSpPr/>
          <p:nvPr/>
        </p:nvSpPr>
        <p:spPr>
          <a:xfrm>
            <a:off x="548640" y="4480560"/>
            <a:ext cx="5410048" cy="1463040"/>
          </a:xfrm>
          <a:prstGeom prst="roundRect">
            <a:avLst>
              <a:gd name="adj" fmla="val 7500"/>
            </a:avLst>
          </a:prstGeom>
          <a:solidFill>
            <a:srgbClr val="E8F1EF"/>
          </a:solidFill>
          <a:ln w="12700">
            <a:solidFill>
              <a:srgbClr val="E8F1EF"/>
            </a:solidFill>
            <a:prstDash val="solid"/>
          </a:ln>
        </p:spPr>
      </p:sp>
      <p:sp>
        <p:nvSpPr>
          <p:cNvPr id="13" name="Shape 11"/>
          <p:cNvSpPr/>
          <p:nvPr/>
        </p:nvSpPr>
        <p:spPr>
          <a:xfrm>
            <a:off x="822960" y="4937760"/>
            <a:ext cx="548640" cy="548640"/>
          </a:xfrm>
          <a:prstGeom prst="ellipse">
            <a:avLst/>
          </a:prstGeom>
          <a:solidFill>
            <a:srgbClr val="28695F"/>
          </a:solidFill>
          <a:ln w="12700">
            <a:solidFill>
              <a:srgbClr val="28695F"/>
            </a:solidFill>
            <a:prstDash val="solid"/>
          </a:ln>
        </p:spPr>
      </p:sp>
      <p:sp>
        <p:nvSpPr>
          <p:cNvPr id="14" name="Text 1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5" name="Text 13"/>
          <p:cNvSpPr txBox="1"/>
          <p:nvPr/>
        </p:nvSpPr>
        <p:spPr>
          <a:xfrm>
            <a:off x="1600200"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Managing finances and medications</a:t>
            </a:r>
            <a:endParaRPr lang="en-US" sz="1700" dirty="0"/>
          </a:p>
        </p:txBody>
      </p:sp>
      <p:sp>
        <p:nvSpPr>
          <p:cNvPr id="16" name="Shape 14"/>
          <p:cNvSpPr/>
          <p:nvPr/>
        </p:nvSpPr>
        <p:spPr>
          <a:xfrm>
            <a:off x="6233008" y="4480560"/>
            <a:ext cx="5410048" cy="1463040"/>
          </a:xfrm>
          <a:prstGeom prst="roundRect">
            <a:avLst>
              <a:gd name="adj" fmla="val 7500"/>
            </a:avLst>
          </a:prstGeom>
          <a:solidFill>
            <a:srgbClr val="F8EFDF"/>
          </a:solidFill>
          <a:ln w="12700">
            <a:solidFill>
              <a:srgbClr val="F8EFDF"/>
            </a:solidFill>
            <a:prstDash val="solid"/>
          </a:ln>
        </p:spPr>
      </p:sp>
      <p:sp>
        <p:nvSpPr>
          <p:cNvPr id="17" name="Shape 15"/>
          <p:cNvSpPr/>
          <p:nvPr/>
        </p:nvSpPr>
        <p:spPr>
          <a:xfrm>
            <a:off x="6507328" y="4937760"/>
            <a:ext cx="548640" cy="548640"/>
          </a:xfrm>
          <a:prstGeom prst="ellipse">
            <a:avLst/>
          </a:prstGeom>
          <a:solidFill>
            <a:srgbClr val="C78F2E"/>
          </a:solidFill>
          <a:ln w="12700">
            <a:solidFill>
              <a:srgbClr val="C78F2E"/>
            </a:solidFill>
            <a:prstDash val="solid"/>
          </a:ln>
        </p:spPr>
      </p:sp>
      <p:sp>
        <p:nvSpPr>
          <p:cNvPr id="18" name="Text 16"/>
          <p:cNvSpPr txBox="1"/>
          <p:nvPr/>
        </p:nvSpPr>
        <p:spPr>
          <a:xfrm>
            <a:off x="6507328"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9" name="Text 17"/>
          <p:cNvSpPr txBox="1"/>
          <p:nvPr/>
        </p:nvSpPr>
        <p:spPr>
          <a:xfrm>
            <a:off x="7284568"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Bathing and dressing</a:t>
            </a:r>
            <a:endParaRPr lang="en-US" sz="17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Knowledge Check</a:t>
            </a:r>
            <a:endParaRPr lang="en-US" sz="3000" dirty="0"/>
          </a:p>
        </p:txBody>
      </p:sp>
      <p:sp>
        <p:nvSpPr>
          <p:cNvPr id="3" name="Text 1"/>
          <p:cNvSpPr txBox="1"/>
          <p:nvPr/>
        </p:nvSpPr>
        <p:spPr>
          <a:xfrm>
            <a:off x="548640" y="1371600"/>
            <a:ext cx="11094415" cy="1097280"/>
          </a:xfrm>
          <a:prstGeom prst="rect">
            <a:avLst/>
          </a:prstGeom>
          <a:noFill/>
          <a:ln/>
        </p:spPr>
        <p:txBody>
          <a:bodyPr wrap="square" lIns="0" tIns="0" rIns="0" bIns="0" rtlCol="0" anchor="ctr"/>
          <a:lstStyle/>
          <a:p>
            <a:pPr indent="0" marL="0">
              <a:buNone/>
            </a:pPr>
            <a:r>
              <a:rPr lang="en-US" sz="2200" dirty="0">
                <a:solidFill>
                  <a:srgbClr val="24302D"/>
                </a:solidFill>
                <a:latin typeface="Cambria" pitchFamily="34" charset="0"/>
                <a:ea typeface="Cambria" pitchFamily="34" charset="-122"/>
                <a:cs typeface="Cambria" pitchFamily="34" charset="-120"/>
              </a:rPr>
              <a:t>You suspect a paid caregiver is taking money from a beneficiary, but you have no proof. What should you do?</a:t>
            </a:r>
            <a:endParaRPr lang="en-US" sz="2200" dirty="0"/>
          </a:p>
        </p:txBody>
      </p:sp>
      <p:sp>
        <p:nvSpPr>
          <p:cNvPr id="4" name="Shape 2"/>
          <p:cNvSpPr/>
          <p:nvPr/>
        </p:nvSpPr>
        <p:spPr>
          <a:xfrm>
            <a:off x="548640" y="2743200"/>
            <a:ext cx="5410048" cy="1463040"/>
          </a:xfrm>
          <a:prstGeom prst="roundRect">
            <a:avLst>
              <a:gd name="adj" fmla="val 7500"/>
            </a:avLst>
          </a:prstGeom>
          <a:solidFill>
            <a:srgbClr val="E8F1EF"/>
          </a:solidFill>
          <a:ln w="12700">
            <a:solidFill>
              <a:srgbClr val="E8F1EF"/>
            </a:solidFill>
            <a:prstDash val="solid"/>
          </a:ln>
        </p:spPr>
      </p:sp>
      <p:sp>
        <p:nvSpPr>
          <p:cNvPr id="5" name="Shape 3"/>
          <p:cNvSpPr/>
          <p:nvPr/>
        </p:nvSpPr>
        <p:spPr>
          <a:xfrm>
            <a:off x="822960" y="3200400"/>
            <a:ext cx="548640" cy="548640"/>
          </a:xfrm>
          <a:prstGeom prst="ellipse">
            <a:avLst/>
          </a:prstGeom>
          <a:solidFill>
            <a:srgbClr val="28695F"/>
          </a:solidFill>
          <a:ln w="12700">
            <a:solidFill>
              <a:srgbClr val="28695F"/>
            </a:solidFill>
            <a:prstDash val="solid"/>
          </a:ln>
        </p:spPr>
      </p:sp>
      <p:sp>
        <p:nvSpPr>
          <p:cNvPr id="6" name="Text 4"/>
          <p:cNvSpPr txBox="1"/>
          <p:nvPr/>
        </p:nvSpPr>
        <p:spPr>
          <a:xfrm>
            <a:off x="822960"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600200"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Wait until you have proof</a:t>
            </a:r>
            <a:endParaRPr lang="en-US" sz="1700" dirty="0"/>
          </a:p>
        </p:txBody>
      </p:sp>
      <p:sp>
        <p:nvSpPr>
          <p:cNvPr id="8" name="Shape 6"/>
          <p:cNvSpPr/>
          <p:nvPr/>
        </p:nvSpPr>
        <p:spPr>
          <a:xfrm>
            <a:off x="6233008" y="2743200"/>
            <a:ext cx="5410048" cy="1463040"/>
          </a:xfrm>
          <a:prstGeom prst="roundRect">
            <a:avLst>
              <a:gd name="adj" fmla="val 7500"/>
            </a:avLst>
          </a:prstGeom>
          <a:solidFill>
            <a:srgbClr val="F8EFDF"/>
          </a:solidFill>
          <a:ln w="12700">
            <a:solidFill>
              <a:srgbClr val="F8EFDF"/>
            </a:solidFill>
            <a:prstDash val="solid"/>
          </a:ln>
        </p:spPr>
      </p:sp>
      <p:sp>
        <p:nvSpPr>
          <p:cNvPr id="9" name="Shape 7"/>
          <p:cNvSpPr/>
          <p:nvPr/>
        </p:nvSpPr>
        <p:spPr>
          <a:xfrm>
            <a:off x="6507328" y="3200400"/>
            <a:ext cx="548640" cy="548640"/>
          </a:xfrm>
          <a:prstGeom prst="ellipse">
            <a:avLst/>
          </a:prstGeom>
          <a:solidFill>
            <a:srgbClr val="C78F2E"/>
          </a:solidFill>
          <a:ln w="12700">
            <a:solidFill>
              <a:srgbClr val="C78F2E"/>
            </a:solidFill>
            <a:prstDash val="solid"/>
          </a:ln>
        </p:spPr>
      </p:sp>
      <p:sp>
        <p:nvSpPr>
          <p:cNvPr id="10" name="Text 8"/>
          <p:cNvSpPr txBox="1"/>
          <p:nvPr/>
        </p:nvSpPr>
        <p:spPr>
          <a:xfrm>
            <a:off x="6507328"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1" name="Text 9"/>
          <p:cNvSpPr txBox="1"/>
          <p:nvPr/>
        </p:nvSpPr>
        <p:spPr>
          <a:xfrm>
            <a:off x="7284568"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Confront the caregiver directly</a:t>
            </a:r>
            <a:endParaRPr lang="en-US" sz="1700" dirty="0"/>
          </a:p>
        </p:txBody>
      </p:sp>
      <p:sp>
        <p:nvSpPr>
          <p:cNvPr id="12" name="Shape 10"/>
          <p:cNvSpPr/>
          <p:nvPr/>
        </p:nvSpPr>
        <p:spPr>
          <a:xfrm>
            <a:off x="548640" y="4480560"/>
            <a:ext cx="5410048" cy="1463040"/>
          </a:xfrm>
          <a:prstGeom prst="roundRect">
            <a:avLst>
              <a:gd name="adj" fmla="val 7500"/>
            </a:avLst>
          </a:prstGeom>
          <a:solidFill>
            <a:srgbClr val="E8F1EF"/>
          </a:solidFill>
          <a:ln w="12700">
            <a:solidFill>
              <a:srgbClr val="E8F1EF"/>
            </a:solidFill>
            <a:prstDash val="solid"/>
          </a:ln>
        </p:spPr>
      </p:sp>
      <p:sp>
        <p:nvSpPr>
          <p:cNvPr id="13" name="Shape 11"/>
          <p:cNvSpPr/>
          <p:nvPr/>
        </p:nvSpPr>
        <p:spPr>
          <a:xfrm>
            <a:off x="822960" y="4937760"/>
            <a:ext cx="548640" cy="548640"/>
          </a:xfrm>
          <a:prstGeom prst="ellipse">
            <a:avLst/>
          </a:prstGeom>
          <a:solidFill>
            <a:srgbClr val="28695F"/>
          </a:solidFill>
          <a:ln w="12700">
            <a:solidFill>
              <a:srgbClr val="28695F"/>
            </a:solidFill>
            <a:prstDash val="solid"/>
          </a:ln>
        </p:spPr>
      </p:sp>
      <p:sp>
        <p:nvSpPr>
          <p:cNvPr id="14" name="Text 1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5" name="Text 13"/>
          <p:cNvSpPr txBox="1"/>
          <p:nvPr/>
        </p:nvSpPr>
        <p:spPr>
          <a:xfrm>
            <a:off x="1600200"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Report the suspicion to the state hotline or APS and notify your supervisor, per policy</a:t>
            </a:r>
            <a:endParaRPr lang="en-US" sz="1700" dirty="0"/>
          </a:p>
        </p:txBody>
      </p:sp>
      <p:sp>
        <p:nvSpPr>
          <p:cNvPr id="16" name="Shape 14"/>
          <p:cNvSpPr/>
          <p:nvPr/>
        </p:nvSpPr>
        <p:spPr>
          <a:xfrm>
            <a:off x="6233008" y="4480560"/>
            <a:ext cx="5410048" cy="1463040"/>
          </a:xfrm>
          <a:prstGeom prst="roundRect">
            <a:avLst>
              <a:gd name="adj" fmla="val 7500"/>
            </a:avLst>
          </a:prstGeom>
          <a:solidFill>
            <a:srgbClr val="F8EFDF"/>
          </a:solidFill>
          <a:ln w="12700">
            <a:solidFill>
              <a:srgbClr val="F8EFDF"/>
            </a:solidFill>
            <a:prstDash val="solid"/>
          </a:ln>
        </p:spPr>
      </p:sp>
      <p:sp>
        <p:nvSpPr>
          <p:cNvPr id="17" name="Shape 15"/>
          <p:cNvSpPr/>
          <p:nvPr/>
        </p:nvSpPr>
        <p:spPr>
          <a:xfrm>
            <a:off x="6507328" y="4937760"/>
            <a:ext cx="548640" cy="548640"/>
          </a:xfrm>
          <a:prstGeom prst="ellipse">
            <a:avLst/>
          </a:prstGeom>
          <a:solidFill>
            <a:srgbClr val="C78F2E"/>
          </a:solidFill>
          <a:ln w="12700">
            <a:solidFill>
              <a:srgbClr val="C78F2E"/>
            </a:solidFill>
            <a:prstDash val="solid"/>
          </a:ln>
        </p:spPr>
      </p:sp>
      <p:sp>
        <p:nvSpPr>
          <p:cNvPr id="18" name="Text 16"/>
          <p:cNvSpPr txBox="1"/>
          <p:nvPr/>
        </p:nvSpPr>
        <p:spPr>
          <a:xfrm>
            <a:off x="6507328"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9" name="Text 17"/>
          <p:cNvSpPr txBox="1"/>
          <p:nvPr/>
        </p:nvSpPr>
        <p:spPr>
          <a:xfrm>
            <a:off x="7284568"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Tell the family to handle it privately</a:t>
            </a:r>
            <a:endParaRPr lang="en-US" sz="17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Knowledge Check</a:t>
            </a:r>
            <a:endParaRPr lang="en-US" sz="3000" dirty="0"/>
          </a:p>
        </p:txBody>
      </p:sp>
      <p:sp>
        <p:nvSpPr>
          <p:cNvPr id="3" name="Text 1"/>
          <p:cNvSpPr txBox="1"/>
          <p:nvPr/>
        </p:nvSpPr>
        <p:spPr>
          <a:xfrm>
            <a:off x="548640" y="1371600"/>
            <a:ext cx="11094415" cy="1097280"/>
          </a:xfrm>
          <a:prstGeom prst="rect">
            <a:avLst/>
          </a:prstGeom>
          <a:noFill/>
          <a:ln/>
        </p:spPr>
        <p:txBody>
          <a:bodyPr wrap="square" lIns="0" tIns="0" rIns="0" bIns="0" rtlCol="0" anchor="ctr"/>
          <a:lstStyle/>
          <a:p>
            <a:pPr indent="0" marL="0">
              <a:buNone/>
            </a:pPr>
            <a:r>
              <a:rPr lang="en-US" sz="2200" dirty="0">
                <a:solidFill>
                  <a:srgbClr val="24302D"/>
                </a:solidFill>
                <a:latin typeface="Cambria" pitchFamily="34" charset="0"/>
                <a:ea typeface="Cambria" pitchFamily="34" charset="-122"/>
                <a:cs typeface="Cambria" pitchFamily="34" charset="-120"/>
              </a:rPr>
              <a:t>A caregiver reports her father has a loaded gun in his nightstand and recently mistook her for an intruder. What is the priority?</a:t>
            </a:r>
            <a:endParaRPr lang="en-US" sz="2200" dirty="0"/>
          </a:p>
        </p:txBody>
      </p:sp>
      <p:sp>
        <p:nvSpPr>
          <p:cNvPr id="4" name="Shape 2"/>
          <p:cNvSpPr/>
          <p:nvPr/>
        </p:nvSpPr>
        <p:spPr>
          <a:xfrm>
            <a:off x="548640" y="2743200"/>
            <a:ext cx="5410048" cy="1463040"/>
          </a:xfrm>
          <a:prstGeom prst="roundRect">
            <a:avLst>
              <a:gd name="adj" fmla="val 7500"/>
            </a:avLst>
          </a:prstGeom>
          <a:solidFill>
            <a:srgbClr val="E8F1EF"/>
          </a:solidFill>
          <a:ln w="12700">
            <a:solidFill>
              <a:srgbClr val="E8F1EF"/>
            </a:solidFill>
            <a:prstDash val="solid"/>
          </a:ln>
        </p:spPr>
      </p:sp>
      <p:sp>
        <p:nvSpPr>
          <p:cNvPr id="5" name="Shape 3"/>
          <p:cNvSpPr/>
          <p:nvPr/>
        </p:nvSpPr>
        <p:spPr>
          <a:xfrm>
            <a:off x="822960" y="3200400"/>
            <a:ext cx="548640" cy="548640"/>
          </a:xfrm>
          <a:prstGeom prst="ellipse">
            <a:avLst/>
          </a:prstGeom>
          <a:solidFill>
            <a:srgbClr val="28695F"/>
          </a:solidFill>
          <a:ln w="12700">
            <a:solidFill>
              <a:srgbClr val="28695F"/>
            </a:solidFill>
            <a:prstDash val="solid"/>
          </a:ln>
        </p:spPr>
      </p:sp>
      <p:sp>
        <p:nvSpPr>
          <p:cNvPr id="6" name="Text 4"/>
          <p:cNvSpPr txBox="1"/>
          <p:nvPr/>
        </p:nvSpPr>
        <p:spPr>
          <a:xfrm>
            <a:off x="822960"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600200"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Note it and discuss at the next visit</a:t>
            </a:r>
            <a:endParaRPr lang="en-US" sz="1700" dirty="0"/>
          </a:p>
        </p:txBody>
      </p:sp>
      <p:sp>
        <p:nvSpPr>
          <p:cNvPr id="8" name="Shape 6"/>
          <p:cNvSpPr/>
          <p:nvPr/>
        </p:nvSpPr>
        <p:spPr>
          <a:xfrm>
            <a:off x="6233008" y="2743200"/>
            <a:ext cx="5410048" cy="1463040"/>
          </a:xfrm>
          <a:prstGeom prst="roundRect">
            <a:avLst>
              <a:gd name="adj" fmla="val 7500"/>
            </a:avLst>
          </a:prstGeom>
          <a:solidFill>
            <a:srgbClr val="F8EFDF"/>
          </a:solidFill>
          <a:ln w="12700">
            <a:solidFill>
              <a:srgbClr val="F8EFDF"/>
            </a:solidFill>
            <a:prstDash val="solid"/>
          </a:ln>
        </p:spPr>
      </p:sp>
      <p:sp>
        <p:nvSpPr>
          <p:cNvPr id="9" name="Shape 7"/>
          <p:cNvSpPr/>
          <p:nvPr/>
        </p:nvSpPr>
        <p:spPr>
          <a:xfrm>
            <a:off x="6507328" y="3200400"/>
            <a:ext cx="548640" cy="548640"/>
          </a:xfrm>
          <a:prstGeom prst="ellipse">
            <a:avLst/>
          </a:prstGeom>
          <a:solidFill>
            <a:srgbClr val="C78F2E"/>
          </a:solidFill>
          <a:ln w="12700">
            <a:solidFill>
              <a:srgbClr val="C78F2E"/>
            </a:solidFill>
            <a:prstDash val="solid"/>
          </a:ln>
        </p:spPr>
      </p:sp>
      <p:sp>
        <p:nvSpPr>
          <p:cNvPr id="10" name="Text 8"/>
          <p:cNvSpPr txBox="1"/>
          <p:nvPr/>
        </p:nvSpPr>
        <p:spPr>
          <a:xfrm>
            <a:off x="6507328"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1" name="Text 9"/>
          <p:cNvSpPr txBox="1"/>
          <p:nvPr/>
        </p:nvSpPr>
        <p:spPr>
          <a:xfrm>
            <a:off x="7284568"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Treat it as a high-risk safety issue: notify the clinician and supervisor and plan to secure or remove the firearm; call 911 if there is immediate danger</a:t>
            </a:r>
            <a:endParaRPr lang="en-US" sz="1700" dirty="0"/>
          </a:p>
        </p:txBody>
      </p:sp>
      <p:sp>
        <p:nvSpPr>
          <p:cNvPr id="12" name="Shape 10"/>
          <p:cNvSpPr/>
          <p:nvPr/>
        </p:nvSpPr>
        <p:spPr>
          <a:xfrm>
            <a:off x="548640" y="4480560"/>
            <a:ext cx="5410048" cy="1463040"/>
          </a:xfrm>
          <a:prstGeom prst="roundRect">
            <a:avLst>
              <a:gd name="adj" fmla="val 7500"/>
            </a:avLst>
          </a:prstGeom>
          <a:solidFill>
            <a:srgbClr val="E8F1EF"/>
          </a:solidFill>
          <a:ln w="12700">
            <a:solidFill>
              <a:srgbClr val="E8F1EF"/>
            </a:solidFill>
            <a:prstDash val="solid"/>
          </a:ln>
        </p:spPr>
      </p:sp>
      <p:sp>
        <p:nvSpPr>
          <p:cNvPr id="13" name="Shape 11"/>
          <p:cNvSpPr/>
          <p:nvPr/>
        </p:nvSpPr>
        <p:spPr>
          <a:xfrm>
            <a:off x="822960" y="4937760"/>
            <a:ext cx="548640" cy="548640"/>
          </a:xfrm>
          <a:prstGeom prst="ellipse">
            <a:avLst/>
          </a:prstGeom>
          <a:solidFill>
            <a:srgbClr val="28695F"/>
          </a:solidFill>
          <a:ln w="12700">
            <a:solidFill>
              <a:srgbClr val="28695F"/>
            </a:solidFill>
            <a:prstDash val="solid"/>
          </a:ln>
        </p:spPr>
      </p:sp>
      <p:sp>
        <p:nvSpPr>
          <p:cNvPr id="14" name="Text 1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5" name="Text 13"/>
          <p:cNvSpPr txBox="1"/>
          <p:nvPr/>
        </p:nvSpPr>
        <p:spPr>
          <a:xfrm>
            <a:off x="1600200"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Tell her firearms are a personal choice</a:t>
            </a:r>
            <a:endParaRPr lang="en-US" sz="1700" dirty="0"/>
          </a:p>
        </p:txBody>
      </p:sp>
      <p:sp>
        <p:nvSpPr>
          <p:cNvPr id="16" name="Shape 14"/>
          <p:cNvSpPr/>
          <p:nvPr/>
        </p:nvSpPr>
        <p:spPr>
          <a:xfrm>
            <a:off x="6233008" y="4480560"/>
            <a:ext cx="5410048" cy="1463040"/>
          </a:xfrm>
          <a:prstGeom prst="roundRect">
            <a:avLst>
              <a:gd name="adj" fmla="val 7500"/>
            </a:avLst>
          </a:prstGeom>
          <a:solidFill>
            <a:srgbClr val="F8EFDF"/>
          </a:solidFill>
          <a:ln w="12700">
            <a:solidFill>
              <a:srgbClr val="F8EFDF"/>
            </a:solidFill>
            <a:prstDash val="solid"/>
          </a:ln>
        </p:spPr>
      </p:sp>
      <p:sp>
        <p:nvSpPr>
          <p:cNvPr id="17" name="Shape 15"/>
          <p:cNvSpPr/>
          <p:nvPr/>
        </p:nvSpPr>
        <p:spPr>
          <a:xfrm>
            <a:off x="6507328" y="4937760"/>
            <a:ext cx="548640" cy="548640"/>
          </a:xfrm>
          <a:prstGeom prst="ellipse">
            <a:avLst/>
          </a:prstGeom>
          <a:solidFill>
            <a:srgbClr val="C78F2E"/>
          </a:solidFill>
          <a:ln w="12700">
            <a:solidFill>
              <a:srgbClr val="C78F2E"/>
            </a:solidFill>
            <a:prstDash val="solid"/>
          </a:ln>
        </p:spPr>
      </p:sp>
      <p:sp>
        <p:nvSpPr>
          <p:cNvPr id="18" name="Text 16"/>
          <p:cNvSpPr txBox="1"/>
          <p:nvPr/>
        </p:nvSpPr>
        <p:spPr>
          <a:xfrm>
            <a:off x="6507328"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9" name="Text 17"/>
          <p:cNvSpPr txBox="1"/>
          <p:nvPr/>
        </p:nvSpPr>
        <p:spPr>
          <a:xfrm>
            <a:off x="7284568"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Suggest he keep the gun unloaded under his pillow</a:t>
            </a:r>
            <a:endParaRPr lang="en-US" sz="17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8695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pic>
        <p:nvPicPr>
          <p:cNvPr id="3" name="Image 0" descr="preencoded.png">    </p:cNvPr>
          <p:cNvPicPr>
            <a:picLocks noChangeAspect="1"/>
          </p:cNvPicPr>
          <p:nvPr/>
        </p:nvPicPr>
        <p:blipFill>
          <a:blip r:embed="rId1"/>
          <a:stretch>
            <a:fillRect/>
          </a:stretch>
        </p:blipFill>
        <p:spPr>
          <a:xfrm>
            <a:off x="548640" y="1517904"/>
            <a:ext cx="420624" cy="420624"/>
          </a:xfrm>
          <a:prstGeom prst="rect">
            <a:avLst/>
          </a:prstGeom>
        </p:spPr>
      </p:pic>
      <p:sp>
        <p:nvSpPr>
          <p:cNvPr id="4" name="Text 1"/>
          <p:cNvSpPr txBox="1"/>
          <p:nvPr/>
        </p:nvSpPr>
        <p:spPr>
          <a:xfrm>
            <a:off x="1143000" y="146304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IADLs decline first; ADLs follow — plan ahead</a:t>
            </a:r>
            <a:endParaRPr lang="en-US" sz="2000" dirty="0"/>
          </a:p>
        </p:txBody>
      </p:sp>
      <p:pic>
        <p:nvPicPr>
          <p:cNvPr id="5" name="Image 1" descr="preencoded.png">    </p:cNvPr>
          <p:cNvPicPr>
            <a:picLocks noChangeAspect="1"/>
          </p:cNvPicPr>
          <p:nvPr/>
        </p:nvPicPr>
        <p:blipFill>
          <a:blip r:embed="rId2"/>
          <a:stretch>
            <a:fillRect/>
          </a:stretch>
        </p:blipFill>
        <p:spPr>
          <a:xfrm>
            <a:off x="548640" y="2935224"/>
            <a:ext cx="420624" cy="420624"/>
          </a:xfrm>
          <a:prstGeom prst="rect">
            <a:avLst/>
          </a:prstGeom>
        </p:spPr>
      </p:pic>
      <p:sp>
        <p:nvSpPr>
          <p:cNvPr id="6" name="Text 2"/>
          <p:cNvSpPr txBox="1"/>
          <p:nvPr/>
        </p:nvSpPr>
        <p:spPr>
          <a:xfrm>
            <a:off x="1143000" y="288036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Ask how and when tasks are done, and observe when you can</a:t>
            </a:r>
            <a:endParaRPr lang="en-US" sz="2000" dirty="0"/>
          </a:p>
        </p:txBody>
      </p:sp>
      <p:pic>
        <p:nvPicPr>
          <p:cNvPr id="7" name="Image 2" descr="preencoded.png">    </p:cNvPr>
          <p:cNvPicPr>
            <a:picLocks noChangeAspect="1"/>
          </p:cNvPicPr>
          <p:nvPr/>
        </p:nvPicPr>
        <p:blipFill>
          <a:blip r:embed="rId3"/>
          <a:stretch>
            <a:fillRect/>
          </a:stretch>
        </p:blipFill>
        <p:spPr>
          <a:xfrm>
            <a:off x="548640" y="4352544"/>
            <a:ext cx="420624" cy="420624"/>
          </a:xfrm>
          <a:prstGeom prst="rect">
            <a:avLst/>
          </a:prstGeom>
        </p:spPr>
      </p:pic>
      <p:sp>
        <p:nvSpPr>
          <p:cNvPr id="8" name="Text 3"/>
          <p:cNvSpPr txBox="1"/>
          <p:nvPr/>
        </p:nvSpPr>
        <p:spPr>
          <a:xfrm>
            <a:off x="1143000" y="429768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Reconcile medications at every visit and after every transition</a:t>
            </a:r>
            <a:endParaRPr lang="en-US" sz="2000" dirty="0"/>
          </a:p>
        </p:txBody>
      </p:sp>
      <p:pic>
        <p:nvPicPr>
          <p:cNvPr id="9" name="Image 3" descr="preencoded.png">    </p:cNvPr>
          <p:cNvPicPr>
            <a:picLocks noChangeAspect="1"/>
          </p:cNvPicPr>
          <p:nvPr/>
        </p:nvPicPr>
        <p:blipFill>
          <a:blip r:embed="rId4"/>
          <a:stretch>
            <a:fillRect/>
          </a:stretch>
        </p:blipFill>
        <p:spPr>
          <a:xfrm>
            <a:off x="6291072" y="1517904"/>
            <a:ext cx="420624" cy="420624"/>
          </a:xfrm>
          <a:prstGeom prst="rect">
            <a:avLst/>
          </a:prstGeom>
        </p:spPr>
      </p:pic>
      <p:sp>
        <p:nvSpPr>
          <p:cNvPr id="10" name="Text 4"/>
          <p:cNvSpPr txBox="1"/>
          <p:nvPr/>
        </p:nvSpPr>
        <p:spPr>
          <a:xfrm>
            <a:off x="6885432" y="146304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Ask every household about firearms and dangerous items</a:t>
            </a:r>
            <a:endParaRPr lang="en-US" sz="2000" dirty="0"/>
          </a:p>
        </p:txBody>
      </p:sp>
      <p:pic>
        <p:nvPicPr>
          <p:cNvPr id="11" name="Image 4" descr="preencoded.png">    </p:cNvPr>
          <p:cNvPicPr>
            <a:picLocks noChangeAspect="1"/>
          </p:cNvPicPr>
          <p:nvPr/>
        </p:nvPicPr>
        <p:blipFill>
          <a:blip r:embed="rId5"/>
          <a:stretch>
            <a:fillRect/>
          </a:stretch>
        </p:blipFill>
        <p:spPr>
          <a:xfrm>
            <a:off x="6291072" y="2935224"/>
            <a:ext cx="420624" cy="420624"/>
          </a:xfrm>
          <a:prstGeom prst="rect">
            <a:avLst/>
          </a:prstGeom>
        </p:spPr>
      </p:pic>
      <p:sp>
        <p:nvSpPr>
          <p:cNvPr id="12" name="Text 5"/>
          <p:cNvSpPr txBox="1"/>
          <p:nvPr/>
        </p:nvSpPr>
        <p:spPr>
          <a:xfrm>
            <a:off x="6885432" y="288036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Wandering: prepare in advance, search 15 minutes, then call 911</a:t>
            </a:r>
            <a:endParaRPr lang="en-US" sz="2000" dirty="0"/>
          </a:p>
        </p:txBody>
      </p:sp>
      <p:pic>
        <p:nvPicPr>
          <p:cNvPr id="13" name="Image 5" descr="preencoded.png">    </p:cNvPr>
          <p:cNvPicPr>
            <a:picLocks noChangeAspect="1"/>
          </p:cNvPicPr>
          <p:nvPr/>
        </p:nvPicPr>
        <p:blipFill>
          <a:blip r:embed="rId6"/>
          <a:stretch>
            <a:fillRect/>
          </a:stretch>
        </p:blipFill>
        <p:spPr>
          <a:xfrm>
            <a:off x="6291072" y="4352544"/>
            <a:ext cx="420624" cy="420624"/>
          </a:xfrm>
          <a:prstGeom prst="rect">
            <a:avLst/>
          </a:prstGeom>
        </p:spPr>
      </p:pic>
      <p:sp>
        <p:nvSpPr>
          <p:cNvPr id="14" name="Text 6"/>
          <p:cNvSpPr txBox="1"/>
          <p:nvPr/>
        </p:nvSpPr>
        <p:spPr>
          <a:xfrm>
            <a:off x="6885432" y="429768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Suspicion of abuse or exploitation is enough to report</a:t>
            </a:r>
            <a:endParaRPr lang="en-US" sz="2000" dirty="0"/>
          </a:p>
        </p:txBody>
      </p:sp>
      <p:pic>
        <p:nvPicPr>
          <p:cNvPr id="15" name="Image 6" descr="preencoded.png">    </p:cNvPr>
          <p:cNvPicPr>
            <a:picLocks noChangeAspect="1"/>
          </p:cNvPicPr>
          <p:nvPr/>
        </p:nvPicPr>
        <p:blipFill>
          <a:blip r:embed="rId7"/>
          <a:stretch>
            <a:fillRect/>
          </a:stretch>
        </p:blipFill>
        <p:spPr>
          <a:xfrm>
            <a:off x="548640" y="6382512"/>
            <a:ext cx="219456" cy="219456"/>
          </a:xfrm>
          <a:prstGeom prst="rect">
            <a:avLst/>
          </a:prstGeom>
        </p:spPr>
      </p:pic>
      <p:sp>
        <p:nvSpPr>
          <p:cNvPr id="16" name="Text 7"/>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4</a:t>
            </a:r>
            <a:endParaRPr lang="en-US" sz="900" dirty="0"/>
          </a:p>
        </p:txBody>
      </p:sp>
      <p:sp>
        <p:nvSpPr>
          <p:cNvPr id="17" name="Text 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Resources for This Module</a:t>
            </a:r>
            <a:endParaRPr lang="en-US" sz="3000" dirty="0"/>
          </a:p>
        </p:txBody>
      </p:sp>
      <p:sp>
        <p:nvSpPr>
          <p:cNvPr id="3" name="Text 1"/>
          <p:cNvSpPr txBox="1"/>
          <p:nvPr/>
        </p:nvSpPr>
        <p:spPr>
          <a:xfrm>
            <a:off x="548640" y="1417320"/>
            <a:ext cx="8961120" cy="4709160"/>
          </a:xfrm>
          <a:prstGeom prst="rect">
            <a:avLst/>
          </a:prstGeom>
          <a:noFill/>
          <a:ln/>
        </p:spPr>
        <p:txBody>
          <a:bodyPr wrap="square" lIns="0" tIns="0" rIns="0" bIns="0" rtlCol="0" anchor="t"/>
          <a:lstStyle/>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American Geriatrics Society: </a:t>
            </a:r>
            <a:r>
              <a:rPr lang="en-US" sz="1900" dirty="0">
                <a:solidFill>
                  <a:srgbClr val="24302D"/>
                </a:solidFill>
                <a:latin typeface="Calibri" pitchFamily="34" charset="0"/>
                <a:ea typeface="Calibri" pitchFamily="34" charset="-122"/>
                <a:cs typeface="Calibri" pitchFamily="34" charset="-120"/>
              </a:rPr>
              <a:t>Beers Criteria for potentially inappropriate medication use in older adults</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Alzheimer's Association: </a:t>
            </a:r>
            <a:r>
              <a:rPr lang="en-US" sz="1900" dirty="0">
                <a:solidFill>
                  <a:srgbClr val="24302D"/>
                </a:solidFill>
                <a:latin typeface="Calibri" pitchFamily="34" charset="0"/>
                <a:ea typeface="Calibri" pitchFamily="34" charset="-122"/>
                <a:cs typeface="Calibri" pitchFamily="34" charset="-120"/>
              </a:rPr>
              <a:t>Home safety, wandering, and driving resources (alz.org)</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National Center on Elder Abuse: </a:t>
            </a:r>
            <a:r>
              <a:rPr lang="en-US" sz="1900" dirty="0">
                <a:solidFill>
                  <a:srgbClr val="24302D"/>
                </a:solidFill>
                <a:latin typeface="Calibri" pitchFamily="34" charset="0"/>
                <a:ea typeface="Calibri" pitchFamily="34" charset="-122"/>
                <a:cs typeface="Calibri" pitchFamily="34" charset="-120"/>
              </a:rPr>
              <a:t>signs of abuse and reporting resources (ncea.acl.gov)</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Florida Abuse Hotline: </a:t>
            </a:r>
            <a:r>
              <a:rPr lang="en-US" sz="1900" dirty="0">
                <a:solidFill>
                  <a:srgbClr val="24302D"/>
                </a:solidFill>
                <a:latin typeface="Calibri" pitchFamily="34" charset="0"/>
                <a:ea typeface="Calibri" pitchFamily="34" charset="-122"/>
                <a:cs typeface="Calibri" pitchFamily="34" charset="-120"/>
              </a:rPr>
              <a:t>1-800-962-2873</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Ohio Adult Protective Services: </a:t>
            </a:r>
            <a:r>
              <a:rPr lang="en-US" sz="1900" dirty="0">
                <a:solidFill>
                  <a:srgbClr val="24302D"/>
                </a:solidFill>
                <a:latin typeface="Calibri" pitchFamily="34" charset="0"/>
                <a:ea typeface="Calibri" pitchFamily="34" charset="-122"/>
                <a:cs typeface="Calibri" pitchFamily="34" charset="-120"/>
              </a:rPr>
              <a:t>1-855-644-6277</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Internal: </a:t>
            </a:r>
            <a:r>
              <a:rPr lang="en-US" sz="1900" dirty="0">
                <a:solidFill>
                  <a:srgbClr val="24302D"/>
                </a:solidFill>
                <a:latin typeface="Calibri" pitchFamily="34" charset="0"/>
                <a:ea typeface="Calibri" pitchFamily="34" charset="-122"/>
                <a:cs typeface="Calibri" pitchFamily="34" charset="-120"/>
              </a:rPr>
              <a:t>AbleLiving/MPS mandatory reporting policy and home safety checklist</a:t>
            </a:r>
            <a:endParaRPr lang="en-US" sz="1900" dirty="0"/>
          </a:p>
        </p:txBody>
      </p:sp>
      <p:pic>
        <p:nvPicPr>
          <p:cNvPr id="4" name="Image 0" descr="preencoded.png">    </p:cNvPr>
          <p:cNvPicPr>
            <a:picLocks noChangeAspect="1"/>
          </p:cNvPicPr>
          <p:nvPr/>
        </p:nvPicPr>
        <p:blipFill>
          <a:blip r:embed="rId1">
            <a:alphaModFix amt="85000"/>
          </a:blip>
          <a:stretch>
            <a:fillRect/>
          </a:stretch>
        </p:blipFill>
        <p:spPr>
          <a:xfrm>
            <a:off x="10012680" y="3291840"/>
            <a:ext cx="1920240" cy="2432304"/>
          </a:xfrm>
          <a:prstGeom prst="rect">
            <a:avLst/>
          </a:prstGeom>
        </p:spPr>
      </p:pic>
      <p:pic>
        <p:nvPicPr>
          <p:cNvPr id="5"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6" name="Text 2"/>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4</a:t>
            </a:r>
            <a:endParaRPr lang="en-US" sz="900" dirty="0"/>
          </a:p>
        </p:txBody>
      </p:sp>
      <p:sp>
        <p:nvSpPr>
          <p:cNvPr id="7" name="Text 3"/>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7680960" y="320040"/>
            <a:ext cx="4754880" cy="6025896"/>
          </a:xfrm>
          <a:prstGeom prst="rect">
            <a:avLst/>
          </a:prstGeom>
        </p:spPr>
      </p:pic>
      <p:sp>
        <p:nvSpPr>
          <p:cNvPr id="3" name="Shape 0"/>
          <p:cNvSpPr/>
          <p:nvPr/>
        </p:nvSpPr>
        <p:spPr>
          <a:xfrm>
            <a:off x="548640" y="365760"/>
            <a:ext cx="2661628" cy="1261872"/>
          </a:xfrm>
          <a:prstGeom prst="roundRect">
            <a:avLst>
              <a:gd name="adj" fmla="val 7246"/>
            </a:avLst>
          </a:prstGeom>
          <a:solidFill>
            <a:srgbClr val="FFFFFF"/>
          </a:solidFill>
          <a:ln w="12700">
            <a:solidFill>
              <a:srgbClr val="FFFFFF"/>
            </a:solidFill>
            <a:prstDash val="solid"/>
          </a:ln>
        </p:spPr>
      </p:sp>
      <p:pic>
        <p:nvPicPr>
          <p:cNvPr id="4" name="Image 1" descr="preencoded.png">    </p:cNvPr>
          <p:cNvPicPr>
            <a:picLocks noChangeAspect="1"/>
          </p:cNvPicPr>
          <p:nvPr/>
        </p:nvPicPr>
        <p:blipFill>
          <a:blip r:embed="rId2"/>
          <a:stretch>
            <a:fillRect/>
          </a:stretch>
        </p:blipFill>
        <p:spPr>
          <a:xfrm>
            <a:off x="676656" y="493776"/>
            <a:ext cx="2405596" cy="1005840"/>
          </a:xfrm>
          <a:prstGeom prst="rect">
            <a:avLst/>
          </a:prstGeom>
        </p:spPr>
      </p:pic>
      <p:sp>
        <p:nvSpPr>
          <p:cNvPr id="5" name="Text 1"/>
          <p:cNvSpPr txBox="1"/>
          <p:nvPr/>
        </p:nvSpPr>
        <p:spPr>
          <a:xfrm>
            <a:off x="548640" y="2011680"/>
            <a:ext cx="694944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Questions &amp; Discussion</a:t>
            </a:r>
            <a:endParaRPr lang="en-US" sz="4400" dirty="0"/>
          </a:p>
        </p:txBody>
      </p:sp>
      <p:sp>
        <p:nvSpPr>
          <p:cNvPr id="6" name="Text 2"/>
          <p:cNvSpPr txBox="1"/>
          <p:nvPr/>
        </p:nvSpPr>
        <p:spPr>
          <a:xfrm>
            <a:off x="548640" y="3063240"/>
            <a:ext cx="6766560" cy="82296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Thank you for completing Module 4: Functional Needs, Medication Management &amp; Safety.</a:t>
            </a:r>
            <a:endParaRPr lang="en-US" sz="1800" dirty="0"/>
          </a:p>
        </p:txBody>
      </p:sp>
      <p:sp>
        <p:nvSpPr>
          <p:cNvPr id="7" name="Shape 3"/>
          <p:cNvSpPr/>
          <p:nvPr/>
        </p:nvSpPr>
        <p:spPr>
          <a:xfrm>
            <a:off x="548640" y="4206240"/>
            <a:ext cx="6675120" cy="1097280"/>
          </a:xfrm>
          <a:prstGeom prst="roundRect">
            <a:avLst>
              <a:gd name="adj" fmla="val 10000"/>
            </a:avLst>
          </a:prstGeom>
          <a:solidFill>
            <a:srgbClr val="1D4F47"/>
          </a:solidFill>
          <a:ln w="12700">
            <a:solidFill>
              <a:srgbClr val="1D4F47"/>
            </a:solidFill>
            <a:prstDash val="solid"/>
          </a:ln>
        </p:spPr>
      </p:sp>
      <p:sp>
        <p:nvSpPr>
          <p:cNvPr id="8" name="Text 4"/>
          <p:cNvSpPr txBox="1"/>
          <p:nvPr/>
        </p:nvSpPr>
        <p:spPr>
          <a:xfrm>
            <a:off x="868680" y="4315968"/>
            <a:ext cx="5943600" cy="320040"/>
          </a:xfrm>
          <a:prstGeom prst="rect">
            <a:avLst/>
          </a:prstGeom>
          <a:noFill/>
          <a:ln/>
        </p:spPr>
        <p:txBody>
          <a:bodyPr wrap="square" lIns="0" tIns="0" rIns="0" bIns="0" rtlCol="0" anchor="t"/>
          <a:lstStyle/>
          <a:p>
            <a:pPr indent="0" marL="0">
              <a:buNone/>
            </a:pPr>
            <a:r>
              <a:rPr lang="en-US" sz="1200" b="1" spc="300" kern="0" dirty="0">
                <a:solidFill>
                  <a:srgbClr val="F8CB27"/>
                </a:solidFill>
                <a:latin typeface="Calibri" pitchFamily="34" charset="0"/>
                <a:ea typeface="Calibri" pitchFamily="34" charset="-122"/>
                <a:cs typeface="Calibri" pitchFamily="34" charset="-120"/>
              </a:rPr>
              <a:t>UP NEXT</a:t>
            </a:r>
            <a:endParaRPr lang="en-US" sz="1200" dirty="0"/>
          </a:p>
        </p:txBody>
      </p:sp>
      <p:sp>
        <p:nvSpPr>
          <p:cNvPr id="9" name="Text 5"/>
          <p:cNvSpPr txBox="1"/>
          <p:nvPr/>
        </p:nvSpPr>
        <p:spPr>
          <a:xfrm>
            <a:off x="868680" y="4617720"/>
            <a:ext cx="6126480" cy="5943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Module 5: Advance Care Planning &amp; Decision-Making Capacity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AbleLiving Memory Support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 Care Navigator Training — Module 4: Functional Needs, Medication Management &amp; Safety</dc:title>
  <dc:subject>PptxGenJS Presentation</dc:subject>
  <dc:creator>AbleLiving Memory Support</dc:creator>
  <cp:lastModifiedBy>AbleLiving Memory Support</cp:lastModifiedBy>
  <cp:revision>1</cp:revision>
  <dcterms:created xsi:type="dcterms:W3CDTF">2026-09-24T19:29:15Z</dcterms:created>
  <dcterms:modified xsi:type="dcterms:W3CDTF">2026-09-24T19:29:15Z</dcterms:modified>
</cp:coreProperties>
</file>